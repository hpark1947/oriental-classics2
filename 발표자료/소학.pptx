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556070"/>
                </a:solidFill>
                <a:latin typeface="맑은 고딕"/>
              </a:rPr>
              <a:t>주자(朱子)가 엮은 인격의 교과서 · 조선 500년의 사람 만드는 양식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11247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0" b="1">
                <a:solidFill>
                  <a:srgbClr val="1F2A44"/>
                </a:solidFill>
                <a:latin typeface="맑은 고딕"/>
              </a:rPr>
              <a:t>小 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0">
                <a:solidFill>
                  <a:srgbClr val="8B1A1A"/>
                </a:solidFill>
                <a:latin typeface="맑은 고딕"/>
              </a:rPr>
              <a:t>소 학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14800" y="4754880"/>
            <a:ext cx="39319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9377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556070"/>
                </a:solidFill>
                <a:latin typeface="Batang"/>
              </a:rPr>
              <a:t>習 與 性 成 — 습관이 본성을 이룬다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입교 · 명륜 · 경신 · 계고 · 가언 · 선행 — 내편 4 · 외편 2 · 총 6편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목차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목 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3774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개요 — 소학은 어떤 책인가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7180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Ⅱ.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9718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구조 — 내편 4 · 외편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6616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Ⅲ.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5661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교육 5대 원리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1605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Ⅳ.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16052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6편 깊이 읽기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75488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Ⅴ.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75488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핵심 개념 — 구용·구사·오륜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37744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Ⅵ.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3774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명구와 일화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97180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Ⅶ.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9718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조선의 소학 — 500년의 운명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56616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Ⅷ.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35661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오늘 청소년에게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1605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Ⅸ.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416052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마무리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소학(小學) — 어린 시절의 배움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대학에 들어가기 전, 사람 됨됨이의 뼈대를 짓는 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· 「소(小)」 = 「격이 낮다」가 아니라 「어리고 근본적인 단계」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· 「대학(大學)」이 「대인의 학(大人之學)」이라면, 소학은 「인간 되기의 바탕」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· 옛 주(周)나라 교육 — 8세에 소학 입학 → 15세에 대학 입학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· 이 오래된 교육 체계를 남송의 주희(朱熹)가 재구성한 책이 곧 『소학』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· 새로 지은 책이 아니라, 옛 경전에서 가려 뽑아 엮은 「교육 안솔로지」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· 조선 500년 — 서당의 필수 교재, 사림파의 정체성, 선비의 「운영체제」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편찬자와 성립 — 주희(朱熹)의 만년 작업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1187년 · 주희 58세 · 제자 유청지와 함께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주희(朱熹, 1130~1200) — 남송의 대유, 성리학의 집대성자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유청지(劉清之, 자 자징) — 자료 수집·1차 정리를 주도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1187년(남송 순희 14년) 완성 — 주희 만년의 교육적 결정판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556070"/>
                </a:solidFill>
                <a:latin typeface="맑은 고딕"/>
              </a:rPr>
              <a:t>● 출전 — 『예기』·『의례』·『논어』·『맹자』·『효경』·『서경』·『시경』·『좌전』 등에서 가려 뽑음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556070"/>
                </a:solidFill>
                <a:latin typeface="맑은 고딕"/>
              </a:rPr>
              <a:t>● 주희의 문제의식 — 「대학(수기치인)의 학문은 깊지만, 일상의 기본 습관이 없으면 사상누각」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「소학은 배움의 뼈대를 만들고, 대학은 그 위에 근육을 붙인다」 — 주희의 선언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주희의 교육 체계 속 소학의 자리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86000"/>
            <a:ext cx="164592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6459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556070"/>
                </a:solidFill>
                <a:latin typeface="맑은 고딕"/>
              </a:rPr>
              <a:t>8~14세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2286000"/>
            <a:ext cx="256032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2286000"/>
            <a:ext cx="2560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Batang"/>
              </a:rPr>
              <a:t>소학(小學)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2331720"/>
            <a:ext cx="65836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일상 예절 · 기본 인성의 배움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063240"/>
            <a:ext cx="164592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063240"/>
            <a:ext cx="16459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556070"/>
                </a:solidFill>
                <a:latin typeface="맑은 고딕"/>
              </a:rPr>
              <a:t>15세~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80" y="3063240"/>
            <a:ext cx="256032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68880" y="3063240"/>
            <a:ext cx="2560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Batang"/>
              </a:rPr>
              <a:t>대학(大學)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108960"/>
            <a:ext cx="65836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격물·치지·성의·정심·수신·제가·치국·평천하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840480"/>
            <a:ext cx="164592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840480"/>
            <a:ext cx="16459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556070"/>
                </a:solidFill>
                <a:latin typeface="맑은 고딕"/>
              </a:rPr>
              <a:t>이후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68880" y="3840480"/>
            <a:ext cx="256032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68880" y="3840480"/>
            <a:ext cx="2560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Batang"/>
              </a:rPr>
              <a:t>논어(論語)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3886200"/>
            <a:ext cx="65836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배움의 근본 확립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617720"/>
            <a:ext cx="164592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617720"/>
            <a:ext cx="16459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556070"/>
                </a:solidFill>
                <a:latin typeface="맑은 고딕"/>
              </a:rPr>
              <a:t>이후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8880" y="4617720"/>
            <a:ext cx="256032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68880" y="4617720"/>
            <a:ext cx="2560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Batang"/>
              </a:rPr>
              <a:t>맹자(孟子)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63440"/>
            <a:ext cx="65836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배움의 발휘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394960"/>
            <a:ext cx="164592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394960"/>
            <a:ext cx="16459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556070"/>
                </a:solidFill>
                <a:latin typeface="맑은 고딕"/>
              </a:rPr>
              <a:t>이후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68880" y="5394960"/>
            <a:ext cx="256032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68880" y="5394960"/>
            <a:ext cx="2560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Batang"/>
              </a:rPr>
              <a:t>중용(中庸)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0" y="5440680"/>
            <a:ext cx="65836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배움의 미묘에 이름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2179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「소학 없이 대학을 읽는 사람은 기초 체력 없이 역도에 뛰어드는 자와 같다」 — 주희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나이별 교육 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입교(立敎) 편이 제시하는 발달 단계별 학습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201168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태교(胎敎)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011680"/>
            <a:ext cx="8961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뱃속의 아기도 교육 대상 — 부모의 보고 듣는 것이 영향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560320"/>
            <a:ext cx="201168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56032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6세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560320"/>
            <a:ext cx="8961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숫자와 방위의 이름을 가르친다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108960"/>
            <a:ext cx="201168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1089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7세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108960"/>
            <a:ext cx="8961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남녀의 자리를 구별한다 (남녀칠세부동석의 원형)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657600"/>
            <a:ext cx="201168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65760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8세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3657600"/>
            <a:ext cx="8961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집을 드나들거나 식사 때 반드시 어른 뒤에 따른다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206240"/>
            <a:ext cx="201168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20624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9세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4206240"/>
            <a:ext cx="8961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날짜와 달력을 가르친다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754880"/>
            <a:ext cx="201168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75488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10세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4754880"/>
            <a:ext cx="8961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외부 스승에게 — 글·수학·쇄소응대진퇴·예악·사어의 기초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303520"/>
            <a:ext cx="201168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30352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13세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5303520"/>
            <a:ext cx="8961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음악을 배우고 시(詩)를 외우며, 예전(禮典)을 익힌다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852160"/>
            <a:ext cx="201168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8521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15세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4640" y="5852160"/>
            <a:ext cx="8961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대학(大學)에 들어가 「대학의 도」를 본격 배운다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소학의 구조 — 내편 4 · 외편 2 · 총 6편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원리 → 실증 → 보충의 완성된 교육 설계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9728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>
                <a:solidFill>
                  <a:srgbClr val="8B1A1A"/>
                </a:solidFill>
                <a:latin typeface="맑은 고딕"/>
              </a:rPr>
              <a:t>● 내편(內篇) — 4편 — 「원리와 그 증명」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     1. 입교(立敎) — 교육의 확립 (원리)</a:t>
            </a:r>
          </a:p>
          <a:p>
            <a:pPr algn="l">
              <a:lnSpc>
                <a:spcPct val="135000"/>
              </a:lnSpc>
              <a:spcBef>
                <a:spcPts val="2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     2. 명륜(明倫) — 인륜의 밝힘 (원리)</a:t>
            </a:r>
          </a:p>
          <a:p>
            <a:pPr algn="l">
              <a:lnSpc>
                <a:spcPct val="135000"/>
              </a:lnSpc>
              <a:spcBef>
                <a:spcPts val="2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     3. 경신(敬身) — 자기 몸의 공경 (원리)</a:t>
            </a:r>
          </a:p>
          <a:p>
            <a:pPr algn="l">
              <a:lnSpc>
                <a:spcPct val="135000"/>
              </a:lnSpc>
              <a:spcBef>
                <a:spcPts val="2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     4. 계고(稽古) — 옛 성현의 실천 사례 (실증)</a:t>
            </a:r>
          </a:p>
          <a:p>
            <a:pPr algn="l">
              <a:lnSpc>
                <a:spcPct val="135000"/>
              </a:lnSpc>
              <a:spcBef>
                <a:spcPts val="1400"/>
              </a:spcBef>
            </a:pPr>
            <a:r>
              <a:rPr sz="1900" b="1">
                <a:solidFill>
                  <a:srgbClr val="8B1A1A"/>
                </a:solidFill>
                <a:latin typeface="맑은 고딕"/>
              </a:rPr>
              <a:t>● 외편(外篇) — 2편 — 「보충과 확장」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     5. 가언(嘉言) — 한·당·송 명현의 가르침 (말씀)</a:t>
            </a:r>
          </a:p>
          <a:p>
            <a:pPr algn="l">
              <a:lnSpc>
                <a:spcPct val="135000"/>
              </a:lnSpc>
              <a:spcBef>
                <a:spcPts val="2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     6. 선행(善行) — 한·당·송 명현의 모범적 행실 (행동)</a:t>
            </a:r>
          </a:p>
          <a:p>
            <a:pPr algn="l">
              <a:lnSpc>
                <a:spcPct val="135000"/>
              </a:lnSpc>
              <a:spcBef>
                <a:spcPts val="1400"/>
              </a:spcBef>
            </a:pPr>
            <a:r>
              <a:rPr sz="1500" b="0">
                <a:solidFill>
                  <a:srgbClr val="556070"/>
                </a:solidFill>
                <a:latin typeface="맑은 고딕"/>
              </a:rPr>
              <a:t>● 내편은 「고대 경전」, 외편은 「근세 스승들」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8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6편 한 폭으로 보기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10972800" cy="5029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554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구분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210312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편명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103120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성격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2103120"/>
            <a:ext cx="5577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핵심 주제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606040"/>
            <a:ext cx="1097280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606040"/>
            <a:ext cx="15544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556070"/>
                </a:solidFill>
                <a:latin typeface="맑은 고딕"/>
              </a:rPr>
              <a:t>내편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606040"/>
            <a:ext cx="20116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1. 입교(立敎)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606040"/>
            <a:ext cx="18288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원리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606040"/>
            <a:ext cx="54864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교육의 확립 — 태교부터 15세 대학 입학까지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200400"/>
            <a:ext cx="1097280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200400"/>
            <a:ext cx="15544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556070"/>
                </a:solidFill>
                <a:latin typeface="맑은 고딕"/>
              </a:rPr>
              <a:t>내편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3200400"/>
            <a:ext cx="20116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2. 명륜(明倫)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3200400"/>
            <a:ext cx="18288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원리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200400"/>
            <a:ext cx="54864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인륜(오륜)의 밝힘 — 부자·군신·부부·장유·붕우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794760"/>
            <a:ext cx="1097280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794760"/>
            <a:ext cx="15544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556070"/>
                </a:solidFill>
                <a:latin typeface="맑은 고딕"/>
              </a:rPr>
              <a:t>내편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3794760"/>
            <a:ext cx="20116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3. 경신(敬身)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3794760"/>
            <a:ext cx="18288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원리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3794760"/>
            <a:ext cx="54864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자기 몸의 공경 — 마음·몸가짐·옷·음식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389120"/>
            <a:ext cx="1097280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389120"/>
            <a:ext cx="15544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556070"/>
                </a:solidFill>
                <a:latin typeface="맑은 고딕"/>
              </a:rPr>
              <a:t>내편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4389120"/>
            <a:ext cx="20116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4. 계고(稽古)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4389120"/>
            <a:ext cx="18288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실증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4389120"/>
            <a:ext cx="54864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옛 성현이 실제로 어떻게 살았는가의 사례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983480"/>
            <a:ext cx="1097280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983480"/>
            <a:ext cx="15544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556070"/>
                </a:solidFill>
                <a:latin typeface="맑은 고딕"/>
              </a:rPr>
              <a:t>외편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94560" y="4983480"/>
            <a:ext cx="20116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5. 가언(嘉言)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06240" y="4983480"/>
            <a:ext cx="18288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보충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4983480"/>
            <a:ext cx="54864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한·당·송 명현의 아름다운 말씀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5577840"/>
            <a:ext cx="1097280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5577840"/>
            <a:ext cx="15544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556070"/>
                </a:solidFill>
                <a:latin typeface="맑은 고딕"/>
              </a:rPr>
              <a:t>외편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94560" y="5577840"/>
            <a:ext cx="20116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6. 선행(善行)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0" y="5577840"/>
            <a:ext cx="18288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보충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0" y="5577840"/>
            <a:ext cx="54864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한·당·송 명현의 모범적 행실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교육 5대 원리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9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소학을 꿰뚫는 다섯 가지 원리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6편을 관통하는 교육 철학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77724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777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554480" y="2194560"/>
            <a:ext cx="347472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194560"/>
            <a:ext cx="3474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Batang"/>
              </a:rPr>
              <a:t>習與性成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2240280"/>
            <a:ext cx="21945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습여성성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240280"/>
            <a:ext cx="438912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습관이 본성을 이룬다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971800"/>
            <a:ext cx="77724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971800"/>
            <a:ext cx="777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54480" y="2971800"/>
            <a:ext cx="347472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2971800"/>
            <a:ext cx="3474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Batang"/>
              </a:rPr>
              <a:t>灑掃應對進退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017520"/>
            <a:ext cx="21945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쇄소응대진퇴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3017520"/>
            <a:ext cx="438912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일상이 곧 교육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749039"/>
            <a:ext cx="77724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749039"/>
            <a:ext cx="777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54480" y="3749039"/>
            <a:ext cx="347472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54480" y="3749039"/>
            <a:ext cx="3474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Batang"/>
              </a:rPr>
              <a:t>先小學 後大學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3794759"/>
            <a:ext cx="21945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선소학 후대학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3794759"/>
            <a:ext cx="438912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순서가 있다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526279"/>
            <a:ext cx="77724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526279"/>
            <a:ext cx="777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54480" y="4526279"/>
            <a:ext cx="347472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54480" y="4526279"/>
            <a:ext cx="3474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Batang"/>
              </a:rPr>
              <a:t>立 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4571999"/>
            <a:ext cx="21945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입지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4571999"/>
            <a:ext cx="438912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뜻을 세움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5303520"/>
            <a:ext cx="77724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303520"/>
            <a:ext cx="777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54480" y="5303520"/>
            <a:ext cx="347472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54480" y="5303520"/>
            <a:ext cx="3474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Batang"/>
              </a:rPr>
              <a:t>以身敎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12080" y="5349240"/>
            <a:ext cx="21945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이신교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5349240"/>
            <a:ext cx="438912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몸으로 가르친다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교육 5대 원리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10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원리 1 — 습여성성(習與性成)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습관이 본성을 이룬다 — 사람은 만들어지는 것이다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교육의 핵심은 「지식 전달」이 아니라 「습관 형성」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사람은 타고나는 것이 아니라 어린 시절의 반복으로 만들어진다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좋은 습관이 몸에 배면 인격이 되고, 나쁜 습관이 몸에 배면 그 또한 인격이 된다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0">
                <a:solidFill>
                  <a:srgbClr val="556070"/>
                </a:solidFill>
                <a:latin typeface="Batang"/>
              </a:rPr>
              <a:t>● 출전 — 『서경·태갑』 「茲乃不義, 習與性成」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0">
                <a:solidFill>
                  <a:srgbClr val="556070"/>
                </a:solidFill>
                <a:latin typeface="맑은 고딕"/>
              </a:rPr>
              <a:t>● 오늘날의 behavioral psychology · 「Atomic Habits」의 2,000년 선행 이론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「어릴 때 들인 습관은 끝까지 간다」 — 소학 교육의 정언명령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교육 5대 원리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11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원리 2 — 쇄소응대진퇴(灑掃應對進退)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일상이 곧 교육 — 거창함이 아니라 작은 행위에서 출발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3566160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3566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Batang"/>
              </a:rPr>
              <a:t>灑 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3566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C8A25B"/>
                </a:solidFill>
                <a:latin typeface="맑은 고딕"/>
              </a:rPr>
              <a:t>쇄소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32004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물 뿌리고 빗자루로 쓸기.
청결과 책임의 습관.
방을 치우는 아이가
인생도 치울 수 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2103120"/>
            <a:ext cx="3566160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2103120"/>
            <a:ext cx="3566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Batang"/>
              </a:rPr>
              <a:t>應 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606040"/>
            <a:ext cx="3566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C8A25B"/>
                </a:solidFill>
                <a:latin typeface="맑은 고딕"/>
              </a:rPr>
              <a:t>응대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291840"/>
            <a:ext cx="32004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부르면 대답하고
물으면 답하기.
말의 태도가 곧 인격.
응답의 결이 사람을 만든다.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2103120"/>
            <a:ext cx="3566160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103120"/>
            <a:ext cx="3566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Batang"/>
              </a:rPr>
              <a:t>進 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606040"/>
            <a:ext cx="3566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C8A25B"/>
                </a:solidFill>
                <a:latin typeface="맑은 고딕"/>
              </a:rPr>
              <a:t>진퇴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3291840"/>
            <a:ext cx="32004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나아가고 물러나는
몸가짐.
어른 앞에서, 모임에서,
언제 어디서 멈출 줄 아는 감각.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교육 5대 원리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12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원리 3 — 선소학 후대학(先小學 後大學)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순서가 있다 — 기초 없는 심화는 공허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작은 배움을 먼저, 큰 배움을 나중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수기(修己) 없는 치인(治人)은 재앙 — 인격 없는 권력은 흉기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0">
                <a:solidFill>
                  <a:srgbClr val="556070"/>
                </a:solidFill>
                <a:latin typeface="맑은 고딕"/>
              </a:rPr>
              <a:t>● 「집 없이 지붕을 올리는 일과 같다」 — 퇴계 이황의 비유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「소학 없이 사서삼경에 뛰어드는 건 빠른 게 아니라 빗나간 것」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0">
                <a:solidFill>
                  <a:srgbClr val="556070"/>
                </a:solidFill>
                <a:latin typeface="맑은 고딕"/>
              </a:rPr>
              <a:t>● 김굉필이 30세까지 소학만 파고든 이유 — 「아직 소학도 다 체득하지 못했다」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교육 5대 원리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13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원리 4 — 입지(立志)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뜻을 세움 — 「성인으로 자기를 기약하라」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2103120"/>
            <a:ext cx="8503920" cy="9144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103120"/>
            <a:ext cx="85039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8B1A1A"/>
                </a:solidFill>
                <a:latin typeface="Batang"/>
              </a:rPr>
              <a:t>立 志 以 聖 人 自 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01752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뜻을 세우되 성인(聖人)으로 자기를 기약하라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5760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소학은 「순한 애를 만드는 책」이 아니다 — 「큰 사람을 만드는 책」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뜻이 낮으면 평생 낮다 — 꿈의 크기가 삶의 크기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556070"/>
                </a:solidFill>
                <a:latin typeface="맑은 고딕"/>
              </a:rPr>
              <a:t>● 율곡 『격몽요결』 — 16개 조의 제1조가 「입지(立志)」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「착한 아이가 되라」가 아닌 「역사에 이름을 남기는 사람이 되라」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교육 5대 원리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14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원리 5 — 이신교(以身敎)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몸으로 가르친다 — 말이 아닌 삶으로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2103120"/>
            <a:ext cx="8503920" cy="9144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103120"/>
            <a:ext cx="85039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8B1A1A"/>
                </a:solidFill>
                <a:latin typeface="Batang"/>
              </a:rPr>
              <a:t>以 身 敎, 不 以 言 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01752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몸으로 가르치되, 말로 가르치지 말라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5760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부모·스승·어른이 먼저 실천해야 아이가 배운다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「계고」·「선행」 편의 모든 사례 — 「이 사람은 이렇게 살았다」는 모범의 실증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556070"/>
                </a:solidFill>
                <a:latin typeface="맑은 고딕"/>
              </a:rPr>
              <a:t>● 증자(曾子) — 아내가 농담으로 한 약속(돼지를 잡아주마)을 실제로 지킴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가장 강력한 교육은 옆에서 보고 자라는 것이다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6편 깊이 읽기 (1/6)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15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① 입교(立敎) — 교육의 확립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내편 첫 편 — 「무엇을 어떻게 가르치는가」의 원리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>
                <a:solidFill>
                  <a:srgbClr val="8B1A1A"/>
                </a:solidFill>
                <a:latin typeface="Batang"/>
              </a:rPr>
              <a:t>● 핵심 명제 — 「習與性成」 — 습관이 본성을 이룬다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발달 단계별 교육 — 태교 → 6세 → 7세 → 8세 → 9세 → 10세 → 13세 → 15세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「쇄소응대진퇴」 — 소학의 근본 행위 — 청소·인사·자리 지키기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Batang"/>
              </a:rPr>
              <a:t>● 「예악사어서수(禮樂射御書數)」 — 육예(六藝)의 학습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0">
                <a:solidFill>
                  <a:srgbClr val="556070"/>
                </a:solidFill>
                <a:latin typeface="맑은 고딕"/>
              </a:rPr>
              <a:t>● 교육은 거창한 사상 전수가 아니라 「일상의 반복 훈련」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「청소를 시키고, 인사를 시키고, 자리를 구분하게 하는 것이 교육의 뼈대」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6편 깊이 읽기 (2/6)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16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② 명륜(明倫) — 인륜을 밝힘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내편 둘째 편 — 오륜(五倫), 인간관계의 다섯 기둥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246888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24688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Batang"/>
              </a:rPr>
              <a:t>父子有親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2194560"/>
            <a:ext cx="164592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2194560"/>
            <a:ext cx="16459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부자유친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240280"/>
            <a:ext cx="18288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부모-자식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240280"/>
            <a:ext cx="484632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친·효 — 문안, 봉양, 제사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971800"/>
            <a:ext cx="246888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971800"/>
            <a:ext cx="24688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Batang"/>
              </a:rPr>
              <a:t>君臣有義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2971800"/>
            <a:ext cx="164592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2971800"/>
            <a:ext cx="16459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군신유의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017520"/>
            <a:ext cx="18288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군주-신하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017520"/>
            <a:ext cx="484632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의·충 — 바른 일로 섬김, 간언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749039"/>
            <a:ext cx="246888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749039"/>
            <a:ext cx="24688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Batang"/>
              </a:rPr>
              <a:t>夫婦有別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3749039"/>
            <a:ext cx="164592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0" y="3749039"/>
            <a:ext cx="16459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부부유별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3794759"/>
            <a:ext cx="18288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남편-아내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3794759"/>
            <a:ext cx="484632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별·경 — 역할 구분, 상호 공경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526279"/>
            <a:ext cx="246888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526279"/>
            <a:ext cx="24688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Batang"/>
              </a:rPr>
              <a:t>長幼有序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0" y="4526279"/>
            <a:ext cx="164592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0" y="4526279"/>
            <a:ext cx="16459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장유유서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4571999"/>
            <a:ext cx="18288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어른-아이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4571999"/>
            <a:ext cx="484632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서·제 — 형우제공, 자리의 질서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5303520"/>
            <a:ext cx="246888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303520"/>
            <a:ext cx="24688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Batang"/>
              </a:rPr>
              <a:t>朋友有信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0" y="5303520"/>
            <a:ext cx="164592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0" y="5303520"/>
            <a:ext cx="16459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붕우유신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5349240"/>
            <a:ext cx="18288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벗-벗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5349240"/>
            <a:ext cx="484632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신·우 — 말의 신뢰, 선으로 인도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6편 깊이 읽기 (3/6)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17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③ 경신(敬身) — 자기 몸을 공경하라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내편 셋째 편 — 「내 몸은 부모의 끼친 몸」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● 핵심 명제 — 「君子之自身, 父母之遺體」 — 내 몸은 부모의 끼친 몸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네 갈래로 자기를 다스린다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     · 心術(심술) — 마음가짐 — 구용(九容)·구사(九思)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     · 威儀(위의) — 앉고 서고 걷는 몸가짐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     · 衣服(의복) — 때·자리에 맞는 옷차림, 사치·남루 모두 경계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     · 飮食(음식) — 식사의 예절, 식탐 경계, 절도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600" b="0">
                <a:solidFill>
                  <a:srgbClr val="556070"/>
                </a:solidFill>
                <a:latin typeface="맑은 고딕"/>
              </a:rPr>
              <a:t>● 작은 태도가 쌓여 한 사람의 품격이 된다 — 「body language의 동양 원형」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6편 깊이 읽기 (4/6)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18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④ 계고(稽古) — 옛것을 상고하다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내편 넷째 편 — 「원리의 실증 — 옛사람은 이렇게 했다」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입교·명륜·경신의 원리를 「상고(上古)의 인물 사례」로 증명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대표 사례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     · 순(舜) — 완악한 아버지·계모·동생 사이에서 효를 다함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     · 맹모삼천(孟母三遷)·맹모단기(孟母斷機) — 교육 환경의 결정성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     · 어린 공자 — 제기를 모아 제사 놀이를 한 일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     · 증자(曾子) — 아내의 농담을 진실로 지켜 돼지를 잡음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     · 동중서(董仲舒) — 3년간 장막을 내리고 책만 읽음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600" b="1">
                <a:solidFill>
                  <a:srgbClr val="556070"/>
                </a:solidFill>
                <a:latin typeface="맑은 고딕"/>
              </a:rPr>
              <a:t>● 「스토리텔링 교육」의 원형 — 추상이 아닌 구체로 가르친다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6편 깊이 읽기 (5/6)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19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⑤ 가언(嘉言) — 아름다운 말씀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외편 첫 편 — 한·당·송 명현의 어록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송대 성리학자들의 명언을 중심으로 선별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인용된 주요 인물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     · 주돈이(周敦頤, 염계) — 『태극도설』·『통서』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     · 장재(張載, 횡거) — 「위천지입심, 위생민입명, 위왕성계절학, 위만세개태평」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     · 정호·정이(明道·伊川) 형제 — 성리학의 뼈대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     · 사마광(司馬光) — 『가범(家範)』의 가훈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     · 주희 자신 — 자기 편지·어록 일부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0">
                <a:solidFill>
                  <a:srgbClr val="556070"/>
                </a:solidFill>
                <a:latin typeface="맑은 고딕"/>
              </a:rPr>
              <a:t>● 핵심 주제 — 자기 수양·독서·치가·관리의 자세·말의 신중함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500" b="0">
                <a:solidFill>
                  <a:srgbClr val="1F2A44"/>
                </a:solidFill>
                <a:latin typeface="Batang"/>
              </a:rPr>
              <a:t>● 대표 명구 — 「立志以聖人自期」 「讀書百遍義自見」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6편 깊이 읽기 (6/6)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20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⑥ 선행(善行) — 모범적 행실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외편 둘째 편 — 가언이 「말」이라면 선행은 「행동」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송대 유학자들의 일상 — 부모·형제·스승·벗·자식·이웃에게 어떻게 살았는가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대표 일화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500" b="0">
                <a:solidFill>
                  <a:srgbClr val="1F2A44"/>
                </a:solidFill>
                <a:latin typeface="Batang"/>
              </a:rPr>
              <a:t>     · 범중엄(范仲淹) — 「先天下之憂而憂, 後天下之樂而樂」 · 의전(義田) 설립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     · 사마광(司馬光) — 어린 시절 장독대에 빠진 친구를 돌로 깨뜨려 구함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500" b="0">
                <a:solidFill>
                  <a:srgbClr val="1F2A44"/>
                </a:solidFill>
                <a:latin typeface="Batang"/>
              </a:rPr>
              <a:t>     · 정이천(程伊川) — 눈 속에 스승 집 앞에 선 채 기다림 (「程門立雪」)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     · 황향(黃香) — 여름엔 부친 잠자리를 부채질, 겨울엔 이불을 데움 (「黃香溫席」)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600" b="1">
                <a:solidFill>
                  <a:srgbClr val="556070"/>
                </a:solidFill>
                <a:latin typeface="맑은 고딕"/>
              </a:rPr>
              <a:t>● 「행실의 데이터베이스」 — 「이럴 때 이런 어른은 이렇게 했다」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500" b="0">
                <a:solidFill>
                  <a:srgbClr val="556070"/>
                </a:solidFill>
                <a:latin typeface="맑은 고딕"/>
              </a:rPr>
              <a:t>● 오늘날의 case-based learning, 자기계발서 사례 학습의 완벽한 원형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핵심 개념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21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구용(九容) — 몸가짐의 아홉 가지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경신(敬身) 편의 핵심 — 일거수일투족의 규범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3566160" cy="11887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3566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Batang"/>
              </a:rPr>
              <a:t>足容重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족용중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A44"/>
                </a:solidFill>
                <a:latin typeface="맑은 고딕"/>
              </a:rPr>
              <a:t>발은 무겁게 — 경솔히 움직이지 않는다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2103120"/>
            <a:ext cx="3566160" cy="11887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2194560"/>
            <a:ext cx="3566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Batang"/>
              </a:rPr>
              <a:t>手容恭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65176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수용공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9260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A44"/>
                </a:solidFill>
                <a:latin typeface="맑은 고딕"/>
              </a:rPr>
              <a:t>손은 공손하게 — 함부로 휘젓지 않는다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2103120"/>
            <a:ext cx="3566160" cy="11887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194560"/>
            <a:ext cx="3566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Batang"/>
              </a:rPr>
              <a:t>目容端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65176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목용단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9260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A44"/>
                </a:solidFill>
                <a:latin typeface="맑은 고딕"/>
              </a:rPr>
              <a:t>눈은 단정하게 — 흘낏거리지 않는다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474720"/>
            <a:ext cx="3566160" cy="11887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566160"/>
            <a:ext cx="3566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Batang"/>
              </a:rPr>
              <a:t>口容止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02336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구용지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2976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A44"/>
                </a:solidFill>
                <a:latin typeface="맑은 고딕"/>
              </a:rPr>
              <a:t>입은 다물고 — 까닭 없이 떠벌리지 않는다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80560" y="3474720"/>
            <a:ext cx="3566160" cy="11887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60" y="3566160"/>
            <a:ext cx="3566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Batang"/>
              </a:rPr>
              <a:t>聲容靜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6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성용정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42976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A44"/>
                </a:solidFill>
                <a:latin typeface="맑은 고딕"/>
              </a:rPr>
              <a:t>소리는 고요하게 — 큰 소리로 외치지 않는다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21040" y="3474720"/>
            <a:ext cx="3566160" cy="11887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3566160"/>
            <a:ext cx="3566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Batang"/>
              </a:rPr>
              <a:t>頭容直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02336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두용직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42976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A44"/>
                </a:solidFill>
                <a:latin typeface="맑은 고딕"/>
              </a:rPr>
              <a:t>머리는 곧게 — 기울이지 않는다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846320"/>
            <a:ext cx="3566160" cy="11887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937760"/>
            <a:ext cx="3566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Batang"/>
              </a:rPr>
              <a:t>氣容肅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39496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기용숙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6692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A44"/>
                </a:solidFill>
                <a:latin typeface="맑은 고딕"/>
              </a:rPr>
              <a:t>기는 엄숙하게 — 거친 숨을 내쉬지 않는다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80560" y="4846320"/>
            <a:ext cx="3566160" cy="11887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80560" y="4937760"/>
            <a:ext cx="3566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Batang"/>
              </a:rPr>
              <a:t>立容德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539496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입용덕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63440" y="56692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A44"/>
                </a:solidFill>
                <a:latin typeface="맑은 고딕"/>
              </a:rPr>
              <a:t>섰을 때는 덕스럽게 — 비스듬히 기대지 않는다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21040" y="4846320"/>
            <a:ext cx="3566160" cy="11887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21040" y="4937760"/>
            <a:ext cx="3566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Batang"/>
              </a:rPr>
              <a:t>色容莊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539496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색용장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3920" y="56692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A44"/>
                </a:solidFill>
                <a:latin typeface="맑은 고딕"/>
              </a:rPr>
              <a:t>얼굴빛은 장엄하게 — 가벼이 변하지 않는다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핵심 개념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22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구사(九思) — 생각의 아홉 가지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경신(敬身) 편의 또 다른 핵심 — 매 순간의 마음 점검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3566160" cy="11887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3566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Batang"/>
              </a:rPr>
              <a:t>視思明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시사명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A44"/>
                </a:solidFill>
                <a:latin typeface="맑은 고딕"/>
              </a:rPr>
              <a:t>볼 때는 — 밝음을 생각하라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2103120"/>
            <a:ext cx="3566160" cy="11887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2194560"/>
            <a:ext cx="3566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Batang"/>
              </a:rPr>
              <a:t>聽思聰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65176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청사총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9260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A44"/>
                </a:solidFill>
                <a:latin typeface="맑은 고딕"/>
              </a:rPr>
              <a:t>들을 때는 — 총명함을 생각하라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2103120"/>
            <a:ext cx="3566160" cy="11887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194560"/>
            <a:ext cx="3566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Batang"/>
              </a:rPr>
              <a:t>色思溫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65176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색사온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9260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A44"/>
                </a:solidFill>
                <a:latin typeface="맑은 고딕"/>
              </a:rPr>
              <a:t>얼굴빛은 — 따스함을 생각하라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474720"/>
            <a:ext cx="3566160" cy="11887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566160"/>
            <a:ext cx="3566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Batang"/>
              </a:rPr>
              <a:t>貌思恭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02336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모사공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2976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A44"/>
                </a:solidFill>
                <a:latin typeface="맑은 고딕"/>
              </a:rPr>
              <a:t>모습은 — 공손함을 생각하라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80560" y="3474720"/>
            <a:ext cx="3566160" cy="11887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60" y="3566160"/>
            <a:ext cx="3566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Batang"/>
              </a:rPr>
              <a:t>言思忠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6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언사충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42976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A44"/>
                </a:solidFill>
                <a:latin typeface="맑은 고딕"/>
              </a:rPr>
              <a:t>말은 — 충실함을 생각하라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21040" y="3474720"/>
            <a:ext cx="3566160" cy="11887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3566160"/>
            <a:ext cx="3566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Batang"/>
              </a:rPr>
              <a:t>事思敬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02336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사사경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42976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A44"/>
                </a:solidFill>
                <a:latin typeface="맑은 고딕"/>
              </a:rPr>
              <a:t>일은 — 공경함을 생각하라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846320"/>
            <a:ext cx="3566160" cy="11887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937760"/>
            <a:ext cx="3566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Batang"/>
              </a:rPr>
              <a:t>疑思問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39496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의사문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6692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A44"/>
                </a:solidFill>
                <a:latin typeface="맑은 고딕"/>
              </a:rPr>
              <a:t>의심 날 때는 — 물음을 생각하라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80560" y="4846320"/>
            <a:ext cx="3566160" cy="11887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80560" y="4937760"/>
            <a:ext cx="3566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Batang"/>
              </a:rPr>
              <a:t>忿思難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539496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분사난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63440" y="56692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A44"/>
                </a:solidFill>
                <a:latin typeface="맑은 고딕"/>
              </a:rPr>
              <a:t>화날 때는 — 어려움을 생각하라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21040" y="4846320"/>
            <a:ext cx="3566160" cy="11887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21040" y="4937760"/>
            <a:ext cx="3566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Batang"/>
              </a:rPr>
              <a:t>見得思義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539496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견득사의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3920" y="56692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A44"/>
                </a:solidFill>
                <a:latin typeface="맑은 고딕"/>
              </a:rPr>
              <a:t>얻을 때는 — 의로움을 생각하라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핵심 개념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23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효(孝) — 명륜의 절반을 차지하는 주제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소학이 효를 가르치는 결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103120"/>
            <a:ext cx="9418320" cy="10058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103120"/>
            <a:ext cx="941832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8B1A1A"/>
                </a:solidFill>
                <a:latin typeface="Batang"/>
              </a:rPr>
              <a:t>身 體 髮 膚, 受 之 父 母
不 敢 毁 傷, 孝 之 始 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108960"/>
            <a:ext cx="9418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몸·머리카락·살갗은 부모로부터 받은 것 / 감히 헐고 다치게 하지 않음이 효의 시작이다 — 『효경』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4048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700" b="0">
                <a:solidFill>
                  <a:srgbClr val="1F2A44"/>
                </a:solidFill>
                <a:latin typeface="Batang"/>
              </a:rPr>
              <a:t>● 「혼정신성(昏定晨省)」 — 저녁엔 잠자리를 봐드리고, 새벽엔 문안 인사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「부모의 뜻을 살핀다」 — 말씀하시기 전에 알아채는 것이 효의 본질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효는 부모만이 아닌 모든 어른에 대한 「공경의 결」로 확장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Batang"/>
              </a:rPr>
              <a:t>● 「兄友弟恭(형우제공)」 — 형은 사랑하고 아우는 공경 — 효의 자매편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핵심 개념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24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벗을 가리는 법 — 익자삼우 · 손자삼우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명륜·붕우유신의 핵심 — 어떤 친구를 사귈 것인가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5394960" cy="9144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5394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Batang"/>
              </a:rPr>
              <a:t>益者三友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5394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C8A25B"/>
                </a:solidFill>
                <a:latin typeface="맑은 고딕"/>
              </a:rPr>
              <a:t>이로운 세 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50292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直 — 정직한 벗
諒 — 신실한 벗
多 聞 — 견문이 넓은 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103120"/>
            <a:ext cx="5394960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103120"/>
            <a:ext cx="5394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Batang"/>
              </a:rPr>
              <a:t>損者三友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606040"/>
            <a:ext cx="5394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C8A25B"/>
                </a:solidFill>
                <a:latin typeface="맑은 고딕"/>
              </a:rPr>
              <a:t>해로운 세 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291840"/>
            <a:ext cx="50292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便辟 — 비위 맞추는 벗
善柔 — 줏대 없이 부드러운 벗
便佞 — 말만 잘하는 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— 『논어·계씨』 인용 (명륜 편)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명구와 일화 (1/12)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25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서경·태갑 / 소학 입교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8B1A1A"/>
                </a:solidFill>
                <a:latin typeface="Batang"/>
              </a:rPr>
              <a:t>習 與 性 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습관이 본성을 이룬다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소학 전체를 꿰뚫는 한 마디. 사람은 타고나는 것이 아니라 어린 시절의 반복으로 만들어진다.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명구와 일화 (2/12)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26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소학 입교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8B1A1A"/>
                </a:solidFill>
                <a:latin typeface="Batang"/>
              </a:rPr>
              <a:t>灑 掃 應 對 進 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물 뿌리고 쓸기 · 응답하기 · 나아가고 물러나기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소학의 근본 행위. 큰 도는 작은 행동에서 시작된다. 청소·인사·자리 지키기가 교육의 뼈대.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명구와 일화 (3/12)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27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효경 / 소학 명륜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8B1A1A"/>
                </a:solidFill>
                <a:latin typeface="Batang"/>
              </a:rPr>
              <a:t>身 體 髮 膚, 受 之 父 母  不 敢 毁 傷, 孝 之 始 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몸과 머리카락은 부모로부터 받은 것이니, 헐고 다치지 않음이 효의 시작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내 몸은 내 것이 아니라 부모의 끼친 몸이다 — 자기 관리가 효의 출발이라는 동양적 관점.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명구와 일화 (4/12)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28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소학 경신 — 구용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8B1A1A"/>
                </a:solidFill>
                <a:latin typeface="Batang"/>
              </a:rPr>
              <a:t>足 容 重, 手 容 恭, 目 容 端, 口 容 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발은 무겁게, 손은 공손하게, 눈은 단정하게, 입은 다물고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경신 편의 핵심. 율곡 『격몽요결』 「지신」장의 근간 — 조선 선비의 일거수일투족을 규정한 원전.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명구와 일화 (5/12)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29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소학 경신 — 구사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8B1A1A"/>
                </a:solidFill>
                <a:latin typeface="Batang"/>
              </a:rPr>
              <a:t>見 得 思 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얻을 때는 의로움을 생각하라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구사(九思)의 마지막 항목. 이익 앞에서 의를 잊지 않는 것 — 동양 윤리의 가장 어려운 한 줄.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명구와 일화 (6/12)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30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논어 계씨 / 소학 명륜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8B1A1A"/>
                </a:solidFill>
                <a:latin typeface="Batang"/>
              </a:rPr>
              <a:t>益 者 三 友 — 直 · 諒 · 多 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이로운 세 벗 — 정직·신실·견문 넓은 벗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벗 사귐의 기준. 누구와 어울리느냐가 사람을 결정한다. 명륜의 「붕우유신」 핵심.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명구와 일화 (7/12)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31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장재(횡거) / 소학 가언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8B1A1A"/>
                </a:solidFill>
                <a:latin typeface="Batang"/>
              </a:rPr>
              <a:t>爲 天 地 立 心  爲 生 民 立 命  爲 往 聖 繼 絕 學  爲 萬 世 開 太 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천지를 위해 마음을 세우고, 백성을 위해 명을 세우며, 옛 성인을 위해 끊긴 학문을 잇고, 만세를 위해 태평을 연다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횡거 사구(四句) — 조선 선비의 정신적 좌우명. 입지(立志)의 최고 표현.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명구와 일화 (8/12)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32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범중엄 / 소학 선행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8B1A1A"/>
                </a:solidFill>
                <a:latin typeface="Batang"/>
              </a:rPr>
              <a:t>先 天 下 之 憂 而 憂  後 天 下 之 樂 而 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천하의 근심을 먼저 근심하고, 천하의 즐거움을 뒤에 즐긴다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북송 명재상 범중엄의 좌우명. 「공인(公人)」의 자세 — 자기 즐거움을 뒤로 미루는 사람만이 공직에 적합하다.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명구와 일화 (9/12)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33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소학 가언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8B1A1A"/>
                </a:solidFill>
                <a:latin typeface="Batang"/>
              </a:rPr>
              <a:t>立 志 以 聖 人 自 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뜻을 세우되 성인(聖人)으로 자기를 기약하라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소학의 입지(立志) 가르침. 율곡 『격몽요결』 제1조 「입지」가 이 한 줄을 풀이.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명구와 일화 (10/12)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34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주희 / 소학 가언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8B1A1A"/>
                </a:solidFill>
                <a:latin typeface="Batang"/>
              </a:rPr>
              <a:t>讀 書 百 遍, 義 自 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책을 백 번 읽으면 뜻이 저절로 드러난다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주희가 강조한 독서법. 진리는 반복 속에서 스스로 모습을 드러낸다 — 동양 독서론의 핵심.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명구와 일화 (11/12)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35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정문입설(程門立雪) — 소학 선행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8B1A1A"/>
                </a:solidFill>
                <a:latin typeface="Batang"/>
              </a:rPr>
              <a:t>雪 中 立 候, 程 門 三 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눈 속에 서서 기다리니, 정문(程門)에 눈이 석 자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정이천의 제자 양시(楊時)와 유작(游酢)이 잠든 스승을 깨우지 않으려 눈 속에 선 채 기다림 — 스승을 모시는 정성의 표상.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명구와 일화 (12/12)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36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황향온석(黃香溫席) — 소학 선행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8B1A1A"/>
                </a:solidFill>
                <a:latin typeface="Batang"/>
              </a:rPr>
              <a:t>夏 扇 父 枕  冬 溫 父 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여름엔 아버지 베개에 부채질을, 겨울엔 아버지 이불을 데움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9세의 황향(黃香)이 아버지를 위해 한 일. 효의 가장 따스한 동양적 이미지로 24효(孝)의 하나.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조선의 소학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37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조선 500년 — 한 권의 책이 한 학파를 만들다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서당의 필수 교재 · 사림파의 정체성 · 선비의 운영체제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고려 말 — 안향·정몽주·이색을 통해 주자학과 함께 도입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세종 — 왕실 교육의 기본 교재. 경연에서 신하들과 소학을 강론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세조·성종 — 『소학언해(小學諺解)』 간행, 한문 모르는 이도 읽을 수 있게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중종 — 조광조 주도의 「소학 부흥 운동」, 전국 유생 필수화 시도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연산군(1505) — 갑자사화 후 소학을 금서로 지정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556070"/>
                </a:solidFill>
                <a:latin typeface="맑은 고딕"/>
              </a:rPr>
              <a:t>● 중종반정(1506) 후 복권 — 「금지되었다는 사실 자체가 소학의 권위를 더 높였다」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조선의 소학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38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조선 서당의 학습 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소학은 「유학의 세계로 들어가는 문」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137160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1371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556070"/>
                </a:solidFill>
                <a:latin typeface="맑은 고딕"/>
              </a:rPr>
              <a:t>5~7세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0" y="2194560"/>
            <a:ext cx="2377440" cy="6400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4560" y="2194560"/>
            <a:ext cx="2377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Batang"/>
              </a:rPr>
              <a:t>千 字 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240280"/>
            <a:ext cx="14630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천자문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240280"/>
            <a:ext cx="54864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한자 1,000자와 기본 우주론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971800"/>
            <a:ext cx="137160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971800"/>
            <a:ext cx="1371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556070"/>
                </a:solidFill>
                <a:latin typeface="맑은 고딕"/>
              </a:rPr>
              <a:t>7~9세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94560" y="2971800"/>
            <a:ext cx="2377440" cy="6400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4560" y="2971800"/>
            <a:ext cx="2377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Batang"/>
              </a:rPr>
              <a:t>童 蒙 先 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017520"/>
            <a:ext cx="14630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동몽선습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017520"/>
            <a:ext cx="54864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오륜의 간략한 해설 (박세무, 조선 자작)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749039"/>
            <a:ext cx="137160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749039"/>
            <a:ext cx="1371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556070"/>
                </a:solidFill>
                <a:latin typeface="맑은 고딕"/>
              </a:rPr>
              <a:t>9~15세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94560" y="3749039"/>
            <a:ext cx="237744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94560" y="3749039"/>
            <a:ext cx="2377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Batang"/>
              </a:rPr>
              <a:t>小 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3794759"/>
            <a:ext cx="14630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소학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794759"/>
            <a:ext cx="54864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일상·오륜·역사 사례의 종합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526279"/>
            <a:ext cx="137160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526279"/>
            <a:ext cx="1371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556070"/>
                </a:solidFill>
                <a:latin typeface="맑은 고딕"/>
              </a:rPr>
              <a:t>15세~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94560" y="4526279"/>
            <a:ext cx="2377440" cy="6400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94560" y="4526279"/>
            <a:ext cx="2377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Batang"/>
              </a:rPr>
              <a:t>四 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4571999"/>
            <a:ext cx="14630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사서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4571999"/>
            <a:ext cx="54864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대학 → 논어 → 맹자 → 중용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5303520"/>
            <a:ext cx="137160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303520"/>
            <a:ext cx="1371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556070"/>
                </a:solidFill>
                <a:latin typeface="맑은 고딕"/>
              </a:rPr>
              <a:t>이후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94560" y="5303520"/>
            <a:ext cx="2377440" cy="6400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94560" y="5303520"/>
            <a:ext cx="2377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Batang"/>
              </a:rPr>
              <a:t>三 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5349240"/>
            <a:ext cx="14630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삼경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5349240"/>
            <a:ext cx="54864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예기·춘추 → 과거 준비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조선의 소학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39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김굉필(金宏弼) — 「소학동자(小學童子)」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소학만 읽어도 군자가 될 수 있음을 증명한 사람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103120"/>
            <a:ext cx="9418320" cy="10058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103120"/>
            <a:ext cx="941832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8B1A1A"/>
                </a:solidFill>
                <a:latin typeface="Batang"/>
              </a:rPr>
              <a:t>讀 小 學 書, 方 覺 從 前 非 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108960"/>
            <a:ext cx="9418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소학을 읽고 나서야 비로소 어제까지의 내가 사람이 아니었음을 깨달았다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4048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한훤당 김굉필(1454~1504) — 20대 후반까지 소학만 깊이 파고듦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자기 호를 「소학동자(小學童子) — 소학을 배우는 어린아이」라 부르게 함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30세가 되어서야 비로소 육경(六經)으로 나아감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사림파의 시조 — 그의 제자가 정여창·조광조, 그 학맥이 이언적·이황·이이로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700" b="0">
                <a:solidFill>
                  <a:srgbClr val="556070"/>
                </a:solidFill>
                <a:latin typeface="맑은 고딕"/>
              </a:rPr>
              <a:t>● 갑자사화(1504)에 처형되었으나 그가 뿌린 씨앗이 조선 성리학의 정통이 됨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조선의 소학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40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조광조(趙光祖) — 소학을 정치 개혁의 무기로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정암(靜菴) · 38세에 죽임당한 천재 개혁가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조광조(1482~1519) — 김굉필의 제자, 중종의 신임을 얻어 사림 정치 주도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「지치주의(至治主義)」 개혁의 중심에 「소학 보급」을 놓음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전국 향교·서원의 소학 교육 의무화를 추진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556070"/>
                </a:solidFill>
                <a:latin typeface="맑은 고딕"/>
              </a:rPr>
              <a:t>● 「온 나라를 소학의 원리로 교화한다」는 비전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기묘사화(1519)로 38세에 죽임당함 — 「소학이 정치의 뿌리가 될 수 있다」는 그의 시도는 꺾임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그러나 그의 정신은 이후 300년간 조선 선비들의 표준이 됨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조선의 소학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41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조선 4대 유학자의 소학 평가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5394960" cy="2011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8B1A1A"/>
                </a:solidFill>
                <a:latin typeface="맑은 고딕"/>
              </a:rPr>
              <a:t>퇴계 이황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6070"/>
                </a:solidFill>
                <a:latin typeface="Batang"/>
              </a:rPr>
              <a:t>退溪 李滉 (1501~1570)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71800"/>
            <a:ext cx="5029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1F2A44"/>
                </a:solidFill>
                <a:latin typeface="맑은 고딕"/>
              </a:rPr>
              <a:t>「소학이 대학의 밑받침」 — 『성학십도』 제3도 「소학도(小學圖)」를 따로 그려 선조에게 올림.
왕에게도 소학을 권한 담대한 진언.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103120"/>
            <a:ext cx="5394960" cy="2011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19456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8B1A1A"/>
                </a:solidFill>
                <a:latin typeface="맑은 고딕"/>
              </a:rPr>
              <a:t>율곡 이이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60604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6070"/>
                </a:solidFill>
                <a:latin typeface="Batang"/>
              </a:rPr>
              <a:t>栗谷 李珥 (1536~1584)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971800"/>
            <a:ext cx="5029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1F2A44"/>
                </a:solidFill>
                <a:latin typeface="맑은 고딕"/>
              </a:rPr>
              <a:t>『격몽요결』 — 사실상 「조선판 소학 재편집」.
『학교모범』 — 16개 조항의 제1조 입지(立志), 제2조 검신(檢身).
「小學者, 立德之基, 敎化之本」.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297679"/>
            <a:ext cx="5394960" cy="2011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389119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8B1A1A"/>
                </a:solidFill>
                <a:latin typeface="맑은 고딕"/>
              </a:rPr>
              <a:t>우암 송시열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00599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6070"/>
                </a:solidFill>
                <a:latin typeface="Batang"/>
              </a:rPr>
              <a:t>尤庵 宋時烈 (1607~1689)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166359"/>
            <a:ext cx="5029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1F2A44"/>
                </a:solidFill>
                <a:latin typeface="맑은 고딕"/>
              </a:rPr>
              <a:t>「만약 한 권의 책을 평생 읽으라 한다면 나는 소학을 택하겠다.」
노년에도 소학을 손에서 놓지 않았다.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4297679"/>
            <a:ext cx="5394960" cy="2011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4389119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8B1A1A"/>
                </a:solidFill>
                <a:latin typeface="맑은 고딕"/>
              </a:rPr>
              <a:t>다산 정약용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800599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6070"/>
                </a:solidFill>
                <a:latin typeface="Batang"/>
              </a:rPr>
              <a:t>茶山 丁若鏞 (1762~1836)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5166359"/>
            <a:ext cx="5029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1F2A44"/>
                </a:solidFill>
                <a:latin typeface="맑은 고딕"/>
              </a:rPr>
              <a:t>두 아들에게 보낸 유배지의 편지 — 「소학의 구용·구사를 매일 실천하라」.
실학자가 마지막에 인정한 소학의 보편성.
『소학주관(小學珠串)』 저술.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조선의 소학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42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소학이 만든 조선 선비의 하루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5~6년간 소학을 읽으면 몸에 배는 10가지 습관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64008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148840"/>
            <a:ext cx="45720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새벽 기상 — 부모님께 문안 (혼정신성)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103120"/>
            <a:ext cx="64008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148840"/>
            <a:ext cx="45720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의관 정제 — 머리부터 발끝까지 예법대로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926079"/>
            <a:ext cx="64008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926079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971799"/>
            <a:ext cx="45720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자기 방 청소 — 「쇄소」를 직접 실행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926079"/>
            <a:ext cx="64008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926079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971799"/>
            <a:ext cx="45720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식사 예절 — 어른보다 먼저 수저를 들지 않음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749039"/>
            <a:ext cx="64008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749039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794759"/>
            <a:ext cx="45720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독서 자세 — 단정히 앉아 책을 함부로 다루지 않음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749039"/>
            <a:ext cx="64008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749039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3794759"/>
            <a:ext cx="45720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언어 예절 — 상대에 따라 호칭·어미를 가림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572000"/>
            <a:ext cx="64008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57200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4617720"/>
            <a:ext cx="45720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외출 전후 — 부모에게 행선지·도착을 알림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4572000"/>
            <a:ext cx="64008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57200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4617720"/>
            <a:ext cx="45720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벗 가리기 — 직·량·다문의 벗을 가까이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5394960"/>
            <a:ext cx="64008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39496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5440680"/>
            <a:ext cx="45720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자기 성찰 — 하루에 세 번 자기를 돌아봄 (삼성)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5394960"/>
            <a:ext cx="64008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539496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0" y="5440680"/>
            <a:ext cx="45720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뜻 세우기 — 「나는 성인을 기약한다」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오늘 청소년에게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43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현대 청소년의 결핍 지도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왜 지금 다시 소학을 펼치는가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86000"/>
            <a:ext cx="320040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3200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</a:rPr>
              <a:t>습관의 결핍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331720"/>
            <a:ext cx="77724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스마트폰이 일상의 호흡을 빼앗는다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063240"/>
            <a:ext cx="320040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063240"/>
            <a:ext cx="3200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</a:rPr>
              <a:t>관계의 서투름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3108960"/>
            <a:ext cx="77724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디지털 소통의 증가, 오프라인 관계 예의의 약화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840480"/>
            <a:ext cx="320040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840480"/>
            <a:ext cx="3200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</a:rPr>
              <a:t>자기 관리의 공백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3886200"/>
            <a:ext cx="77724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수면·식사·운동·정리정돈의 기본 루틴 붕괴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617720"/>
            <a:ext cx="320040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617720"/>
            <a:ext cx="3200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</a:rPr>
              <a:t>목표의 부재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4663440"/>
            <a:ext cx="77724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「무엇이 되고 싶은가」는 묻지만 「어떤 사람이 되고 싶은가」는 묻지 않음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394960"/>
            <a:ext cx="320040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394960"/>
            <a:ext cx="3200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</a:rPr>
              <a:t>모범의 결핍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5440680"/>
            <a:ext cx="77724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롤모델이 연예인·인플루언서로 집중, 역사 인물을 모름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오늘 청소년에게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44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소학이 채워줄 수 있는 5가지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73152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731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40" y="2194560"/>
            <a:ext cx="274320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2194560"/>
            <a:ext cx="2743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F2A44"/>
                </a:solidFill>
                <a:latin typeface="맑은 고딕"/>
              </a:rPr>
              <a:t>습관의 설계도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240280"/>
            <a:ext cx="7498079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쇄소응대진퇴 = 「방 치우기·인사·자리 지키기」 — Atomic Habits의 동양 원조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971800"/>
            <a:ext cx="73152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971800"/>
            <a:ext cx="731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63040" y="2971800"/>
            <a:ext cx="274320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2971800"/>
            <a:ext cx="2743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F2A44"/>
                </a:solidFill>
                <a:latin typeface="맑은 고딕"/>
              </a:rPr>
              <a:t>관계의 문법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017520"/>
            <a:ext cx="7498079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오륜 = 봉건이 아닌 「관계마다 달라지는 적절한 태도」 — 위세대·동료·친구를 가리는 감각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749039"/>
            <a:ext cx="73152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749039"/>
            <a:ext cx="731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63040" y="3749039"/>
            <a:ext cx="274320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3749039"/>
            <a:ext cx="2743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F2A44"/>
                </a:solidFill>
                <a:latin typeface="맑은 고딕"/>
              </a:rPr>
              <a:t>자기 관리 체크리스트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794759"/>
            <a:ext cx="7498079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구용·구사 = 오늘날의 morning routine · personal standards의 원형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526279"/>
            <a:ext cx="73152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526279"/>
            <a:ext cx="731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463040" y="4526279"/>
            <a:ext cx="274320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63040" y="4526279"/>
            <a:ext cx="2743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F2A44"/>
                </a:solidFill>
                <a:latin typeface="맑은 고딕"/>
              </a:rPr>
              <a:t>역사 속 롤모델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571999"/>
            <a:ext cx="7498079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계고·선행 = 「행동 모델의 데이터베이스」 — 맹모삼천·정문입설·황향온석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303520"/>
            <a:ext cx="73152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303520"/>
            <a:ext cx="731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63040" y="5303520"/>
            <a:ext cx="274320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63040" y="5303520"/>
            <a:ext cx="2743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F2A44"/>
                </a:solidFill>
                <a:latin typeface="맑은 고딕"/>
              </a:rPr>
              <a:t>큰 뜻의 지평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5349240"/>
            <a:ext cx="7498079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입지(立志) = 「착한 아이가 되라」가 아닌 「역사에 이름을 남기는 사람이 되라」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오늘 청소년에게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45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현대적 재해석 — 무엇은 바꿔 읽는가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세부 규정이 아니라 근본 정신을 취한다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86000"/>
            <a:ext cx="502920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5029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부부유별의 위계적 해석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2286000"/>
            <a:ext cx="5486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B1A1A"/>
                </a:solidFill>
                <a:latin typeface="맑은 고딕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286000"/>
            <a:ext cx="539496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5394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상호 존중과 역할 분담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108960"/>
            <a:ext cx="502920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08960"/>
            <a:ext cx="5029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남녀칠세부동석의 엄격 적용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3108960"/>
            <a:ext cx="5486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B1A1A"/>
                </a:solidFill>
                <a:latin typeface="맑은 고딕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3108960"/>
            <a:ext cx="539496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108960"/>
            <a:ext cx="5394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적절한 경계와 예의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931920"/>
            <a:ext cx="502920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931920"/>
            <a:ext cx="5029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효(孝)의 절대적 복종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3931920"/>
            <a:ext cx="5486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B1A1A"/>
                </a:solidFill>
                <a:latin typeface="맑은 고딕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3931920"/>
            <a:ext cx="539496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931920"/>
            <a:ext cx="5394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부모-자녀의 상호 돌봄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754880"/>
            <a:ext cx="502920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754880"/>
            <a:ext cx="5029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계급·신분 전제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4754880"/>
            <a:ext cx="5486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B1A1A"/>
                </a:solidFill>
                <a:latin typeface="맑은 고딕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4754880"/>
            <a:ext cx="539496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754880"/>
            <a:ext cx="5394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모든 관계에 보편 적용되는 기본 예의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「세부 규정」이 아니라 「근본 정신」 — 12세기의 산물을 21세기로 옮긴다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오늘 청소년에게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46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오늘 우리가 소학에서 배울 7가지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972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1. 작은 것이 근본이다 — 큰 일은 작은 습관에서 태어난다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97479"/>
            <a:ext cx="10972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2. 일상이 인격이다 — 특별한 순간이 아니라 매일의 반복이 당신을 만든다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39"/>
            <a:ext cx="10972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3. 관계에는 문법이 있다 — 모든 사람을 똑같이 대하는 게 평등이 아니다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86200"/>
            <a:ext cx="10972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4. 몸이 배우면 마음이 따라온다 — 태도·자세를 바로 하면 마음도 정돈된다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80560"/>
            <a:ext cx="10972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5. 옛사람의 이야기는 내 이야기의 거울이다 — 역사 속 선택에서 오늘을 배운다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074920"/>
            <a:ext cx="10972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6. 뜻이 낮으면 일생이 낮다 — 꿈의 크기가 삶의 크기, 성인을 기약하라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669280"/>
            <a:ext cx="10972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7. 순서를 지켜라 — 기본 없이 고급은 없다. 소학 없이 대학 없다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마무리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47 / 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소학, 한 폭으로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9728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소학은 주희가 1187년 엮은 「어린 시절의 배움 — 인간 되기의 바탕」.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내편 4(입교·명륜·경신·계고) + 외편 2(가언·선행) — 총 6편.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다섯 원리 — 습여성성 · 쇄소응대진퇴 · 선소학후대학 · 입지 · 이신교.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구용·구사·오륜 — 일거수일투족의 동양적 매뉴얼.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조선 500년 — 김굉필·조광조·이황·이이·송시열·정약용이 모두 그 길을 걸음.</a:t>
            </a:r>
          </a:p>
          <a:p>
            <a:pPr algn="l">
              <a:lnSpc>
                <a:spcPct val="135000"/>
              </a:lnSpc>
              <a:spcBef>
                <a:spcPts val="1400"/>
              </a:spcBef>
            </a:pPr>
            <a:r>
              <a:rPr sz="1900" b="1">
                <a:solidFill>
                  <a:srgbClr val="8B1A1A"/>
                </a:solidFill>
                <a:latin typeface="맑은 고딕"/>
              </a:rPr>
              <a:t>● 그리고 무엇보다, 「큰 사람은 작은 행위에서 만들어진다」는 책.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47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0" b="1">
                <a:solidFill>
                  <a:srgbClr val="1F2A44"/>
                </a:solidFill>
                <a:latin typeface="Batang"/>
              </a:rPr>
              <a:t>習 與 性 成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0" y="3291840"/>
            <a:ext cx="4846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347472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0">
                <a:solidFill>
                  <a:srgbClr val="8B1A1A"/>
                </a:solidFill>
                <a:latin typeface="맑은 고딕"/>
              </a:rPr>
              <a:t>습 관 이  본 성 을  이 룬 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556070"/>
                </a:solidFill>
                <a:latin typeface="맑은 고딕"/>
              </a:rPr>
              <a:t>— 소학 입교(立敎) 편의 정언명령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0352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1F2A44"/>
                </a:solidFill>
                <a:latin typeface="Batang"/>
              </a:rPr>
              <a:t>立 志 以 聖 人 自 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뜻을 세우되 성인(聖人)으로 자기를 기약하라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