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맑은 고딕"/>
              </a:rPr>
              <a:t>周 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The Book of Changes · 주역(周易)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복희·문왕·주공·공자 — 三古三聖이 완성한 변화의 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8괘 → 64괘 384효 · 십익(十翼) 7편 · 군경지수(群經之首)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"一 陰 一 陽 之 謂 道"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한 번 음하고 한 번 양하는 것을 도(道)라 한다 — 계사전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주역이란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6층위 구조 — 음양·8괘·64괘·6효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십익(十翼) — 공자의 날개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64괘의 큰 흐름 — 6막의 서사시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10대 핵심 사상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괘 9선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463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64괘 주제별 클러스터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계사전 12명구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43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해석의 두 학파 — 상수·의리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3832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후대 영향 — 동아시아 3,000년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2336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663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주역(周易)이란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복희·문왕·주공·공자가 완성한 "변화(易)"의 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1A1A"/>
                </a:solidFill>
                <a:latin typeface="맑은 고딕"/>
              </a:rPr>
              <a:t>"변화 속의 불변, 불변 속의 변화"를 음양 두 기호로 압축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괘(卦)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384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효(爻)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편 십익(十翼)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3,000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7091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년의 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점서(占書)에서 시작 → 공자의 십익으로 철학서로 승격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"군경지수(群經之首) · 대도지원(大道之源)" — 모든 경전의 머리, 큰 도의 근원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군경지수(群經之首)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한대 이후 오경(五經)의 첫머리 — 모든 경전의 머리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주역(周易)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108960"/>
            <a:ext cx="3657600" cy="4572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1821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맑은 고딕"/>
              </a:rPr>
              <a:t>천지(天地)의 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108960"/>
            <a:ext cx="50292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1821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"우주의 원형 구조"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8503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시(詩)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611880"/>
            <a:ext cx="36576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3685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인사(人事)의 노래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611880"/>
            <a:ext cx="50292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685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문학·정서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서(書)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4114800"/>
            <a:ext cx="36576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18795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인사(人事)의 기록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14800"/>
            <a:ext cx="50292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187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정치·역사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17720"/>
            <a:ext cx="22860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예(禮)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4617720"/>
            <a:ext cx="36576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6908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인사(人事)의 규범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4617720"/>
            <a:ext cx="50292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6908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윤리·제도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120640"/>
            <a:ext cx="22860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1937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춘추(春秋)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5120640"/>
            <a:ext cx="36576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519379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인사(人事)의 평가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120640"/>
            <a:ext cx="50292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51937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역사 비평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"인사(人事)의 책들" 위에 "천지의 원리" 주역이 놓인다 — 메타 경전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"주역"의 의미 — 周와 易의 풀이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周 — 주(周)의 두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① 주(周)나라의 역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주 문왕·주공이 다듬음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② "두루 미친다(周, 遍也)"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만물에 빠짐없이 미치는 역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둘 다 틀리지 않다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易 — 역(易)의 세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① 변역(變易)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만물은 변한다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② 불역(不易)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변화 속에 불변의 법칙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③ 간역(簡易)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음양 두 기호로 간단히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세 의미가 동시에 작동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실전된 連山易(하)·歸藏易(은) → 周易만 남음 — 三易 중 유일한 생존자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삼고삼성(三古三聖) — 4성인이 합작한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"人更三聖 世歷三古" — 한서 예문지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328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상고(上古)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286000"/>
            <a:ext cx="256032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5328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복희(伏羲)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286000"/>
            <a:ext cx="612648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53288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팔괘(八卦)를 그어 천지 만물을 상징화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472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중고(中古)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200400"/>
            <a:ext cx="256032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34472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문왕(文王)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200400"/>
            <a:ext cx="612648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44728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유리(羑里) 옥중에서 팔괘를 겹쳐 64괘 · 괘사(卦辭)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616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중고(中古)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114800"/>
            <a:ext cx="256032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3616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주공(周公)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4114800"/>
            <a:ext cx="612648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436168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각 괘 6효에 효사(爻辭)를 붙임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760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하고(下古)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029200"/>
            <a:ext cx="256032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52760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공자(孔子)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5029200"/>
            <a:ext cx="612648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527608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십익(十翼) — 점서를 철학서로 승격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"4성 공동 저술" 서사가 주역의 권위를 받친다 — 한 사람이 아닌 문명의 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점서(占書)에서 철학서로 — 공자의 십익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본래 — 점서(占書)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거북점(卜) · 시초점(筮)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50개의 시초(蓍草) 줄기를 뽑아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괘를 얻고 길흉을 판단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"실용적 점복서"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공자 이후 — 철학서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"君子居則觀其象而玩其辭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 動則觀其變而玩其占"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— 계사상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556070"/>
                </a:solidFill>
                <a:latin typeface="맑은 고딕"/>
              </a:rPr>
              <a:t>"군자는 거하면 그 상을 보고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움직이면 그 변을 본다"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"점치지 않고도 읽히는 책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(不占而已)"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"길흉을 묻는 책에서 어떻게 살 것인가를 묻는 책으로"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6층위 구조 — 음양에서 십익까지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219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음양(陰陽)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221991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최소 단위 — 양효(⚊) · 음효(⚋)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620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74320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862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팔괘(八卦)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6207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3효의 조합 — 2³ = 8가지 원형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021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38328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5021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64괘(大成卦)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338328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50215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팔괘의 쌍 — 8×8 = 64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422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02336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14223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6효의 자리·관계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02336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1422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位·中·正·應·比 — 상황과 관계의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823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66344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782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괘사·효사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66344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478231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본문 — 길흉회린의 판단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03520"/>
            <a:ext cx="64008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42239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80160" y="53035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4223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십익(十翼)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303520"/>
            <a:ext cx="71323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0" y="542239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공자의 7편 해설 — 점서를 철학으로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"6층위가 동시에 작동" — 한 효를 읽을 때 모든 층위가 함께 의미를 만든다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① 음양(陰陽) — 최소 단위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陽 — 양효 (⚊)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이어진 선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하늘 · 남성 · 강(剛)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동(動) · 활(活)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숫자로 — 九(9, 노양)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陰 — 음효 (⚋)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2336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끊어진 선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땅 · 여성 · 유(柔)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정(靜) · 수(受)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숫자로 — 六(6, 노음)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"대립이 아니라 상호 생성" — 양 속에 음이 숨고 음 속에 양이 싹튼다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② 팔괘(八卦) — 3효의 8가지 조합 · 자연의 8원형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☰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01168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건(乾)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天 하늘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健 굳셈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1168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2860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곤(坤)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01168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地 땅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順 순함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06324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337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진(震)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06324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2004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雷 우레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動 움직임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長男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06324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004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06324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3375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손(巽)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06324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2004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風 바람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入 들어감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長女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2519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411480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389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감(坎)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11480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251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水 물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陷 빠짐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中男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11480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25196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11480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389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이(離)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411480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251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火 불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明 밝음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中女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16636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035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516636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3040" y="5440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간(艮)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16636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5303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山 산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止 멈춤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少男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5166360"/>
            <a:ext cx="9144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3035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5166360"/>
            <a:ext cx="18288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44068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태(兌)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5166360"/>
            <a:ext cx="246888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5303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澤 못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說 기쁨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少女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③ 64괘(大成卦) — 팔괘의 쌍으로 이룬 6효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8 × 8 = 64괘 — 각 괘는 6효(상괘 3 + 하괘 3)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상괘(上卦) — 외(外) · 환경 · 결과 · 위 3효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하괘(下卦) — 내(內) · 개인 · 원인 · 아래 3효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예 — 11번 태괘(泰卦, 地天泰)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상괘 ☷ 곤(땅) + 하괘 ☰ 건(하늘) — 땅이 위, 하늘이 아래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하늘의 기운은 위로, 땅의 기운은 아래로 → 두 기운이 가운데서 교류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→ 태평(泰平) · 소통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"제자리"가 반드시 좋은 것이 아니다 — 교류·역전이 통(通)을 낳는다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④ 6효의 자리·관계 — 中·正·應·比의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상효(上爻)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28800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90195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上九/上六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019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은퇴자·초월자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90195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지나침·노년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048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오효(五爻)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331720"/>
            <a:ext cx="1828800" cy="4572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40487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九五/六五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331720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40487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★ 군주 자리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331720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24048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전성기 — "비룡재천"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39"/>
            <a:ext cx="18288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077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사효(四爻)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3463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9077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九四/六四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834639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90779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대신·측근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834639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290779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이행기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337559"/>
            <a:ext cx="18288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1071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삼효(三爻)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33755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341071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九三/六三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337559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341071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하급 지도자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337559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341071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위기·갈림길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40479"/>
            <a:ext cx="18288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91363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이효(二爻)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84047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0" y="391363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九二/六二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3840479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391363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중견 관료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840479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79" y="391363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내면의 중심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343399"/>
            <a:ext cx="18288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1655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초효(初爻)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343399"/>
            <a:ext cx="18288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7440" y="441655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初九/初六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4343399"/>
            <a:ext cx="3200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4416551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신참·평민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4343399"/>
            <a:ext cx="41148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79" y="4416551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시작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937760"/>
            <a:ext cx="11247120" cy="14630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0749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5가지 관계 — 位 · 中 · 正 · 應 · 比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當位(제자리) · 中(가운데) · 正(바름) · 應(호응) · 比(이웃)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"중정(中正)" — 가운데이면서 바른 자리, 주역 최고의 상태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6층위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⑤ 길흉회린(吉凶悔吝) — 4단계 판단어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8872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94560"/>
            <a:ext cx="22860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317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974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좋음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94560"/>
            <a:ext cx="7498079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79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제자리에서 바르게 움직임 → 형통(亨通)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88720" cy="9144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200400"/>
            <a:ext cx="22860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3375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나쁨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200400"/>
            <a:ext cx="7498079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47472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자리·때에 어긋난 행동 → 화(禍)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1188720" cy="914400"/>
          </a:xfrm>
          <a:prstGeom prst="rect">
            <a:avLst/>
          </a:prstGeom>
          <a:solidFill>
            <a:srgbClr val="A06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206240"/>
            <a:ext cx="22860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091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후회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4206240"/>
            <a:ext cx="7498079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480559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반성하면 길로 간다 — 흉의 회복 가능성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12079"/>
            <a:ext cx="1188720" cy="914400"/>
          </a:xfrm>
          <a:prstGeom prst="rect">
            <a:avLst/>
          </a:prstGeom>
          <a:solidFill>
            <a:srgbClr val="60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40679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212079"/>
            <a:ext cx="22860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71499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인색·막힘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5212079"/>
            <a:ext cx="7498079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5486399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방치하면 흉으로 간다 — 길의 손실 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"吉凶悔吝 生乎動者也" — 길흉회린은 모두 "움직임"에서 생긴다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십익(十翼) — 공자의 7편 10개 날개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1·2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78308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901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단전(彖傳) 상·하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78308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9019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괘사 해설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783080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9019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괘 전체의 덕성·시세 판단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414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3·4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350008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24688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상전(象傳) 상·하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350008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4688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괘상·효상 해설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350008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79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"君子以~" 군자의 실천 규범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16936"/>
            <a:ext cx="9144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0837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5·6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916936"/>
            <a:ext cx="320040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30358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계사전(繫辭傳) 상·하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916936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주역 철학의 총론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916936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0358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★ 주역 사상의 정수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83864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753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483864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36027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문언전(文言傳)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483864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6027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건·곤 두 괘 해설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483864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60273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덕성 수양의 본보기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50791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1422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4050791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54480" y="4169663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설괘전(說卦傳)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050791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4169663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팔괘의 상징 체계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4050791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4169663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상수(象數) 해석의 원천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17720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70915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461772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4736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서괘전(序卦傳)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4617720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47365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64괘의 배열 이유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4617720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3800" y="4736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괘의 연쇄 논리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184648"/>
            <a:ext cx="9144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2760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5184648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54480" y="53035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잡괘전(雜卦傳)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5184648"/>
            <a:ext cx="256032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53035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32쌍 괘의 대비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5184648"/>
            <a:ext cx="4297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43800" y="53035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짝지어 파악하는 관점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"翼(날개)" — 경문 없이는 날지 못한다 · 주역을 철학으로 띄운 날개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단전(彖傳) · 상전(象傳) — 괘와 효의 해설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단전(彖傳) — 괘 전체의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"彖(단)"이란?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큰 돼지의 어금니 — "물어 끊는다"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→ "단정적으로 판단한다"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역할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괘의 핵심 덕성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그 괘가 가리키는 시세(時勢)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괘사가 왜 그러한지 설명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예 — 건괘 단전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"大哉乾元 萬物資始" — 위대하다 건의 으뜸, 만물이 비롯한다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상전(象傳) — 군자의 실천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대상(大象) + 소상(小象)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대상 — 괘 전체의 상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소상 — 각 효의 상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특징 — "君子以~" 형식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  "군자는 이로써 ~한다"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F2A44"/>
                </a:solidFill>
                <a:latin typeface="맑은 고딕"/>
              </a:rPr>
              <a:t>  자연 현상 → 군자의 실천 규범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1F2A44"/>
                </a:solidFill>
                <a:latin typeface="맑은 고딕"/>
              </a:rPr>
              <a:t>예 — 건 상전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8B1A1A"/>
                </a:solidFill>
                <a:latin typeface="맑은 고딕"/>
              </a:rPr>
              <a:t>"天行健 君子以自强不息"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56070"/>
                </a:solidFill>
                <a:latin typeface="맑은 고딕"/>
              </a:rPr>
              <a:t>하늘의 운행이 강건하니 군자는 스스로 쉬지 않는다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계사전(繫辭傳) — 주역 철학의 정수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"십익 중 가장 중요한 두 편 — 주역의 총론·우주론·인생론"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"繫(계)" — 매다 · 辭(사) — 말씀 · "괘사·효사에 매단 큰 말씀"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47120" cy="3383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계사전이 다루는 5가지 큰 주제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① 도(道)·기(器)의 형이상학 — "形而上者謂之道"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② 음양의 작동 원리 — "一陰一陽之謂道"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③ 사물의 변화·생성 — "生生之謂易"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④ 시(時)와 위(位)의 판단 — 군자의 처신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⑤ 기미(幾微)와 점복의 의미 — "知幾其神乎"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"주역의 절반은 계사전에 있다"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십익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문언·설괘·서괘·잡괘전 — 나머지 네 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문언전(文言傳)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194560"/>
            <a:ext cx="83210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28600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건·곤 두 괘의 집중 해설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69748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"여섯 효 모두에 사구(辭句)를 더함" — 덕성 수양의 본보기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72968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설괘전(說卦傳)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172968"/>
            <a:ext cx="83210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264408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팔괘의 상징 체계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75887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☰ 천·☷ 지·☳ 뢰·☴ 풍 등 — 자연·동물·신체·방위 배당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51376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서괘전(序卦傳)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4151376"/>
            <a:ext cx="83210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4242816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64괘의 배열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654296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"왜 이 순서인가" — 괘의 연쇄 논리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9784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766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잡괘전(雜卦傳)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5129784"/>
            <a:ext cx="832104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5221224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32쌍의 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632704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"건·곤" "태·비" "박·복" 짝지어 보는 관점 — 짧고 함축적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서괘전(序卦傳)의 6막 서사시 — "만물의 생성·발전·쇠퇴·재생"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제1막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9456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1~10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천지의 개벽과 만물의 시작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제2막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92608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06324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11~30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926080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6324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흥성과 막힘의 순환 — 태↔비, 박↔복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제3막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65760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7947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31~40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657600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79476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인간관계의 전개 — 함·항·가인·규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제4막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38912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452628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41~50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389120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52628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성장과 변혁 — 손·익·혁·정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제5막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5120640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52578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51~60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120640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25780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움직임과 멈춤의 교향 — 진↔간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852159"/>
            <a:ext cx="18288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제6막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5852159"/>
            <a:ext cx="16459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59893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61~64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852159"/>
            <a:ext cx="7498079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598932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완성과 미완성 — 기제·미제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64괘는 일직선이 아니라 원(圓) — 미제(64) 뒤에 다시 건(1)이 시작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제1막 (1~10) — 천지의 개벽과 만물의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1·2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0312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건·곤(乾·坤)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103120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17627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하늘과 땅이 열린다 — 주역의 두 근원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15184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883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615184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6883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둔(屯)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615184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688336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천지가 처음 교류하니 만물이 비로소 생긴다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27248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27248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몽(蒙)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127248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20040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생겨난 것은 어리다 — 가르침이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39312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12463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639312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712463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수(需)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639312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3712463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어린 것은 기다려 자란다 — 먹이고 기름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51376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245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151376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2245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송(訟)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151376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4224528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자라면 다툼(訟)이 생긴다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365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663440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47365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사(師)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663440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473659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다툼이 커지면 군대(師)가 일어난다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175504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2486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5175504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24865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비(比)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5175504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5248656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전쟁 뒤에는 친목(比)이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87568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9·10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5687568"/>
            <a:ext cx="32004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0" y="57607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소축·리(小畜·履)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5687568"/>
            <a:ext cx="68580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57607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작은 것을 쌓고 예로 밟아간다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"생겨남 → 가르침 → 먹임 → 다툼 → 질서"의 원형 — 세계의 발생학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제2막 (11~30) — 흥성과 막힘의 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"태가 끝에 이르면 비가 온다(泰極否來)"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2199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11↔12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10312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22199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태(泰) ↔ 비(否)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2103120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221991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태평과 막힘의 교체 — 주역 최대의 주제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06624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13~16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06624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82549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동인·대유·겸·예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706624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825496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풍요의 국면에서 지킬 덕목 (특히 겸은 6효 모두 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10128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17~20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310128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4290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수·고·임·관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310128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42900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따름·다스림의 단계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13632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325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21·22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3913632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03250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서합·비(噬嗑·賁)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3913632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4032504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깨물어 합치고 꾸민다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17136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360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23↔24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517136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63600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박(剝) ↔ 복(復)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4517136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63600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극도로 벗겨진 뒤 다시 돌아온다 — 동지(冬至)의 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20640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23951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25~28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5120640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52395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무망·대축·이·대과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5120640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523951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거짓 없음과 축적, 그리고 큰 지나침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24144"/>
            <a:ext cx="13716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430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29·30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5724144"/>
            <a:ext cx="320040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03120" y="58430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감·이(坎·離)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5724144"/>
            <a:ext cx="640080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5843016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물과 불 — 상경의 끝, 천지의 두 작용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"만물은 극에 이르면 반전한다(物極必反)" — 그 반전을 미리 보는 눈이 지혜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제3막 (31~40) — 인간관계의 전개 (하경의 시작)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"하경은 남녀의 감응으로 열린다"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901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함(咸)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8288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9019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감응 — 젊은 남녀의 사귐이 하경의 입구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항(恒)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2860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359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감응이 지속되어 부부의 항구함이 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163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7432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28163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둔(遯)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7432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28163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물러날 때가 온다 — 은둔의 지혜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735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32735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대장(大壯)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2004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86200" y="32735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나아가는 큰 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576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307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37307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진(晉)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36576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37307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나아가 밝아짐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1148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879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187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명이(明夷)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41148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6200" y="41879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밝음이 상함 — 어리석은 왕 아래 현자가 숨음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720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451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45720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63040" y="46451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가인(家人)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45720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86200" y="46451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집안의 도 — "여자 정이 안에, 남자 정이 밖에"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0292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1023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63040" y="51023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규(睽)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39" y="50292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51023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어긋남 — 가인이 흐트러지면 규가 된다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4864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5595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54864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3040" y="55595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건(蹇)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39" y="54864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86200" y="55595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절뚝거림 — 앞이 막혀 어려움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943600"/>
            <a:ext cx="73152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601675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5943600"/>
            <a:ext cx="228600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63040" y="60167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해(解)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5943600"/>
            <a:ext cx="79552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86200" y="601675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어려움이 풀린다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"인사(人事)의 세계" — 남녀·부부·군신·가족의 관계가 하경의 중심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제4막 (41~50) — 성장과 변혁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"덜고 더하기, 결단과 조우, 그리고 혁명"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41·42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0312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1945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손·익(損·益)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덜어냄과 더함의 역설 — 손이 익이고 익이 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65176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743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쾌(夬)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651760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74320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결단 — 5양효가 1음효를 몰아내는 형세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20040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2918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구(姤)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200400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29184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조우 — 5양효 밑에 음효 하나가 싹튼다 (작은 악)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4047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45·46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74903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84047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췌·승(萃·升)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749039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84047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모여들고 올라간다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9767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1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29767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38911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곤(困)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297679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38911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곤궁 — "곤이형(困而亨), 궁 중에서도 형통"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4631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3775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84631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493775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정(井)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846319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493775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우물 — "바꿀 수 없는 것" · 변하지 않는 근원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9495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8639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539495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48639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혁(革)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5394959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548639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혁명 — "탕무혁명, 順乎天而應乎人"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94359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0350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594359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20240" y="603503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정(鼎)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5943599"/>
            <a:ext cx="722376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603503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혁명 후 새 질서의 건설 (鼎 = 세 발 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64괘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제5·6막 (51~64) — 움직임과 멈춤 / 완성과 미완성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"完成 뒤에 다시 未完이 온다"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51·52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0312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1945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진·간(震·艮)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103120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움직임과 멈춤의 두 극단 — "艮其背"의 멈춤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53·54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65176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743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점·귀매(漸·歸妹)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651760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743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점진적 결합 vs 성급한 결합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55·56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200400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2918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풍·여(豐·旅)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200400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3291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전성기(豐)와 나그네(旅) — "부귀해도 결국 떠난다"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4047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57·58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3749039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84047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손·태(巽·兌)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749039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84047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바람의 들어감과 못의 기쁨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97679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38911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59·60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297679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43891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환·절(渙·節)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4297679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438911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흩어짐과 절제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846319"/>
            <a:ext cx="11887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3775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61·62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846319"/>
            <a:ext cx="32004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493775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중부·소과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4846319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493775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속이 참됨과 작게 지나침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9495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8639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0" y="5394959"/>
            <a:ext cx="320040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48639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기제(旣濟)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5394959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57800" y="548639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★ 이미 건넜다 — 6효 모두 정위 · 완성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943599"/>
            <a:ext cx="118872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035039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5943599"/>
            <a:ext cx="3200400" cy="502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20240" y="60350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미제(未濟)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5943599"/>
            <a:ext cx="6583680" cy="502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57800" y="603503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맑은 고딕"/>
              </a:rPr>
              <a:t>★ 아직 건너지 못함 — 6효 모두 부정위 · 미완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"왜 결말이 기제가 아니라 미제인가" — 역사는 멈추지 않는다 · 순환의 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1 — 일음일양지도(一陰一陽之道)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"한 번 음하고 한 번 양하는 것을 도(道)라 한다" — 계사상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존재의 법칙 — 우주는 음양의 율동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"낮과 밤 · 여름과 겨울 · 들숨과 날숨 · 성공과 실패 · 흥함과 망함"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모두 음양의 한 리듬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고정된 상태는 없다 — 모든 것은 흐르고 교체된다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2 — 변역불변(變易不變)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"變하는 것 속에 不變의 법칙이 있다"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만물은 변하되, 변하는 방식 자체는 변하지 않는다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계절이 매년 바뀌는 것 같지만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춘하추동의 순서는 불변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"변하는 패턴의 불변성"을 읽는 것이 지혜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변화를 두려워하지 않고 그 안의 질서를 본다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3 — 중(中)과 정(正) — 행위의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"中正" — 가운데이면서 바른 자리, 주역 최고의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치우치지 않고 제자리에 있는 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中 — 치우치지 않음 (二爻 · 五爻)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正 — 제자리에 있음 (양효는 홀수, 음효는 짝수 자리)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"中庸" 사상의 뿌리가 여기에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특히 九五(양효가 군주 자리에 중정) — 대부분 괘에서 가장 좋은 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4 — 시(時)와 위(位) — 때와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"같은 양효라도 어느 효냐, 어느 괘 속이냐에 따라 의미가 다르다"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잘하기는 "절대 기준"이 아니라 "때와 자리에 맞느냐"의 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한 효의 길흉은 두 가지에 달렸다</a:t>
            </a:r>
          </a:p>
          <a:p>
            <a:pPr algn="l">
              <a:lnSpc>
                <a:spcPct val="14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① 지금 어느 자리(位)에 있는가</a:t>
            </a:r>
          </a:p>
          <a:p>
            <a:pPr algn="ctr">
              <a:lnSpc>
                <a:spcPct val="14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② 지금이 어느 때(時)인가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"때와 자리"를 모르고 절대적 기준만 고집하면 — 모두 흉(凶)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5 — 물극필반(物極必反)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"窮則變 變則通 通則久" — 궁하면 변하고, 변하면 통하고, 통하면 오래간다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극은 반드시 돌아선다 — "성공의 정점이 몰락의 시작"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태 → 비 (태평이 끝나면 막힘)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박 → 복 (벗겨짐 뒤에 회복)</a:t>
            </a:r>
          </a:p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기제 → 미제 (완성 뒤에 다시 미완)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"극점을 경계하라"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가득 차면 기울고, 기울면 다시 찬다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6 — 기미(幾微) — 조짐을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"幾者 動之微 吉之先見者也" — 기는 움직임의 미묘함, 길함이 먼저 나타나는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일이 벌어지기 전 희미한 조짐을 읽는 능력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"君子見幾而作 不俟終日"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군자는 기미를 보고 움직이되 하루를 기다리지 않는다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현대의 약신호 감지(weak signal) · 트렌드 예측의 원리</a:t>
            </a:r>
          </a:p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"이미 벌어진 뒤"가 아니라 "벌어지기 전"의 사고법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7 — 길흉회린 — 운명이 아니라 행위에 달림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"吉凶悔吝 生乎動者也" — 길흉회린은 움직임에서 생긴다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주역은 운명론이 아니라 실천철학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같은 상황에서도 —</a:t>
            </a:r>
          </a:p>
          <a:p>
            <a:pPr algn="l">
              <a:lnSpc>
                <a:spcPct val="14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흉 → 회(반성) → 길로 간다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길 → 린(교만) → 흉으로 간다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"정해진 운명은 없다" — 행위가 길흉을 결정한다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8 — 상(象)과 수(數) — 이미지와 숫자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"聖人立象以盡意" — 성인이 상(象)을 세워 뜻을 다했다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언어 이전의 직관적 통찰 — 이미지로 세계를 파악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상(象) — 이미지(☰☷☳☴)로 세계의 원형을 파악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수(數) — 1~9의 조합으로 패턴의 수학적 구조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라이프니츠 — 이진법 발견 후 주역 괘를 보고 감탄</a:t>
            </a:r>
          </a:p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"동양에 이미 있었구나"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9 — 천인합일(天人合一) — 자연과 인간의 상응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"자연의 리듬이 곧 인간 삶의 리듬"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자연을 관찰하는 것이 곧 자기 수양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"天行健 君子以自强不息" (건 상전)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하늘의 운행이 강건하니 군자는 스스로 쉬지 않는다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"地勢坤 君子以厚德載物" (곤 상전)</a:t>
            </a:r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땅의 형세가 곤이니 군자는 두터운 덕으로 만물을 싣는다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10대 사상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10 — 적선지가(積善之家) — 윤리적 인과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"積善之家 必有餘慶 積不善之家 必有餘殃" — 문언전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냉정한 법칙 안의 윤리적 인과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1124712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풀이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"선을 쌓은 집에는 반드시 넘치는 경사가 있고</a:t>
            </a:r>
          </a:p>
          <a:p>
            <a:pPr algn="ctr">
              <a:lnSpc>
                <a:spcPct val="14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불선을 쌓은 집에는 반드시 넘치는 재앙이 있다"</a:t>
            </a:r>
          </a:p>
          <a:p>
            <a:pPr algn="l">
              <a:lnSpc>
                <a:spcPct val="14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40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주역의 우주론은 냉정한 법칙이지만</a:t>
            </a:r>
          </a:p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그 법칙 안에 윤리적 인과가 함께 작동한다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건(乾)(乾為天 · 1번) — 하늘이 둘 — 모든 것의 근원, 강건한 양의 정수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"天行健 君子以自强不息"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☰
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하늘의 운행이 강건하니 군자는 스스로 강해지기를 쉬지 않는다
용의 6단계 — 잠룡(初九) → 견룡(二) → 종일건건(三) → 혹약재연(四) → 비룡재천(五) → 항룡유회(上九)
"자기 강화의 끝없는 노력" — 주역의 첫 가르침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곤(坤)(坤為地 · 2번) — 땅이 둘 — 만물을 싣는 두터운 덕, 순응하는 음의 정수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"地勢坤 君子以厚德載物"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☷
☷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땅의 형세가 곤이니 군자는 두터운 덕으로 만물을 싣는다
"承乘" — 받들고 따르는 덕 · "厚載" — 두텁게 싣는 덕
"순응하는 힘이 가장 큰 힘이다" — 건괘와 짝을 이루는 주역의 두 기둥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태↔비(泰↔否)(11·12번 — 태평과 막힘) — 땅이 위·하늘이 아래(태) ↔ 하늘이 위·땅이 아래(비)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"泰極否來" — 태평이 끝에 이르면 막힘이 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☷
☰  ↔  ☰
☷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태(泰) — 두 기운이 가운데서 교류 → 태평·소통
비(否) — 각자 제자리에 있어 보이지만 기운이 교류 안 함 → 막힘
"제자리"가 반드시 좋은 것이 아니다 — 교류·역전이 통(通)을 낳는다
주역 최대의 주제 — 흥성과 막힘의 영원한 교체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겸(謙)(15번 · 地山謙) — 땅속에 산이 있다 — 큰 것을 안에 감추고 낮은 자리에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★ 주역 64괘 중 유일하게 6효 모두 길(吉)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☷
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"謙謙君子 卑以自牧也"
겸손하고 겸손한 군자는 낮춤으로 자기를 친다
"勞謙君子 萬民服也" — 수고하면서도 겸손하면 만민이 복종한다
"풍요할수록 겸손하라" — 주역이 제시하는 최고의 덕
— 산은 본래 높지만 땅 속에 감추니 더욱 두터워진다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박↔복(剝↔復)(23·24번 — 벗겨짐과 회복) — 산이 땅 위에 거의 무너짐(박) ↔ 어둠 끝에 한 양효가 돌아옴(복)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"七日來復" — 7일이면 돌아온다 · 동지(冬至)의 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☶
☷  ↔  ☷
☳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박(剝) — 5음효 위에 1양효만 남은 위태로움
복(復) — 5음효 아래에 1양효가 돌아옴 (동지의 첫 양)
"不遠復" — 멀지 않은 곳에서 돌아온다 — 안회(顔回)의 덕
"가장 어두운 순간에 빛이 시작된다"
작은 잘못을 즉시 바로잡는 자기 회복력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손↔익(損↔益)(41·42번 — 덜어냄과 더함의 역설) — 덜어내야 더해지고, 위에서 덜어 아래에 더해야 진짜 이익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"損上益下 民說無疆" — 위를 덜어 아래에 더하면 백성이 끝없이 기뻐한다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☶
☱  ↔  ☴
☳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손(損) — 손하익상(損下益上, 아래를 덜어 위에 더함) → 백성의 고통
익(益) — 손상익하(損上益下, 위를 덜어 아래에 더함) → 백성의 이익
"손해가 반드시 손해가 아니고, 이익이 반드시 이익이 아니다"
— 진짜 이익은 베푸는 데서, 진짜 손해는 쌓는 데서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혁↔정(革↔鼎)(49·50번 — 혁명과 새 질서) — 못 가운데 불(혁) ↔ 나무 위에 불(정 = 세 발 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"湯武革命 順乎天而應乎人" — 천명에 순응하고 민심에 응하는 혁명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☱
☲  ↔  ☲
☴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혁(革) — 옛 것을 바꾼다 · "天地革而四時成"
정(鼎) — 새 것을 세운다 · 세 발 솥에 새 음식
"破舊立新" — 깨고 세우는 한 쌍
혁명은 천명과 민심의 일치 — 함부로 일으키는 것이 아니다
그러나 때가 되면 두려워 말고 단행하라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기제↔미제(旣濟↔未濟)(63·64번 — 완성과 미완성) — 이미 건넜다(기제) — 6효 모두 정위 ↔ 아직 건너지 못함(미제) — 6효 모두 부정위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★ 64괘의 결말이 "기제"가 아니라 "미제"인 까닭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☵
☲  ↔  ☲
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기제 — 모든 효가 제자리에 있는 완성 상태
그러나 "완성 다음에 다시 미완이 온다"
미제 — 아직 끝나지 않은 새로운 시작
"완성이 끝이 아니라 새로운 출발"
— 주역은 순환의 책 · 미제 다음에 다시 건괘가 시작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괘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9괘 통합(주역의 골격) — 핵심 9괘로 보는 주역의 본체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"음양 → 변역 → 중정 → 시위 → 순환"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92608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☰☷
泰否謙
剝復損益
革鼎旣未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03120"/>
            <a:ext cx="804672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6809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건·곤 — 우주의 두 근원 (양과 음)
태·비 — 흥성과 막힘의 교체
겸 — 풍요할수록 겸손
박·복 — 극에 이르러 돌아옴
손·익 — 덜어냄이 더함
혁·정 — 깨고 세움
기제·미제 — 완성 뒤의 새로운 시작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주제별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클러스터 A·B — 시작과 끝 / 어려운 시기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A. 시작과 끝의 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1 건(乾) · 2 곤(坤)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모든 것의 근원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63 기제(旣濟) · 64 미제(未濟)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완성과 미완의 영원한 순환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"끝은 새로운 시작"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B. 어려운 시기에 읽는 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3 둔(屯) — 시작의 진통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4 몽(蒙) — 무지의 극복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29 감(坎) — 반복되는 위험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39 건(蹇) — 절뚝거림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47 곤(困) — 곤궁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"困而亨" — 궁 중에서도 형통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주제별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클러스터 C — 리더십·군주의 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67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수(需)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2677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기다림의 전략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24912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9806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72491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980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사(師)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72491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9806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"사정(師貞), 군대는 바름으로 움직인다"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55264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255264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32841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임(臨)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55264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3284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다가가 이끌음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85615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785615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8587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관(觀)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85615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858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"관이불언 — 관찰하되 말하지 않는다"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15968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315968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승(升)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315968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389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아래에서 위로 올라감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194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846320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4919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혁(革)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84632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919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"湯武革命, 順乎天而應乎人" — 천명·민심의 일치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76672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98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537667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449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정(鼎)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37667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4498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혁명 후 새 질서의 건설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주제별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클러스터 D — 인간관계·가족의 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67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비(比)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2677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친합 — 친구·동료의 사귐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24912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9806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72491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980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동인(同人)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72491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9806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타인과 함께함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55264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255264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32841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함(咸)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55264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3284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남녀의 감응 — 하경의 첫 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85615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785615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8587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항(恒)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85615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858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부부의 항구함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15968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315968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가인(家人)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315968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389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가정의 도 — "여자 정이 안에, 남자 정이 밖에"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194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846320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4919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규(睽)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84632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919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어긋남 — 가인이 흐트러지면 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76672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98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537667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449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귀매(歸妹)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37667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4498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혼사의 주의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주제별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클러스터 E — 자기 수양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914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2560320" cy="4572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67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겸(謙)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26771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★ 주역 최고의 덕 · 6효 모두 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24912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9806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72491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27980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복(復)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72491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9806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"不遠復" — 멀지 않은 곳에서 돌아온다 · 안회의 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55264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2841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255264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332841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무망(无妄)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55264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328416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거짓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85615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785615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8587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대축(大畜)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85615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858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크게 쌓음 — 덕의 축적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15968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315968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4389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간(艮)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315968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389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그쳐야 할 곳에 그침 — "艮其背 不獲其身"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194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846320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491947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중부(中孚)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846320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91947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속이 참됨 — "豚魚之孚" 신뢰가 돼지·물고기까지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376672"/>
            <a:ext cx="914400" cy="4572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4498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5376672"/>
            <a:ext cx="256032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45920" y="5449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손(損)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376672"/>
            <a:ext cx="7498079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44982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덜어냄 — 자기를 비우는 덕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주제별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클러스터 F·G — 변화·전환 / 경계해야 할 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F. 변화·전환의 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11 태 ↔ 12 비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태평과 막힘의 교체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23 박 → 24 복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벗겨짐 뒤의 회복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41 손 → 42 익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덜어냄과 더함의 역설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43 쾌 / 44 구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결단과 조우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49 혁 / 50 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혁명과 건설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G. 경계해야 할 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6 송(訟)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다툼의 위험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28 대과(大過)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크게 지나침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38 규(睽)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어긋남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56 여(旅)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나그네 처지 — 객지에서의 조심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62 소과(小過)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6070"/>
                </a:solidFill>
                <a:latin typeface="맑은 고딕"/>
              </a:rPr>
              <a:t>  작게 지나침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一 陰 一 陽 之 謂 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일음일양지위도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한 번 음하고 한 번 양하는 것을 도(道)라 한다 — 주역 사상의 정수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8B1A1A"/>
                </a:solidFill>
                <a:latin typeface="맑은 고딕"/>
              </a:rPr>
              <a:t>生 生 之 謂 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생생지위역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끊임없이 낳고 낳는 것을 역(易)이라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形 而 上 者 謂 之 道
形 而 下 者 謂 之 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형이상자위지도 · 형이하자위지기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형상 위의 것을 도(道), 아래의 것을 기(器)라 한다 — 동양 형이상학의 출발점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8B1A1A"/>
                </a:solidFill>
                <a:latin typeface="맑은 고딕"/>
              </a:rPr>
              <a:t>窮 則 變   變 則 通   通 則 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궁즉변 · 변즉통 · 통즉구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궁하면 변하고, 변하면 통하고, 통하면 오래간다 — 변화의 법칙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8B1A1A"/>
                </a:solidFill>
                <a:latin typeface="맑은 고딕"/>
              </a:rPr>
              <a:t>樂 天 知 命   故 不 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낙천지명 · 고불우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천명을 즐겨 알기에 근심하지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仁 者 見 之 謂 之 仁
知 者 見 之 謂 之 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인자견지위지인 · 지자견지위지지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인자(仁者)는 이를 보고 인이라 하고, 지자(知者)는 보고 지(知)라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 — 시각의 다양성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君 子 藏 器 於 身   待 時 而 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군자장기어신 · 대시이동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군자는 그릇(才)을 몸에 감추고 때를 기다려 움직인다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8B1A1A"/>
                </a:solidFill>
                <a:latin typeface="맑은 고딕"/>
              </a:rPr>
              <a:t>見 幾 而 作   不 俟 終 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견기이작 · 불사종일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기미를 보고 일어서되 하루를 기다리지 않는다 — 약신호 감지의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天 行 健   君 子 以 自 强 不 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천행건 · 군자이자강불식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하늘의 운행이 강건하니 군자는 스스로 강해지기를 쉬지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건 상전(象傳)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地 勢 坤   君 子 以 厚 德 載 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지세곤 · 군자이후덕재물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땅의 형세가 곤이니 군자는 두터운 덕으로 만물을 싣는다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곤 상전(象傳)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8B1A1A"/>
                </a:solidFill>
                <a:latin typeface="맑은 고딕"/>
              </a:rPr>
              <a:t>積 善 之 家   必 有 餘 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적선지가 · 필유여경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선을 쌓은 집에는 반드시 넘치는 경사가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곤괘 문언전(文言傳)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명구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聖 人 立 象 以 盡 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성인입상이진의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성인은 상(象, 이미지)을 세워 뜻을 다하였다 — 언어 너머의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계사상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해석 학파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상수학파(象數學派) — "기호와 숫자의 학"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관심 — 괘상·호괘·종괘·착괘·납갑·오행 배당 등 형식 구조의 수리적 법칙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대표 인물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한대 — 맹희·경방 · 송대 — 소옹(邵雍, 소강절)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"주역의 수학적·구조적 아름다움을 드러낸다"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장점과 위험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주역의 수학적·구조적 아름다움을 드러냄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위험: 지나친 도식화로 실제 인간 문제에서 멀어질 수 있음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해석 학파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의리학파(義理學派) — "뜻과 이치의 학"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관심 — 괘사·효사에 담긴 도덕적·철학적 의미 · 인간 삶의 상황으로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대표 인물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위(魏)의 왕필(王弼) · 송의 정이(程頤)·주희(朱熹)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"괘를 인간 삶의 상황으로 읽기"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표준 텍스트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정이 『이천역전(伊川易傳)』 · 주희 『주역본의(周易本義)』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조선의 퇴계·율곡·다산 — 모두 의리학의 관점에서 주역을 읽음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해석 학파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두 학파의 통합 — "두 눈으로 보아야 입체가 된다"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"어느 한쪽을 배척할 필요는 없다"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상수 — 구조의 눈 · 의리 — 뜻의 눈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두 눈으로 함께 보아야 주역이 입체가 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한국 — 정약용 『주역사전(周易四箋)』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의리(義理) + 상수(象數) 종합 — 양 학파의 장점을 흡수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조선 후기 실학의 정점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"주역은 만능 열쇠가 아니라 구체적 상황의 실천서"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송대 — 정이·주희의 의리학 정립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2860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정이(程頤)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1033~1107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32004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6887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『이천역전(伊川易傳)』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54864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79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의리학의 표준 — 조선 유학의 기본 교재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27832"/>
            <a:ext cx="22860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주희(朱熹)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1130~1200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227832"/>
            <a:ext cx="32004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502151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『주역본의(周易本義)』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27832"/>
            <a:ext cx="54864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02151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"본의(本義)" — 의리와 점복의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61104"/>
            <a:ext cx="22860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6227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소옹(邵雍)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5546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1011~1077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261104"/>
            <a:ext cx="32004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5354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『황극경세서(皇極經世書)』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61104"/>
            <a:ext cx="54864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35424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상수학의 정점 — "선천도(先天圖)" 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294376"/>
            <a:ext cx="228600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95544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주돈이(周敦頤)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8873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1017~1073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294376"/>
            <a:ext cx="320040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556869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『태극도설(太極圖說)』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5294376"/>
            <a:ext cx="5486400" cy="914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568696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주역에서 성리학으로 — "無極而太極"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— 퇴계·율곡·다산의 주역 학습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퇴계 이황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1501~1570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03120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『계몽전의(啓蒙傳疑)』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주희 『역학계몽』 주석 — 의리학의 깊이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율곡 이이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1536~1584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971800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200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『역수책(易數策)』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학문 시험 답안 — 상수와 의리의 균형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성호 이익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1681~1763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840480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『역경질서(易經疾書)』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69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근기학파의 주역 — 실용적 접근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188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다산 정약용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1762~1836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709160"/>
            <a:ext cx="3200400" cy="7772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937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『주역사전(周易四箋)』 · 『역학서언』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0916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실학적 종합 — 의리+상수 통합의 정점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6875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조선 5백 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577840"/>
            <a:ext cx="32004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5806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경연 + 사대부 필독서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577840"/>
            <a:ext cx="54864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806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"수신·치국의 거울" — 정치·인생 결정의 기준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라이프니츠와 이진법(1703) — 서양의 주역 발견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1703년 — 라이프니츠(G. W. Leibniz)가 이진법 발견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예수회 선교사 부베(Bouvet)가 라이프니츠에게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소옹의 선천도(先天圖) — 64괘 배열을 보냄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"이미 동양에 있었구나!" — 라이프니츠의 감탄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양효(⚊) = 1, 음효(⚋) = 0 · 64괘 = 6비트 이진수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"동양의 4,000년 된 이진 체계를 서양이 17세기에 발견"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20세기 서양 — 융·DNA·시스템 이론과의 만남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칼 융(Carl Jung)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194560"/>
            <a:ext cx="18288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1875~1961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194560"/>
            <a:ext cx="6400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33172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"동시성(Synchronicity)" 원리 — 주역 점복의 심리학적 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빌헬름 역(Wilhelm I Ching)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926080"/>
            <a:ext cx="18288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1923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2926080"/>
            <a:ext cx="6400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06324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독일어 번역 + 융의 서문 — 서양 주역 수용의 결정적 텍스트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DNA 64 코돈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657600"/>
            <a:ext cx="18288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1968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3657600"/>
            <a:ext cx="6400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379476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단백질 합성 코돈 64개 = 64괘 — 우연한 일치인가?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8912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시스템 이론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389120"/>
            <a:ext cx="18288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5262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20세기 후반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4389120"/>
            <a:ext cx="6400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452628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피드백 순환·복잡계 — 주역의 변화 사상과 통함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27432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VUCA 시대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5120640"/>
            <a:ext cx="18288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5257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21세기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5120640"/>
            <a:ext cx="64008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525780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불확실성을 다루는 책으로 재조명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 확산 — 문명의 공통 문법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중국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19456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3957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주역은 "群經之首" — 모든 학문의 기초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94560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39572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한대~청대 학자가 한 번은 주역에 손을 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81528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826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3081528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328269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신라 백제부터 사대부 필독서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081528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328269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세종이 집현전에 주역 강독 명령 · 다산 『주역사전』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68496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9663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일본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968496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169663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헤이안 시대부터 귀족 한문 교양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968496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69663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에도 시대 주자학의 핵심 텍스트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56631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베트남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855464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056631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한자 문화권의 공통 경전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855464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5056631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리·쩐 왕조의 사대부 교양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742431"/>
            <a:ext cx="18288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43599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전 세계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5742431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5943599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20세기 이후 영어 번역 다수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742431"/>
            <a:ext cx="457200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5943599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F2A44"/>
                </a:solidFill>
                <a:latin typeface="맑은 고딕"/>
              </a:rPr>
              <a:t>Wilhelm-Baynes 역이 서양 표준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① — 불확실성(VUCA)의 시대를 위한 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VUCA — Volatility · Uncertainty · Complexity · Ambiguity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"변동성·불확실성·복잡성·모호성의 시대"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현대 경영·정치·기술이 직면한 핵심 도전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"주역은 3,000년 전부터 변화는 상수(常數)다 라는 전제 위에"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변화를 두려워하지 않고 읽어내는 기술이 주역의 본령</a:t>
            </a:r>
          </a:p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"變則通 通則久" — 변하면 통하고, 통하면 오래간다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② — 타이밍(時) 감각의 사전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"인생에서 가장 어려운 것은 '무엇을'이 아니라 '언제'"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나아갈 때와 물러날 때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말할 때와 침묵할 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주역 64괘는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"인생의 64가지 전형적 상황을 미리 시뮬레이션한 때의 사전(時之典)"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시작 → 둔(3) / 준비기 → 수(5)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관계 → 동인(13)·규(38) / 성공 뒤 → 겸(15)·박(23)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변혁 → 혁(49) / 마무리 → 기제·미제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③ — 조직 리더를 위한 7개 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2199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 건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03120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221991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리더의 자강불식(自强不息)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7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 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697479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816351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포용과 실행 — 후덕재물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39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071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7 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291839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410711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군대의 운용 (조직 통솔)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050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11·12 태비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886200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00507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시대의 호흡 읽기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9943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15 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4480560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59943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성공 뒤의 겸손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937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49·50 혁정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074920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519379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변혁과 안정의 균형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69280"/>
            <a:ext cx="32004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88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63·64 기제미제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5669280"/>
            <a:ext cx="786384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78815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성과에 안주하지 않는 자세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"리더의 7가지 시기 — 한 사람의 일생이 곧 7괘의 순환"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④ — 점서를 넘어 "거울"로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공자의 선언 — "점치지 않고도 읽히는 책(不占而已)"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 괘를 읽는 일은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자신의 현재를 그 괘의 구조에 비추어 보는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"점괘가 아니라 거울"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8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미래를 예측하는 도구가 아니라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자기 위치를 객관화하는 거울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"내가 지금 어디에 있고, 무엇을 향해 어떻게 움직이고 있는가"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⑤ — 시스템 사고·피드백 순환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20세기 시스템 사고와의 만남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피터 셍게(Peter Senge) 『The Fifth Discipline』 —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"피드백 순환 (Feedback Loop) = 음양의 작동"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주역의 시스템적 통찰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강화 루프 — 양효 누적이 흥성을 만들지만 결국 反이 온다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균형 루프 — 음·양 교체가 순환을 만든다 (태↔비)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지연 효과 — 박(剝)에서 복(復)까지 7효(七日來復)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"복잡계의 작동을 64가지로 단순화한 모델"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⑥ — "내가 지금 어떤 괘에 있는가"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주역이 살아나는 순간 —</a:t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"내가 지금 어떤 괘에 있는가?"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를 자기에게 물을 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자기 진단 질문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지금 시(時)는? — 시작·발전·전성·쇠퇴·전환·재생 중 어디?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지금 위(位)는? — 초·이·삼·사·오·상효 어느 자리?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• 응(應)·비(比)는 어떤가? — 누구와 호응하고 이웃하는가?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어떻게 움직여야 길(吉)인가? — 같은 자리도 행위로 달라진다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장으로 보는 주역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太 極 (태극)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↓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陰 陽 (음양)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↓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四 象 (사상)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↓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八 卦 (팔괘) — ☰☱☲☳☴☵☶☷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↓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六 十 四 卦 (64괘) — 8 × 8 = 64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↓</a:t>
            </a:r>
          </a:p>
          <a:p>
            <a:pPr algn="ctr">
              <a:lnSpc>
                <a:spcPct val="115000"/>
              </a:lnSpc>
              <a:spcBef>
                <a:spcPts val="400"/>
              </a:spcBef>
            </a:pPr>
            <a:r>
              <a:rPr sz="2200" b="1">
                <a:solidFill>
                  <a:srgbClr val="8B1A1A"/>
                </a:solidFill>
                <a:latin typeface="맑은 고딕"/>
              </a:rPr>
              <a:t>十 翼 (십익)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15000"/>
              </a:lnSpc>
              <a:spcBef>
                <a:spcPts val="800"/>
              </a:spcBef>
            </a:pPr>
            <a:r>
              <a:rPr sz="1800" b="1">
                <a:solidFill>
                  <a:srgbClr val="1F2A44"/>
                </a:solidFill>
                <a:latin typeface="맑은 고딕"/>
              </a:rPr>
              <a:t>— "一 陰 一 陽 之 謂 道" —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76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주역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복희가 8괘를 긋고,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문왕·주공이 64괘 384효에 사(辭)를 매단 점서를</a:t>
            </a:r>
          </a:p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공자의 십익이 철학서로 승격시킨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2000" b="1">
                <a:solidFill>
                  <a:srgbClr val="8B1A1A"/>
                </a:solidFill>
                <a:latin typeface="맑은 고딕"/>
              </a:rPr>
              <a:t>"변화의 책(Book of Changes)" —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"변하지 않는 것은 단 하나 — '만물이 변한다'는 사실"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그 변화의 리듬을 먼저 읽는 자가 스스로를 구한다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400" b="1">
                <a:solidFill>
                  <a:srgbClr val="556070"/>
                </a:solidFill>
                <a:latin typeface="맑은 고딕"/>
              </a:rPr>
              <a:t>— 3,000년 동안 동아시아 모든 학문의 머리로 자리한 군경지수(群經之首) —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一 陰 一 陽 之 謂 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일 음 일 양 지 위 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749039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"한 번 음하고 한 번 양하는 것을 도(道)라 한다"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— 계사상 · 주역 철학의 정수, 동양 우주관의 한 문장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"내가 지금 어떤 괘에 있는가" — 이 질문이 주역을 살린다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