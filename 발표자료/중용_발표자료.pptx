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1F2A44"/>
                </a:solidFill>
                <a:latin typeface="맑은 고딕"/>
              </a:rPr>
              <a:t>中 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B1A1A"/>
                </a:solidFill>
                <a:latin typeface="맑은 고딕"/>
              </a:rPr>
              <a:t>The Doctrine of the Mean · 중용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1148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자사(子思) 저 — 사서(四書)의 정점, 동아시아 제왕학의 심장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본래 『예기(禮記)』 제31편 · 33장 · 약 3,500자 · 공문전수지심법(孔門傳授之心法)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"誠者, 天之道也; 誠之者, 人之道也"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성(誠)은 하늘의 도이고, 성실하고자 함은 사람의 도다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개요 — 중용이란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왜 왕의 책이었나 — 제왕학의 심장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3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3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구조 — 33장의 3부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5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5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1장 (총론) — 중용의 형이상학적 뼈대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7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8327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시중(時中)과 군자 — 2~11장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19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8619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도의 보편성 — 12~19장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1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3891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20장 — 중용의 중심, 구경(九經)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3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9203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성(誠)의 형이상학 — 21~26장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371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3716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성인의 도 — 27~33장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7대 주제어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7743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37743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명구절 10선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88035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88035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7대 핵심 메시지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38327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38327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현대적 의의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88619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88619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다른 고전과의 비교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38911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ⅩⅤ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3891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중용(中庸)이란 무엇인가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394960" cy="4297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中 — 중(中)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8463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한쪽으로 치우치지 않음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지나침(過)과 모자람(不及)의 중간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단순한 산술적 중간이 아니라</a:t>
            </a:r>
          </a:p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"그 상황에 가장 알맞은 지점"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394960" cy="42976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庸 — 용(庸)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8463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두 뜻이 공존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① 평상(平常)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일상에서 변하지 않음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② 용구(用久)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쓰임이 오래감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"평소에도 변함없이 지킬 수 있는 도"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"적당히 절충"이 아니라 "가장 알맞은 한 점을 정확히 찾아 거기 머무는 것"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책의 위상 — 핵심 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6040" y="196596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3055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서명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01167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중용(中庸)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391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"치우치지 않고 평소에도 지키는 도"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39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2606039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706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저자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5175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자사(子思, BC 483?~402?)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7919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공자의 손자 · 공급(孔伋)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324612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107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학통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29183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공자 → 증자 → 자사 → 맹자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192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유학 정통 계보의 중심축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06040" y="3886200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50791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원출처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9319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『예기(禮記)』 제31편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593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본래 독립 책이 아닌 한 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2628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06040" y="452628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690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분량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5720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33장 · 약 3,500자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59943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간결하지만 가장 심오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6636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06040" y="5166360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33095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주희의 평가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52120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공문전수지심법(孔門傳授之心法)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395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공자 문하가 대대로 전수한 마음의 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0644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6040" y="580644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9710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사서의 위치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58521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대학·논어·맹자 다음 — 정점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87959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"가장 나중에 읽어야 할 책"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자사(子思, BC 483?~402?) — 공자의 손자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子
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이름과 신분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본명 공급(孔伋), 자(字) 자사(子思)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공자의 손자 — 공자의 외동아들 백어(伯魚)의 아들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학통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  공자 → 증자(曾子) → 자사 → 맹자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유학 정통 학통의 중심에 위치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저작 동기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주희의 진단 — "도학(道學)이 실전될 것을 근심하여 지음"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16자 심법(十六字心法)을 계승·체계화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사상사적 위치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공자의 인(仁)과 맹자의 성선(性善)을 연결하는 다리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정자(程子)·주희(朱熹)의 평가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56070"/>
                </a:solidFill>
                <a:latin typeface="맑은 고딕"/>
              </a:rPr>
              <a:t>정이천(程伊川)의 한 마디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2400" b="1">
                <a:solidFill>
                  <a:srgbClr val="8B1A1A"/>
                </a:solidFill>
                <a:latin typeface="맑은 고딕"/>
              </a:rPr>
              <a:t>"공문전수지심법(孔門傳授之心法)"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— 공자 문하가 대대로 전수한 마음의 법 —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"펼치면 우주 여섯 방위에 가득차고, 거두면 은밀한 곳에 숨는다"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(放之則彌六合, 卷之則退藏於密)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주희 『중용장구』 서문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"중용은 자사가 도학이 실전될 것을 근심하여 지은 책이다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요·순의 「인심유위, 도심유미」 16자 심법을 계승한 것"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사서(四書)의 역순 — 가장 마지막에 읽는 정점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"중용은 사서의 종착지 · 가장 심오하기에 마지막에 둔다"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286000" cy="86868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414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대학(大學)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194560"/>
            <a:ext cx="22860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4414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規模 — 규모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2194560"/>
            <a:ext cx="32004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44144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전체의 지도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2194560"/>
            <a:ext cx="310896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44144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먼저 읽어 큰 그림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2286000" cy="86868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015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논어(論語)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154680"/>
            <a:ext cx="22860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34015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根本 — 근본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3154680"/>
            <a:ext cx="32004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340156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인(仁)의 뿌리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3154680"/>
            <a:ext cx="310896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340156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두 번째로 근본 세움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2286000" cy="86868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616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맹자(孟子)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114800"/>
            <a:ext cx="22860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43616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發揮 — 발휘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4114800"/>
            <a:ext cx="32004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436168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활달한 논변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4114800"/>
            <a:ext cx="310896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436168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세 번째로 발휘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074920"/>
            <a:ext cx="22860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2180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중용(中庸)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5074920"/>
            <a:ext cx="22860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532180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微妙 — 미묘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0" y="5074920"/>
            <a:ext cx="3200400" cy="8686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0" y="532180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형이상학·심법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5074920"/>
            <a:ext cx="3108960" cy="8686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53218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마지막 — 정점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대학이 "사업계획서"라면 중용은 "존재론" — 가장 나중에 가장 깊이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왕의 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동아시아 제왕학의 심장 — 왜 왕이 꼭 읽었나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중용 = 통치의 형이상학 + 판단의 기준 + 자기감찰의 도구 + 감정 관리 철학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906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16자 심법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971800"/>
            <a:ext cx="8412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090672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요·순·우에게 전수된 왕권의 가장 깊은 뿌리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38728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구경(九經)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538728"/>
            <a:ext cx="8412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6576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천하국가를 다스리는 9가지 법도 — 20장의 핵심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05656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245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성자천지도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4105656"/>
            <a:ext cx="8412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4224528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왕권의 정당성을 지탱하는 최종 근거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72584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79145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시중(時中)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4672584"/>
            <a:ext cx="8412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4791456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제왕의 판단력의 다른 이름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39512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5838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신독(愼獨)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5239512"/>
            <a:ext cx="8412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5358384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구중궁궐의 "홀로 있음"을 감찰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806440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9253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중화(中和)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5806440"/>
            <a:ext cx="84124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5925312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왕의 감정 통치의 철학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왕의 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16자 심법(十六字心法) — 왕권의 뿌리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人 心 惟 危   道 心 惟 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惟 精 惟 一   允 執 厥 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인심유위 도심유미 · 유정유일 윤집궐중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"인심(人心)은 위태롭고 도심(道心)은 미묘하니</a:t>
            </a:r>
          </a:p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 오직 정밀(惟精)하게 하고 오직 한결같이(惟一) 하여</a:t>
            </a:r>
          </a:p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 진실로 그 중(中)을 잡으라(允執厥中)"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요(堯) → 순(舜) → 우(禹)로 전수된 제왕의 16자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중용은 이 "중(中)"의 철학적 해명서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왕의 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人心 vs 道心 — 왕이 매 순간 선택해야 하는 두 마음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人 心 — 인심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욕망에 이끌리는 마음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"惟 危" — 늘 위태롭다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권력의 유혹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측근의 아첨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감각의 쾌락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분노·욕심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道 心 — 도심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하늘의 이치를 따르는 마음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"惟 微" — 희미하고 잡기 어렵다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도덕적 판단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공정성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백성의 안위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천명의 인식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"왕이 중(中)을 잃으면 나라가 기운다" — 인심·도심 사이에서 매 순간 시중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왕의 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구경(九經) — 천하국가를 다스리는 9가지 법도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— 중용 20장, 노 애공(哀公)의 정치 물음에 대한 공자의 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103120"/>
            <a:ext cx="31089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修身 (수신)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3749039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1635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자기 몸을 닦음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19456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103120"/>
            <a:ext cx="31089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1945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尊賢 (존현)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651760"/>
            <a:ext cx="3749039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81635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어진 이를 존경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103120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19456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19" y="2103120"/>
            <a:ext cx="31089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19" y="21945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親親 (친친)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651760"/>
            <a:ext cx="3749039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281635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친족을 친하게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29000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5204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3429000"/>
            <a:ext cx="31089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5204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敬大臣 (경대신)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77639"/>
            <a:ext cx="3749039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14223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대신을 공경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429000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35204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429000"/>
            <a:ext cx="31089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5204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體群臣 (체군신)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3977639"/>
            <a:ext cx="3749039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414223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군신을 몸처럼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3429000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5204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19" y="3429000"/>
            <a:ext cx="31089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19" y="35204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子庶民 (자서민)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3977639"/>
            <a:ext cx="3749039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414223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서민을 자식처럼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754879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84631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7280" y="4754879"/>
            <a:ext cx="31089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484631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來百工 (래백공)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303519"/>
            <a:ext cx="3749039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46811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장인을 오게 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4754879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0" y="484631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0" y="4754879"/>
            <a:ext cx="31089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484631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柔遠人 (유원인)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0" y="5303519"/>
            <a:ext cx="3749039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26280" y="546811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먼 곳 사람을 부드럽게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4754879"/>
            <a:ext cx="54864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484631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61119" y="4754879"/>
            <a:ext cx="31089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61119" y="484631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懷諸侯 (회제후)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5303519"/>
            <a:ext cx="3749039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58200" y="546811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제후를 품음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왕의 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誠者 天之道 — 왕권의 정당성을 지탱하는 최종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誠 者   天 之 道 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8B1A1A"/>
                </a:solidFill>
                <a:latin typeface="맑은 고딕"/>
              </a:rPr>
              <a:t>誠 之 者   人 之 道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성자 천지도야 · 성지자 인지도야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중용 20장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484632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8640" y="5074920"/>
            <a:ext cx="1088136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21208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"왕의 권위는 천명(天命)에서 나온다"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하늘의 본성이 "성(誠)"이라면, 왕도 "성"을 근본으로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왕이 거짓되면 천명을 잃고, 천명을 잃으면 혁명이 일어난다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왕의 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시중·신독·중화 — 왕의 3대 자기 점검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3716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時中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194560"/>
            <a:ext cx="969264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331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시중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60604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"군자이시중" — 군자는 때에 맞게 중을 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9718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제왕의 판단력 — 같은 일도 때마다 다른 정답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20439"/>
            <a:ext cx="13716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79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愼獨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520439"/>
            <a:ext cx="969264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365759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신독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9319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"군자신기독" — 홀로 있음을 삼간다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29767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왕의 자기감찰 — 침전(寢殿)의 모습이 진짜 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13716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66359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中和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4846320"/>
            <a:ext cx="969264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498348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중화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2578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"치중화 천지위언" — 중화를 이루면 천지가 제자리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62355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왕의 감정 통치 — 절도에 맞게 발하라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왕의 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실제 교육 역사 — 중국·한국·일본 왕실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9572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중국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94560"/>
            <a:ext cx="87782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267712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청 강희제 — 『일강중용해의(日講中庸解義)』 매일 강독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65176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당 태종 공영달의 『예기정의』, 송 주희 이후 과거 표준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63239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6440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한국 — 경연(經筵)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3063239"/>
            <a:ext cx="87782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3136391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조선 왕실의 경연에서 가장 많이 강독된 책 중 하나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520439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논어·맹자와 함께 핵심 교재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33087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한국 — 학자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931920"/>
            <a:ext cx="87782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4005072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퇴계 『성학십도』 6·9도 (심통성정·경재잠)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3891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율곡 『성학집요』 — 구경(九經)을 왕도의 골격으로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0060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017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한국 — 정조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4800600"/>
            <a:ext cx="87782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4873752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18세 때 깊이 읽고 『중용강의』 친저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2578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정약용 『중용강의보』 — 실학의 중용 해석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6928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8704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일본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5669280"/>
            <a:ext cx="87782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5742432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도쿠가와 이에야스 — 하야시 라잔에게 강독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12648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막부 말기 요시다 쇼인이 제자들에게 반복 강의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33장 + 3부 구조 — 주희 『중용장구』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1371600" cy="10972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1부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286000"/>
            <a:ext cx="22860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651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제 1 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7315200" cy="10972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50592"/>
            <a:ext cx="7040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강령(綱領, 총론)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7040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"천명지위성"에서 "치중화"까지 — 중용의 형이상학적 뼈대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1371600" cy="10972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3566160"/>
            <a:ext cx="22860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3931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제 2~20장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566160"/>
            <a:ext cx="7315200" cy="10972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730752"/>
            <a:ext cx="7040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본론 ① — 중용의 실천, 도, 정치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160520"/>
            <a:ext cx="7040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공자의 어록 — 중용이 현실에 펼쳐지는 모습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1371600" cy="10972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1208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4846320"/>
            <a:ext cx="22860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5212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제 21~33장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846320"/>
            <a:ext cx="7315200" cy="10972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5010912"/>
            <a:ext cx="7040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본론 ② — 성(誠)의 형이상학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440680"/>
            <a:ext cx="7040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자사의 논설 — 중용의 궁극적 정점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핵심 장별 지도 — 한눈에 보는 중용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82296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828800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901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천명·중화·신독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828800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901952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중용의 형이상학적 뼈대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82296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04872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2331720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4048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군자시중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331720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404872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중용은 "때의 중(時中)"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34639"/>
            <a:ext cx="82296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07791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834639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290779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중용난능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834639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2907791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중용은 가장 어려운 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37559"/>
            <a:ext cx="82296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10711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6장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3337559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41071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집기양단 용기중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337559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3410711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순 임금의 지혜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40479"/>
            <a:ext cx="82296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913631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13장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3840479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391363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도불원인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3840479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3913631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도는 사람에게서 멀지 않다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43399"/>
            <a:ext cx="82296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416551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20장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4343399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441655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구경 · 성자천지도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4343399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4416551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중용의 중심 — 가장 긴 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846319"/>
            <a:ext cx="82296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919471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22장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63040" y="4846319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4480" y="491947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지성진성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4846319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4919471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천지와 더불어 셋이 됨(天地參)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349239"/>
            <a:ext cx="82296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422391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26장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63040" y="5349239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54480" y="542239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지성무식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5349239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60" y="5422391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지극한 성은 쉬지 않는다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852159"/>
            <a:ext cx="82296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925311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33장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63040" y="5852159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54480" y="592531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무성무취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5852159"/>
            <a:ext cx="69494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37760" y="5925311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결론 — 하늘의 일은 소리·냄새 없다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강령 → 실천 → 형이상학 — 3단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8288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219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210312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22199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강령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103120"/>
            <a:ext cx="676656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221991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천명지위성 · 중화 · 신독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88920"/>
            <a:ext cx="1828800" cy="594360"/>
          </a:xfrm>
          <a:prstGeom prst="rect">
            <a:avLst/>
          </a:prstGeom>
          <a:solidFill>
            <a:srgbClr val="A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077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2~11장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278892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90779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시중·군자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788920"/>
            <a:ext cx="676656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907791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군자시중 · 순임금 · 안회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1828800" cy="594360"/>
          </a:xfrm>
          <a:prstGeom prst="rect">
            <a:avLst/>
          </a:prstGeom>
          <a:solidFill>
            <a:srgbClr val="704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935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12~19장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347472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359359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도의 보편성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3474720"/>
            <a:ext cx="676656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3593591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도불원인 · 소위소행 · 귀신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60520"/>
            <a:ext cx="18288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7939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20장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416052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4600" y="42793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정치의 중심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4160520"/>
            <a:ext cx="676656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427939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구경 · 성자천지도 · 5단계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46320"/>
            <a:ext cx="1828800" cy="594360"/>
          </a:xfrm>
          <a:prstGeom prst="rect">
            <a:avLst/>
          </a:prstGeom>
          <a:solidFill>
            <a:srgbClr val="A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96519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21~26장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484632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49651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성의 형이상학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4846320"/>
            <a:ext cx="676656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496519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지성진성 · 천지참 · 지성무식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32120"/>
            <a:ext cx="1828800" cy="59436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65099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27~33장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4600" y="553212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4600" y="56509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성인의 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5532120"/>
            <a:ext cx="676656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0" y="565099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왕도의 완성 · 무성무취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1장 — 중용의 형이상학적 뼈대 (강령)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단 한 장에 중용 전체의 뼈대가 압축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천명지위성 — 4단계 인과 (天→性→道→敎)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신독(愼獨) — 막현호은 막현호미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중화(中和) — 미발의 중, 이발의 화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치중화(致中和) — 천지위언 만물육언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수미상관(首尾相關)의 구조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1장 — "막현호은(莫見乎隱)" — 숨은 것보다 더 드러난 것 없다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33장 — "무성무취(無聲無臭)" — 하늘의 일은 소리·냄새가 없다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"드러나지 않음"의 두 끝이 책 전체를 둘러싼다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天命之謂性 — 유학 형이상학의 출발점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天 命 之 謂 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맑은 고딕"/>
              </a:rPr>
              <a:t>率 性 之 謂 道   修 道 之 謂 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천명지위성 · 솔성지위도 · 수도지위교</a:t>
            </a:r>
          </a:p>
        </p:txBody>
      </p:sp>
      <p:sp>
        <p:nvSpPr>
          <p:cNvPr id="9" name="Rectangle 8"/>
          <p:cNvSpPr/>
          <p:nvPr/>
        </p:nvSpPr>
        <p:spPr>
          <a:xfrm>
            <a:off x="2986887" y="4572000"/>
            <a:ext cx="128016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887" y="470916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맑은 고딕"/>
              </a:rPr>
              <a:t>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6887" y="52578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하늘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7047" y="49377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2807" y="4572000"/>
            <a:ext cx="128016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2807" y="470916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맑은 고딕"/>
              </a:rPr>
              <a:t>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807" y="52578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본성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2967" y="49377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4572000"/>
            <a:ext cx="128016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470916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맑은 고딕"/>
              </a:rPr>
              <a:t>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52578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8887" y="49377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4647" y="4572000"/>
            <a:ext cx="128016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4647" y="470916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맑은 고딕"/>
              </a:rPr>
              <a:t>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4647" y="52578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교육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"인간의 선함은 하늘의 명(命)이다" — 맹자 성선설의 뿌리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戒愼恐懼 — 보이지 않는 곳에서도 경계하라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"君子戒愼乎其所不睹 恐懼乎其所不聞"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군자계신호기소부도 공구호기소불문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35661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"군자는 남이 보지 않는 곳에서도 경계하고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 남이 듣지 않는 곳에서도 두려워한다"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212080"/>
            <a:ext cx="1088136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남이 안 볼 때의 행동이 진짜 인격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왕에게 — 구중궁궐의 침전에서의 모습이 진짜 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莫見乎隱 莫顯乎微 — 숨은 것이 가장 드러난다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莫 見 乎 隱   莫 顯 乎 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막현호은 막현호미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36576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"숨은 것보다 더 드러난 것이 없고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 미세한 것보다 더 분명한 것이 없다"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212080"/>
            <a:ext cx="1088136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"故君子愼其獨也" — 그러므로 군자는 홀로 있음을 삼간다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성리학 수양법의 핵심 — 퇴계 "경(敬)"·율곡 "성(誠)"의 뿌리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中和 — 미발(未發)의 중, 이발(已發)의 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中 — 중(中)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喜怒哀樂之 未發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희노애락이 아직 발하지 않음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"감정이 일어나기 전의 고요"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"천하의 큰 근본(天下之大本)"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和 — 화(和)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發而皆 中節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발하여 모두 절도에 맞음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"일어난 감정이 딱 맞게 발현"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"천하의 통달하는 도(天下之達道)"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"감정을 억누르라"가 아니라 "발할 때 절도(節)에 맞게 발하라"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致中和 天地位焉 萬物育焉 — 중화의 우주적 의미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8B1A1A"/>
                </a:solidFill>
                <a:latin typeface="맑은 고딕"/>
              </a:rPr>
              <a:t>致 中 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天 地 位 焉   萬 物 育 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치중화 · 천지위언 만물육언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5262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8006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"중화를 이루면 천지가 제자리를 잡고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 만물이 자라난다"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→ 개인의 마음이 우주와 연결되는 동양적 우주론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시중과 군자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君子時中 — 군자는 때에 맞게 중을 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君 子 之 中 庸 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君 子 而 時 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군자지중용야 · 군자이시중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중용 2장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47548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"군자의 중용이란 군자이면서 때에 맞게 중을 쓰는 것"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→ 중은 고정된 지점이 아니다 — 매번 새로 발견해야 하는 "그때의 정답"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시중과 군자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中庸之爲德也 其至矣乎 — 중용의 덕은 지극하다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맑은 고딕"/>
              </a:rPr>
              <a:t>中 庸 之 爲 德 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맑은 고딕"/>
              </a:rPr>
              <a:t>其 至 矣 乎   民 鮮 久 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중용지위덕야 · 기지의호 민선구의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공자의 말, 중용 3장 인용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484632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"중용의 덕됨이 지극하구나!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 백성들 중에 이를 오래 지키는 자가 드물다"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쉬워 보이지만 가장 어려운 덕 — 중용의 역설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시중과 군자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中庸難能 — 중용은 가장 어려운 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공자의 안타까운 진단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800" b="1">
                <a:solidFill>
                  <a:srgbClr val="1F2A44"/>
                </a:solidFill>
                <a:latin typeface="맑은 고딕"/>
              </a:rPr>
              <a:t>"백성들 중에 중용을 오래 지키는 자가 드물다(民鮮久矣)"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"천하의 나라도 균등히 다스릴 수 있고, 작록도 사양할 수 있고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 흰 칼날도 밟을 수 있으나, 중용은 능하기 어렵다(中庸不可能也)"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왜 가장 어려운가?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극단은 쉽다 — 분명한 선택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중간(中)은 어렵다 — 매번 새로 찾아야 하므로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• 지속(庸)은 더 어렵다 — 한 번이 아니라 평생이므로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시중과 군자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순(舜) 임금의 지혜 — 執其兩端 用其中於民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"舜其大知也與!" — 순 임금은 참으로 큰 지혜로운 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2743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4495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好問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971800"/>
            <a:ext cx="2286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309981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호문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971800"/>
            <a:ext cx="59436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09981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묻기를 좋아함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11880"/>
            <a:ext cx="2743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850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好察邇言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611880"/>
            <a:ext cx="2286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73989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호찰이언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3611880"/>
            <a:ext cx="59436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73989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가까운 말(서민·일상의 말)을 살피기 좋아함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2743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251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隱惡揚善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4251960"/>
            <a:ext cx="2286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437997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은악양선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4251960"/>
            <a:ext cx="59436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37997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악은 덮고 선은 드러냄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92040"/>
            <a:ext cx="2743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6519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執其兩端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4892040"/>
            <a:ext cx="2286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502005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집기양단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4892040"/>
            <a:ext cx="59436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502005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극단의 양쪽을 모두 파악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532120"/>
            <a:ext cx="2743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6052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用其中於民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5532120"/>
            <a:ext cx="22860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56601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용기중어민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5532120"/>
            <a:ext cx="59436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566013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그 중(中)을 백성에게 적용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"극단을 이해하지 못하면 중을 알 수 없다" — 왕의 사고법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시중과 군자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안회(顔回)의 실천 — 拳拳服膺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"回之爲人也 擇乎中庸</a:t>
            </a:r>
          </a:p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 得一善 則拳拳服膺 而弗失之矣"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"안회의 사람됨은 중용을 택하여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 하나의 선을 얻으면 받들어 가슴에 품고 잃지 않았다"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"권권복응(拳拳服膺)" — 받들어 가슴에 품다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한 번 얻은 좋은 것을 평생 놓지 않는 안회의 지속력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"중용은 천재의 일이 아니라 끈기의 일"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도의 보편성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道不遠人 — 도는 사람에게서 멀지 않다 (13장)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8B1A1A"/>
                </a:solidFill>
                <a:latin typeface="맑은 고딕"/>
              </a:rPr>
              <a:t>道 不 遠 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도불원인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중용 13장 (공자)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16052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4348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"도는 사람에게서 멀지 않다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 사람이 도를 행하면서 사람을 멀리 한다면 도라 할 수 없다"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760720"/>
            <a:ext cx="1088136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"도는 산속 수도가 아니라 부모·형제·부부·붕우·군신의 일상 안에"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도의 보편성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素位而行 — 자기 위치에서 행한다 (14장)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2199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"君子素其位而行 不願乎其外"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군자소기위이행 불원호기외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중용 14장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393192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42062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"군자는 자기 자리(位)에 맞게 행하고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 그 밖의 것을 원하지 않는다"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577840"/>
            <a:ext cx="1088136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"부귀에 처하면 부귀에 맞게, 빈천에 처하면 빈천에 맞게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환난에 처하면 환난에 맞게 — 어느 자리에서나 흔들리지 않는다"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도의 보편성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鬼神之德 — 은미함과 드러남의 통일 (16장)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"視之而弗見 聽之而弗聞</a:t>
            </a:r>
          </a:p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 體物而不可遺"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"보아도 보이지 않고, 들어도 들리지 않으나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 만물에 깃들어 빠뜨릴 수 없다"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"夫微之顯 誠之不可揜 如此夫"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"은미함이 드러나는 것 — 성(誠)을 가릴 수 없음이 이와 같다"</a:t>
            </a:r>
          </a:p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8B1A1A"/>
                </a:solidFill>
                <a:latin typeface="맑은 고딕"/>
              </a:rPr>
              <a:t>가장 미세한 것이 가장 분명하게 드러난다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20장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20장 — 중용의 중심 · 가장 긴 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哀公問政 — 노(魯) 애공이 공자에게 정치를 묻다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1247120" cy="3383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20장이 담고 있는 4가지 핵심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8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① 구경(九經) — 천하국가 통치의 9가지 법도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② 박학·심문·신사·명변·독행 — 학습의 5단계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③ 인일능지기백지 — 천 번의 반복의 정신 (그릿)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④ 성자천지도 — 성(誠) 개념의 결정적 도입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8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"왕들이 줄을 치며 읽은 장" — 책 전체의 중심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20장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九經 개관 — "凡爲天下國家有九經"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"凡爲天下國家有九經"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범위천하국가유구경 — "무릇 천하국가를 다스림에 아홉 가지 법이 있다"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3749039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① 修身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수신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383280"/>
            <a:ext cx="3749039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5204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② 尊賢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9319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존현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3383280"/>
            <a:ext cx="3749039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5204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③ 親親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친친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3749039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④ 敬大臣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경대신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4389120"/>
            <a:ext cx="3749039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5262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⑤ 體群臣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93776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체군신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4389120"/>
            <a:ext cx="3749039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5262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⑥ 子庶民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93776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자서민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94960"/>
            <a:ext cx="3749039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321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⑦ 來百工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436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래백공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5394960"/>
            <a:ext cx="3749039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55321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⑧ 柔遠人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9436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유원인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5394960"/>
            <a:ext cx="3749039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55321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⑨ 懷諸侯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9436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회제후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20장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九經 1~5 — 자기에서 군신까지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103120"/>
            <a:ext cx="1828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1945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修身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60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수신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103120"/>
            <a:ext cx="36576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30428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자기 몸을 닦음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103120"/>
            <a:ext cx="4754880" cy="777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3042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리더의 자기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7180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72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971800"/>
            <a:ext cx="1828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0632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尊賢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429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존현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971800"/>
            <a:ext cx="36576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317296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어진 이를 존경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2971800"/>
            <a:ext cx="4754880" cy="777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17296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탁월한 인재의 우대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4048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41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3840480"/>
            <a:ext cx="1828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3931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親親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2976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친친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840480"/>
            <a:ext cx="36576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404164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친족을 친하게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3840480"/>
            <a:ext cx="4754880" cy="777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404164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가족·측근 질서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70916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91032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80160" y="4709160"/>
            <a:ext cx="1828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4800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敬大臣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1663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경대신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4709160"/>
            <a:ext cx="36576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491032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대신을 공경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4709160"/>
            <a:ext cx="4754880" cy="777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491032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핵심 임원의 권위 존중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57784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790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0160" y="5577840"/>
            <a:ext cx="1828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5669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體群臣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60350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체군신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5577840"/>
            <a:ext cx="36576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0" y="57790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군신을 몸처럼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5577840"/>
            <a:ext cx="4754880" cy="777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0" y="577900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조직원과 일체감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20장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九經 6~9 — 백성에서 제후까지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64008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414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194560"/>
            <a:ext cx="18288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子庶民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97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자서민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194560"/>
            <a:ext cx="365760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468879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서민을 자식처럼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194560"/>
            <a:ext cx="4754880" cy="8686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468879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일반 구성원·고객을 자녀처럼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64008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015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3154680"/>
            <a:ext cx="18288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來百工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57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래백공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154680"/>
            <a:ext cx="365760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34290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장인을 오게 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3154680"/>
            <a:ext cx="4754880" cy="8686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4290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각 분야 전문가의 영입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64008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36168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4114800"/>
            <a:ext cx="18288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251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柔遠人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617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유원인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114800"/>
            <a:ext cx="365760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43891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먼 곳 사람을 부드럽게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4114800"/>
            <a:ext cx="4754880" cy="8686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43891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외부·국제 관계 관리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074920"/>
            <a:ext cx="64008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3218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80160" y="5074920"/>
            <a:ext cx="18288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5212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懷諸侯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577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회제후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5074920"/>
            <a:ext cx="365760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53492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제후를 품음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5074920"/>
            <a:ext cx="4754880" cy="8686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5349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동맹·협력 파트너 관리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20장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九經의 효과 — 각 항목의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修身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94767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828800"/>
            <a:ext cx="3657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94767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도(道)가 선다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476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尊賢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94767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1828800"/>
            <a:ext cx="3657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94767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유혹되지 않는다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420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親親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542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423160"/>
            <a:ext cx="3657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54203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친족 갈등이 없다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42316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5420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敬大臣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542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2423160"/>
            <a:ext cx="3657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254203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현혹되지 않는다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363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體群臣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3136391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3017520"/>
            <a:ext cx="3657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3136391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선비가 보답한다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01752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1363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子庶民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136391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3017520"/>
            <a:ext cx="3657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3136391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백성이 부지런해진다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61188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73075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來百工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373075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3611880"/>
            <a:ext cx="3657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373075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재용이 족해진다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611880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73075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柔遠人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373075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32520" y="3611880"/>
            <a:ext cx="36576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373075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사방이 귀의한다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52647" y="4526279"/>
            <a:ext cx="1828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52647" y="464515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懷諸侯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27167" y="4645151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75807" y="4526279"/>
            <a:ext cx="310896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12967" y="4645151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천하가 두려워한다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왕이 이 9가지를 체크리스트로 삼으면 그 치세가 흥한다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20장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誠者 天之道 — 중용 전체를 뒤바꾸는 명제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誠 者   天 之 道 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誠 之 者   人 之 道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성자 천지도야 · 성지자 인지도야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4805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"성(誠)은 하늘의 도이고, 성실하고자 함(誠之)은 사람의 도다"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486400"/>
            <a:ext cx="1088136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성(誠) = 단순한 성실성이 아니라 "존재의 진정성"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하늘의 도는 저절로 참되고 / 사람의 도는 참되고자 노력하는 것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20장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학습의 5단계 — 博學·審問·愼思·明辨·篤行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103120"/>
            <a:ext cx="20116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14883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博 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603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박학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103120"/>
            <a:ext cx="32004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2860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널리 배운다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103120"/>
            <a:ext cx="5029200" cy="7315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2860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양의 축적 — T자형 학습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26079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906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926079"/>
            <a:ext cx="20116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97179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審 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8327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심문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926079"/>
            <a:ext cx="32004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108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자세히 묻는다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926079"/>
            <a:ext cx="5029200" cy="7315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108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비판적 사고 — Critical Thinking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49039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1363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3749039"/>
            <a:ext cx="20116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37947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愼 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신사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749039"/>
            <a:ext cx="32004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39319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신중하게 생각한다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749039"/>
            <a:ext cx="5029200" cy="7315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39319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깊은 사유 — Deep 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72000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73659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80160" y="4572000"/>
            <a:ext cx="20116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46177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明 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0292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명변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4572000"/>
            <a:ext cx="32004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47548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밝게 분별한다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4572000"/>
            <a:ext cx="5029200" cy="7315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47548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판단력 — Judgement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94960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55955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0160" y="5394960"/>
            <a:ext cx="20116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54406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篤 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58521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독행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5394960"/>
            <a:ext cx="320040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20440" y="5577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도탑게 실천한다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5394960"/>
            <a:ext cx="5029200" cy="7315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55778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실천력 — Execution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20장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人一能之 己百之 — 그릿(Grit)의 동양 원형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8B1A1A"/>
                </a:solidFill>
                <a:latin typeface="맑은 고딕"/>
              </a:rPr>
              <a:t>人 一 能 之   己 百 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8B1A1A"/>
                </a:solidFill>
                <a:latin typeface="맑은 고딕"/>
              </a:rPr>
              <a:t>人 十 能 之   己 千 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인일능지 기백지 · 인십능지 기천지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43484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709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"남이 한 번에 능하면 나는 백 번을 하고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 남이 열 번에 능하면 나는 천 번을 한다"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"果能此道矣 雖愚必明 雖柔必強" — 어리석어도 반드시 밝아지고, 유약해도 반드시 강해진다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→ Angela Duckworth의 Grit 이론·1만 시간의 법칙의 원형 — 조선 선비의 좌우명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20장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擇善而固執之 — 현실적 수양의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擇 善 而 固 執 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택선이고집지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중용 20장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2519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5262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A44"/>
                </a:solidFill>
                <a:latin typeface="맑은 고딕"/>
              </a:rPr>
              <a:t>"선을 택하여 굳게 붙드는 것"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03520"/>
            <a:ext cx="1124712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성인(聖人) — 힘쓰지 않아도 중에 맞는다 (不勉而中)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보통 사람 — 선을 택해 굳게 붙드는 것이 수양의 길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성의 형이상학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自誠明 自明誠 — 성(誠)과 명(明)의 두 방향 (21장)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自 誠 明 — 자성명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"성(誠)으로부터 밝아지는 것"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이것을 "성(性)"이라 한다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성인(聖人)의 길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타고난 본성에서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저절로 통달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自 明 誠 — 자명성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"밝음으로부터 성에 이르는 것"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이것을 "교(敎)"라 한다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보통 사람의 길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배움과 명변을 통해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성(誠)에 이름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성의 형이상학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至誠盡性 — 자기→사람→만물→천지 (22장)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0292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21991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盡 其 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26771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103120"/>
            <a:ext cx="539496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6771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자기 성을 다함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39"/>
            <a:ext cx="50292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53511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盡 人 之 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99923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39"/>
            <a:ext cx="539496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992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사람의 성을 다함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66159"/>
            <a:ext cx="50292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85031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盡 物 之 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73075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566159"/>
            <a:ext cx="539496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730751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만물의 성을 다함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79"/>
            <a:ext cx="50292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16551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贊 天 地 化 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46227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297679"/>
            <a:ext cx="539496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462271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천지의 화육을 도움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29199"/>
            <a:ext cx="50292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48071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與 天 地 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19379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5029199"/>
            <a:ext cx="539496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93791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천지와 더불어 셋(參)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"唯天下至誠爲能盡其性" — 천하의 지성(至誠)만이 자기 성을 다할 수 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성의 형이상학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與天地參 — 인간이 천지의 동반자가 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與 天 地 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여천지참 — "천지와 더불어 셋(三)이 된다"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393192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4206240"/>
            <a:ext cx="11247120" cy="21945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중용의 절정 — 인간의 존재론적 위상 선언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700" b="1">
                <a:solidFill>
                  <a:srgbClr val="1F2A44"/>
                </a:solidFill>
                <a:latin typeface="맑은 고딕"/>
              </a:rPr>
              <a:t>천(天) — 하늘 · 지(地) — 땅 · 인(人) — 인간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인간은 천지의 피조물이 아니라 동반자(三)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서양 종교의 인간관과 결정적으로 다른 지점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성의 형이상학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其次致曲 — 작은 것부터 성(誠)을 이룬다 (23장)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2199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"其次致曲 曲能有誠 誠則形…"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기차치곡 곡능유성 성즉형…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66160"/>
            <a:ext cx="182880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30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致 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3566160"/>
            <a:ext cx="182880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36393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곡진히 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566160"/>
            <a:ext cx="731520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639312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작은 것에 정성을 다함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41648"/>
            <a:ext cx="182880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056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有 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4041648"/>
            <a:ext cx="182880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4114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성이 있음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4041648"/>
            <a:ext cx="731520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114800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진실함이 생김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17136"/>
            <a:ext cx="182880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5811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4517136"/>
            <a:ext cx="182880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45902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517136"/>
            <a:ext cx="731520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590288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겉으로 드러남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92623"/>
            <a:ext cx="182880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56631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4992623"/>
            <a:ext cx="182880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5065775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992623"/>
            <a:ext cx="731520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5065775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뚜렷해짐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468111"/>
            <a:ext cx="182880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53211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5468111"/>
            <a:ext cx="182880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0" y="5541263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5468111"/>
            <a:ext cx="731520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541263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밝아짐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943599"/>
            <a:ext cx="182880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007607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動·變·化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5943599"/>
            <a:ext cx="182880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68880" y="6016751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동·변·화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5943599"/>
            <a:ext cx="731520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6016751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움직이고 변하고 화함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성의 형이상학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誠者自成 — 성(誠)은 스스로 이루는 것 (25장)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誠 者 自 成 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성자자성야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36576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"성은 스스로(自) 이루는 것이고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 도는 스스로 행하는 것이다"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303520"/>
            <a:ext cx="108813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"誠者 物之終始 不誠無物"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성은 사물의 처음과 끝 — 성이 없으면 사물이 없다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성의 형이상학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至誠無息 — 지극한 성은 쉬지 않는다 (26장)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400" b="1">
                <a:solidFill>
                  <a:srgbClr val="8B1A1A"/>
                </a:solidFill>
                <a:latin typeface="맑은 고딕"/>
              </a:rPr>
              <a:t>至 誠 無 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지성무식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4297680"/>
            <a:ext cx="1828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3708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無 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18288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9194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쉬지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434840"/>
            <a:ext cx="118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04872" y="4297680"/>
            <a:ext cx="1828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43708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04872" y="4846320"/>
            <a:ext cx="18288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04872" y="49194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오래감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434840"/>
            <a:ext cx="118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2544" y="4297680"/>
            <a:ext cx="1828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2544" y="43708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52544" y="4846320"/>
            <a:ext cx="18288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2544" y="49194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드러남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4434840"/>
            <a:ext cx="118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0216" y="4297680"/>
            <a:ext cx="1828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43708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悠 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216" y="4846320"/>
            <a:ext cx="18288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49194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유원(멀고 깊음)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9016" y="4434840"/>
            <a:ext cx="118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7888" y="4297680"/>
            <a:ext cx="1828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43708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博 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47888" y="4846320"/>
            <a:ext cx="18288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49194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박후(넓고 두터움)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76688" y="4434840"/>
            <a:ext cx="118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B1A1A"/>
                </a:solidFill>
                <a:latin typeface="맑은 고딕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95559" y="4297680"/>
            <a:ext cx="18288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95559" y="43708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高 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95559" y="4846320"/>
            <a:ext cx="18288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59" y="49194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A44"/>
                </a:solidFill>
                <a:latin typeface="맑은 고딕"/>
              </a:rPr>
              <a:t>고명(높고 밝음)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"쉬지 않으면 오래가고, 오래가면 드러나고, 드러나면 유원하고…"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"지속의 힘이 공간을 확장한다" — 우주를 움직이는 원리는 폭발이 아니라 지속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성인(聖人)의 도 — 27~32장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2199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"大哉聖人之道! 洋洋乎發育萬物 峻極于天"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대재성인지도! 양양호발육만물 준극우천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1124712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"위대하구나, 성인의 도!</a:t>
            </a:r>
          </a:p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 양양히 만물을 발육시키고 높이 하늘에 닿는다"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03520"/>
            <a:ext cx="11247120" cy="11887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"優優大哉! 禮儀三百 威儀三千"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우우대재 — 예의(禮儀) 300, 위의(威儀) 3,000 — 성인의 광대한 도(道)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天道와 人道의 합치 — 왕도의 완성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天道 — 하늘의 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誠者 天之道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저절로 참됨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쉬지 않음(無息)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소리·냄새 없음(無聲無臭)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만물을 화육함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人道 — 사람의 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誠之者 人之道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참되고자 노력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선을 택해 굳게 붙듦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박학·심문·신사·명변·독행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人一能之 己百之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두 길이 한 곳에서 만난다 — "與天地參"의 인간 — 왕이 이르러야 할 경지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上天之載 無聲無臭 — 33장 결론, 중용의 대미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上 天 之 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無 聲 無 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상천지재 무성무취 — "지극하도다(至矣)!"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38912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"상천(上天)의 일은 소리도 없고 냄새도 없다"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440680"/>
            <a:ext cx="1088136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"가장 궁극의 도는 드러나지 않는다 — 요란한 것은 진짜가 아니다"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1장 "막현호은"과 33장 "무성무취" — 수미상관의 완성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7대 주제어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7대 주제어 ① — 中(중) · 庸(용)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中 — 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"그때 그 자리의 정답"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치우치지 않음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• 기하학적 중간이 아니라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상황·관계·시대의 적정점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살아 움직이는 판단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庸 — 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3464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"평상시에도 흔들리지 않음"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특별한 때의 지혜가 아니라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일상에서 지켜지는 도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매일의 식사·말·옷차림에서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이어지는 품격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• "지속 가능한 덕"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7대 주제어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7대 주제어 ② — 性(성) · 誠(성)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性 — 성(本性)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"하늘이 준 본래의 나"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• 天命之謂性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• 후천적 학습이 아니라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하늘에서 부여받음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"이미 있는 것의 발현"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誠 — 성(진실)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3464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"거짓 없는 존재의 방식"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• 誠者 天之道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• 인간이 하늘과 연결되는 지점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자기 본성이 삶으로 흘러나옴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• Authenticity의 동양 원형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7대 주제어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7대 주제어 ③ — 愼獨(신독) · 時中(시중)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愼 獨 — 신독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愼獨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"아무도 보지 않을 때가 진짜"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• 莫見乎隱 (1장)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• 드러난 행위가 아니라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숨은 순간의 태도가 인격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왕권을 지키는 내적 장치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時 中 — 시중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3464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時中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"때를 아는 판단"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• 君子而時中 (2장)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• 중은 때에 따라 달라진다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• 매번 다시 발견하는 중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• 리더의 판단력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7대 주제어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7대 주제어 ④ — 至誠無息(지성무식) · 中和(중화)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至誠無息 — 지속의 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"멈추지 않음"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• 26장 — 至誠無息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• 짧은 열정이 아니라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긴 지속이 우주의 원리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• 人一能之 己百之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中和 — 감정의 절도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3464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中和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"감정 통치의 철학"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• 미발의 中 + 이발의 和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• 억누름이 아니라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절도(節)에 맞게 발함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• 致中和 → 천지위·만물육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명구절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맑은 고딕"/>
              </a:rPr>
              <a:t>天 命 之 謂 性
率 性 之 謂 道   修 道 之 謂 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천명지위성 · 솔성지위도 수도지위교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하늘이 명한 것을 성이라, 성을 따르는 것을 도라, 도를 닦는 것을 교라 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1장 (강령)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명구절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맑은 고딕"/>
              </a:rPr>
              <a:t>致 中 和   天 地 位 焉   萬 物 育 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치중화 · 천지위언 만물육언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중화를 이루면 천지가 제자리를 잡고 만물이 자라난다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1장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명구절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56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맑은 고딕"/>
              </a:rPr>
              <a:t>君 子 之 中 庸 也   君 子 而 時 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군자지중용야 · 군자이시중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군자의 중용이란 군자이면서 때에 맞게 중을 쓰는 것이다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2장 — 시중(時中)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명구절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57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200" b="1">
                <a:solidFill>
                  <a:srgbClr val="8B1A1A"/>
                </a:solidFill>
                <a:latin typeface="맑은 고딕"/>
              </a:rPr>
              <a:t>道 不 遠 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도 불 원 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도는 사람에게서 멀지 않다 — 일상의 관계 안에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13장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명구절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58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執 其 兩 端   用 其 中 於 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집기양단 용기중어민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양쪽 끝을 잡아 그 중(中)을 백성에게 쓴다 — 순(舜) 임금의 지혜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6장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명구절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59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맑은 고딕"/>
              </a:rPr>
              <a:t>誠 者   天 之 道 也
誠 之 者   人 之 道 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성자 천지도야 · 성지자 인지도야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성(誠)은 하늘의 도이고, 성실하고자 함은 사람의 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20장 — 성(誠)의 결정적 선언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명구절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60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博 學 之   審 問 之
愼 思 之   明 辨 之   篤 行 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박학지 심문지 · 신사지 명변지 독행지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널리 배우고, 자세히 묻고, 신중히 생각하고, 밝게 분별하고, 도탑게 행하라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20장 — 학습의 5단계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명구절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61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人 一 能 之   己 百 之
人 十 能 之   己 千 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인일능지 기백지 · 인십능지 기천지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남이 한 번에 능하면 나는 백 번을, 남이 열 번에 능하면 나는 천 번을 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20장 — 그릿(Grit)의 동양 원형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명구절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62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至 誠 無 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지 성 무 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지극한 성(誠)은 쉼이 없다 — 지속의 힘이 우주의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26장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명구절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63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8B1A1A"/>
                </a:solidFill>
                <a:latin typeface="맑은 고딕"/>
              </a:rPr>
              <a:t>上 天 之 載   無 聲 無 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상천지재 무성무취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하늘의 일은 소리도 없고 냄새도 없다 — "지극하도다!"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33장 — 결론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7대 메시지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64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7대 핵심 메시지 ① ~ 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914400" cy="13716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468880"/>
            <a:ext cx="100584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7432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당신의 본성은 하늘이 내린 선(善)이다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918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천명지위성 — 인간은 결핍이 아니라 이미 하늘의 선을 받고 태어났다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914400" cy="13716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4023360"/>
            <a:ext cx="100584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2976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중(中)은 정답이 아니라 과정이다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463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계산으로 나오는 답이 아니라 매 상황에서 새로 발견해야 하는 한 지점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7대 메시지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65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7대 핵심 메시지 ③ ~ 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9144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286000"/>
            <a:ext cx="100584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48716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8B1A1A"/>
                </a:solidFill>
                <a:latin typeface="맑은 고딕"/>
              </a:rPr>
              <a:t>감정을 억누르지 말고 절도에 맞춰라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718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중화(中和) — 분노를 지우지 말고 옳은 분노를 정확한 대상에게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9144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416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657600"/>
            <a:ext cx="100584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85876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8B1A1A"/>
                </a:solidFill>
                <a:latin typeface="맑은 고딕"/>
              </a:rPr>
              <a:t>남이 안 보이는 곳이 당신이다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434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신독(愼獨) — 무대 위가 아니라 분장실의 모습이 진짜 당신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29200"/>
            <a:ext cx="9144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4132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5029200"/>
            <a:ext cx="100584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523036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8B1A1A"/>
                </a:solidFill>
                <a:latin typeface="맑은 고딕"/>
              </a:rPr>
              <a:t>진정성(誠)은 모든 것의 근본이다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7150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誠者物之終始 不誠無物 — 성이 없으면 사물 자체가 없다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7대 메시지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66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7대 핵심 메시지 ⑥ ~ ⑦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914400" cy="13716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468880"/>
            <a:ext cx="100584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7432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지속이 강함이다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918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至誠無息 — 한 번의 천재성보다 천 번의 반복이 강하다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914400" cy="13716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4023360"/>
            <a:ext cx="100584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2976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가장 지극한 도는 드러나지 않는다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463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上天之載 無聲無臭 — 시끄러운 선은 얕고, 조용한 덕이 깊다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ⅩⅢ.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67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① — 극단의 시대에 "시중(時中)"을 다시 배우다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극단화(Polarization) 시대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SNS · 정치 · 문화 모든 영역이 양극단으로 치닫는 시대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"중도"는 무기력한 타협으로 오해받는다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중용의 답 — "執其兩端, 用其中"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"중간에서 무난하게 살자"가 아니라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"양쪽 끝을 다 이해한 뒤 이 상황의 최선을 찾아라"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= 가장 치밀한 사고력을 요구하는 진짜 지성의 훈련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ⅩⅢ.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68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② — 진정성(Authenticity)의 동양적 뿌리 "성(誠)"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현대 리더십·심리학이 재발견한 가치 — Authenticity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내면의 느낌과 외면의 행동</a:t>
            </a:r>
          </a:p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혼자일 때의 나와 남들 앞의 나가 일치할 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중용은 2,500년 전에 이미 선언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700" b="1">
                <a:solidFill>
                  <a:srgbClr val="1F2A44"/>
                </a:solidFill>
                <a:latin typeface="맑은 고딕"/>
              </a:rPr>
              <a:t>"성(誠)은 하늘의 도이다(誠者天之道)"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일관성·진정성·신뢰는 21세기의 가장 희소한 자원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기업·브랜드·개인 평판의 축 = 중용의 성(誠)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ⅩⅢ.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69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③ — 감정 관리(EQ)의 최고 수준 "중화(中和)"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"감정을 억누르라"가 아니라 "절도에 맞게 표현하라"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분노할 자리에 분노하고, 기뻐할 자리에 기뻐하되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과하지도 모자라지도 않게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다니엘 골먼 "감성지능(EQ)" — 정확히 이 주제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조직 리더십 · 협상 · 부부 관계 · 자녀 양육의 공통 기술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중용의 "중절(中節)" = 현대의 emotion regulation 이론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편도체 과잉 활성의 절제 = "발이개중절(發而皆中節)"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ⅩⅢ.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70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④ — 메타인지(Metacognition)의 고전 "신독(愼獨)"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"자기를 감찰하는 자기"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AI 시대의 생존 능력 = 메타인지(Metacognition)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= 중용의 "신독(愼獨)"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SNS·원격 근무·개인 사업의 시대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"아무도 나를 감독하지 않는 시간"이 길어졌다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이 시간 동안 자기 감찰이 없으면 누구도 나를 지켜줄 수 없다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신독 = 현대인의 가장 절실한 습관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ⅩⅢ.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71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⑤ — Grit(끈기)의 원형 "人一能之 己百之"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Angela Duckworth의 그릿(Grit) 이론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"열정과 끈기가 재능보다 성취를 결정한다"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= 중용 20장의 "人一能之 己百之"의 실증 연구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"果能此道矣 雖愚必明 雖柔必強"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"진실로 이 도를 행하면 어리석어도 반드시 밝아지고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유약해도 반드시 강해진다"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1만 시간의 법칙·일본 직인(職人) 정신 — 모두 이 한 구절의 변주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ⅩⅣ.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72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대학 vs 중용 — 사서의 두 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01168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828800"/>
            <a:ext cx="4572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대학(大學)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828800"/>
            <a:ext cx="448056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920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중용(中庸)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68879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2331720"/>
            <a:ext cx="457200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468879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"무엇을 어떻게 할 것인가"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331720"/>
            <a:ext cx="448056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468879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"왜 그래야 하는가"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98648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3580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비유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2898648"/>
            <a:ext cx="45720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303580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사업계획서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898648"/>
            <a:ext cx="4480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303580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존재론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65576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60273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주제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3465576"/>
            <a:ext cx="457200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360273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수기치인(修己治人)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465576"/>
            <a:ext cx="448056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36027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천명·성·도·교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32504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16966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출발점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4032504"/>
            <a:ext cx="45720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416966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명명덕 — 내 안의 등불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032504"/>
            <a:ext cx="4480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416966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천명지위성 — 하늘의 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599431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73659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핵심 개념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4599431"/>
            <a:ext cx="457200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473659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삼강령 + 팔조목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4599431"/>
            <a:ext cx="448056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473659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중·용·성·신독·시중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166360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주희의 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40" y="5166360"/>
            <a:ext cx="45720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97480" y="53035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規模 (전체의 틀)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5166360"/>
            <a:ext cx="4480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0" y="53035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微妙 (가장 심오)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33288"/>
            <a:ext cx="2011680" cy="5669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87044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읽는 순서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06040" y="5733288"/>
            <a:ext cx="457200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97480" y="587044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사서의 첫 번째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5733288"/>
            <a:ext cx="4480560" cy="56692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587044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사서의 마지막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ⅩⅣ.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73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중용과 현대 도서·이론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9572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Daniel Goleman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94560"/>
            <a:ext cx="347472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39572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Emotional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194560"/>
            <a:ext cx="52120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3957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중화(中和)·중절(中節)의 현대판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81528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Angela Duckworth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081528"/>
            <a:ext cx="347472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328269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Grit (그릿)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081528"/>
            <a:ext cx="52120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28269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人一能之 己百之의 실증 연구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68496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9663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Stephen Covey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968496"/>
            <a:ext cx="347472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4169663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7 Habits of Highly Effective People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968496"/>
            <a:ext cx="52120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169663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신독·성의·지성무식의 현대 경영학 버전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55464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5663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Cal Newport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855464"/>
            <a:ext cx="347472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5056631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Deep 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855464"/>
            <a:ext cx="52120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5056631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"신사(愼思)"의 21세기 재발견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742431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94359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Brené Brown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742431"/>
            <a:ext cx="347472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5943599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Daring Greatly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742431"/>
            <a:ext cx="521208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5943599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성(誠, authenticity)의 현대 심리학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ⅩⅤ.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74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장으로 보는 중용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1부 · 1장 — 강령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天命之謂性 · 中和 · 致中和 天地位焉 萬物育焉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11247120" cy="1554480"/>
          </a:xfrm>
          <a:prstGeom prst="rect">
            <a:avLst/>
          </a:prstGeom>
          <a:solidFill>
            <a:srgbClr val="A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2부 · 2~20장 — 실천 · 정치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君子時中 · 執其兩端 · 道不遠人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20장 — 九經 · 博學審問慎思明辨篤行 · 人一能之己百之 · 誠者天之道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704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3부 · 21~33장 — 성(誠)의 형이상학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至誠盡性 · 與天地參 · 至誠無息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33장 결론 — 上天之載 無聲無臭 · 至矣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ⅩⅤ.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75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문장으로 정리하는 중용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1498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"당신의 본성은 하늘이 주었다(天命之謂性)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 그 본성을 거스르지 않고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 매 상황마다 한쪽으로 치우치지 않으며(時中)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 아무도 보지 않을 때도 스스로를 삼가고(愼獨)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 내면이 외면과 어긋나지 않게 참되라(誠)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2000" b="1">
                <a:solidFill>
                  <a:srgbClr val="1F2A44"/>
                </a:solidFill>
                <a:latin typeface="맑은 고딕"/>
              </a:rPr>
              <a:t> 이를 멈추지 말라(無息)"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당신의 덕이 하늘에 이를 때, 그것은 소리도 냄새도 없이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이미 세상을 움직이고 있을 것이다(無聲無臭)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ⅩⅤ.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76 / 77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맺음 — 나침반의 자침(磁針)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4206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주희가 중용을 사서의 마지막에 두었던 이유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1000"/>
              </a:spcBef>
            </a:pPr>
            <a:r>
              <a:rPr sz="1800" b="1">
                <a:solidFill>
                  <a:srgbClr val="1F2A44"/>
                </a:solidFill>
                <a:latin typeface="맑은 고딕"/>
              </a:rPr>
              <a:t>대학이 지도(地圖)라면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중용은 그 지도가 가리키는 나침반의 자침(磁針)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1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어디를 가든</a:t>
            </a:r>
          </a:p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이 자침 하나만 있으면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2200" b="1">
                <a:solidFill>
                  <a:srgbClr val="8B1A1A"/>
                </a:solidFill>
                <a:latin typeface="맑은 고딕"/>
              </a:rPr>
              <a:t>길을 잃지 않는다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1200"/>
              </a:spcBef>
            </a:pPr>
            <a:r>
              <a:rPr sz="1400" b="1">
                <a:solidFill>
                  <a:srgbClr val="556070"/>
                </a:solidFill>
                <a:latin typeface="맑은 고딕"/>
              </a:rPr>
              <a:t>— 극단의 시대에 진정성으로 자기 길을 지속하는 사람 —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無 聲 無 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556070"/>
                </a:solidFill>
                <a:latin typeface="맑은 고딕"/>
              </a:rPr>
              <a:t>무 성 무 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38404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"하늘의 일은 소리도 없고 냄새도 없다"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— 33장 결론 · 중용 전체의 대미 ·  "지극하도다(至矣)!"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정말 깊은 것은 조용하다 — 자랑할 필요 없는 것이 진짜다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2A44"/>
                </a:solidFill>
                <a:latin typeface="맑은 고딕"/>
              </a:rPr>
              <a:t>감사합니다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