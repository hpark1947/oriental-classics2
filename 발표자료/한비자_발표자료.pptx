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400" b="1">
                <a:solidFill>
                  <a:srgbClr val="1F2A44"/>
                </a:solidFill>
                <a:latin typeface="맑은 고딕"/>
              </a:rPr>
              <a:t>韓 非 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8B1A1A"/>
                </a:solidFill>
                <a:latin typeface="맑은 고딕"/>
              </a:rPr>
              <a:t>Han Feizi · 한비자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93192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맑은 고딕"/>
              </a:rPr>
              <a:t>한비(韓非) 저 — 동양 정치철학 현실주의의 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전국시대 말기 (BC 3세기) · 55편 약 10만 자 · 법(法)·술(術)·세(勢)의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"凡治天下, 必因人情"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천하를 다스리려면 반드시 사람의 실정에 근거하라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1371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개요 — 한비자란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1965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96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한비의 생애 — 비극의 천재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677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시대 배경 — 전국 말기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7157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법가 3선구 — 상앙·신불해·신도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638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638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法 — 공개된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11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術 — 군주의 은밀한 기법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599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0599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勢 — 지위의 권력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079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三位一體 — 법·술·세의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56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9560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인간관 — 이기심의 현실주의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041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0410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주도·유도·이병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852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八姦 — 8가지 간사의 수법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37160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3716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十過 — 10가지 치명적 실수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181965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18196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고분·세난·화씨 — 개혁가의 비극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6771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226771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亡徵 — 47가지 망국 징조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1576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7157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비내 · 해로유로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16382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1638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오두·현학 — 시대 비판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6118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6118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유명 우화 10편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59936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0" y="40599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10대 원리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5079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50799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명구절 10선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956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95604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다른 사상과의 비교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404104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ⅩⅩⅠ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6640" y="540410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현대적 의의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85216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ⅩⅩⅡ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06640" y="58521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한비자(韓非子)란 무엇인가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전국시대 말기 법가(法家) 사상의 집대성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8B1A1A"/>
                </a:solidFill>
                <a:latin typeface="맑은 고딕"/>
              </a:rPr>
              <a:t>"인간은 이익으로 움직인다 — 그러므로 제도로 다스려라"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편(篇)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약 10만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자(字)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우화·일화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399" y="365760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8B1A1A"/>
                </a:solidFill>
                <a:latin typeface="맑은 고딕"/>
              </a:rPr>
              <a:t>1,700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4663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년 앞선 마키아벨리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동양 정치철학 현실주의의 정점 — 마키아벨리 『군주론』보다 1,700년 앞섬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진(秦)의 천하 통일을 설계한 사상 — 중국 2,000년 제국 체제의 토대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책의 위상 — 핵심 정보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6040" y="196596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01167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한비자(韓非子)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039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"한비 선생의 책"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39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606039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706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65175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한비(韓非, BC 280?~233)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79191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한(韓)나라 공자(公子)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06040" y="324612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107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91839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전국시대 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1927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BC 3세기 중반~말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388620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05079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9319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55편 약 10만 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9593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체계적 논설 + 200+ 우화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2628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6040" y="452628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908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학파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45720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법가(法家)의 집대성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9943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상앙·신불해·신도의 사상 통합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6636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06040" y="5166360"/>
            <a:ext cx="914400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3309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521208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동양 현실주의 정치철학의 정점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395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마키아벨리 군주론보다 1,700년 앞섬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06440"/>
            <a:ext cx="210312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5806440"/>
            <a:ext cx="914400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971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영향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585216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B1A1A"/>
                </a:solidFill>
                <a:latin typeface="맑은 고딕"/>
              </a:rPr>
              <a:t>진(秦) 통일·중국 2,000년 제국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87959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6070"/>
                </a:solidFill>
                <a:latin typeface="맑은 고딕"/>
              </a:rPr>
              <a:t>"외유내법(外儒內法)" 구조의 원형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한비자인가 — 이상주의의 실패에서 태어난 현실주의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전국시대 250년의 끝자락 — 이상주의가 현실을 바꾸지 못한 시대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공자의 인(仁)은 제후들에게 외면당했고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묵자의 겸애(兼愛)는 실험에 그쳤으며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맹자의 왕도(王道)는 이상에 머물렀다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8813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103327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법가의 혁명성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이상이 아니라 현실에서 출발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개인의 덕이 아니라 제도의 힘에 의존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• 성인을 기다리지 않고 평범한 군주도 다스릴 수 있는 시스템 설계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진시황이 한비를 사랑한 이유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사마천 『사기』「노자한비열전」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"진왕(秦王)이 『고분』·『오두』의 글을 보고 말하기를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「아! 내가 이 사람을 만나 사귈 수 있다면 죽어도 여한이 없겠다」"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진시황은 한비의 책만 읽고 그를 꼭 만나고 싶어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한나라를 쳐서 한비를 인질로 데려오게 했다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→ 책 한 권이 한 사람의 운명과 한 제국의 운명을 바꾼 순간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한비의 역설적 승리 — "개인은 죽었으나 사상은 천하를 지배"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74320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5000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BC 233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03120"/>
            <a:ext cx="8229600" cy="8686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350008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한비 옥중 독살 — 이사의 모함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81528"/>
            <a:ext cx="2743200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2841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BC 221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081528"/>
            <a:ext cx="8229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32841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진시황이 6국 통일 — 한비 사후 12년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59936"/>
            <a:ext cx="2743200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0682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진(秦) 제도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059936"/>
            <a:ext cx="8229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306824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관료제·도량형·법령·중앙집권 — 한비가 설계한 법가 구현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38344"/>
            <a:ext cx="2743200" cy="8686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852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한(漢) 이후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038344"/>
            <a:ext cx="82296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0" y="5285232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외유내법(外儒內法) — 겉은 유교, 속은 법가 2,000년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"개혁가는 죽지만 제도는 남는다" — 한비 자신이 화씨편에서 예고한 운명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한(韓)나라 공자 — 망해가는 조국의 왕자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0" b="1">
                <a:solidFill>
                  <a:srgbClr val="8B1A1A"/>
                </a:solidFill>
                <a:latin typeface="맑은 고딕"/>
              </a:rPr>
              <a:t>韓
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0312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출생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기원전 280년경 · 한나라 왕족 출생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한나라의 위치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전국 7웅 중 가장 약한 나라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위·진·초 사이에 끼여 끊임없이 영토 침탈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정치적 좌절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조국을 구하려 한왕에게 법술을 여러 차례 건의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 한왕은 듣지 않았다 — 귀족·연줄 정치에 머묾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한비자의 정조(情調)</a:t>
            </a:r>
          </a:p>
          <a:p>
            <a:pPr algn="l">
              <a:lnSpc>
                <a:spcPct val="135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  "조국을 구하려 했으나 구하지 못한 자의 절규"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말더듬(口吃)과 글의 천재 — 세난(說難)의 역설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『사기』의 기록 — "韓非 口吃 — 말더듬이"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말하는 데 어려움이 있었으나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글쓰기는 당대 최고였다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881360" cy="21945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332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깊은 역설 — 제12편 『세난(說難)』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"설득의 어려움"을 분석한 명문 — 정작 저자 자신이 말을 더듬었다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"세상에서 가장 설득이 어려운 사람이 설득의 이론을 쓴다"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— 이것이 한비자의 출발점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순자(荀子) 문하 — 동학(同學) 이사(李斯)와 함께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한비의 스승 — 순자(荀子, BC 313?~238)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105156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순자의 사상 토대 — 성악설(性惡說)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인간 본성은 악하니 예(禮)와 법(法)으로 교화해야 한다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한비의 발전 — 유교의 탯줄을 자르다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순자의 "예(禮)"를 버리고 "법(法)"만을 취함 → 법가로 완전 이동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동문 동학 — 이사(李斯)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 훗날 진시황의 승상이 될 자 — 한비의 친구이자 결국 살해자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운명적 비극의 씨앗이 이미 학문 공동체 안에 있었다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진(秦)나라에서의 비극 ① — 진왕의 감탄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86000" cy="7772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BC 234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103120"/>
            <a:ext cx="8686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0428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진(秦)이 한(韓)을 침공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971800"/>
            <a:ext cx="2286000" cy="7772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BC 234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971800"/>
            <a:ext cx="8686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317296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한왕이 한비를 사절(使節)로 진에 파견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4048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BC 233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3840480"/>
            <a:ext cx="8686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04164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진왕 정(政, 훗날 진시황)이 한비를 만남 — 감탄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0916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BC 233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4709160"/>
            <a:ext cx="8686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91032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진왕이 한비를 곁에 두려 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진왕이 한비의 글을 읽은 직후 — 사상의 결정적 만남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진(秦)나라에서의 비극 ② — 이사의 모함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3774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이사(李斯)의 모함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"한비는 한나라 사람이다.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진이 쓰면 본심은 한을 위한 것이고,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쓰지 않고 돌려보내면 후환이 된다"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진왕은 일단 한비를 옥에 가둠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63440"/>
            <a:ext cx="11247120" cy="1737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이사가 몰래 독약을 보내 자살을 강요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한비는 진왕을 만나 변명하고자 했으나 기회를 얻지 못하고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기원전 233년 옥중에서 독살 — 향년 47세경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생애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사마천의 탄식 — 비극의 완결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사마천 『사기』「노자한비열전」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"비(非)는 『세난(說難)』을 지어 설득의 어려움을 깊이 알았으면서도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스스로는 그 화를 벗어나지 못했다"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역설 ①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"설득의 이론을 쓴 자가 자기 한 사람을 설득하지 못해 죽었다"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역설 ②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한비가 『고분』에 예고한 "법술지사가 기득권에 제거되는" 구조 그대로</a:t>
            </a:r>
          </a:p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자기 자신에게 실현되었다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전국시대(戰國時代, BC 403~221) — 250년의 격동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전국 7웅 — 제(齊)·초(楚)·연(燕)·한(韓)·조(趙)·위(魏)·진(秦)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39496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춘추 vs 전국 — 결정적 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846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춘추: 귀족 의례 전쟁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전국: 국가 총동원 체제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작은 나라가 큰 나라에 망함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• 7웅 중 가장 약한 한나라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— 한비의 절박함의 배경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9496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154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한비의 시대 인식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4846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"상고는 도덕으로 겨루고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중고는 지모로 다투고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B1A1A"/>
                </a:solidFill>
                <a:latin typeface="맑은 고딕"/>
              </a:rPr>
              <a:t> 당금(當今)은 힘으로 싸운다"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→ 옛 방법은 옛 시대용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새 시대는 새 방법이 필요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전쟁의 대형화 — 장평대전(長平之戰, BC 260)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539496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56070"/>
                </a:solidFill>
                <a:latin typeface="맑은 고딕"/>
              </a:rPr>
              <a:t>춘추시대 전투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• 수천 명 규모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• 며칠 만에 끝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• 귀족 의례 전쟁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• 도덕적 명분 중시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39496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2402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전국시대 전투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• 수십만 명 규모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• 수년에 걸친 총력전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• 국가 총동원 체제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600" b="0">
                <a:solidFill>
                  <a:srgbClr val="8B1A1A"/>
                </a:solidFill>
                <a:latin typeface="맑은 고딕"/>
              </a:rPr>
              <a:t>• 승부가 곧 멸망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BC 260년 장평대전 — 진(秦) vs 조(趙)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진(秦)이 조(趙)의 포로 40만 명을 생매장(坑殺)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"이 규모의 전쟁에서는 귀족 의례가 불가능하다 — 총동원만 가능하다"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철기·인구 폭증·상앙의 변법 — 사회 토대의 격변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철기 보급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286000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244144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청동기 → 철기 농기구 → 농업 생산성 폭증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729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인구 폭발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3017520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172968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 변경에서 수만 → 수십만 인구의 도시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0448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상앙의 변법 (BC 356)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749039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904487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정전제 폐지 · 개간 장려 · 군공에 따른 신분 상승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0559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3600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농전(農戰)의 총동원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4480559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4636007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"모든 역량을 농업과 전쟁에 집중"의 법가 체제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79"/>
            <a:ext cx="320040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67527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승자의 법칙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5212079"/>
            <a:ext cx="77724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5367527"/>
            <a:ext cx="7498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귀족 의례가 아니라 시스템 설계가 경쟁의 승자를 가름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→ 이런 토대 위에서만 한비자의 "제도 우선" 사상이 설득력을 가졌다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제자백가(諸子百家) — 사상의 폭발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28600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71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유가(儒家)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4114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671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공자·맹자·순자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0" y="2011680"/>
            <a:ext cx="47548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67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인(仁)·예(禮)·덕치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0720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도가(道家)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651760"/>
            <a:ext cx="4114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80720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노자·장자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2651760"/>
            <a:ext cx="47548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80720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무위자연(無爲自然)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228600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472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묵가(墨家)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291840"/>
            <a:ext cx="4114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44728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묵자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3291840"/>
            <a:ext cx="47548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34472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겸애(兼愛)·비공(非攻)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228600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87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명가(名家)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931920"/>
            <a:ext cx="4114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0873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혜시·공손룡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931920"/>
            <a:ext cx="47548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4087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명실(名實)의 변(辯)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72000"/>
            <a:ext cx="2286000" cy="5943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2744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종횡가(縱橫家)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572000"/>
            <a:ext cx="41148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7274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소진·장의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4572000"/>
            <a:ext cx="475488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7274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합종연횡의 외교술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12080"/>
            <a:ext cx="228600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36752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법가(法家)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5212080"/>
            <a:ext cx="411480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3675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관중·상앙·신불해·신도·한비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5212080"/>
            <a:ext cx="475488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5367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법·술·세의 통치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제후들이 인재를 모으는 시대 — 천하를 놓고 사상이 경쟁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법가 3선구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법가 3선구 — 한비 이전의 세 거장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상앙
商鞅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2628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법(法)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명문화된 공개 규칙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576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신불해
申不害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52628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617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술(術)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512064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군주의 은밀한 통치술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2103120"/>
            <a:ext cx="3749039" cy="4297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7490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6576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신도
愼到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4526280"/>
            <a:ext cx="32004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617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세(勢)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12064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지위에서 나오는 권력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한비는 세 사람의 정수를 합쳐 "법·술·세"를 통합 완성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법가 3선구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상앙(商鞅) — 法의 화신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진(秦)의 변법(變法) 주도자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업적 — BC 356년 변법(變法)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법의 명문화·공개·일관 적용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정전제 폐지·개간 장려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군공(軍功)에 따른 작위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연좌제·도량형 통일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진을 강국으로 만든 토대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저술: 『상군서(商君書)』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한계와 비극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법은 세웠으나 신하 통제술(術) 부재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8B1A1A"/>
                </a:solidFill>
                <a:latin typeface="맑은 고딕"/>
              </a:rPr>
              <a:t>• 효공 사후 → 거열형(車裂刑) 처형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자기가 세운 법에 의해 죽음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한비의 진단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"법만으로는 부족하다 —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술(術)이 있어야 법이 보존된다"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법가 3선구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신불해(申不害) — 術의 대가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한(韓)나라 재상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업적 — 술(術)의 정립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형명참동(形名參同) 시스템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군주의 의중 비노출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여러 정보원 활용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능력 중심 인사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• 한 재상 시절 한이 강성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저술: 『신자(申子)』 — 전해지지 않음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법을 세우지 않음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일관된 기준 부족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8B1A1A"/>
                </a:solidFill>
                <a:latin typeface="맑은 고딕"/>
              </a:rPr>
              <a:t>• 신불해 사후 술이 전수되지 못함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한비의 진단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"술만으로는 부족하다 —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법(法)이 뼈대가 되어야 한다"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법가 3선구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신도(愼到) — 勢의 이론가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핵심 사상 — 勢의 절대성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"위치만 있으면 누구나 다스린다"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요(堯)가 필부였다면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세 사람도 다스리지 못함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걸(桀)이 천자였기에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천하를 어지럽힘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저술: 『신자(愼子)』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• 세(勢)만으로는 부족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법이 없으면 자의적 통치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술이 없으면 통제 불가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한비의 진단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"세에 법과 술이 결합해야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비로소 완성된 통치"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法 — 공개된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"법이란 도적(圖籍)에 명확히 기록하여 백성에게 공포한 것이다"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0" b="1">
                <a:solidFill>
                  <a:srgbClr val="8B1A1A"/>
                </a:solidFill>
                <a:latin typeface="맑은 고딕"/>
              </a:rPr>
              <a:t>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9456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원문 (제6편 유도)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"法者 編著之圖籍,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 設之於官府,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F2A44"/>
                </a:solidFill>
                <a:latin typeface="맑은 고딕"/>
              </a:rPr>
              <a:t> 而布之於百姓者也"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해석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법이란 도적(圖籍·문서)에 명확히 기록하여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관부에 비치하고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백성에게 공포(公布)한 것이다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법의 4가지 요건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7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103120"/>
            <a:ext cx="23774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377439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명문화(明文化)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103120"/>
            <a:ext cx="75895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221991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반드시 글로 적혀 있어야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606039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구두 전승은 법이 아님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1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19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3182111"/>
            <a:ext cx="23774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456431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공개성(公開性)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182111"/>
            <a:ext cx="75895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300983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백성이 모두 알 수 있도록 공포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85031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비밀법은 법이 아님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61103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261103"/>
            <a:ext cx="23774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535423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일관성(一貫性)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261103"/>
            <a:ext cx="75895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379975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어제와 오늘, 이 사람과 저 사람에게 다르게 적용되지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64023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상황·기분에 따른 변화 금지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0095"/>
            <a:ext cx="82296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32703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340095"/>
            <a:ext cx="237744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614415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평등성(平等性)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5340095"/>
            <a:ext cx="75895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5458967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신분과 무관하게 동일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843015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"刑過不避大臣, 賞善不遺匹夫"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이목지신(移木之信) — 상앙의 변법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2743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3327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BC 356년 — 상앙이 진나라에서 변법을 시행하기 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도성 남문에 나무 기둥을 세우고 포고: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"이 기둥을 북문으로 옮기는 자에게 금 열 냥을 준다"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아무도 믿지 않자 상금을 50냥으로 올림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한 사람이 옮기자 즉시 50냥을 지급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10881360" cy="13716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"법이 반드시 실행된다(法必行)"는 신뢰 구축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법치의 첫 단계는 "약속을 지키는 권력자"임을 증명하는 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법치(法治) vs 인치(人治)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394960" cy="54864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인치(人治)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39496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법치(法治)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394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98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군주의 개인 능력에 의존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743200"/>
            <a:ext cx="53949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8986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시스템에 의존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29000"/>
            <a:ext cx="5394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844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기분에 따른 정책 변화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29000"/>
            <a:ext cx="53949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5844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일관된 기준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394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702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신하의 아첨 유발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114800"/>
            <a:ext cx="53949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2702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능력 평가 가능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5394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카리스마 사라지면 붕괴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800600"/>
            <a:ext cx="53949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956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시스템이 계속 작동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486400"/>
            <a:ext cx="539496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418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잡스 같은 천재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486400"/>
            <a:ext cx="5394960" cy="5943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6418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평범한 후계자도 운영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"國無常強 無常弱 奉法者強 則國強" — 법을 받드는 자가 강하면 나라가 강하다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術 — 군주의 은밀한 통치 기법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0" b="1">
                <a:solidFill>
                  <a:srgbClr val="8B1A1A"/>
                </a:solidFill>
                <a:latin typeface="맑은 고딕"/>
              </a:rPr>
              <a:t>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원문 (제43편 정법)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"術者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 因任而授官,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 循名而責實,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 操殺生之柄,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  課群臣之能者也"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해석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능력에 따라 관직을 주고,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이름(직책)에 따라 실적을 묻고,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생살의 권한을 쥐고,</a:t>
            </a:r>
          </a:p>
          <a:p>
            <a:pPr algn="l">
              <a:lnSpc>
                <a:spcPct val="125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신하의 능력을 검증한다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형명참동(形名參同) — 현대 KPI·OKR의 원조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8B1A1A"/>
                </a:solidFill>
                <a:latin typeface="맑은 고딕"/>
              </a:rPr>
              <a:t>循 名 責 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순명책실 — "이름(名)에 따라 실적(實)을 묻는다"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03320"/>
            <a:ext cx="6400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130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7033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82219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약속(名)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703320"/>
            <a:ext cx="80467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382219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신하가 "이 일을 맡으면 이렇게 하겠습니다"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6400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988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43891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5079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실행(實)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389120"/>
            <a:ext cx="80467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50799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신하가 일을 수행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74920"/>
            <a:ext cx="6400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846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50749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51937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대조(參)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5074920"/>
            <a:ext cx="80467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519379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결과(形)를 약속(名)과 대조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640080" cy="5943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7044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80160" y="5760720"/>
            <a:ext cx="2286000" cy="5943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8795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판정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5760720"/>
            <a:ext cx="8046720" cy="5943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0" y="5879592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일치→상 / 미달→벌 / 초과→벌(월권)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"왜 초과 성취도 벌하는가" — 월권(越權)의 원리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한비의 유명한 일화 — 모자 담당과 옷 담당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한 군주가 술에 취해 잠들었다 — 추워 보였다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모자 담당 신하가 친절히 군주에게 옷을 덮어주었다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깨어난 군주는 모자 담당과 옷 담당을 모두 벌했다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옷 담당 — 자기 일을 안 했으므로 벌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모자 담당 — "친절"이 아니라 "월권(越權)"이므로 벌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"직분의 경계를 흐리면 조직이 무너진다"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勢 — 지위에서 나오는 권력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92608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0" b="1">
                <a:solidFill>
                  <a:srgbClr val="8B1A1A"/>
                </a:solidFill>
                <a:latin typeface="맑은 고딕"/>
              </a:rPr>
              <a:t>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79552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원문 (제40편 난세)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2A44"/>
                </a:solidFill>
                <a:latin typeface="맑은 고딕"/>
              </a:rPr>
              <a:t>"夫有材而無勢</a:t>
            </a:r>
          </a:p>
          <a:p>
            <a:pPr algn="l">
              <a:lnSpc>
                <a:spcPct val="130000"/>
              </a:lnSpc>
            </a:pPr>
            <a:r>
              <a:rPr sz="2200" b="1">
                <a:solidFill>
                  <a:srgbClr val="1F2A44"/>
                </a:solidFill>
                <a:latin typeface="맑은 고딕"/>
              </a:rPr>
              <a:t> 雖賢不能制不肖"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해석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재능이 있어도 세(勢)가 없으면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아무리 어질어도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불초한 자를 제어할 수 없다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의미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지위·자리·상황·구조에서 나오는 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요(堯)와 걸(桀)의 비유 — 직위가 곧 힘이다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요(堯) — 성왕(聖王)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만약 필부(匹夫)였다면?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세 사람도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다스리지 못한다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아무리 어질어도 세(勢) 없으면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어떤 권위도 없다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걸(桀) — 폭군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3464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만약 천자(天子)였다면?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천하를</a:t>
            </a:r>
          </a:p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어지럽힐 수 있다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아무리 어리석어도 세(勢) 있으면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힘을 행사한다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세(勢)의 3원칙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822960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2286000"/>
            <a:ext cx="32004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권력을 나누지 마라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286000"/>
            <a:ext cx="6766560" cy="10058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606040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한 자루의 칼(이병二柄)은 군주만이 쥔다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822960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6732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474720"/>
            <a:ext cx="32004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794759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권위를 지켜라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474720"/>
            <a:ext cx="6766560" cy="10058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794759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군주가 가벼워 보이면 모든 것이 무너진다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822960" cy="10058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95604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4663440"/>
            <a:ext cx="3200400" cy="1005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983479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구조를 설계하라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4663440"/>
            <a:ext cx="6766560" cy="10058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983479"/>
            <a:ext cx="6492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개인의 능력이 아니라 시스템에 의존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三位一體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정법편(定法) — 상앙과 신불해의 한계 통합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"申不害不擅其法 不能獨行其術</a:t>
            </a:r>
          </a:p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 商鞅不用其術 不能長保其法"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"신불해는 법을 겸하지 않아 술만으로 독행할 수 없었고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상앙은 술을 쓰지 않아 법을 오래 보존할 수 없었다"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한비의 통합 — 법·술·세 三位一體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법: 뼈대 (공개적·일관적 기준)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술: 운용 (은밀한 관리 기법)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세: 동력 (지위에서 나오는 권위)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법이 술의 남용을 방지 ↔ 술이 법의 경직성을 보완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三位一體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법·술·세 삼각형 — 한비의 최종 종합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2103120"/>
            <a:ext cx="2103120" cy="14630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3317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0175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규칙·뼈대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023360"/>
            <a:ext cx="2103120" cy="14630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251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기법·운용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4023360"/>
            <a:ext cx="2103120" cy="14630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4251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</a:rPr>
              <a:t>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9377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맑은 고딕"/>
              </a:rPr>
              <a:t>권력·동력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8521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통치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세 가지가 모두 있어야 비로소 완전한 통치 — 한비의 최종 종합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인간관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凡治天下 必因人情 — 인간관의 근본 명제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凡 治 天 下   必 因 人 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범치천하 필인인정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제48편 팔경(八經)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11480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F2A44"/>
                </a:solidFill>
                <a:latin typeface="맑은 고딕"/>
              </a:rPr>
              <a:t>"천하를 다스리려면 반드시 사람의 실정(人情)에 근거한다"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사람은 좋아하고 싫어한다(有好惡) → 상벌(賞罰)을 쓸 수 있다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인간은 이익(利)을 좋아하고, 해(害)를 싫어한다 — 이 본성은 변하지 않는다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인간관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수레 장인 vs 관 장인 — 한비 인간관의 상징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2140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輿人欲人之富貴, 匠人欲人之夭死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5394960" cy="25603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수레 장인(輿人)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사람들이 부자이기를 바람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"사람이 귀해지지 않으면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수레가 팔리지 않는다"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834640"/>
            <a:ext cx="5394960" cy="25603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9718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관 장인(匠人)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52044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사람들이 일찍 죽기를 바람</a:t>
            </a:r>
          </a:p>
          <a:p>
            <a:pPr algn="ctr">
              <a:lnSpc>
                <a:spcPct val="130000"/>
              </a:lnSpc>
              <a:spcBef>
                <a:spcPts val="8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"사람이 죽지 않으면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관이 팔리지 않는다"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수레 장인이 인자해서가 아니고, 관 장인이 잔인해서도 아니다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→ 애덤 스미스의 "푸줏간 주인의 이익"(1776)보다 2,000년 앞선 선언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인간관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부모와 자식 간에도 이해타산 — 가장 충격적 관찰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제50편 현학 — 충격적 관찰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"父母之於子也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産男則相賀, 産女則殺之"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"부모가 자식에 대해, 아들을 낳으면 서로 축하하고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딸을 낳으면 죽이기도 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"훗날의 편익을 생각하고 장기적 이익을 계산하기 때문이다"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"가장 가까운 부모 자식 간에도 이해타산이 작동한다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 하물며 남남 사이에서 순수한 도덕만으로 질서를 유지하겠는가?"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인간관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군주도 예외가 아니다 — 비내(備內)의 충격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人主之患在於信人   信人則制於人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인주지환재어신인 신인즉제어인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제17편 비내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3977639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"군주의 걱정은 사람을 믿는 데 있다 — 믿으면 사람에게 제어당한다"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29200"/>
            <a:ext cx="108813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"군주가 죽으면 이익을 얻는 자가 누구인가?"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태자(빨리 왕 되기) · 왕비(총애 상실 방지) · 권신(새 군주의 공신)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→ "모두를 의심하고, 제도로 통제하라"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인간관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제로 트러스트(Zero Trust) 철학 — 2,300년 전의 선언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"夫以妻之近與子之親而猶不可信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 則其餘無可信者矣"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"아내의 가까움과 자식의 친밀함으로도 믿을 수 없다면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나머지는 믿을 자가 없다"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정보보안의 핵심 원칙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2200" b="1">
                <a:solidFill>
                  <a:srgbClr val="1F2A44"/>
                </a:solidFill>
                <a:latin typeface="맑은 고딕"/>
              </a:rPr>
              <a:t>"Never trust, always verify"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— 결코 신뢰하지 말고 항상 검증하라 —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1">
                <a:solidFill>
                  <a:srgbClr val="8B1A1A"/>
                </a:solidFill>
                <a:latin typeface="맑은 고딕"/>
              </a:rPr>
              <a:t>Google·Microsoft가 채택한 21세기 보안 패러다임 = 한비의 비내(備內)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인간관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 인간관의 3대 귀결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9144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194560"/>
            <a:ext cx="100584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도덕 교화는 한계가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34639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성인(聖人)을 기다리면 나라가 망한다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74720"/>
            <a:ext cx="9144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9475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3474720"/>
            <a:ext cx="100584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법과 제도로 이기심을 활용하라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11480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이익이 곧 공익이 되게 설계하라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79"/>
            <a:ext cx="914400" cy="10972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1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4754879"/>
            <a:ext cx="10058400" cy="10972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4937759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8B1A1A"/>
                </a:solidFill>
                <a:latin typeface="맑은 고딕"/>
              </a:rPr>
              <a:t>견제와 균형은 의심에서 나온다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94959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아무도 믿지 말고 모두를 검증하라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현대 민주주의의 삼권분립·기업의 내부통제·조직 거버넌스와 동일한 논리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주도·유도·이병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주도(主道) — 군주의 도리 · 허정무위(虛靜無爲)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199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제5편 주도(主道) — "속마음을 숨기고 법·제도로 자동 통치"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1124712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"是故 去智而有明</a:t>
            </a:r>
          </a:p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1A1A"/>
                </a:solidFill>
                <a:latin typeface="맑은 고딕"/>
              </a:rPr>
              <a:t> 去賢而有功 去勇而有強"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300" b="0">
                <a:solidFill>
                  <a:srgbClr val="1F2A44"/>
                </a:solidFill>
                <a:latin typeface="맑은 고딕"/>
              </a:rPr>
              <a:t>"자기 지혜를 버려야 밝아지고, 자기 어짐을 버려야 공이 있고, 자기 용기를 버려야 강해진다"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3대 핵심 개념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허정무위(虛靜無爲) — 마음을 비우고 표정·의견을 드러내지 않음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형명참동(形名參同) — 신하의 말(名)과 실적(形) 대조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무위이치(無爲而治) — 직접 하지 않으면서 이루어지게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주도·유도·이병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"군주가 좋아하는 것을 드러내면" — 관찰자 효과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君 見 其 所 欲   臣 自 將 雕 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군견기소욕 신자장조탁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제5편 주도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"군주가 좋아하는 것을 드러내면 신하들은 스스로 자신을 꾸민다"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74920"/>
            <a:ext cx="1088136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1208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현대 사례 — 아마존 제프 베조스의 원칙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회의에서 가장 나중에 발언 — CEO가 먼저 의견 내면 팀은 그에 맞춰 말한다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관찰자의 선호를 드러내면 관찰 대상이 그에 맞게 위장된다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주도·유도·이병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유도(有度) — 법치(法治) &gt; 인치(人治)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國 無 常 強   無 常 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8B1A1A"/>
                </a:solidFill>
                <a:latin typeface="맑은 고딕"/>
              </a:rPr>
              <a:t>奉 法 者 強   則 國 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국무상강 무상약 · 봉법자강 즉국강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제6편 유도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7091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4983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F2A44"/>
                </a:solidFill>
                <a:latin typeface="맑은 고딕"/>
              </a:rPr>
              <a:t>"나라의 강약은 일정하지 않다. 법을 받드는 자가 강하면 나라가 강하다"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현대 — 잡스 사후에도 애플이 유지되는 이유는 시스템(법치)이 완성되어 있었기 때문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주도·유도·이병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刑過不避大臣 賞善不遺匹夫 — 법 앞의 평등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刑 過 不 避 大 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8B1A1A"/>
                </a:solidFill>
                <a:latin typeface="맑은 고딕"/>
              </a:rPr>
              <a:t>賞 善 不 遺 匹 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형과불피대신 상선불유필부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제6편 유도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0" y="4983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"형벌은 대신(大臣)도 피하지 못하고, 상은 평민(匹夫)도 놓치지 않는다"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→ 현대 법치국가·"법 앞의 평등"의 2,300년 전 선언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주도·유도·이병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이병(二柄) — 상벌의 두 자루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8B1A1A"/>
                </a:solidFill>
                <a:latin typeface="맑은 고딕"/>
              </a:rPr>
              <a:t>二 柄 者   刑 德 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556070"/>
                </a:solidFill>
                <a:latin typeface="맑은 고딕"/>
              </a:rPr>
              <a:t>이병자 형덕야 — "두 자루는 형(刑)과 덕(德)이다"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제7편 이병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97680"/>
            <a:ext cx="539496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刑 — 형(刑)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"殺戮之謂刑"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살육·처벌 — 두려움의 자루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97680"/>
            <a:ext cx="5394960" cy="2103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43484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맑은 고딕"/>
              </a:rPr>
              <a:t>德 — 덕(德)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0292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"慶賞之謂德"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577840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경상(慶賞) — 동기 부여의 자루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주도·유도·이병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"호랑이의 발톱과 이빨" — 상벌권을 넘기면 군주가 굴복한다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3774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"虎之所以能服狗者, 爪牙也.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使虎釋其爪牙而使狗用之,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 則虎反服於狗矣"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"호랑이가 개를 굴복시키는 것은 발톱과 이빨 때문이다.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호랑이가 발톱과 이빨을 버리고 개에게 주면, 호랑이가 개에게 굴복한다"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006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"상벌권이 신하에게 넘어가는 순간 군주는 형식뿐"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역사 — 조선 세도정치: 안동 김씨·풍양 조씨가 인사권·사법권 장악 → 왕은 허수아비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현대 — 중간관리자의 평가권 독점 → 충성이 CEO 아닌 중간관리자로 이동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八姦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팔간(八姦) — 8가지 간사의 수법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"신하가 군주를 속이고 권력을 빼앗는 여덟 가지 수법"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79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01752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821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동상(同牀)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017520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1821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후궁·왕비 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01752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79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301752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1821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재방(在旁)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3017520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318211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측근·환관 이용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5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794759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95935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부형(父兄)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94759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395935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왕족·외척 이용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794759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93192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794759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95935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양앙(養殃)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3794759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95935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유흥·향락 이용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7200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091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0160" y="457200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47365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민맹(民萌)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0" y="4572000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39" y="47365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백성의 인기 이용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57200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70916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457200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0" y="47365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유행(流行)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09760" y="4572000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736592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유세객·변론 이용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34924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486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80160" y="534924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55138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위강(威強)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0" y="5349240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39" y="55138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무력·군사 이용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349240"/>
            <a:ext cx="64008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48640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5349240"/>
            <a:ext cx="228600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0" y="55138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사방(四方)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0" y="5349240"/>
            <a:ext cx="237744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5513831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외세 이용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八姦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팔간 1~4 — 가까운 자들의 함정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9572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동상(同牀)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103120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21284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잠자리를 함께하는 자(후궁·왕비)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06039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CEO 배우자의 인사 간섭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1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182111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재방(在旁)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182111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39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곁에 있는 자(측근·환관)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8503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비서실의 비공식 권력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61103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4261103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5537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부형(父兄)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261103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37083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아버지와 형(왕족·외척)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64023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오너 일가의 전횡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0095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32703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5340095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63270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양앙(養殃)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5340095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5449823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재앙을 기르는 자(유흥·향락)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843015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과도한 접대, 골프·요트 접대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八姦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팔간 5~8 — 외부와 결탁의 함정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9572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민맹(民萌)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103120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212848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백성의 인기를 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06039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포퓰리즘·세력 형성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82111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1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182111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1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유행(流行)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3182111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3291839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유세객·변론가의 말솜씨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8503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PR 회사·SNS 인플루언서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61103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5371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4261103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55371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위강(威強)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4261103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4370831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무력·군사·기술 독점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64023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군사 쿠데타·기술 독점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0095"/>
            <a:ext cx="640080" cy="9601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32703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5340095"/>
            <a:ext cx="2286000" cy="9601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632703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사방(四方)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5340095"/>
            <a:ext cx="8046720" cy="9601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5449823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맑은 고딕"/>
              </a:rPr>
              <a:t>외세(다른 나라)와 결탁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843015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070"/>
                </a:solidFill>
                <a:latin typeface="맑은 고딕"/>
              </a:rPr>
              <a:t>현대 — 외부 투자자·외국 정부 결탁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Ⅺ. 八姦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조직의 팔간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103120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2128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경영진 가족이 인사에 간섭하는가? (동상·부형)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24327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7479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624327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73405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비서실·보좌진이 공식 라인을 우회하는가? (재방)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45535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145535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55263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오너 혈족이 능력 무관 승진하는가? (부형)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39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666744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377647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접대·향응이 의사결정에 영향을 주는가? (양앙)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611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187952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42976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직원 인기를 무기로 세력을 형성하는 임원이 있는가? (민맹)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78231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709160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481888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외부 컨설턴트가 편향된 정보로 판단을 흔드는가? (유행)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30368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5230368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5340096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특정 팀이 기술·고객을 독점하여 협상력을 행사하는가? (위강)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751576"/>
            <a:ext cx="457200" cy="4572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24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7280" y="5751576"/>
            <a:ext cx="106070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86130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외부 투자자와 결탁해 내부 의사결정을 흔드는 임원이 있는가? (사방)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十過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십과(十過) — 군주의 10가지 치명적 실수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제10편 십과 — 군주가 범하기 쉬운 10가지 결함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1">
                <a:solidFill>
                  <a:srgbClr val="1F2A44"/>
                </a:solidFill>
                <a:latin typeface="맑은 고딕"/>
              </a:rPr>
              <a:t>"개별로는 사소해 보이지만 누적되면 망국(亡國)"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각각이 망국에 이르는 구체적 역사 사례로 입증된다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88136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10가지 한눈에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84632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① 작은 충성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39" y="484632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② 소탐대실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484632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③ 행동 괴이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59" y="484632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59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④ 음악·유흥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19" y="484632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49194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⑤ 탐욕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4924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4223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⑥ 여색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34639" y="534924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39" y="54223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⑦ 마이크로매니지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534924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54223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⑧ 결단력 부족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59" y="534924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54223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⑨ 한 신하 의존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18319" y="5349240"/>
            <a:ext cx="2103120" cy="411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54223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맑은 고딕"/>
              </a:rPr>
              <a:t>⑩ 경고 무시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十過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십과 1~5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04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작은 충성 → 큰 충성 해침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0312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3042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개인적 호의 &gt; 국가적 충성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72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97180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729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소탐대실(小貪大失)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97180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7296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눈앞 이익으로 큰 이익 상실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41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84048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041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행동 괴이·남 업신여김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84048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0416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기행 → 거짓 보고 증가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103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70916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91032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음악·유흥 탐닉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70916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9103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향락 → 정사 방치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79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557784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7790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탐욕(貪欲)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57784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7790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끝없는 욕심 → 민란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十過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십과 6~10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0312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04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여색 탐닉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10312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30428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감정적 집착 → 판단 흐림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718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729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97180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729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직접 일함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97180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317296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군주가 궁을 비우면 위험 — 마이크로매니지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0416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84048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04164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결단력 부족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84048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0416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결정 미룸 → 기회 상실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9103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70916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491032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한 신하 의존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70916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49103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한 사람 말만 따름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790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5577840"/>
            <a:ext cx="45720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77900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무시할 수 없는 것 무시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5577840"/>
            <a:ext cx="57607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77900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경고 신호 외면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Ⅻ. 十過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십과의 대표 역사 사례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제2과 소탐대실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1168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208483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우(虞)나라와 순망치한(脣亡齒寒)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688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진(晉)이 우에게 보물 주고 길 빌려 괵(虢)을 친 후, 돌아오는 길에 우도 멸망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8152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제5과 탐욕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88036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95351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진시황의 대규모 토목공사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3375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백성 혹사 → 진 15년 만에 멸망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4904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5020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제6과 여색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74904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382219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서주 유왕과 포사 — 봉화희제후(烽火戲諸侯)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20624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거짓 봉화로 제후들을 속이다가 진짜 침공 시 제후가 오지 않아 멸망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1772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8188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제9과 한 신하 의존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461772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469087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제 환공과 역아·수조·개방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50749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관중 사후 세 간신에 의존 → 환공 사후 유폐되어 아사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228600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87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제10과 방심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5486400"/>
            <a:ext cx="877824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40" y="5559552"/>
            <a:ext cx="8503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오 부차와 월 구천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63240" y="59436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항복 받고 경계 해제 → 와신상담한 구천에게 멸망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고분·세난·화씨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고분(孤憤) — 외로운 분노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제11편 고분 — "법술지사(法術之士)가 기득권에 의해 죽는 구조적 비극"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39496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법술지사(法術之士)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법과 술을 아는 개혁가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국가를 위한 합리적 제안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기득권의 사익을 침해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보호 세력이 없음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94960" cy="329184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154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당여지신(當與之臣)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39"/>
            <a:ext cx="4846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F2A44"/>
                </a:solidFill>
                <a:latin typeface="맑은 고딕"/>
              </a:rPr>
              <a:t>사적 파벌의 기득권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인사권 장악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당파 형성·집단 비방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공적 사유화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고분·세난·화씨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고분의 자기 예언 — 한비 자신의 운명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개혁가의 비극적 운명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침묵하면 — 나라가 망하는 것을 지켜본다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말하면 — 기득권의 미움으로 죽는다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역사 사례 — 그리고 자기 자신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상앙 — 거열형(車裂刑) · 오기 — 화살에 맞음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그리고 한비 자신 — 옥중 독살(BC 233)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"한비가 『고분』에 예고한 구조가 자기 자신에게 그대로 실현되었다"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고분·세난·화씨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세난(說難) — 설득의 어려움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제12편 세난 — 말더듬 한비의 설득 심리학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10881360" cy="1645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설득이 어려운 진짜 이유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지식·언변·용기가 부족해서가 아니다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상대방의 속마음을 정확히 파악하고 그에 맞추어 말해야 하기 때문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46320"/>
            <a:ext cx="10881360" cy="16459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입장(Position) vs 이해관계(Interest) — 하버드 협상 이론의 원조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겉으로 명예를 말하지만 속으로 이익을 탐할 때 — 양쪽 다 위험</a:t>
            </a:r>
          </a:p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이 역설을 푸는 것이 설득의 기술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고분·세난·화씨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역린(逆鱗) — 용의 거꾸로 난 비늘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逆 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제12편 세난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06908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"용(龍)은 길들이면 탈 수도 있다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 그러나 목 아래에 한 자 길이의 거꾸로 난 비늘이 있는데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이것을 건드리는 자는 반드시 죽임을 당한다"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1">
                <a:solidFill>
                  <a:srgbClr val="1F2A44"/>
                </a:solidFill>
                <a:latin typeface="맑은 고딕"/>
              </a:rPr>
              <a:t>모든 권력자에게는 절대 건드려서는 안 되는 금기가 있다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CEO의 과거 실패·정치인의 스캔들·리더의 콤플렉스 — 모두 역린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고분·세난·화씨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화씨지벽(和氏之璧) — 인정받지 못하는 보옥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32004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변화(卞和)의 우화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변화가 옥 원석을 세 번 바침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여왕(厲王): "이것은 돌이다" → 왼발을 자름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무왕(武王): 또 "돌이다" → 오른발을 자름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문왕(文王): 쪼개보니 천하의 명옥(名玉) → "화씨지벽(和氏之璧)"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변화의 눈물 — "발이 잘린 것이 슬픈 것이 아니라</a:t>
            </a:r>
          </a:p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보옥을 돌이라 하고 정직한 선비를 거짓말쟁이라 부르는 것이 슬프다"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XⅢ. 고분·세난·화씨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개혁가 열전 — 죽었으나 제도는 살았다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오기(吳起)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286000"/>
            <a:ext cx="22860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514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초나라 개혁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286000"/>
            <a:ext cx="6400800" cy="8229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51460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도왕 사후 화살에 맞음 — 자기 몸을 왕의 시신 위에 던져 복수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상앙(商鞅)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00400"/>
            <a:ext cx="22860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290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진나라 변법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200400"/>
            <a:ext cx="6400800" cy="8229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42900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효공 사후 거열형(車裂刑) — 그러나 그의 법은 진 통일의 기반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2286000" cy="8229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한비(韓非)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3434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법가 사상 완성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4114800"/>
            <a:ext cx="6400800" cy="82296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434340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이사에게 옥중 독살 — 그러나 사상이 진 제국의 설계도가 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9200"/>
            <a:ext cx="2286000" cy="82296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578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공통점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5029200"/>
            <a:ext cx="22860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52578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개혁의 본질적 특성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5029200"/>
            <a:ext cx="6400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0" y="5257800"/>
            <a:ext cx="6126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기존 이익의 재분배 → 누군가의 이익을 빼앗음 → 저항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"개혁가는 죽지만 제도는 남는다" — 화씨편의 핵심 통찰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망징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망징(亡徵) — 47가지 망국 징조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제15편 — 현대 조직 진단에도 그대로 적용되는 체크리스트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0" b="1">
                <a:solidFill>
                  <a:srgbClr val="8B1A1A"/>
                </a:solidFill>
                <a:latin typeface="맑은 고딕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556070"/>
                </a:solidFill>
                <a:latin typeface="맑은 고딕"/>
              </a:rPr>
              <a:t>가지 망국 징조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10881360" cy="14630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332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세 가지 범주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① 군주의 개인적 결함 (15개)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② 제도적·구조적 문제 (18개)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③ 사회적 병폐 (14개)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망징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대표 망징 — 13가지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9280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8308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9280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사치가 지나치고 국고가 빈약하면 망한다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78308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92807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78308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892807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법령이 조석으로 바뀌면 망한다 (정책 불확실성)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328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42316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5328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공적 없이 높은 작위를 받는 자가 많으면 망한다 (피터의 원리)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2316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5328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42316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5328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관리가 사사로이 재물을 모으면 망한다 (부패)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063239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72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063239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1729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같은 죄에 다른 벌을 내리면 망한다 (법의 불공정)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063239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1729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063239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1729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약속을 지키지 않아 이웃 나라의 신뢰를 잃으면 망한다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130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70332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813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상인이 존경받고 농민이 천대받으면 망한다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70332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8130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370332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381304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사사로이 무력을 쓰는 자가 떠받들어지면 망한다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34340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453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434340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44531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말재주만 갈고 실질 공적 없는 자가 존경받으면 망한다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434340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4531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434340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44531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외국의 힘을 빌려 국내 문제를 해결하면 망한다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8348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093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498348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5093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후계 구도가 불안정하면 망한다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4983480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50932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4983480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509320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측근이 정치에 간섭하면 망한다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623559"/>
            <a:ext cx="457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73328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" y="5623559"/>
            <a:ext cx="52120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57332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2A44"/>
                </a:solidFill>
                <a:latin typeface="맑은 고딕"/>
              </a:rPr>
              <a:t>군주가 간언을 듣지 않으면 망한다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XⅣ. 망징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조직 망징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"망징이 하나라도 있으면 위태롭고, 여럿이 겹치면 망한다</a:t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 그러나 이를 아는 자는 드물고, 안다 해도 고치는 자는 더 드물다"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520440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8444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리더가 세부에만 간섭하는가?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04488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5020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904488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96849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인사가 실력 아닌 관계에 의존하는가?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88536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3425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4288536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5254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정책이 너무 자주 바뀌는가?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72584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1830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4672584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73659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성과와 보상이 연동되지 않는가?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56632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023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5056632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12064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비공식 권력이 공식 구조를 우회하는가?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40680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5440680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5046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법 적용이 사람에 따라 달라지는가?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824728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7044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5824728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88873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기득권층이 의무를 회피하는가?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208776"/>
            <a:ext cx="457200" cy="3657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25449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" y="6208776"/>
            <a:ext cx="1065276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627278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내부 고발이 보호받지 않는가?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비내·해로유로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비내(備內) — 내부 경계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2860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제17편 비내 — "군주의 진짜 적은 외적이 아니라 내부"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1F2A44"/>
                </a:solidFill>
                <a:latin typeface="맑은 고딕"/>
              </a:rPr>
              <a:t>"누가 군주의 죽음에서 이익을 얻는가?"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태자 — 빨리 왕이 되고 싶다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후궁 — 총애가 사라지면 모든 것을 잃는다</a:t>
            </a:r>
          </a:p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• 권신 — 새 군주를 세우면 공신이 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제도로 막아라 — 4대 원칙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① 견제와 균형 ② 정보 다원화 ③ 법에 의한 통제 ④ 이해관계 재설계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현대 — 엔론·리먼브라더스 모두 내부 문제로 붕괴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비내·해로유로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해로(解老) — 노자의 법가적 재해석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제20편 — 도가와 법가의 융합 텍스트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도(道)의 재해석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556070"/>
                </a:solidFill>
                <a:latin typeface="맑은 고딕"/>
              </a:rPr>
              <a:t>노자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우주의 근원 — 말할 수 없는 궁극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한비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만물이 그렇게 되는 까닭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— 이치(理) 그 자체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한비는 도를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"신비"에서 "합리"로 가져왔다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무위(無爲)의 변환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556070"/>
                </a:solidFill>
                <a:latin typeface="맑은 고딕"/>
              </a:rPr>
              <a:t>노자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자연에 맡기고 인위를 삼가라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한비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법을 잘 만들어놓으면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  군주가 간섭하지 않아도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 나라가 저절로 돌아간다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현대 — 잘 설계된 시스템은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556070"/>
                </a:solidFill>
                <a:latin typeface="맑은 고딕"/>
              </a:rPr>
              <a:t>관리자 개입 없이 자동 작동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비내·해로유로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편작(扁鵲)과 채환공(蔡桓公) — 조기 진단의 우화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926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명의 편작이 채환공을 세 번 만나 경고: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1차 — "피부에 병이 있습니다" → 무시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2차 — "살 속에 병이 있습니다" → 무시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3차 — "장부(臟腑)에 병이 있습니다" → 무시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4차 — 환공을 보자마자 편작은 그냥 돌아감</a:t>
            </a:r>
          </a:p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"병이 골수까지 갔으니 이제 어찌할 수 없다"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환공은 곧 죽었다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F2A44"/>
                </a:solidFill>
                <a:latin typeface="맑은 고딕"/>
              </a:rPr>
              <a:t>"작은 경고를 무시하면 큰 재앙 — 조기 개입의 중요성"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제21편 유로(喩老)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XⅤ. 비내·해로유로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유로(喩老)의 다른 유명 우화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56032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4144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천 길 제방과 개미구멍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9456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44144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千里之堤 潰於蟻穴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194560"/>
            <a:ext cx="612648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44144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천 길 제방도 개미구멍 때문에 무너진다 — 나비효과·조기 경보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256032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천리마의 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20040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44728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死馬骨 五百金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3200400"/>
            <a:ext cx="612648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3447288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죽은 말의 뼈도 오백 금에 산다 → 살아 있는 천리마가 몰려든다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06240"/>
            <a:ext cx="256032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53127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범려의 공성신퇴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206240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445312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功成身退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4206240"/>
            <a:ext cx="612648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445312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범려는 월왕 구천을 도와 오를 멸하고 즉시 물러나 화를 면함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12079"/>
            <a:ext cx="2560320" cy="8686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58967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화·복의 상호전환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5212079"/>
            <a:ext cx="2286000" cy="868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7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禍福相依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5212079"/>
            <a:ext cx="6126480" cy="8686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5458967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"화에는 복이 기대어 있고, 복에는 화가 숨어 있다"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시대비판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오두(五蠹) — 다섯 좀벌레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제49편 — 나라를 좀먹는 5가지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194560"/>
            <a:ext cx="237744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774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학자(學者)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194560"/>
            <a:ext cx="49377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377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유가 — 비현실적 고대 숭배, 법 약화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2194560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377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이상주의 경영자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35808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80160" y="3035808"/>
            <a:ext cx="237744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21868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언담자(言談者)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035808"/>
            <a:ext cx="49377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3218688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종횡가 — 무책임한 말꾼, 실행력 부재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3035808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2186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실적 없는 경영 구루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77056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5993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3877056"/>
            <a:ext cx="237744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0599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대검자(帶劍者)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877056"/>
            <a:ext cx="49377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405993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협객 — 사적 폭력, 법질서 파괴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3877056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05993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온라인 자경단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18304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90118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80160" y="4718304"/>
            <a:ext cx="237744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80160" y="4901184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환어자(患御者)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39" y="4718304"/>
            <a:ext cx="49377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490118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권문 기생자 — 의무 회피, 특권 악용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0" y="4718304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49011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병역 면제·탈세 특권층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559552"/>
            <a:ext cx="64008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742432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80160" y="5559552"/>
            <a:ext cx="237744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574243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상공지민(商工之民)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49039" y="5559552"/>
            <a:ext cx="49377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57424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비생산적 부, 사치 조장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78240" y="5559552"/>
            <a:ext cx="292608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9680" y="574243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실물 없는 투기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시대비판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수주대토(守株待兔) — 그루터기 지키며 토끼 기다리기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1">
                <a:solidFill>
                  <a:srgbClr val="8B1A1A"/>
                </a:solidFill>
                <a:latin typeface="맑은 고딕"/>
              </a:rPr>
              <a:t>守 株 待 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— 제49편 오두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송나라 농부가 밭을 갈고 있는데 토끼가 달려와 그루터기에 부딪혀 죽었다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농부는 이후 쟁기를 버리고 그루터기 옆에 앉아 토끼를 기다렸다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1">
                <a:solidFill>
                  <a:srgbClr val="1F2A44"/>
                </a:solidFill>
                <a:latin typeface="맑은 고딕"/>
              </a:rPr>
              <a:t>토끼는 다시 오지 않았고, 농부는 송나라의 웃음거리가 됐다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"지금 옛 선왕의 방법으로 당세를 다스리려는 자는, 모두 이 그루터기를 지키는 자다"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시대비판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현학(顯學) — 유가와 묵가 비판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881360" cy="7315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"공자는 한 사람인데 가르침이 여덟 가지, 묵자는 한 사람인데 셋. 누가 진짜인가?"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539496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유가의 분열 — 8파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48463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자장파 · 자사파
안씨파 · 맹씨파
칠조씨파 · 중량씨파
손씨파 · 악정씨파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94960" cy="32918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31546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8B1A1A"/>
                </a:solidFill>
                <a:latin typeface="맑은 고딕"/>
              </a:rPr>
              <a:t>묵가의 분열 — 3파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1480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1F2A44"/>
                </a:solidFill>
                <a:latin typeface="맑은 고딕"/>
              </a:rPr>
              <a:t>상리씨
상부씨
등릉씨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XⅥ. 시대비판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검증 불가능한 권위 인용의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"요순의 도를 따르라"고 하지만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요순은 죽은 지 수백 년 — 진위 확인 불가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"죽은 사람의 뜻을 빌려 자신의 주장을 정당화"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= 지적 사기(知的 詐欺)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법치 vs 도덕 교화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도덕: 모호("인이란?")·주관적·검증 불가·느림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법: 명확(명문화)·보편적·검증 가능·즉시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현대 — "열정적으로 일하라"보다 명확한 KPI·성과급이 효과적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① — 수주대토(守株待兔)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수주대토 · 제49편 오두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송나라 농부가 그루터기에 부딪혀 죽은 토끼를 얻은 뒤
쟁기를 버리고 그루터기 옆에 앉아 토끼를 기다림.
토끼는 다시 오지 않았고, 농부는 송나라의 웃음거리가 됨.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과거의 성공에 안주하지 마라 — 시대는 변한다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② — 모순(矛盾)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모순 · 제36편 난일, 제40편 난세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초나라 상인이 "무엇이든 뚫는 창"과 "무엇이든 막는 방패"를
동시에 팔자, 한 사람이 물었다.
"그 창으로 그 방패를 찌르면 어떻게 되느냐?" — 상인은 답하지 못했다.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논리적 일관성의 중요성 — 두 극단을 동시에 주장할 수 없다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③ — 화씨지벽(和氏之璧)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화씨지벽 · 제13편 화씨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변화(卞和)가 옥 원석을 세 번 바쳤다.
두 왕은 "돌이다" 하여 두 발을 자르고
세 번째 왕이 쪼개보니 천하의 명옥(名玉) — 화씨지벽.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진정한 가치는 알아보는 눈이 있어야 빛난다 — 개혁가의 비극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④ — 정인매리(鄭人買履)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정인매리 · 제32편 외저설 좌상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정나라 사람이 자기 발의 치수를 재놓고 시장에 갔다.
치수를 집에 두고 온 것을 알고 집으로 돌아가 가져왔으나 시장이 파함.
"직접 신어보면 될 것을" 하니 "치수는 믿어도 내 발은 못 믿는다"고.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경직된 원칙주의의 어리석음 — 수단과 목적을 혼동하지 마라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⑤ — 악양식자(樂羊食子)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악양식자 · 제22편 세림 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위나라 장군 악양이 중산국을 칠 때, 중산왕이 악양의 아들을
잡아 국을 끓여 보냄. 악양은 "군법을 어길 수 없다"며 그 국을 다 먹음.
위 문후는 "자기 아들 고기를 먹은 자가 남의 고기도 먹겠다"며 경계.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극단적 충성은 극단적 배신의 가능성이다 — 인간 본성의 양면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⑥ — 오기연저(吳起吮疽)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오기연저 · 제32편 외저설 좌상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장군 오기가 병사의 종기를 입으로 빨아주자 그 병사의 어머니가 통곡.
"전에 오 장군이 그 아버지 종기를 빨아주었는데
아버지는 감격하여 결국 싸움에서 죽었다. 내 아들도 죽을 것이다"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리더의 친밀한 행동에도 전략적 의도가 있을 수 있다 — 사랑도 무기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⑦ — 편작견환공(扁鵲見桓公)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편작견환공 · 제21편 유로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편작이 환공의 병을 세 번 경고했으나 무시당함.
피부 → 살 속 → 장부 → 골수에 이르자 편작은 도망.
환공은 결국 죽음.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작은 경고를 무시하면 큰 재앙 — 조기 개입의 중요성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⑧ — 천리마지골(千里馬之骨)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천리마지골 · 제21편 유로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연 소왕이 인재를 구하자 곽외가 조언:
"죽은 천리마의 뼈도 5백 금에 산다는 말처럼
먼저 저 같은 평범한 자를 후히 대우하소서" → 악의·추연 같은 인재가 몰려듦.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진정성 있는 대우가 최고의 인재를 끌어온다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⑨ — 삼인성호(三人成虎)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삼인성호 · 제30편 내저설 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한 사람이 "시장에 호랑이가 있다"고 하면 믿지 않음.
두 사람이 말하면 의심. 세 사람이 말하면 믿는다.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거짓 정보도 반복되면 진실이 된다 — 한 경로 정보에 의존 말 것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XⅦ. 우화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우화 ⑩ — 초왕호세요(楚王好細腰)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초왕호세요 · 제32편 외저설 좌상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47120" cy="24688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이야기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69848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F2A44"/>
                </a:solidFill>
                <a:latin typeface="맑은 고딕"/>
              </a:rPr>
              <a:t>초 영왕이 가는 허리의 신하를 좋아하자
조정의 모든 신하들이 굶어서 허리를 가늘게 만들어
얼굴이 검게 되고 기둥을 붙잡고 걸어다녔다.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46320"/>
            <a:ext cx="11247120" cy="1554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B1A1A"/>
                </a:solidFill>
                <a:latin typeface="맑은 고딕"/>
              </a:rPr>
              <a:t>교훈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2A44"/>
                </a:solidFill>
                <a:latin typeface="맑은 고딕"/>
              </a:rPr>
              <a:t>위가 좋아하면 아래가 반드시 따른다 — 군주의 선호는 조직 전체를 왜곡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10대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한비자를 관통하는 10대 원리 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9456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시대는 변한다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19456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39572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世異則事異 — 과거에 안주하지 말고 현재의 조건에 맞춰라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39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063239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644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인간은 이익으로 움직인다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063239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26440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凡治天下 必因人情 — 악이 아니라 현실, 이익을 활용해 통제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3308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93192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133087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제도가 개인을 초월한다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93192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133087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法治 &gt; 人治 — 좋은 시스템이 좋은 사람을 이긴다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017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80060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0017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상벌은 두 자루(二柄)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80060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00176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상과 벌은 군주만이 쥔다, 절대 나누지 마라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692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704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566928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704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형명참동(循名責實)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566928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87044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말(名)과 실적(形)을 대조하여 평가 — 현대 KPI의 원조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XⅧ. 10대 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한비자를 관통하는 10대 원리 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9572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19456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뜻을 숨겨라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19456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239572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虛靜無爲 — 속마음을 드러내면 신하가 맞춰 위장한다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63239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063239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2644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법·술·세의 통합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063239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26440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三位一體 — 세 가지가 모두 있어야 완전한 통치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33087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393192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133087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내부의 적을 경계하라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393192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133087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備內 — 외적보다 위험한 것은 이해관계 있는 측근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0060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0017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80060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0017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역린을 피하라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80060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00176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逆鱗 — 권력자의 심리적 지뢰를 알고 접근하라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669280"/>
            <a:ext cx="640080" cy="7772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7044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80160" y="5669280"/>
            <a:ext cx="4114800" cy="7772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8704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8B1A1A"/>
                </a:solidFill>
                <a:latin typeface="맑은 고딕"/>
              </a:rPr>
              <a:t>무시할 수 없는 것 무시 말 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5669280"/>
            <a:ext cx="6217920" cy="7772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5870448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小過 積爲 大過 — 개미구멍으로 제방이 무너진다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(1/10)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凡 治 天 下   必 因 人 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범치천하 필인인정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천하를 다스리려면 반드시 사람의 실정(人情)에 근거하라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제48편 팔경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(2/10)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8B1A1A"/>
                </a:solidFill>
                <a:latin typeface="맑은 고딕"/>
              </a:rPr>
              <a:t>國 無 常 強   奉 法 者 強   則 國 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국무상강 봉법자강 즉국강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나라의 강약은 일정하지 않다 — 법을 받드는 자가 강하면 나라가 강하다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제6편 유도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(3/10)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8B1A1A"/>
                </a:solidFill>
                <a:latin typeface="맑은 고딕"/>
              </a:rPr>
              <a:t>刑 過 不 避 大 臣
賞 善 不 遺 匹 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형과불피대신 · 상선불유필부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형벌은 대신도 피하지 못하고, 상은 평민도 놓치지 않는다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제6편 유도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(4/10)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8B1A1A"/>
                </a:solidFill>
                <a:latin typeface="맑은 고딕"/>
              </a:rPr>
              <a:t>二 柄 者   刑 德 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이병자 형덕야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두 자루는 형(刑)과 덕(德)이다 — 군주만이 쥐는 절대 권능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제7편 이병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(5/10)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8B1A1A"/>
                </a:solidFill>
                <a:latin typeface="맑은 고딕"/>
              </a:rPr>
              <a:t>循 名 而 責 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순명책실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이름(名)에 따라 실적(實)을 묻는다 — 형명참동의 원리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제43편 정법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(6/10)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人 主 之 患 在 於 信 人
信 人 則 制 於 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인주지환재어신인 · 신인즉제어인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군주의 걱정은 사람을 믿는 데 있다 — 믿으면 사람에게 제어당한다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제17편 비내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(7/10)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8B1A1A"/>
                </a:solidFill>
                <a:latin typeface="맑은 고딕"/>
              </a:rPr>
              <a:t>輿 人 欲 人 之 富 貴
匠 人 欲 人 之 夭 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여인욕인지부귀 · 장인욕인지요사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수레 장인은 사람들이 부자이기를, 관 장인은 일찍 죽기를 바란다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제17편 비내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(8/10)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200" b="1">
                <a:solidFill>
                  <a:srgbClr val="8B1A1A"/>
                </a:solidFill>
                <a:latin typeface="맑은 고딕"/>
              </a:rPr>
              <a:t>其 喉 下 有 逆 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기후하유역린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용의 목 아래에 거꾸로 난 비늘이 있다 — 권력자의 절대 금기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제12편 세난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(9/10)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400" b="1">
                <a:solidFill>
                  <a:srgbClr val="8B1A1A"/>
                </a:solidFill>
                <a:latin typeface="맑은 고딕"/>
              </a:rPr>
              <a:t>守 株 待 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수 주 대 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그루터기를 지키며 토끼를 기다린다 — 시대 변화를 모르는 어리석음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제49편 오두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XⅨ. 명구절 (10/10)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92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097280"/>
            <a:ext cx="112471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千 里 之 堤   潰 於 蟻 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천리지제 궤어의혈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0" y="402336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천 리 제방도 개미구멍으로 무너진다 — 작은 신호가 큰 재앙으로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제21편 유로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93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 vs 유가 — 정면 대립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28600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쟁점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2011680"/>
            <a:ext cx="43891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10312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유가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011680"/>
            <a:ext cx="448056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1031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한비자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157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인간 본성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514600"/>
            <a:ext cx="4389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71576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성선(공자·맹자) / 성악(순자)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514600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71576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이기(利己) — 선악 이전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472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통치 방법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324612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4472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덕치(德治)·예치(禮治)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246120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4472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법치(法治)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77639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788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이상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977639"/>
            <a:ext cx="4389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0" y="4178807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요순의 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977639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17880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당세(當世)의 현실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0916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9103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지식인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709160"/>
            <a:ext cx="4389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491032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군자(君子)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709160"/>
            <a:ext cx="448056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91032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"좀벌레(蠹)"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440680"/>
            <a:ext cx="2286000" cy="7315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6418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시간관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5440680"/>
            <a:ext cx="4389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0" y="564184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복고 — 옛날이 좋았다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440680"/>
            <a:ext cx="448056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56418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역사 진화론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한비의 유가 비판: "요순이 있었다는 것도 증명할 수 없는데, 따라야 한다고?"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94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 vs 도가·묵가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vs 도가(노자·장자)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대립 지점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도가: 무위자연(無爲自然)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법가: 제도·법치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공유 지점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무위이치(無爲而治) — 도가의 "무위"를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한비는 "법을 세워놓고 간섭 안 함"으로 재해석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1">
                <a:solidFill>
                  <a:srgbClr val="556070"/>
                </a:solidFill>
                <a:latin typeface="맑은 고딕"/>
              </a:rPr>
              <a:t>→ 한비는 노자를 법가의 선배로 재해석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(제20·21편 해로·유로)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vs 묵가(묵자)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묵가의 주장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겸애(兼愛)·비공(非攻)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모든 사람을 평등하게 사랑하라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한비의 비판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"가족조차 이해타산으로 움직이는데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 타인을 어찌 평등하게 사랑하겠는가?"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현학편에서 묵가의 내부 분열도 비판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(3파로 분열)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XX.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95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한비자 vs 마키아벨리 군주론 — 1,700년의 시차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10312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비교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2011680"/>
            <a:ext cx="45720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103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한비자 (BC 233경)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2011680"/>
            <a:ext cx="4480560" cy="502920"/>
          </a:xfrm>
          <a:prstGeom prst="rect">
            <a:avLst/>
          </a:prstGeom>
          <a:solidFill>
            <a:srgbClr val="55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1031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마키아벨리 (AD 1513)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14600"/>
            <a:ext cx="21031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7919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인간관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514600"/>
            <a:ext cx="45720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67919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이익 추구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514600"/>
            <a:ext cx="448056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67919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이기적·배은망덕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54680"/>
            <a:ext cx="21031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19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도덕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15468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31927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제도로 대체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15468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31927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효용으로 판단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21031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5935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통치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3794760"/>
            <a:ext cx="45720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39593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법·술·세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794760"/>
            <a:ext cx="448056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95935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역량(virtù)·운(fortuna)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34840"/>
            <a:ext cx="21031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9943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배신 대응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434840"/>
            <a:ext cx="45720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599431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이해관계 분석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4434840"/>
            <a:ext cx="448056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599431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"두려워지는 것이 낫다"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74920"/>
            <a:ext cx="2103120" cy="6400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2395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074920"/>
            <a:ext cx="457200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0" y="523951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진화론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5074920"/>
            <a:ext cx="448056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523951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순환론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동서양 현실주의 정치철학의 양대 산맥 — 한비가 1,700년 앞선 선구자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96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경영학 — 제도 설계의 원조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형명참동(形名參同)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01168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488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KPI·OKR·MBO — 약속과 실적의 대조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이병(二柄)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260604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7432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인사권·평가권의 경영진 집중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법·술·세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20040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3375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공식 시스템 + 비공식 리더십 + 권한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9476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팔간·십과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79476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93192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코퍼레이트 리스크 매트릭스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8912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262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망징 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438912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5262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조직 진단 체크리스트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1206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비내(備內)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98348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512064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내부통제·감사위원회·내부고발자 보호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77840"/>
            <a:ext cx="411480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150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주도(主道)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5577840"/>
            <a:ext cx="704088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71500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베조스의 "가장 나중에 발언" — 관찰자 효과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97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행동경제학·제도경제학과의 접점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5394960" cy="4114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행동경제학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8B1A1A"/>
                </a:solidFill>
                <a:latin typeface="맑은 고딕"/>
              </a:rPr>
              <a:t>한비의 명제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인간은 이익으로 움직인다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행동경제학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인간 = 합리적 이기심 +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편향·휴리스틱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리처드 탈러의 넛지(Nudge)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= 인센티브 설계로 행동 유도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= 한비의 "이익을 활용한 통제"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394960" cy="411480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8B1A1A"/>
                </a:solidFill>
                <a:latin typeface="맑은 고딕"/>
              </a:rPr>
              <a:t>제도경제학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A44"/>
                </a:solidFill>
                <a:latin typeface="맑은 고딕"/>
              </a:rPr>
              <a:t>더글러스 노스 (Nobel 1993)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"제도가 경제 성과를 결정한다"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00" b="1">
                <a:solidFill>
                  <a:srgbClr val="8B1A1A"/>
                </a:solidFill>
                <a:latin typeface="맑은 고딕"/>
              </a:rPr>
              <a:t>한비의 법치(法治)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= 노스의 제도(Institutions)</a:t>
            </a:r>
          </a:p>
          <a:p>
            <a:pPr algn="l">
              <a:lnSpc>
                <a:spcPct val="13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1">
                <a:solidFill>
                  <a:srgbClr val="8B1A1A"/>
                </a:solidFill>
                <a:latin typeface="맑은 고딕"/>
              </a:rPr>
              <a:t>"좋은 제도가 좋은 사람을 이긴다"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한비가 2,300년 전 선언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98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제로 트러스트 보안 — 정보보안의 2,300년 전 원조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8B1A1A"/>
                </a:solidFill>
                <a:latin typeface="맑은 고딕"/>
              </a:rPr>
              <a:t>人 主 之 患   在 於 信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인주지환 재어신인 — "군주의 걱정은 사람을 믿는 데 있다"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749039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4023360"/>
            <a:ext cx="1124712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698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8B1A1A"/>
                </a:solidFill>
                <a:latin typeface="맑은 고딕"/>
              </a:rPr>
              <a:t>Zero Trust — "Never trust, always verify"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Google·Microsoft가 채택한 21세기 정보보안 패러다임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= 비내(備內)의 정확한 현대적 구현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내부 사용자도, 신뢰받는 시스템도 매번 검증한다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56070"/>
                </a:solidFill>
                <a:latin typeface="맑은 고딕"/>
              </a:rPr>
              <a:t>"가장 가까운 자조차 의심하라"는 한비의 정신과 동일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XXI. 현대 의의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99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거버넌스 — 견제와 균형의 원조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>
                <a:solidFill>
                  <a:srgbClr val="8B1A1A"/>
                </a:solidFill>
                <a:latin typeface="맑은 고딕"/>
              </a:rPr>
              <a:t>"한비는 군주제 옹호자인데, 현대 민주주의와 어떻게 연결되는가?"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30000"/>
              </a:lnSpc>
              <a:spcBef>
                <a:spcPts val="4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한비의 핵심 — 권력자도 법의 지배를 받아야 한다</a:t>
            </a:r>
          </a:p>
          <a:p>
            <a:pPr algn="ctr">
              <a:lnSpc>
                <a:spcPct val="130000"/>
              </a:lnSpc>
            </a:pPr>
            <a:r>
              <a:rPr sz="1500" b="1">
                <a:solidFill>
                  <a:srgbClr val="1F2A44"/>
                </a:solidFill>
                <a:latin typeface="맑은 고딕"/>
              </a:rPr>
              <a:t>권력 집중은 위험하다 → 견제 시스템 필요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현대 거버넌스 원리와의 일치</a:t>
            </a:r>
          </a:p>
          <a:p>
            <a:pPr algn="l">
              <a:lnSpc>
                <a:spcPct val="13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팔간·비내 → 삼권분립의 동양적 원조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형과불피대신 → 법 앞의 평등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망징 체크리스트 → 기업 거버넌스 진단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>
                <a:solidFill>
                  <a:srgbClr val="1F2A44"/>
                </a:solidFill>
                <a:latin typeface="맑은 고딕"/>
              </a:rPr>
              <a:t>• 형명참동 → 360도 평가·실적 검증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XXII.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100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 문장으로 정리하는 한비자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44805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1F2A44"/>
                </a:solidFill>
                <a:latin typeface="맑은 고딕"/>
              </a:rPr>
              <a:t>"인간은 이익으로 움직인다"는 냉정한 관찰에서 출발하여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성인을 기다리는 도덕 정치 대신</a:t>
            </a:r>
          </a:p>
          <a:p>
            <a:pPr algn="ctr">
              <a:lnSpc>
                <a:spcPct val="120000"/>
              </a:lnSpc>
            </a:pPr>
            <a:r>
              <a:rPr sz="1900" b="1">
                <a:solidFill>
                  <a:srgbClr val="8B1A1A"/>
                </a:solidFill>
                <a:latin typeface="맑은 고딕"/>
              </a:rPr>
              <a:t>평범한 군주도 다스릴 수 있는 제도 시스템을 설계한 책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법(法, 공개된 규칙) · 술(術, 은밀한 기법) · 세(勢, 지위의 권력)</a:t>
            </a:r>
          </a:p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의 삼각형이 그 뼈대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800"/>
              </a:spcBef>
            </a:pPr>
            <a:r>
              <a:rPr sz="1500" b="0">
                <a:solidFill>
                  <a:srgbClr val="1F2A44"/>
                </a:solidFill>
                <a:latin typeface="맑은 고딕"/>
              </a:rPr>
              <a:t>이병(상·벌)을 군주가 독점하고</a:t>
            </a:r>
          </a:p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형명참동(약속과 실적 대조)으로 평가하며</a:t>
            </a:r>
          </a:p>
          <a:p>
            <a:pPr algn="ctr">
              <a:lnSpc>
                <a:spcPct val="12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허정무위(뜻을 숨김)로 조직을 왜곡 없이 관찰한다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sz="1800" b="1">
                <a:solidFill>
                  <a:srgbClr val="556070"/>
                </a:solidFill>
                <a:latin typeface="맑은 고딕"/>
              </a:rPr>
              <a:t>— 동양 정치철학 현실주의의 정점 —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XXII. 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101 / 102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한비의 옥중 유언 — 비극과 승리의 동시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11247120" cy="2103120"/>
          </a:xfrm>
          <a:prstGeom prst="rect">
            <a:avLst/>
          </a:prstGeom>
          <a:solidFill>
            <a:srgbClr val="FA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>
                <a:solidFill>
                  <a:srgbClr val="556070"/>
                </a:solidFill>
                <a:latin typeface="맑은 고딕"/>
              </a:rPr>
              <a:t>BC 233년 진(秦) 옥중 — 47세경, 이사의 모함으로 독약 마심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"수레 장인과 관 장인이 서로 다른 것을 바라는 이 세상에서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 도덕 교화로는 질서가 서지 않고</a:t>
            </a:r>
          </a:p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8B1A1A"/>
                </a:solidFill>
                <a:latin typeface="맑은 고딕"/>
              </a:rPr>
              <a:t> 성인을 기다리면 나라가 망하니</a:t>
            </a:r>
          </a:p>
          <a:p>
            <a:pPr algn="ctr">
              <a:lnSpc>
                <a:spcPct val="125000"/>
              </a:lnSpc>
              <a:spcBef>
                <a:spcPts val="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이익을 인정하고 법으로 다스려야 한다"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8B1A1A"/>
                </a:solidFill>
                <a:latin typeface="맑은 고딕"/>
              </a:rPr>
              <a:t>한비는 죽었으나 — 12년 후 진시황이 6국 통일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600" b="0">
                <a:solidFill>
                  <a:srgbClr val="1F2A44"/>
                </a:solidFill>
                <a:latin typeface="맑은 고딕"/>
              </a:rPr>
              <a:t>그가 설계한 법가 시스템은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2A44"/>
                </a:solidFill>
                <a:latin typeface="맑은 고딕"/>
              </a:rPr>
              <a:t>중국 2,000년 제국의 바탕이 되었다</a:t>
            </a:r>
          </a:p>
          <a:p>
            <a:pPr algn="l">
              <a:lnSpc>
                <a:spcPct val="125000"/>
              </a:lnSpc>
            </a:pPr>
            <a:r>
              <a:rPr sz="400" b="0">
                <a:solidFill>
                  <a:srgbClr val="1F2A44"/>
                </a:solidFill>
                <a:latin typeface="맑은 고딕"/>
              </a:rPr>
              <a:t/>
            </a:r>
          </a:p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"외유내법(外儒內法)" — 겉은 유교, 속은 법가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1">
                <a:solidFill>
                  <a:srgbClr val="8B1A1A"/>
                </a:solidFill>
                <a:latin typeface="맑은 고딕"/>
              </a:rPr>
              <a:t>守 株 待 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556070"/>
                </a:solidFill>
                <a:latin typeface="맑은 고딕"/>
              </a:rPr>
              <a:t>수 주 대 토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0" y="3840480"/>
            <a:ext cx="2103120" cy="0"/>
          </a:xfrm>
          <a:prstGeom prst="line">
            <a:avLst/>
          </a:prstGeom>
          <a:ln w="1905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41148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F2A44"/>
                </a:solidFill>
                <a:latin typeface="맑은 고딕"/>
              </a:rPr>
              <a:t>"그루터기를 지키며 토끼를 기다리지 마라"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8B1A1A"/>
                </a:solidFill>
                <a:latin typeface="맑은 고딕"/>
              </a:rPr>
              <a:t>시대는 변한다 — 변화를 읽는 자가 이긴다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— 제49편 오두 · 한비가 2,300년 전 남긴 마지막 메시지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1F2A44"/>
                </a:solidFill>
                <a:latin typeface="맑은 고딕"/>
              </a:rPr>
              <a:t>감사합니다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8A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