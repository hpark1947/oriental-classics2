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孟 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B1A1A"/>
                </a:solidFill>
                <a:latin typeface="맑은 고딕"/>
              </a:rPr>
              <a:t>Mencius · 맹자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맹가(孟軻)의 사상과 언행록 — 아성(亞聖)의 가르침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전국시대 (BC 372~289경) · 사서(四書) · 7편 14장 · 성선설과 왕도정치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554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554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개요 — 맹자란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011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7편 14장의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① — 성선설(性善說)과 사단(四端)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26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② — 왕도정치(王道政治)와 민본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383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핵심 사상 ③ — 호연지기(浩然之氣)와 수양론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840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명구절 10선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맹자의 구조적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754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12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다른 고전과의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669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맹자(孟子)란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전국시대 유학자 맹자의 사상과 언행을 담은 유교 경전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8B1A1A"/>
                </a:solidFill>
                <a:latin typeface="맑은 고딕"/>
              </a:rPr>
              <a:t>논어가 간결한 어록이라면, 맹자는 체계적 논변과 비유의 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맑은 고딕"/>
              </a:rPr>
              <a:t>편(篇)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8B1A1A"/>
                </a:solidFill>
                <a:latin typeface="맑은 고딕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맑은 고딕"/>
              </a:rPr>
              <a:t>장(상·하)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8B1A1A"/>
                </a:solidFill>
                <a:latin typeface="맑은 고딕"/>
              </a:rPr>
              <a:t>약 260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맑은 고딕"/>
              </a:rPr>
              <a:t>장(章)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8B1A1A"/>
                </a:solidFill>
                <a:latin typeface="맑은 고딕"/>
              </a:rPr>
              <a:t>약 35,000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20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맑은 고딕"/>
              </a:rPr>
              <a:t>자(字)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맹자(孟軻, BC 372~289경)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아성(亞聖) — 공자 다음의 성인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출신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추(鄒)나라 출신, 공자의 고향 노(魯)나라와 인접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수학(受學)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자사(子思)의 문인에게 배움 — 공자 학통의 정통 계승자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활동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제(齊)·위(魏)·송(宋)·등(滕) 등 여러 나라를 유세하며 왕도정치 설파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존칭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  아성(亞聖) — 공자에 버금가는 성인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맹모삼천지교(孟母三遷之敎)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— 교육 환경의 결정적 중요성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2801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79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1차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4027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맑은 고딕"/>
              </a:rPr>
              <a:t>묘지 부근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974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070"/>
                </a:solidFill>
                <a:latin typeface="맑은 고딕"/>
              </a:rPr>
              <a:t>아이가 장례 흉내를 내자 이사를 결심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2801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2차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204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맑은 고딕"/>
              </a:rPr>
              <a:t>시장 부근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776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070"/>
                </a:solidFill>
                <a:latin typeface="맑은 고딕"/>
              </a:rPr>
              <a:t>상인 흉내를 내자 다시 이사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54879"/>
            <a:ext cx="12801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29199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3차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0059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맑은 고딕"/>
              </a:rPr>
              <a:t>서당 부근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25779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070"/>
                </a:solidFill>
                <a:latin typeface="맑은 고딕"/>
              </a:rPr>
              <a:t>예의·학문을 본받자 비로소 정착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환경이 사람을 만든다 — 후대 동아시아 교육 사상의 원형이 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도통(道統) 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맹자가 자임한 공자 학통의 정통 후계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147" y="2286000"/>
            <a:ext cx="2697480" cy="3840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147" y="24688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孔子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147" y="3931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공자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44805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(BC 551~479)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" y="502920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유교의 창시자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4339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9787" y="2286000"/>
            <a:ext cx="2697480" cy="3840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9787" y="24688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曾子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9787" y="3931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증자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9787" y="44805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(BC 505~436)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9787" y="502920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효(孝)의 사상, 대학 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8979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4427" y="2286000"/>
            <a:ext cx="2697480" cy="3840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4427" y="24688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子思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427" y="3931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자사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4427" y="44805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(BC 483~402)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4427" y="502920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공자 손자, 중용 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3619" y="393192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9067" y="2286000"/>
            <a:ext cx="2697480" cy="3840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067" y="24688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孟子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067" y="3931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맹자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9067" y="44805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(BC 372~289)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9067" y="502920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성선설·왕도정치 체계화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편찬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1단계 — 자술설(自述說)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F2A44"/>
                </a:solidFill>
                <a:latin typeface="맑은 고딕"/>
              </a:rPr>
              <a:t>맹자 본인이 직접 편찬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제자 만장(萬章)·공손추(公孫丑)와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함께 자료를 정리한 것으로 추정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논어와 달리 사후 편집이 아닌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생전 자술의 성격이 강함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2단계 — 후한의 정본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F2A44"/>
                </a:solidFill>
                <a:latin typeface="맑은 고딕"/>
              </a:rPr>
              <a:t>조기(趙岐)의 주석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후한 시기 조기가 주석을 달면서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F2A44"/>
                </a:solidFill>
                <a:latin typeface="맑은 고딕"/>
              </a:rPr>
              <a:t>7편을 각각 상·하로 분할 → 14권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이것이 현재까지 이어지는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맹자의 표준 체제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7편 14장의 구성 개관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8813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총 7편 · 상·하 분권 14권 · 약 260장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26060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1 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양혜왕
梁惠王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26080"/>
            <a:ext cx="26060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108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2 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747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공손추
公孫丑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926080"/>
            <a:ext cx="26060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108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3 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등문공
滕文公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926080"/>
            <a:ext cx="26060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4 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747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이루
離婁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572000"/>
            <a:ext cx="30632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754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5 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206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만장
萬章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4572000"/>
            <a:ext cx="30632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754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6 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206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고자
告子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572000"/>
            <a:ext cx="306324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4754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第 7 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1206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진심
盡心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각 편은 첫 장의 인물 또는 핵심어로 이름을 삼는 어록체 전통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7편 — 편명과 핵심 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양혜왕(梁惠王)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031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상7+하16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왕도정치, 인정(仁政), 의리(義利) 분별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공손추(公孫丑)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517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상9+하14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5176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호연지기(浩然之氣), 사단(四端), 왕패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등문공(滕文公)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200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상5+하10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040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정전제(井田制), 오륜(五倫), 이단 비판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이루(離婁)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490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상28+하33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49039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인의(仁義)의 실천, 수신, 군신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976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만장(萬章)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29767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상9+하9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297679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성인 행적, 경전 해석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1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463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고자(告子)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84631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상20+하16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846319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성선설 논변, 의(義)의 내재성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5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맑은 고딕"/>
              </a:rPr>
              <a:t>진심(盡心)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39495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상46+하38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394959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수양론의 총결산, 사상의 집대성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성선설(性善說) — 인간 본성은 선하다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性
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86000"/>
            <a:ext cx="7315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핵심 명제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F2A44"/>
                </a:solidFill>
                <a:latin typeface="맑은 고딕"/>
              </a:rPr>
              <a:t>인간의 본성(性)은 본디 선(善)하다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악(惡)에 대한 설명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악은 본성이 아니라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환경의 영향이나 본성을 기르지 못한 결과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2000" b="1" i="0">
                <a:solidFill>
                  <a:srgbClr val="8B1A1A"/>
                </a:solidFill>
                <a:latin typeface="맑은 고딕"/>
              </a:rPr>
              <a:t>수양의 목표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잃어버린 본성을 되찾는 것 — 구방심(求放心)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물의 비유 — 性善 猶水之就下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人性之善也   猶水之就下也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인성지선야 유수지취하야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고자편 상 2장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인간의 본성이 선한 것은, 물이 아래로 흐르는 것과 같다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물이 위로 튀어 오를 수는 있어도 그것이 본성이 아니듯,
사람이 악을 행할 수는 있어도 그것이 본성은 아니다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사단 — 惻 隱 之 心(측은지심)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→ 인(仁)(仁)의 싹(端)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惻 隱 之 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측은지심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617720"/>
            <a:ext cx="265176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A44"/>
                </a:solidFill>
                <a:latin typeface="맑은 고딕"/>
              </a:rPr>
              <a:t>→  인(仁)
(仁)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의미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743200"/>
            <a:ext cx="548640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0" y="292608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남의 고통을 차마 보지 못하는 마음.
타인의 아픔에 공감하는 동정심.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8521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사단 — 羞 惡 之 心(수오지심)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→ 의(義)(義)의 싹(端)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羞 惡 之 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수오지심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617720"/>
            <a:ext cx="265176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A44"/>
                </a:solidFill>
                <a:latin typeface="맑은 고딕"/>
              </a:rPr>
              <a:t>→  의(義)
(義)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의미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743200"/>
            <a:ext cx="548640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0" y="292608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자신의 잘못을 부끄러워하고,
남의 잘못을 미워하는 마음.
도덕적 정의감의 뿌리.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8521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사단 — 辭 讓 之 心(사양지심)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→ 예(禮)(禮)의 싹(端)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辭 讓 之 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사양지심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617720"/>
            <a:ext cx="265176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A44"/>
                </a:solidFill>
                <a:latin typeface="맑은 고딕"/>
              </a:rPr>
              <a:t>→  예(禮)
(禮)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의미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743200"/>
            <a:ext cx="548640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0" y="292608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남에게 양보하는 마음.
자신을 낮추고 타인을 존중하는 태도.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8521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사단 — 是 非 之 心(시비지심)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→ 지(智)(智)의 싹(端)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是 非 之 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시비지심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617720"/>
            <a:ext cx="265176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8463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A44"/>
                </a:solidFill>
                <a:latin typeface="맑은 고딕"/>
              </a:rPr>
              <a:t>→  지(智)
(智)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의미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743200"/>
            <a:ext cx="548640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0" y="292608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옳고 그름을 가리는 마음.
도덕적 판단의 능력.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8521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유자입정(孺子入井) — 성선의 결정적 증거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孺 子 將 入 於 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유자장입어정 — "어린아이가 우물에 빠지려 한다"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02336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i="0">
                <a:solidFill>
                  <a:srgbClr val="1F2A44"/>
                </a:solidFill>
                <a:latin typeface="맑은 고딕"/>
              </a:rPr>
              <a:t>어린아이가 우물에 빠지려는 순간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900" b="1" i="0">
                <a:solidFill>
                  <a:srgbClr val="1F2A44"/>
                </a:solidFill>
                <a:latin typeface="맑은 고딕"/>
              </a:rPr>
              <a:t>누구나 깜짝 놀라 측은한 마음이 든다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아이의 부모와 친해서가 아니고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마을 사람들의 칭찬을 들으려 함도 아니다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600" b="1" i="0">
                <a:solidFill>
                  <a:srgbClr val="8B1A1A"/>
                </a:solidFill>
                <a:latin typeface="맑은 고딕"/>
              </a:rPr>
              <a:t>— 사단(四端)은 누구에게나 본래부터 있다는 증거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성선설·사단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확충(擴充) — 싹을 기르는 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사단은 "싹(端)"이다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94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0" b="1">
                <a:solidFill>
                  <a:srgbClr val="8B1A1A"/>
                </a:solidFill>
                <a:latin typeface="맑은 고딕"/>
              </a:rPr>
              <a:t>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완성된 덕(德)이 아니라
발현 가능한 가능성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기르고 확장해야 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5394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擴 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확충하지 않으면 부모도 섬길 수 없고
확충하면 천하도 보전할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943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— 공손추 상 6장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왕도·민본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왕도(王道) vs 패도(覇道)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왕도(王道) — 덕(德)·인(仁)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011680"/>
            <a:ext cx="548640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756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패도(覇道) — 힘·이익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덕(德)으로 다스림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743200"/>
            <a:ext cx="548640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8620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힘(力)으로 다스림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864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인(仁)으로 행함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429000"/>
            <a:ext cx="548640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5478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이익으로 행함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54864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백성이 진심으로 복종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114800"/>
            <a:ext cx="548640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336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겉으로만 복종, 속으로 원망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54864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194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지속 가능한 통치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800600"/>
            <a:ext cx="548640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9194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단기적 성공, 결국 무너짐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54864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052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성왕(聖王) — 요·순·우·탕·문·무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486400"/>
            <a:ext cx="548640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60527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춘추오패 — 환공·문공 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왕도·민본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항산항심(恒産恒心) — 민생이 곧 정치다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無 恒 産 而 有 恒 心 者   惟 士 爲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무항산이유항심자 유사위능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양혜왕 상 7장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29768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일정한 생업(恒産)이 없으면서도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일정한 마음(恒心)을 지닐 수 있는 자는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8B1A1A"/>
                </a:solidFill>
                <a:latin typeface="맑은 고딕"/>
              </a:rPr>
              <a:t>오직 선비뿐이다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→ 일반 백성에게는 먼저 안정된 생업을 보장해야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도덕적 마음과 사회적 안정이 가능하다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왕도·민본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민위귀(民爲貴) — 백성이 가장 귀하다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民 爲 貴   社 稷 次 之   君 爲 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민위귀   사직차지   군위경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진심 하 14장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429768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백성이 가장 귀하다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1F2A44"/>
                </a:solidFill>
                <a:latin typeface="맑은 고딕"/>
              </a:rPr>
              <a:t>社稷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663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사직(국가)이 다음이며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556070"/>
                </a:solidFill>
                <a:latin typeface="맑은 고딕"/>
              </a:rPr>
              <a:t>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978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임금이 가장 가볍다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왕도·민본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역성혁명(易姓革命) — 폭군은 일부(一夫)다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聞 誅 一 夫 紂 矣   未 聞 弑 君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문주일부주의 미문시군야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양혜왕 하 8장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"필부 주(紂)를 죽였다는 말은 들었으나,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임금을 시해했다는 말은 듣지 못했다"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덕(德)을 잃은 폭군은 더 이상 군주가 아닌 일부(一夫)에 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→ 동아시아 저항권(right of resistance)의 사상적 기원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왕도·민본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의리론(義利論) — 이익보다 의로움을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王 何 必 曰 利   亦 有 仁 義 而 已 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왕하필왈리 역유인의이이의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양혜왕 상 1장 (맹자가 양혜왕을 만난 첫 만남)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"왕께서는 어찌 꼭 이익(利)을 말씀하십니까?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오직 인의(仁義)가 있을 뿐입니다"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맹자 사상 전체의 출발 선언 — 이익 추구 시대에 던진 도덕 정치의 깃발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호연지기·수양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호연지기(浩然之氣) — 도덕적 용기의 원천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0" b="1">
                <a:solidFill>
                  <a:srgbClr val="8B1A1A"/>
                </a:solidFill>
                <a:latin typeface="맑은 고딕"/>
              </a:rPr>
              <a:t>浩
然
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194560"/>
            <a:ext cx="7498079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8B1A1A"/>
                </a:solidFill>
                <a:latin typeface="맑은 고딕"/>
              </a:rPr>
              <a:t>원전 (공손추 상 2장)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其爲氣也  至大至剛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以直養而無害  則塞于天地之間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 i="0">
                <a:solidFill>
                  <a:srgbClr val="8B1A1A"/>
                </a:solidFill>
                <a:latin typeface="맑은 고딕"/>
              </a:rPr>
              <a:t>풀이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그 기운은 지극히 크고 지극히 강하니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정직(直)함으로 기르고 해치지 않으면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천지 사이에 가득 찬다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 i="0">
                <a:solidFill>
                  <a:srgbClr val="8B1A1A"/>
                </a:solidFill>
                <a:latin typeface="맑은 고딕"/>
              </a:rPr>
              <a:t>성격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A44"/>
                </a:solidFill>
                <a:latin typeface="맑은 고딕"/>
              </a:rPr>
              <a:t>도덕적 실천이 쌓여 생기는 정신적 에너지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호연지기·수양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조장(助長) — 억지로 자라게 하지 말라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2194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8B1A1A"/>
                </a:solidFill>
                <a:latin typeface="맑은 고딕"/>
              </a:rPr>
              <a:t>송(宋)나라의 한 농부 이야기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벼가 자라지 않는 것을 걱정한 농부가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벼 싹을 일일이 위로 잡아당겨 늘여놓고는</a:t>
            </a:r>
          </a:p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1F2A44"/>
                </a:solidFill>
                <a:latin typeface="맑은 고딕"/>
              </a:rPr>
              <a:t>"오늘 너무 힘들었다, 벼가 자라도록 도왔다(助苗長)"고 자랑했다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700" b="1" i="0">
                <a:solidFill>
                  <a:srgbClr val="8B1A1A"/>
                </a:solidFill>
                <a:latin typeface="맑은 고딕"/>
              </a:rPr>
              <a:t>이튿날 보니 — 벼는 모두 말라 죽어 있었다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공손추 상 2장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50292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호연지기는 의(義)의 축적에서 자라는 것 — 억지로 조장하면 안 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도덕적 성장에 지름길은 없다 — 꾸준한 실천만이 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호연지기·수양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수양의 다섯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2296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03120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求放心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420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구방심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317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잃어버린 마음을 되찾는다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90087"/>
            <a:ext cx="82296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990087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09981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存心養性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899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존심양성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218687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마음을 보존하고 본성을 기른다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77055"/>
            <a:ext cx="82296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59935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877055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986783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寡欲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1596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과욕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105655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욕심을 줄여 본성을 드러낸다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64023"/>
            <a:ext cx="82296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46903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764023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8737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養氣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2029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양기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992623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호연지기를 기른다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50991"/>
            <a:ext cx="82296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33871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5650991"/>
            <a:ext cx="2286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576071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盡心知性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6089903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진심지성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879591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마음을 다하여 천(天)에 이른다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호연지기·수양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진심지성(盡心知性) — 수양론의 정점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盡 其 心 者   知 其 性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知 其 性   則 知 天 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진기심자 지기성야 · 지기성 즉지천의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진심 상 1장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7548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마음을 다하면 본성을 알고, 본성을 알면 하늘을 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心 → 性 → 天 : 마음·본성·하늘이 한 길로 통한다는 동양 수양론의 정점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王何必曰利  亦有仁義而已矣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왕하필왈리   역유인의이이의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왕께서 하필 이익을 말씀하십니까? 오직 인의(仁義)가 있을 뿐입니다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양혜왕편 상 1장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惻隱之心  仁之端也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측은지심   인지단야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측은히 여기는 마음은 인(仁)의 싹이다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공손추편 상 6장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天時不如地利  地利不如人和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천시불여지리   지리불여인화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하늘의 때(天時)는 땅의 이로움(地利)만 못하고,
땅의 이로움은 사람의 화합(人和)만 못하다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공손추편 하 1장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民爲貴  社稷次之  君爲輕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민위귀   사직차지   군위경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백성이 가장 귀하고, 사직이 다음이며, 임금이 가장 가볍다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진심편 하 14장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五十步百步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오 십 보 백 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오십 보 도망친 자가 백 보 도망친 자를 비웃다 — 정도의 차이일 뿐 본질은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양혜왕편 상 3장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天將降大任於是人也
必先苦其心志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천장강대임어시인야   필선고기심지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하늘이 큰 임무를 어떤 사람에게 내리려 할 때,
반드시 먼저 그 마음과 뜻을 괴롭힌다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고자편 하 15장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生於憂患  而死於安樂也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생어우환   이사어안락야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근심과 환란 속에서 살아나고, 안락 속에서 죽는다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고자편 하 15장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捨生而取義者也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사 생 이 취 의 자 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삶을 버리고 의(義)를 취하는 것이다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고자편 상 10장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盡其心者  知其性也
知其性  則知天矣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진기심자 지기성야 · 지기성 즉지천의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마음을 다하면 본성을 알고, 본성을 알면 하늘을 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진심편 상 1장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명구절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自暴者  不可與有言也
自棄者  不可與有爲也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자포자 불가여유언야 · 자기자 불가여유위야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스스로를 해치는 자와는 말할 수 없고,
스스로를 버리는 자와는 함께 일할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이루편 상 10장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웅변적 논변 — 설득의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논어와의 차이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논어: 단편적 어록 / 맹자: 완결된 논변(論辨)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맹자 논변의 특징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• 논리적이면서도 감정에 호소하는 이중적 설득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• 상대의 말을 받아 반박하는 대화적 구조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• 단계적으로 상대를 자기 결론에 동의하게 만드는 유도법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대표 사례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56070"/>
                </a:solidFill>
                <a:latin typeface="맑은 고딕"/>
              </a:rPr>
              <a:t>양혜왕·제선왕과의 대화 — 정치 철학을 논변으로 풀어낸 백미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비유와 우화의 대가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五十步百步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오십보백보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194560"/>
            <a:ext cx="804672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441448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본질적 차이 없는 차이를 꼬집다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27832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1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緣木求魚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연목구어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227832"/>
            <a:ext cx="804672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4747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잘못된 방법으로는 목적 달성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1104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9826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助長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974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조장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261104"/>
            <a:ext cx="804672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507992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억지로 자라게 하면 망친다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94376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牛山之木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430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우산지목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5294376"/>
            <a:ext cx="804672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5541264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44"/>
                </a:solidFill>
                <a:latin typeface="맑은 고딕"/>
              </a:rPr>
              <a:t>본성을 잃어가는 과정의 비유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편별 흐름 — 사상의 전개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양혜왕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945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정치의 출발 — 인정(仁政)·왕도 선언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3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79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공손추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내면의 힘 — 호연지기·사단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39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7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등문공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7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사회 제도 — 정전제·오륜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9475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이루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7763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인의(仁義)의 실천 — 일상의 도덕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80560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만장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역사적 검증 — 성왕의 행적과 경전 해석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83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74920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고자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인성론 논변 — 성선설의 이론적 완성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070"/>
                </a:solidFill>
                <a:latin typeface="맑은 고딕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9280"/>
            <a:ext cx="22860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진심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60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수양론 완성 — 사상의 집대성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① — 인권과 민주주의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맹자의 민본 사상이 현대 정치 이념으로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민위귀(民爲貴)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국민주권·민주주의의 선구적 이념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역성혁명론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저항권(right of resistance)의 동아시아적 기원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556070"/>
                </a:solidFill>
                <a:latin typeface="맑은 고딕"/>
              </a:rPr>
              <a:t>폭정에 대한 정당한 저항의 사상적 근거를 제공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② — 교육과 인격 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성선설의 현대 교육학적 함의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성선설(性善說)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긍정 심리학·인본주의 교육과 직결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아이는 본래 선한 가능성을 지니고 태어난다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조장(助長) 경계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과도한 교육 압박의 위험성에 대한 경고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자녀를 위한다며 도리어 망친다는 통찰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③ — 리더십과 경영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왕도·항산 — 도덕 경영의 두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왕도 vs 패도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덕에 의한 리더십 vs 힘에 의한 리더십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지속 가능한 조직은 결국 신뢰에서 나온다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항산항심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경제적 안정이 사회·조직 안정의 기반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생계가 보장되어야 책임감과 윤리가 작동한다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현대 ④ — 윤리와 가치관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의(義)와 자기효능감 — 도덕적 주체성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의리론(義利之辨)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이익보다 원칙을 우선하는 기업 윤리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단기 수익이 아닌 사회적 책임의 기준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2400" b="1" i="0">
                <a:solidFill>
                  <a:srgbClr val="8B1A1A"/>
                </a:solidFill>
                <a:latin typeface="맑은 고딕"/>
              </a:rPr>
              <a:t>자포자기(自暴自棄) 경계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800" b="0" i="0">
                <a:solidFill>
                  <a:srgbClr val="1F2A44"/>
                </a:solidFill>
                <a:latin typeface="맑은 고딕"/>
              </a:rPr>
              <a:t>자기효능감(Self-efficacy)·성장 마인드셋과 통함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56070"/>
                </a:solidFill>
                <a:latin typeface="맑은 고딕"/>
              </a:rPr>
              <a:t>스스로를 포기하지 않는 한 가능성은 열려 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공자 · 맹자 · 순자 — 유가 삼대 사상가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011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783080"/>
            <a:ext cx="3154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공자(논어)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783080"/>
            <a:ext cx="31546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맹자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783080"/>
            <a:ext cx="3154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874519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순자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핵심 덕목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인(仁)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인의(仁義)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286000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예(禮)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292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6265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인성론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직접 언급 적음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성선설(性善說) 체계화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852928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96265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성악설(性惡說)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19856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52958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정치사상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덕치(德治)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왕도·민본·혁명론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419856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5295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왕도·예법 병용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86783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9651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수양론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극기복례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존심양성·구방심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986783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409651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화성기위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53712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6634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문체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간결한 어록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웅변적 논변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553712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4663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체계적 논설문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12064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2303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대화 상대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주로 제자들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제후·학자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5120640"/>
            <a:ext cx="3154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52303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직하학궁 학자들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8756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797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존칭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888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1460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지성(至聖)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아성(亞聖)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5687568"/>
            <a:ext cx="315468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23960" y="57972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후성(後聖)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46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한 문장으로 정리하는 맹자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8813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인간은 본래 선한 본성을 지니고 있으며(性善)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이 네 가지 싹(四端)을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기르고 확충(擴充)하는 것이 수양이며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덕(德)으로 다스리는 왕도(王道)와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8B1A1A"/>
                </a:solidFill>
                <a:latin typeface="맑은 고딕"/>
              </a:rPr>
              <a:t>백성이 가장 귀하다는 민본(民本)을 정치 원칙으로 삼아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의로움(義)을 이익(利)보다 앞세우는</a:t>
            </a:r>
          </a:p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F2A44"/>
                </a:solidFill>
                <a:latin typeface="맑은 고딕"/>
              </a:rPr>
              <a:t>— 도덕적 용기의 철학 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8B1A1A"/>
                </a:solidFill>
                <a:latin typeface="맑은 고딕"/>
              </a:rPr>
              <a:t>民 爲 貴   社 稷 次 之   君 爲 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민위귀 사직차지 군위경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"백성이 가장 귀하다"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2,300년 전 맹자가 남긴 정치 철학의 마지막 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