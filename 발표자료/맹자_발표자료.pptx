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아성(亞聖)의 책 · 공자의 인(仁)을 체계화한 사서(四書)의 둘째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0" b="1">
                <a:solidFill>
                  <a:srgbClr val="1F2A44"/>
                </a:solidFill>
                <a:latin typeface="Batang"/>
              </a:rPr>
              <a:t>孟 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0">
                <a:solidFill>
                  <a:srgbClr val="8B1A1A"/>
                </a:solidFill>
                <a:latin typeface="맑은 고딕"/>
              </a:rPr>
              <a:t>맹 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0" y="4754880"/>
            <a:ext cx="39319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Batang"/>
              </a:rPr>
              <a:t>民 爲 貴  社 稷 次 之  君 爲 輕  — 백성이 가장 귀하다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맹가(孟軻, BC 372?~289?) · 전국시대 중기 · 7편 14장 · 약 35,000자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성선설 · 사단 · 왕도정치 · 호연지기 · 민본 · 인의(仁義)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목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개요 — 맹자란 무엇인가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71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맹자의 생애 — 어머니와 한 철학자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제자와 논적들 · 사기 열전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60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7편 14장의 구조 · 오륜(五倫)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7548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7편 14장 깊이 읽기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3492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3492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핵심 사상 9기둥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3774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Ⅶ.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맹자의 유명한 비유들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9718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Ⅷ.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971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정전제 · 항산항심의 경제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5661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명구 18선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1605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160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동아시아 수용 · 사단칠정 논쟁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75488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Ⅺ.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7548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오늘 우리에게 · 마무리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한눈에 보는 맹자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서명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1031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맹자(孟子) — 「맹 선생의 책」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저자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65176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맹가(孟軻, BC 372?~289?) · 자(字) 자여(子輿) · 제자 만장·공손추와 공저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시대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2004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전국시대 중기 (BC 4세기) — 양혜왕·제선왕·등문공 시대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분량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74903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7편 14장 (상·하) · 260여 장 · 약 35,000자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학파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29767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유가(儒家) — 공자의 적통(嫡統)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도통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8463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공자 → 증자 → 자사 → 맹자 (한유 정립)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위상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39495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사서(四書)의 둘째 — 「공자의 인을 체계화한 책」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존칭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59436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아성(亞聖) — 공자 다음가는 성인 (송 주희 확립)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왜 맹자인가 — 유교의 철학적 체계화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논어가 단편적 어록이라면, 맹자는 체계적 논변서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949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atang"/>
              </a:rPr>
              <a:t>論 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논어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단편적 어록
질문 → 짧은 답
「述而不作」
— 전할 뿐 짓지 않음
소박하고 실천적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3949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atang"/>
              </a:rPr>
              <a:t>孟 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맹자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291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체계적 논변서
긴 대화 → 비유 → 논증
양주·묵자·고자 비판
철학적 체계화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맹자가 체계화한 것 — 성선설 · 사단 · 왕도 vs 패도 · 호연지기 · 인의(仁義) 병칭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경전이 되기까지 — 1,500년의 여정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제자백가의 하나에서 사서(四書)의 둘째까지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전국시대 (BC 3C)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9456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제자백가 중 하나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묵가·법가·도가와 같은 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39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3463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한(漢) (BC 2C~AD 2C)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834639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조기(趙岐)가 주석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834639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경전화 시작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74720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당(唐) 8C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7472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한유(韓愈) 도통론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47472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「공자 → 증자 → 자사 → 맹자」의 적통 선언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14800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북송 11C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1480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왕안석이 과거에 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준경전 지위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754879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548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남송 12C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4754879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주희 『사서집주』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754879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사서(四書)로 확정 · 아성(亞聖)으로 격상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394960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원(元) 14C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539496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과거 시험 필수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39496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동아시아 지식인의 필독서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맹자는 1,500년을 기다려 경전이 된 책 — 송 주희에 의해 「아성(亞聖)」으로 최종 확립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핵심 사상 한 폭으로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性 善 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성선설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인간 본성은 선하다 — 물이 아래로 흐르듯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10312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28600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四 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971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사단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3832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측은·수오·사양·시비 — 사람의 네 가지 마음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10312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28600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王 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71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왕도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3832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덕(德)으로 다스림 — 패도(力)의 반대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民 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74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민본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86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백성이 가장 귀하다 — 民貴君輕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20624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43891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浩 然 之 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5074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호연지기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5486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정직으로 기른 천지 가득한 기운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420624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43891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仁 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074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인의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486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공자의 인(仁) → 인의(仁義) 병칭으로 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맹자의 생애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7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맹가(孟軻) — 한 어머니가 키운 철학자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추(鄒)나라에서 태어나 천하를 떠돌다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1031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맹가(孟軻), 자(字) 자여(子輿) 또는 자거(子車)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출생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65176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BC 372년경 추(鄒)나라 (현 산동성 추성시 — 공자 고향 곡부와 인접)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사망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2004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BC 289년경 (향년 약 83세)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부친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74903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맹자 3세경 일찍 사망 — 홀어머니 밑에서 성장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모친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29767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장씨(仉氏) — 동양 최고의 「교육 어머니」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스승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8463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자사(子思)의 문인에게 수학 — 「사숙(私淑)」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활동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539495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40여 년 천하 유세 — 양혜왕·제선왕·등문공 등 군주 설득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말년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59436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70세 전후 귀향 → 만장·공손추 등 제자와 7편 저술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맹자의 생애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8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맹모(孟母) 두 일화 — 동양 교육사의 전설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맹모삼천지교 · 맹모단기지교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949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tang"/>
              </a:rPr>
              <a:t>孟 母 三 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맹모삼천지교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F2A44"/>
                </a:solidFill>
                <a:latin typeface="맑은 고딕"/>
              </a:rPr>
              <a:t>묘지 → 시장 → 서당 근처
세 번 이사한 어머니
「이제 비로소 아이를
기를 곳을 얻었구나」
환경이 사람을 만든다.
학군의 동양적 원조.
루소 「에밀」보다 2,100년 앞선
환경 교육론.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3949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tang"/>
              </a:rPr>
              <a:t>孟 母 斷 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맹모단기지교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29184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F2A44"/>
                </a:solidFill>
                <a:latin typeface="맑은 고딕"/>
              </a:rPr>
              <a:t>학업 중 집에 돌아온 맹자.
어머니가 베틀 실을 끊음
「짜던 베를 끊으면
쓸모없는 천이 되듯,
학문을 중도에 그만두면
아무것도 이루지 못한다」
포기하지 말라 — 그릿(grit) 이론의
동양적 원체험.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맹자의 생애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9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40년의 천하 유세 — 왕도(王道)를 설파하다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공자의 14년 천하주유에 필적하는 긴 설득 여정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19456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梁(魏) 양(위)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194560"/>
            <a:ext cx="201168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194560"/>
            <a:ext cx="2011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양혜왕(梁惠王)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24028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맹자의 첫 만남 — 「왕께서 하필 이익을 말씀하십니까? 오직 인의(仁義)만 있을 뿐입니다」 / 등용 실패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219456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齊 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108960"/>
            <a:ext cx="201168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3108960"/>
            <a:ext cx="2011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제선왕(齊宣王)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5468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직하학궁의 군주 · 객경(客卿) 대우 / 「여민동락(與民同樂)」의 대화 — 군주의 약점을 왕도의 도구로 전환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023360"/>
            <a:ext cx="219456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滕 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4023360"/>
            <a:ext cx="201168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4023360"/>
            <a:ext cx="2011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등문공(滕文公)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06908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소국 군주 · 정전제(井田制) 자문 / 「소국이라도 왕도를 실현할 수 있다」는 맹자 주장의 실험장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937760"/>
            <a:ext cx="219456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宋 송 · 鄒 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4937760"/>
            <a:ext cx="201168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4937760"/>
            <a:ext cx="2011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여러 군주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498348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짧은 방문과 고향 재방문 — 어느 제후도 맹자의 도를 채택하지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「500년 만에 반드시 왕자(王者)가 나타난다 — 나 이외에 누가 이 일을 하겠는가?」 — 맹자의 사명감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제자와 논적들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10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핵심 제자 — 만장·공손추와 책의 편집자들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萬章 만장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제5편의 주인공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9456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맹자의 가장 중요한 제자 · 고대 성현(요·순·우·탕)의 행적에 관한 질문자
「요임금이 천하를 순에게 준 것이 사실입니까?」 → 「天與之 — 하늘이 준 것이다」 / 천명관(天命觀)의 핵심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54679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399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公孫丑 공손추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제2편의 주인공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19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제(齊)나라 출신 · 호연지기·부동심(不動心)에 대한 긴 문답의 상대
「선생님은 어떻게 그처럼 부동심이십니까?」 → 「我善養吾浩然之氣」 — 호연지기 대화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樂正子 악정자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정치 실천의 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9768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등(滕)나라에서 관직 / 맹자의 정치 이상을 실제로 시도한 제자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5780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桃應·陳臻 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6072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윤리·처세 질문자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534924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도응 — 「순 임금의 아버지가 살인하면?」이라는 유명 윤리 딜레마 제기 / 진진 — 맹자의 처세에 관한 질문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제자와 논적들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11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사기(史記)가 본 맹자 — 사마천의 「맹자열전」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냉정한 역사가가 그린 한 좌절한 사상가의 초상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『사기·맹자순경열전』 — 맹자와 순자를 한데 묶어 다룸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사마천의 평 — 「迂遠而闊於事情」 — 우원(迂遠)하고 일의 정세에 어둡다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당시 군주의 눈으로 본 맹자 — 「현실 정치엔 통하지 않는 이상주의자」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Batang"/>
              </a:rPr>
              <a:t>● 그러나 사마천 자신은 맹자를 깊이 존경 — 「余讀孟子書 …  廢書而嘆」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「맹자 책을 읽으며 책을 덮고 탄식하지 않을 수 없었다」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묘사한 맹자의 모습 — 「자사 문하에서 배우고 도가 통했으나 시대가 받아들이지 않음」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1">
                <a:solidFill>
                  <a:srgbClr val="556070"/>
                </a:solidFill>
                <a:latin typeface="맑은 고딕"/>
              </a:rPr>
              <a:t>● 「만장 등과 함께 시·서·중니의 뜻을 풀이하여 맹자 7편을 지었다」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500" b="0">
                <a:solidFill>
                  <a:srgbClr val="556070"/>
                </a:solidFill>
                <a:latin typeface="맑은 고딕"/>
              </a:rPr>
              <a:t>● 좌절한 사상가가 7편의 책으로 1,500년 후 「아성」이 되는 역설 — 사기가 남긴 가장 깊은 메시지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제자와 논적들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12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맹자의 논적들 — 「양묵을 막는 것이 내 사명」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고자·묵가·양주·허행 등 당대 학파와의 정면 충돌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1945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告子 고자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인성론 최대 논적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19456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성무선악설(性無善惡說) — 「본성은 선도 악도 아니다」
물이 동·서로 흐르듯 외부 환경이 결정 / 맹자의 「성선설」 정립의 계기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54679"/>
            <a:ext cx="21945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00399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墨家 묵가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겸애(兼愛) 논쟁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246119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묵자 — 「모든 사람을 똑같이 사랑하라」
맹자의 비판 — 「아비를 무시하는 것이다(無父) · 금수와 다를 바 없다!」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21945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楊朱 양주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극단적 이기주의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29768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「拔一毛利天下 而不爲也」 — 천하를 위해 머리털 하나 뽑지 않겠다
맹자의 비판 — 「임금이 없는 것이다(無君) · 금수와 다를 바 없다!」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57800"/>
            <a:ext cx="21945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許行 허행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6072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농가 논쟁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534924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「군주도 직접 농사를 지어야 한다」
맹자의 답 — 「백공(百工)의 일은 본래 분업」 / 애덤 스미스보다 2,000년 앞선 분업론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7편 14장의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13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7편 14장 한 폭으로 — 각 편은 상·하로 나뉨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편명은 대부분 첫 등장 인물에서 따옴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4114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11680"/>
            <a:ext cx="3200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편명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상·하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011680"/>
            <a:ext cx="5943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핵심 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68880"/>
            <a:ext cx="1097280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888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梁惠王 양혜왕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46888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6888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왕도와 패도 · 「왕하필왈리」 · 여민동락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10972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1752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01752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公孫丑 공손추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01752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01752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호연지기 · 부동심 · 사단(四端)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66160"/>
            <a:ext cx="1097280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6616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5661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滕文公 등문공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56616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356616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정전제 · 분업론 · 「대장부론」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114800"/>
            <a:ext cx="10972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1480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11480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離婁 이루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11480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11480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예와 인 · 자기 반성 · 「반구저기」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663440"/>
            <a:ext cx="1097280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66344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663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萬章 만장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66344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466344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요순의 천하 양도 · 천명론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212080"/>
            <a:ext cx="10972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21208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521208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告子 고자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21208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521208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성선설 vs 성무선악 · 인성 논쟁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760720"/>
            <a:ext cx="1097280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76072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576072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盡心 진심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76072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576072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진심·지성·지천 · 민귀군경 · 마무리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7편 14장의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14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오륜(五倫) — 맹자가 정립한 동양 인간관계의 다섯 기둥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등문공 상편 — 「人之有道也  飽食煖衣 逸居而無敎  則近於禽獸」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37744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Batang"/>
              </a:rPr>
              <a:t>父 子 有 親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2103120"/>
            <a:ext cx="164592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2103120"/>
            <a:ext cx="1645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56070"/>
                </a:solidFill>
                <a:latin typeface="맑은 고딕"/>
              </a:rPr>
              <a:t>부자유친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14884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부모와 자식 사이엔 친(親)함이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148840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효(孝)의 원리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80360"/>
            <a:ext cx="237744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Batang"/>
              </a:rPr>
              <a:t>君 臣 有 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880360"/>
            <a:ext cx="164592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2880360"/>
            <a:ext cx="1645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56070"/>
                </a:solidFill>
                <a:latin typeface="맑은 고딕"/>
              </a:rPr>
              <a:t>군신유의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92608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임금과 신하 사이엔 의(義)가 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926080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충(忠)과 의의 통합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657600"/>
            <a:ext cx="237744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65760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Batang"/>
              </a:rPr>
              <a:t>夫 婦 有 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657600"/>
            <a:ext cx="164592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0" y="3657600"/>
            <a:ext cx="1645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56070"/>
                </a:solidFill>
                <a:latin typeface="맑은 고딕"/>
              </a:rPr>
              <a:t>부부유별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70332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부부 사이엔 분별(別)이 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3703320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역할의 구분과 존중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434840"/>
            <a:ext cx="237744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34840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Batang"/>
              </a:rPr>
              <a:t>長 幼 有 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4434840"/>
            <a:ext cx="164592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0" y="4434840"/>
            <a:ext cx="1645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56070"/>
                </a:solidFill>
                <a:latin typeface="맑은 고딕"/>
              </a:rPr>
              <a:t>장유유서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4480560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어른과 아이 사이엔 차례(序)가 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480560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제(悌)의 원리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212079"/>
            <a:ext cx="2377440" cy="64008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212079"/>
            <a:ext cx="23774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Batang"/>
              </a:rPr>
              <a:t>朋 友 有 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5212079"/>
            <a:ext cx="1645920" cy="6400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0" y="5212079"/>
            <a:ext cx="1645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556070"/>
                </a:solidFill>
                <a:latin typeface="맑은 고딕"/>
              </a:rPr>
              <a:t>붕우유신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5257799"/>
            <a:ext cx="45720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벗 사이엔 믿음(信)이 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84080" y="5257799"/>
            <a:ext cx="2011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8B1A1A"/>
                </a:solidFill>
                <a:latin typeface="맑은 고딕"/>
              </a:rPr>
              <a:t>신(信)의 원리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소학(小學)·삼강행실도·동몽선습 — 동양 윤리 교육의 뼈대가 된 다섯 기둥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15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梁惠王 上 양혜왕 상  (양혜왕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제1편 상 — 왕도와 패도 · 맹자의 첫 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王 何 必 曰 利  亦 有 仁 義 而 已 矣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왕께서 하필 이익을 말씀하십니까? 오직 인의(仁義)만 있을 뿐입니다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맹자가 양혜왕을 만난 역사적 첫 대화 / 「五十步百步」 — 도토리 키재기 / 「不嗜殺人者能一之」 — 사람 죽이기를 좋아하지 않는 자가 천하를 통일 / 「樂民之樂 民亦樂其樂」 — 여민동락의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경쟁이 「이익(利)」으로만 흐르면 결국 모두가 진다 — 의(義)가 토대일 때만 지속. 비즈니스 윤리·ESG의 동양적 원천.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(2/14)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16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梁惠王 下 양혜왕 하  (양혜왕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제1편 하 — 여민동락과 폭군 방벌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聞 誅 一 夫 紂 矣  未 聞 弑 君 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한 사내(紂)를 죽였다 들었지, 임금을 시해했다 듣지 못했다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제선왕과의 여민동락 대화 / 「과인은 음악을 좋아한다」 → 「백성과 함께 즐기면 왕도가 가깝다」 / 폭군 방벌론 — 주왕은 더 이상 임금이 아닌 일개 「부(夫)」 / 혁명권의 사상적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리더의 자격은 직책이 아닌 행위 — 잘못된 권력은 정당성을 잃는다. 「리더십의 합법성」의 동양 원형.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(3/14)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17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公孫丑 上 공손추 상  (공손추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제2편 상 — 호연지기와 사단(四端)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惻 隱 之 心  仁 之 端 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측은히 여기는 마음이 인(仁)의 단서이다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 핵심 사상의 정점 — 사단(四端) / 측은(仁)·수오(義)·사양(禮)·시비(智) / 「우물에 빠지려는 아이」 — 모든 사람에게 측은지심이 있다는 증명 / 호연지기 — 「我善養吾浩然之氣」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도덕은 외부의 명령이 아닌 내면의 발견 — 누구나 가진 「네 가지 마음」을 길러내는 것이 인격 완성.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(4/14)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18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公孫丑 下 공손추 하  (공손추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제2편 하 — 천시·지리·인화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天 時 不 如 地 利  地 利 不 如 人 和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하늘의 때는 땅의 이로움만 못하고, 땅의 이로움은 사람의 화합만 못하다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승부의 3단계 — 천시·지리·인화 / 「得道者多助 失道者寡助」 — 도를 얻은 자는 도움이 많고, 잃은 자는 적다 / 인화(人和)가 가장 결정적 / 맹자의 사명감 — 「500년 만에 왕자가 난다」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경쟁의 가장 큰 자산은 「사람의 마음」 — 시기·자원보다 신뢰가 우선. 조직 문화의 동양적 정의.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(5/14)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19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滕文公 上 등문공 상  (등문공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제3편 상 — 정전제와 분업론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勞 心 者 治 人  勞 力 者 治 於 人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마음을 쓰는 자는 남을 다스리고, 힘을 쓰는 자는 남에게 다스려진다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등문공에게 정전제(井田制) 자문 — 토지를 우물 정(井)자로 9등분 / 허행과의 분업 논쟁 — 「백공의 일은 본래 분업」 / 사회의 분업 원리 · 노심자(勞心者)와 노력자(勞力者)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사회는 분업으로 작동 — 머리와 손이 서로 다른 일을 하되 결합한다. 애덤 스미스보다 2,000년 앞선 분업론.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(6/14)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20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滕文公 下 등문공 하  (등문공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제3편 하 — 대장부론과 양묵 비판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富 貴 不 能 淫  貧 賤 不 能 移  威 武 不 能 屈  此 之 謂 大 丈 夫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부귀가 흔들지 못하고, 빈천이 옮기지 못하며, 위세가 굽히지 못하는 자 — 이것이 대장부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맹자의 「대장부론(大丈夫論)」 — 동양 군자상의 결정판 / 「養浩然之氣」의 인격 정의 / 양주(楊朱)·묵적(墨翟) 비판 — 「양묵을 막는 것이 내 사명」 / 「無父無君 是禽獸也」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진짜 인격은 외부 조건에 흔들리지 않는 자 — 부귀·빈천·위세 모두 인격의 기준이 못 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(7/14)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21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離婁 上 이루 상  (이루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제4편 상 — 인의 정치와 자기 반성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愛 人 不 親  反 其 仁   治 人 不 治  反 其 智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남을 사랑해도 친해지지 않으면 자기 인(仁)을 돌아보고, 다스려도 다스려지지 않으면 자기 지혜를 돌아보라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「反求諸己(반구저기)」 — 모든 문제의 원인을 자기에게서 찾는다 / 「離婁之明 公輸子之巧 不以規矩 不能成方員」 — 시력 좋은 이루도 컴퍼스 없이 원을 못 그린다 / 「規矩」 — 표준의 중요성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결과가 안 나올 때 「남 탓」이 아니라 「내 탓」 — 가장 강력한 자기 책임의 원칙. 외부 표준(規矩)의 가치.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(8/14)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22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離婁 下 이루 하  (이루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제4편 하 — 군신 관계의 상호성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君 之 視 臣 如 手 足  則 臣 視 君 如 腹 心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임금이 신하를 손발같이 보면, 신하는 임금을 배와 심장같이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군신 관계의 상호성 — 일방적 충성이 아닌 「반응」의 윤리 / 「대인 — 적자지심(大人者 不失其赤子之心)」 — 큰 사람은 어린아이 마음을 잃지 않는다 / 「人之異於禽獸者幾希」 — 사람과 짐승의 차이는 미세하다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관계는 항상 「상호적」 — 윗사람이 어떻게 대하느냐가 아랫사람의 태도를 결정. 일방주의 리더십에 대한 경고.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(9/14)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23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萬章 上 만장 상  (만장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제5편 상 — 요순의 천하 양도와 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天 不 言  以 行 與 事 示 之 而 已 矣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하늘은 말하지 않는다 — 행위와 일로 보여줄 뿐이다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만장의 「요임금이 천하를 순에게 준 것이 사실?」 질문 / 「天與之 — 하늘이 준 것이다」 / 「天視自我民視 天聽自我民聽」 (서경 인용) / 천명(天命)은 곧 민의(民意)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권력의 정당성은 결국 「백성의 마음」 — 하늘의 뜻이 백성의 시청에 드러난다는 동양 민본주의의 가장 깊은 진술.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(10/14)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24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萬章 下 만장 하  (만장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제5편 하 — 성인의 네 가지 풍모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伯 夷 聖 之 淸 者 也   伊 尹 聖 之 任 者 也   柳 下 惠 聖 之 和 者 也   孔 子 聖 之 時 者 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백이는 청(淸)의 성인, 이윤은 임(任)의 성인, 유하혜는 화(和)의 성인, 공자는 시(時)의 성인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성인의 네 가지 유형론 — 청(맑음)·임(책임)·화(조화)·시(때) / 공자가 가장 위 — 「시중(時中)」의 인격 / 「集大成」 — 모든 것을 모은 완성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인격에도 다양한 모범이 있다 — 어떤 모범을 택하느냐는 자기 길의 선택. 「때를 아는 자」가 가장 큰 인격.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(11/14)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25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告子 上 고자 상  (고자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제6편 상 — 성선설의 정점 · 인성 논쟁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人 性 之 善 也  猶 水 之 就 下 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사람의 본성이 선한 것은 물이 아래로 흐르는 것과 같다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고자와의 4대 논쟁 — 본성·비유·식색·의(義) / 「水信無分於東西 無分於上下乎?」 — 물에 동서 구분은 없어도 상하 구분은 있다 / 「우산(牛山)의 비유」 — 본래 선한 산도 도끼질로 황폐해질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인간 본성에 대한 가장 낙관적인 답 — 「누구나 선하다, 환경이 가린다」. 교육·재활·인본주의 사상의 동양 원천.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(12/14)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26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告子 下 고자 하  (고자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제6편 하 — 천장강대임(天將降大任)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天 將 降 大 任 於 是 人 也  必 先 苦 其 心 志  勞 其 筋 骨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하늘이 큰 책임을 이 사람에게 내리려 할 때, 반드시 먼저 그 마음과 뜻을 괴롭히고 근육과 뼈를 수고롭게 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시련의 의미 — 「큰일을 맡기려는 자에게 먼저 시련을 준다」 / 순·부열·교격·관중·손숙오·백리해 등 「시련을 거친 인물들」의 예 / 「生於憂患 死於安樂」 — 우환에서 살고 안락에서 죽는다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시련을 「의미」로 전환하는 가장 오래된 명제 — 어려움이 곧 단련의 과정. 현대 회복탄력성·그릿 이론의 동양 원천.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(13/14)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27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盡心 上 진심 상  (진심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제7편 상 — 진심·지성·지천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盡 其 心 者  知 其 性 也   知 其 性  則 知 天 矣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마음을 다하는 자는 본성을 알고, 본성을 알면 하늘을 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 수양론의 정점 — 「盡心 → 知性 → 知天」 / 「萬物皆備於我矣」 — 만물이 모두 나에게 갖추어져 있다 / 「君子有三樂」 — 군자의 세 즐거움 (부모형제·앙불괴어천·천하영재교지)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내면 깊이 들어가는 것이 곧 우주에 닿는 길 — 동양 명상·내면 수양의 가장 정교한 정의. 자기 내부에 모든 답이 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(14/14)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28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盡心 下 진심 하  (진심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제7편 하 — 민귀군경과 맹자의 마지막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民 爲 貴  社 稷 次 之  君 爲 輕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백성이 가장 귀하고, 사직(나라)이 그 다음이며, 임금은 가장 가볍다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맹자의 마지막 편 / 「民爲貴 社稷次之 君爲輕」 — 동양 민본주의의 절대 명제 / 「盡信書 不如無書」 — 책을 다 믿느니 차라리 없는 게 낫다 / 「五百年必有王者興」 — 500년에 반드시 왕자가 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권력의 위계를 뒤집은 동양 정치사상의 정점 — 백성이 가장 위, 임금이 가장 아래. 모든 민주주의 사상의 동양 원천.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29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性 善 說  (성선설)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고자편 · 맹자 사상의 출발점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「人性之善也 猶水之就下也」 — 사람의 본성이 선한 것은 물이 아래로 흐르는 것과 같다
물은 아래로 흐르는 것이 본성 — 위로 튀게 할 수 있으나 그것은 외부 힘
악행은 본성이 아니라 외부 환경·욕심의 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인간에 대한 가장 낙관적인 답 — 누구나 선하다, 환경이 가린다.
교육·재활·인본주의 사상의 동양 원천.
순자의 성악설과 정면 대립 — 동아시아 인성론의 두 축.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30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四 端  (사단)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공손추 상편 · 인간 본성의 네 단서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· 측은지심(惻隱之心) — 인(仁)의 단서 — 우물에 빠지려는 아이
· 수오지심(羞惡之心) — 의(義)의 단서 — 부끄러워하는 마음
· 사양지심(辭讓之心) — 예(禮)의 단서 — 양보하는 마음
· 시비지심(是非之心) — 지(智)의 단서 — 옳고 그름을 가리는 마음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도덕은 외부 명령이 아닌 내면의 발견.
현대 도덕심리학(조나단 하이트 등)의 「도덕 직관」 이론의 2,300년 선행.
「누구나 가진 네 가지 마음」 — 인간 존엄의 근거.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31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王 道 / 覇 道  (왕도·패도)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양혜왕편 · 정치의 두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· 왕도(王道) — 덕(德)으로 다스림 · 「以德服人 心悅而誠服也」
· 패도(覇道) — 힘(力)으로 다스림 · 「以力服人者 非心服也」
왕도는 마음으로 복종 · 패도는 두려움으로 복종 — 지속 가능성이 다르다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권력의 두 종류 — 외부 강제 vs 내부 동의.
현대 「소프트 파워 vs 하드 파워」(조지프 나이)의 동양 원천.
조직 리더십도 같다 — 강제로 시킨 일과 마음으로 한 일의 차이.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32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民 本 / 民 貴 君 輕  (민본·민귀군경)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진심 하편 · 동양 정치사상의 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「民爲貴 社稷次之 君爲輕」 — 백성이 가장 귀하고, 사직이 다음, 임금이 가장 가볍다
권력의 위계를 뒤집는 혁명적 명제
「天視自我民視 天聽自我民聽」(서경 인용) — 하늘의 뜻은 곧 백성의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동양 민본주의의 가장 강력한 표현.
현대 민주주의·국민주권론과 직접 통한다.
조선 정약용 『목민심서』, 동학(東學), 현대 한국 헌법 정신의 사상적 원천.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33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與 民 同 樂  (여민동락)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양혜왕 하편 · 군주와 백성의 함께함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제선왕과의 대화 — 「과인은 음악을 좋아한다」 → 「백성과 함께 즐기시면 왕도가 가깝다」
혼자 즐기는 즐거움은 작고, 함께 즐기는 즐거움이 크다
「樂民之樂 民亦樂其樂」 — 백성의 즐거움을 즐기면 백성도 그 즐거움을 즐긴다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리더십의 가장 따뜻한 정의 — 「부하의 즐거움을 같이 즐길 수 있는가」.
현대 조직 문화·복지 경영의 동양 원형.
불평등이 깊어진 오늘 가장 절실한 메시지.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34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浩 然 之 氣  (호연지기)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공손추 상편 · 맹자의 수양론 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공손추: 「선생님은 어떻게 부동심이십니까?」 → 맹자: 「我善養吾浩然之氣」
「至大至剛 以直養而無害 則塞於天地之間」 — 지극히 크고 강하여 정직으로 기르면 천지 사이에 가득
「集義所生」 — 의(義)를 쌓아서 생긴다 — 한 번에 안 되고 누적이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동양 수양론의 가장 웅장한 단어 — 「천지에 가득한 기운」.
현대의 「플로우(flow)」·「존재감(presence)」의 동양적 원형.
그러나 비결은 평범 — 매일의 의(義)를 쌓을 것.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35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仁 義  (인의)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맹자 전체 · 공자의 인을 인의 병칭으로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공자는 인(仁)을 중심 — 맹자는 인의(仁義)를 병칭
「居仁由義」 — 인에 머물고 의로 행한다
「仁 人之安宅也  義 人之正路也」 — 인은 사람의 편안한 집, 의는 바른 길
「不仁不智 無禮無義 人役也」 — 인의예지가 없으면 남에게 부려질 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맹자가 공자에 더한 결정적 한 축 — 「의(義)」.
인이 사랑이라면, 의는 그 사랑의 방향성·올바름.
맹자 이후 동양 윤리의 표준 어휘 — 「인의예지」 사덕(四德).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36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恒 産 恒 心  (항산항심)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양혜왕 상편 · 경제와 도덕의 관계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「無恒産而有恒心者 惟士爲能 若民則無恒産 因無恒心」
항산(恒産, 안정된 생업)이 없으면 항심(恒心, 변함없는 마음)이 없다
선비는 항산 없이도 항심을 지킬 수 있으나, 백성은 항산이 없으면 도덕을 지킬 수 없다
→ 정전제(井田制) 제안의 사상적 토대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도덕보다 「생계의 안정」이 먼저 — 「의식주가 족해야 예의를 안다」(管子)의 맹자적 정식.
현대 복지국가·기본소득·경제 정책의 동양 원천.
「가난이 도덕의 문제가 아니라 정치의 문제」라는 통찰.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9기둥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37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良 知 良 能  (양지양능)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진심 상편 · 왕양명 심학(心學)의 출전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「人之所不學而能者 其良能也  所不慮而知者 其良知也」
사람이 배우지 않고도 할 수 있는 것이 양능, 생각하지 않고도 아는 것이 양지
어린아이가 부모를 사랑하고 형을 공경할 줄 아는 것 — 본래적 도덕 능력의 증명
→ 명대 왕양명이 「致良知」로 발전시킨 심학의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도덕 능력은 외부 학습이 아닌 「본래 갖춘 것」 — 양지·양능.
왕양명 「致良知」, 한국 양명학(정제두), 일본 양명학(나카에 도쥬)의 출발점.
현대 도덕 직관·아이의 도덕성 연구의 동양적 정식.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맹자의 유명한 비유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38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맹자의 비유 — 추상을 일상으로 옮기는 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오십보백보·연목구어·송인양묘·물의 비유 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五 十 步 百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4884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오십보백보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전쟁터에서 50보 도망친 자가 100보 도망친 자를 비웃을 수 있는가?
「정도의 차이일 뿐 본질은 같다」 — 양혜왕에게 자기 정치의 한계를 깨우치는 비유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1488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緣 木 求 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4884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연목구어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0604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나무에 올라가 물고기를 구하는 격이다 — 잘못된 방법으로 목적을 추구
제선왕에게 「패도」로는 왕도의 효과를 못 얻는다고 비판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20439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6615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揠 苗 助 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566159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알묘조장 (송인양묘)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023359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송나라 사람이 벼 자라기를 도우려 벼를 잡아당겨 모두 시들게 함
호연지기는 단번에 안 되고 누적이 필요 — 인위적 조장의 어리석음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520439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6615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水 之 就 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566159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물의 비유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023359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사람의 본성은 물이 아래로 흐르는 것과 같다 — 性善의 비유
외부 힘으로 위로 튀게 할 수 있으나 본성은 아래로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937760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牛 山 之 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98348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우산지목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4068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우산(牛山)의 나무가 본래 무성했으나 도끼질로 황폐해진 것 — 본성이 환경으로 가려지는 비유
「夜氣」 — 밤의 맑은 기운으로도 회복 가능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937760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983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反 求 諸 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98348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반구저기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44068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활을 쏘아 맞지 않으면 이긴 자를 원망 말고 자기를 돌아보라
모든 문제의 원인을 자기에게서 찾는 동양 자기 책임의 원리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맹자의 유명한 비유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39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대장부론(大丈夫論) — 등문공 하편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동양 군자상의 결정판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富 貴 不 能 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貧 賤 不 能 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Batang"/>
              </a:rPr>
              <a:t>威 武 不 能 屈  此 之 謂 大 丈 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富貴不能淫(부귀불능음) — 부귀가 (인격을) 흔들지 못한다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貧賤不能移(빈천불능이) — 빈천이 (인격을) 옮기지 못한다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威武不能屈(위무불능굴) — 위세와 무력이 (인격을) 굽히지 못한다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이것이 곧 「大丈夫」 — 외부 조건이 흔들지 못하는 인격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500" b="0">
                <a:solidFill>
                  <a:srgbClr val="556070"/>
                </a:solidFill>
                <a:latin typeface="맑은 고딕"/>
              </a:rPr>
              <a:t>● 안중근·윤봉길·김구·이순신 — 모두 이 구절을 좌우명 삼았던 한국의 대장부들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맹자의 유명한 비유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40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천장강대임(天將降大任) — 고자 하편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시련을 의미로 전환하는 가장 오래된 명제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20116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天 將 降 大 任 於 是 人 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Batang"/>
              </a:rPr>
              <a:t>必 先 苦 其 心 志   勞 其 筋 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Batang"/>
              </a:rPr>
              <a:t>餓 其 體 膚   空 乏 其 身   行 拂 亂 其 所 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Batang"/>
              </a:rPr>
              <a:t>所 以 動 心 忍 性  曾 益 其 所 不 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● 「하늘이 큰 책임을 이 사람에게 내리려 할 때, 반드시 먼저 그 마음과 뜻을 괴롭히고 근육과 뼈를 수고롭게 하며...」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● 「마음을 흔들고 본성을 참게 하여, 일찍이 할 수 없던 것을 늘리기 위함이다」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Batang"/>
              </a:rPr>
              <a:t>● 「生於憂患 死於安樂」 — 우환에서 살고 안락에서 죽는다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500" b="0">
                <a:solidFill>
                  <a:srgbClr val="556070"/>
                </a:solidFill>
                <a:latin typeface="맑은 고딕"/>
              </a:rPr>
              <a:t>● 회복탄력성(resilience)·그릿(grit)·anti-fragile의 2,300년 선행 명제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정전제와 경제사상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41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정전제(井田制) — 맹자가 그린 이상적 토지 제도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등문공 상편 · 토지를 우물 정(井)자로 9등분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5486400" cy="4206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1554480" cy="1188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私田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2194560"/>
            <a:ext cx="1554480" cy="1188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237744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私田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194560"/>
            <a:ext cx="1554480" cy="1188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37744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私田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520439"/>
            <a:ext cx="1554480" cy="1188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03319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私田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3520439"/>
            <a:ext cx="1554480" cy="118872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14600" y="3703319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公田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4160519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C8A25B"/>
                </a:solidFill>
                <a:latin typeface="맑은 고딕"/>
              </a:rPr>
              <a:t>공동 경작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520439"/>
            <a:ext cx="1554480" cy="1188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703319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私田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846320"/>
            <a:ext cx="1554480" cy="1188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02920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私田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14600" y="4846320"/>
            <a:ext cx="1554480" cy="1188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14600" y="502920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私田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4846320"/>
            <a:ext cx="1554480" cy="11887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502920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私田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103120"/>
            <a:ext cx="53035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토지를 우물 정(井)자로 9등분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400" b="0">
                <a:solidFill>
                  <a:srgbClr val="1F2A44"/>
                </a:solidFill>
                <a:latin typeface="맑은 고딕"/>
              </a:rPr>
              <a:t>● 8가구가 둘레 8칸을 「사전(私田)」으로 경작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400" b="0">
                <a:solidFill>
                  <a:srgbClr val="1F2A44"/>
                </a:solidFill>
                <a:latin typeface="맑은 고딕"/>
              </a:rPr>
              <a:t>● 가운데 1칸은 「공전(公田)」 — 8가구가 함께 경작 → 세금으로 납입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556070"/>
                </a:solidFill>
                <a:latin typeface="Batang"/>
              </a:rPr>
              <a:t>● 「方里而井 井九百畝 其中爲公田 八家皆私百畝」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0">
                <a:solidFill>
                  <a:srgbClr val="556070"/>
                </a:solidFill>
                <a:latin typeface="맑은 고딕"/>
              </a:rPr>
              <a:t>     1리(里)에 정(井) 하나 — 900묘 · 가운데 공전, 8가구가 사전 100묘씩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400" b="1">
                <a:solidFill>
                  <a:srgbClr val="8B1A1A"/>
                </a:solidFill>
                <a:latin typeface="맑은 고딕"/>
              </a:rPr>
              <a:t>● 9분의 1만 세금 — 동양에서 가장 오래된 「적정 조세」 사상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● 협력 노동·공동체 의식·균등 토지 — 동양 평등주의의 원천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정전제와 경제사상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42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항산항심(恒産恒心) — 경제와 도덕의 관계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양혜왕 상편 · 「항산 없이 항심 없다」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8B1A1A"/>
                </a:solidFill>
                <a:latin typeface="Batang"/>
              </a:rPr>
              <a:t>無 恒 産 而 有 恒 心 者  惟 士 爲 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1F2A44"/>
                </a:solidFill>
                <a:latin typeface="Batang"/>
              </a:rPr>
              <a:t>若 民 則 無 恒 産  因 無 恒 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「항산 없이도 항심을 지킬 수 있는 자는 오직 선비뿐 · 백성은 항산 없으면 항심도 없다」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항산(恒産) — 안정된 생업(토지·일자리·소득)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항심(恒心) — 변함없는 도덕적 마음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도덕을 가르치기 전에 먼저 생계를 안정시켜야 한다 — 「先養後敎」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백성의 잘못은 백성의 잘못이 아니라 「제도의 잘못」 — 정치의 1차 책임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500" b="1">
                <a:solidFill>
                  <a:srgbClr val="556070"/>
                </a:solidFill>
                <a:latin typeface="맑은 고딕"/>
              </a:rPr>
              <a:t>● 현대 복지국가·기본소득·최저임금·노동권 등 사회 경제 정책의 동양적 원천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43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상편 · 맹자의 첫 발화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王 何 必 曰 利  亦 有 仁 義 而 已 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왕께서 하필 이익을 말씀하십니까? 오직 인의(仁義)만 있을 뿐입니다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맹자가 양혜왕을 만난 역사적 첫 대화. 맹자 7편 260장의 모든 논의는 이 한 문장의 전개다.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(2/18)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44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상편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五 十 步 笑 百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오십 보 도망친 자가 백 보 도망친 자를 비웃는다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도토리 키재기. 정도의 차이일 뿐 본질은 같다 — 양혜왕에게 자기 정치의 한계를 깨우치는 가장 유명한 비유.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(3/18)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45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하편 · 제선왕 대화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樂 民 之 樂 者  民 亦 樂 其 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백성의 즐거움을 즐기는 자는, 백성도 그의 즐거움을 즐긴다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여민동락(與民同樂)의 정의. 리더십의 가장 따뜻한 한 줄 — 「부하의 즐거움을 같이 즐길 수 있는가」.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(4/18)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46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하편 · 폭군 방벌론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聞 誅 一 夫 紂 矣  未 聞 弑 君 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한 사내(紂)를 죽였다 들었지, 임금을 시해했다 듣지 못했다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리더의 자격은 직책이 아닌 행위 — 잘못된 권력은 정당성을 잃는다. 동양 혁명권의 가장 강한 진술.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(5/18)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47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공손추 상편 · 사단(四端)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惻 隱 之 心  仁 之 端 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측은히 여기는 마음이 인(仁)의 단서이다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맹자 핵심 사상의 정점 — 사단(四端). 「누구나 가진 네 가지 마음」 — 도덕은 외부 명령이 아닌 내면의 발견.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(6/18)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48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공손추 상편 · 호연지기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我 善 養 吾 浩 然 之 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나는 나의 호연지기를 잘 기른다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동양 수양론의 가장 웅장한 단어. 「지극히 크고 강하여 정직으로 기르면 천지 사이에 가득」 — 그러나 비결은 매일의 의를 쌓는 평범함.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(7/18)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49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공손추 하편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天 時 不 如 地 利  地 利 不 如 人 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하늘의 때는 땅의 이로움만 못하고, 땅의 이로움은 사람의 화합만 못하다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승부의 3단계 — 천시·지리·인화. 가장 결정적인 것은 「사람의 마음」. 조직 문화의 동양적 정의.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(8/18)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50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등문공 상편 · 분업론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勞 心 者 治 人  勞 力 者 治 於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마음을 쓰는 자는 남을 다스리고, 힘을 쓰는 자는 남에게 다스려진다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사회 분업론의 동양적 원형. 애덤 스미스보다 2,000년 앞선 분업 사상. 머리와 손이 서로 다른 일을 하되 결합한다.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(9/18)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51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등문공 하편 · 대장부론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富 貴 不 能 淫  貧 賤 不 能 移  威 武 不 能 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부귀가 흔들지 못하고, 빈천이 옮기지 못하며, 위세가 굽히지 못한다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동양 군자상의 결정판. 안중근·윤봉길·김구·이순신이 모두 좌우명 삼았던 한국 독립운동의 정신적 기둥.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(10/18)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52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이루 상편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反 求 諸 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돌이켜 자기에게서 구한다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활을 쏘아 맞지 않으면 이긴 자를 원망 말고 자기를 돌아보라 — 가장 강력한 자기 책임의 원칙. 4글자에 압축된 인격의 핵심.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(11/18)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53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이루 하편 · 군신관계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君 之 視 臣 如 手 足  則 臣 視 君 如 腹 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임금이 신하를 손발같이 보면, 신하는 임금을 배와 심장같이 본다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관계의 상호성. 일방적 충성이 아닌 「반응」의 윤리 — 일방주의 리더십에 대한 가장 오래된 경고.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(12/18)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54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만장 상편 · 천명론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天 不 言  以 行 與 事 示 之 而 已 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하늘은 말하지 않는다 — 행위와 일로 보여줄 뿐이다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천명(天命)은 곧 민의(民意). 권력의 정당성은 결국 「백성의 마음」 — 「天視自我民視 天聽自我民聽」의 짝.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(13/18)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55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고자 상편 · 성선설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人 性 之 善 也  猶 水 之 就 下 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사람의 본성이 선한 것은 물이 아래로 흐르는 것과 같다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성선설의 가장 시적인 표현. 인간에 대한 가장 낙관적인 답 — 「누구나 선하다, 환경이 가린다」.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(14/18)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56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고자 하편 · 시련론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生 於 憂 患  死 於 安 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우환에서 살고, 안락에서 죽는다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시련을 의미로 전환하는 한 줄. 회복탄력성(resilience)·그릿(grit)·anti-fragile의 2,300년 선행 명제.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(15/18)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57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진심 상편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萬 物 皆 備 於 我 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만물이 모두 나에게 갖추어져 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맹자 수양론의 정점. 내면 깊이 들어가는 것이 곧 우주에 닿는 길 — 자기 안에 모든 답이 있다는 동양 내면주의의 정수.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(16/18)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58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진심 하편 · 민귀군경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民 爲 貴   社 稷 次 之   君 爲 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백성이 가장 귀하고, 사직이 다음, 임금이 가장 가볍다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맹자의 마지막 정수. 동양 민본주의의 절대 명제. 정약용 『목민심서』·동학·현대 한국 헌법 정신의 사상적 원천.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(17/18)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59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상편 · 항산항심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無 恒 産 者  無 恒 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항산(안정된 생업)이 없는 자에겐 항심(변함없는 마음)이 없다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경제와 도덕의 관계를 정의한 한 줄. 「의식주가 족해야 예의를 안다」의 맹자적 정식 — 현대 복지·기본소득 사상의 동양 원천.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명구 18선 (18/18)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60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진심 상편 · 양지양능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不 學 而 能 者  良 能 也   不 慮 而 知 者  良 知 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배우지 않고도 할 수 있는 것이 양능, 생각하지 않고도 아는 것이 양지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왕양명 「치양지(致良知)」 심학(心學)의 출전. 도덕 능력은 본래 갖춘 것 — 어린아이의 사랑·공경이 그 증거.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동아시아 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61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한국 — 조선 민본주의의 사상적 기둥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퇴계·율곡부터 정약용·동학·독립운동까지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고려 — 안향이 주자학과 함께 도입, 『맹자』가 사서로 들어옴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조선 — 사서 학습의 두 번째 책 (대학 → 논어 → 맹자 → 중용)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퇴계 이황 — 『맹자석의』 / 율곡 이이 — 『맹자석의』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정약용 — 『맹자요의』 — 가장 방대한 조선 시대 맹자 주석서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「民爲貴」 — 조선 민본주의의 사상적 원천 → 정약용 『목민심서』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동학(東學) — 「人乃天 — 사람이 곧 하늘」의 사상적 토대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독립운동 — 안중근·윤봉길·김구의 좌우명 「富貴不能淫·貧賤不能移·威武不能屈」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동아시아 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62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사단칠정(四端七情) 논쟁 — 조선 성리학의 정점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맹자의 「사단」이 한국 철학사에서 200년 논쟁을 낳다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사단(四端) — 맹자 「측은·수오·사양·시비」 / 칠정(七情) — 예기 「희·노·애·구·애·오·욕」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「둘은 어떻게 다른가?」가 조선 성리학의 200년 논쟁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1차 논쟁 — 퇴계 이황 vs 고봉 기대승 (1559~1566, 7년)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퇴계 — 「사단은 理의 발(理發), 칠정은 氣의 발(氣發)」 — 이기호발설(理氣互發說)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고봉 — 「사단과 칠정은 모두 정(情), 사단은 칠정 중 善한 부분」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2차 논쟁 — 율곡 이이 vs 우계 성혼 (1572~1573)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율곡 — 「氣發理乘一途說」 — 발하는 것은 氣뿐, 理는 氣를 타고 따른다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맹자의 한 단어가 한국 철학사 최대 논쟁의 씨앗이 된 역사적 사례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동아시아 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63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일본 — 메이지 유신과 맹자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에도의 비판적 독해부터 메이지 「혁명」의 사상적 무기까지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에도 막부 — 처음엔 「방벌론」 때문에 위험시 → 점차 학자들이 수용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이토 진사이(伊藤仁齋) — 『맹자고의』 — 일본 고학파(古學派)의 정수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556070"/>
                </a:solidFill>
                <a:latin typeface="맑은 고딕"/>
              </a:rPr>
              <a:t>● 오규 소라이(荻生徂徠) — 맹자에 비판적이었으나 깊이 연구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요시다 쇼인(吉田松陰) — 메이지 유신 사상의 토대로 맹자 활용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「민귀군경」·「방벌론」을 막부 타도의 사상적 무기로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메이지 이후 — 「자유민권운동」의 사상적 자원으로 다시 부상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0">
                <a:solidFill>
                  <a:srgbClr val="556070"/>
                </a:solidFill>
                <a:latin typeface="맑은 고딕"/>
              </a:rPr>
              <a:t>● 시부사와 에이이치 — 『논어와 주판』에 맹자의 의(義)도 통합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동아시아 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64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서양 — Mencius로 알려진 맹자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계몽주의자들이 발견한 동양 인본주의의 정점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17세기 — 예수회 선교사들이 「Mencius」로 라틴어 명명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1711 — 노엘(François Noël) 라틴어 번역 『Sinensis Imperii Libri Classici Sex』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계몽주의자들의 발견 — 볼테르·라이프니츠가 맹자의 민본·인본을 격찬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19~20세기 — 영어 번역(James Legge, 1861) — 동양 정치사상의 표준 텍스트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「성선설」 — 루소·간디 등 서구 인본주의자들의 동양적 짝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556070"/>
                </a:solidFill>
                <a:latin typeface="맑은 고딕"/>
              </a:rPr>
              <a:t>● 현대 — 「민귀군경」이 동아시아 민주주의 사상의 동양 원천으로 재조명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영문판이 동양 정치사상서 중 가장 자주 인용 — Confucius 다음의 「Mencius」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오늘 우리에게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65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맹자가 오늘 우리에게 일러주는 12가지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1. 이익(利) 이전에 의(義)를 묻는다 — 王何必曰利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2. 사람은 본래 선하다 — 性善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3. 누구나 「네 가지 마음」을 가졌다 — 四端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4320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4. 백성이 가장 귀하다 — 民貴君輕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79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5. 부귀·빈천·위세가 흔들지 못하는 자 — 大丈夫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83279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6. 천지에 가득한 기운 — 浩然之氣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59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7. 같이 즐기는 즐거움이 크다 — 與民同樂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59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8. 모든 문제의 답은 자기에게 — 反求諸己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9. 시련은 큰 책임의 준비 — 天將降大任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66344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10. 우환에서 살고 안락에서 죽는다 — 生於憂患 死於安樂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11. 만물이 나에게 갖추어져 있다 — 萬物皆備於我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035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12. 손발같이 보면 배와 심장같이 본다 — 관계의 상호성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Ⅺ. 오늘 우리에게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66 / 67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맹자, 한 폭으로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800" b="1">
                <a:solidFill>
                  <a:srgbClr val="8B1A1A"/>
                </a:solidFill>
                <a:latin typeface="맑은 고딕"/>
              </a:rPr>
              <a:t>● 맹가(BC 372?~289?)와 제자 만장·공손추가 함께 엮은 7편 14장 약 35,000자.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사서의 둘째 · 아성(亞聖)의 책 — 공자의 인(仁)을 체계화.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7대 사상 — 성선설 · 사단 · 왕도 · 민본 · 여민동락 · 호연지기 · 인의.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맹모삼천·맹모단기 — 동양 교육의 원형. 40년 천하 유세 — 좌절과 사명감.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오십보백보·연목구어·반구저기·민귀군경 — 한국어에 살아 있는 맹자.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900" b="1">
                <a:solidFill>
                  <a:srgbClr val="8B1A1A"/>
                </a:solidFill>
                <a:latin typeface="맑은 고딕"/>
              </a:rPr>
              <a:t>● 그리고 무엇보다, 「인간은 본래 선하다」고 가장 단호히 말한 책.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400" b="1">
                <a:solidFill>
                  <a:srgbClr val="1F2A44"/>
                </a:solidFill>
                <a:latin typeface="Batang"/>
              </a:rPr>
              <a:t>民 爲 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556070"/>
                </a:solidFill>
                <a:latin typeface="Batang"/>
              </a:rPr>
              <a:t>社 稷 次 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Batang"/>
              </a:rPr>
              <a:t>君 爲 輕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0" y="4114800"/>
            <a:ext cx="4846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백 성 이  가 장  귀 하 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사 직 이  그  다 음 이 요  ·  임 금 은  가 장  가 볍 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맹자 제7편 진심(盡心) 하, 마지막 가까이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1F2A44"/>
                </a:solidFill>
                <a:latin typeface="Batang"/>
              </a:rPr>
              <a:t>孟  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