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나물 뿌리를 씹는 자라야 백 가지 일을 이룬다 · 동양 최고의 인생 지침서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1F2A44"/>
                </a:solidFill>
                <a:latin typeface="Batang"/>
              </a:rPr>
              <a:t>菜 根 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0">
                <a:solidFill>
                  <a:srgbClr val="8B1A1A"/>
                </a:solidFill>
                <a:latin typeface="맑은 고딕"/>
              </a:rPr>
              <a:t>채 근 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466344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Batang"/>
              </a:rPr>
              <a:t>眞 味 只 是 淡 — 참된 맛은 담백할 뿐이다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홍자성(洪自誠, 환초도인) · 명말 만력 연간 · 전집 225조 + 후집 135조 = 360조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유(儒)·불(佛)·도(道) 삼교 융합 — 입세(入世)와 출세(出世)의 지혜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채근담은 어떤 책인가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974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저자 홍자성과 명 말 시대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00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삼교합일 — 유·불·도의 융합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033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전집·후집 구조 — 입세와 출세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06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전집 5편 깊이 읽기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709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후집 5편 깊이 읽기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945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Ⅶ.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책을 관통하는 10대 주제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974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Ⅷ.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6974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명구 16선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00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200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동아시아의 채근담 — 일본과 한국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03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7033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오늘 다시 펼치는 이유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062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Ⅺ.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206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제목 「채근(菜根)」의 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거칠고 질긴 나물 뿌리를 씹는 자라야 백 가지 일을 이룬다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Batang"/>
              </a:rPr>
              <a:t>人 常 咬 得 菜 根  則 百 事 可 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사람이 늘 나물 뿌리를 씹을 수 있다면, 모든 일을 이룰 수 있다 — 송 왕신민(汪信民)의 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채근(菜根) — 거칠고 질긴 나물 뿌리 · 기름지지 않으나 씹을수록 참맛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상징 — 인생의 쓴맛, 담박한 삶, 견뎌냄의 미덕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「나물 뿌리를 씹듯 인생의 고단함을 견딜 수 있는 자라야 큰일을 이룬다」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556070"/>
                </a:solidFill>
                <a:latin typeface="맑은 고딕"/>
              </a:rPr>
              <a:t>● 책의 근본 이미지 — 진하고 기름진 삶이 아니라 「담박(淡泊)한 삶」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한눈에 보는 채근담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저자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031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홍자성(洪自誠) — 호 환초도인(還初道人), 자 자성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시대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5176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명(明) 말 만력(萬曆) 연간 (16세기 말~17세기 초)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분량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004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전집 225조 + 후집 135조 = 총 360조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형식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4903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짧은 격언·경구(警句) · 대구(對句)와 리듬을 갖춘 변려풍 산문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사상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29767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유(儒)·불(佛)·도(道) 삼교 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성격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8463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처세·수양·은일(隱逸)의 지혜 — 일상의 한 줄 명상록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일본 위상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39495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에도 시대 이래 가장 많이 읽힌 중국 수양서 — 「일본의 논어」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한국 수용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9436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조선 후기부터 사대부·선비의 애독서 — 자기 계발서의 원형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왜 동아시아의 베스트셀러가 되었는가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세 가지 이유 — 융합·생활·격언 형식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1. 유불도 삼교의 지혜가 한 책에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어느 종교·사상 배경의 독자도 받아들일 수 있는 보편성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2. 생활 밀착형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관념이 아니라 매일매일의 처세와 마음을 다룬다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3. 짧은 격언 형식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어디서 펼쳐도 한 조(條)가 독립적 가르침 — 명상록(Meditations)적 독법이 가능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360개의 독립된 「진주알」이 실에 꿰여 있는 형태 — 어디서부터 읽어도 되는 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저자와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홍자성(洪自誠) — 은둔한 지식인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벼슬에서 물러나 산림에 거처한 한 사대부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홍응명(洪應明) — 자 자성(自誠), 호 환초도인(還初道人)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명 말 만력 연간(1573~1620)에 살았던 인물 — 생애는 상세히 전하지 않음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Batang"/>
              </a:rPr>
              <a:t>● 호 「환초(還初)」 — 「처음으로 돌아간다(復歸於初)」 · 노장(老莊)적 지향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우익(于孔兼)의 서문 — 「세상을 초탈해 산림에 거처한 인물」로 소개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채근담은 그의 개인적 좌절과 관조의 산물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명 말의 혼란 속 한 사대부가 자기가 찾은 삶의 처방을 360조에 남긴 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저자와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 말(明末)이라는 시대 — 채근담을 낳은 토양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정치의 혼란 · 양명학의 폭발 · 선불교의 부흥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정치의 혼란 — 만력제의 30년 파업, 환관 전횡, 동림당 사화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사상의 지각 변동 — 양명학의 「심학(心學)」 시대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Batang"/>
              </a:rPr>
              <a:t>     「心卽理」 — 내면·양지(良知)로의 관심이 폭증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불교·도교의 부흥 — 선불교(禪佛敎)·전진교(全眞敎)의 수행이 사대부 사이에 광범위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출판 문화의 폭발 — 통속 격언집·처세서·선서(善書)가 대량 유통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채근담은 이 시대의 결정적 산물 — 양명학·선·노장·유교가 한 사대부 안에서 융합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삼교합일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삼교합일(三敎合一) — 채근담의 뼈대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유·불·도가 한 책 안에서 자연스럽게 녹아들다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5661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Batang"/>
              </a:rPr>
              <a:t>儒 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8A25B"/>
                </a:solidFill>
                <a:latin typeface="맑은 고딕"/>
              </a:rPr>
              <a:t>입세(入世)의 뼈대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수신제가(修身齊家)
중용(中庸)
인의예지(仁義禮智)
德者才之主
— 덕이 재주의 주인
주로 전집 225조의 영역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103120"/>
            <a:ext cx="35661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Batang"/>
              </a:rPr>
              <a:t>道 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06040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8A25B"/>
                </a:solidFill>
                <a:latin typeface="맑은 고딕"/>
              </a:rPr>
              <a:t>담박(淡泊)의 색조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9184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무위자연(無爲自然)
지족상락(知足常樂)
공성신퇴(功成身退)
眞味只是淡
— 참맛은 담백할 뿐
전·후집 전체에 흐름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103120"/>
            <a:ext cx="3566160" cy="9144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Batang"/>
              </a:rPr>
              <a:t>佛 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8A25B"/>
                </a:solidFill>
                <a:latin typeface="맑은 고딕"/>
              </a:rPr>
              <a:t>해탈의 심층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29184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무상(無常) · 공(空)
방하착(放下着)
관심(觀心)
寵辱不驚
— 영예·치욕에 놀라지 않음
후집 135조에 두드러짐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삼교합일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 조(條) 안의 삼교 — 채근담의 작법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세 사상이 한 문장 안에서 자연스럽게 겹친다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靜 中 靜 非 眞 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Batang"/>
              </a:rPr>
              <a:t>動 處 靜 得 來  纔 是 性 天 之 眞 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● 「고요한 가운데의 고요는 참된 고요가 아니다. 움직임 속에서 고요를 얻어야 본성의 참 경지」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유(儒) — 현실(動)을 떠나지 않고 지켜야 한다는 입세의 태도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도(道) — 고요(靜)를 본성으로 삼는 무위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불(佛) — 움직이는 현상 속에서 본성(性天)을 본다는 선적(禪的) 통찰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이 한 문장에 세 사상이 녹아 있다 — 이것이 채근담의 방식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전후집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전집 vs 후집 — 입세(入世)와 출세(出世)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세상 속에서 살아가는 법 + 세상을 한 걸음 떨어져 바라보는 여유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949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Batang"/>
              </a:rPr>
              <a:t>前 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전집 225조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44805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入 世 — 입세의 지혜
· 세상 속에서 살아가는
  처세와 수양
· 인간관계 · 도덕
  자기 수양 · 권력과 부
· 현실적 삶의 지침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3949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Batang"/>
              </a:rPr>
              <a:t>後 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후집 135조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291840"/>
            <a:ext cx="44805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出 世 — 출세의 지혜
· 세상을 초월하는
  한적한 삶
· 자연 · 마음의 평정
  인생의 본질 · 무욕
· 정신적 삶의 지침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전후집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10편의 주제 분류 (본 자료 재편집)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전집 5편(입세) + 후집 5편(출세)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01168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편명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011680"/>
            <a:ext cx="6766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핵심 내용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68880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전집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46888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Batang"/>
              </a:rPr>
              <a:t>修養과 德行 수양과 덕행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468880"/>
            <a:ext cx="6675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도덕적 자기 수양, 덕의 실천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52928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52928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전집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852928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Batang"/>
              </a:rPr>
              <a:t>處世와 人間關係 처세와 인간관계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852928"/>
            <a:ext cx="6675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세상을 살아가는 지혜, 대인관계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36976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36976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전집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236976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Batang"/>
              </a:rPr>
              <a:t>權力과 富貴 권력과 부귀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236976"/>
            <a:ext cx="6675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권세와 재물에 대한 올바른 태도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21024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621024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전집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621024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Batang"/>
              </a:rPr>
              <a:t>治心 마음 다스리기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621024"/>
            <a:ext cx="6675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욕망 절제, 내면의 평화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005072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005072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전집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4005072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Batang"/>
              </a:rPr>
              <a:t>敎育과 學問 교육과 학문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005072"/>
            <a:ext cx="6675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배움의 자세, 가르침의 도리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389120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389120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후집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438912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Batang"/>
              </a:rPr>
              <a:t>閑居 한적한 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389120"/>
            <a:ext cx="6675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자연 속의 한가로운 삶의 기쁨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773168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773168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후집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4773168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Batang"/>
              </a:rPr>
              <a:t>自然과 風流 자연과 풍류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4773168"/>
            <a:ext cx="6675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산수자연과의 교감, 풍류의 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157216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157216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후집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5157216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Batang"/>
              </a:rPr>
              <a:t>人生 인생의 본질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5157216"/>
            <a:ext cx="6675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삶과 죽음, 세월의 무상함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541264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541264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후집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5541264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Batang"/>
              </a:rPr>
              <a:t>無慾 무욕과 해탈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5541264"/>
            <a:ext cx="6675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집착을 버리고 자유로운 경지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925312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925312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후집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5925312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Batang"/>
              </a:rPr>
              <a:t>覺悟 깨달음과 귀결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0" y="5925312"/>
            <a:ext cx="6675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인생의 궁극적 깨달음, 돌아감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전집 5편 깊이 읽기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修養과 德行  (전집 1편 — 수양과 덕행)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세상에 나서기 전에 먼저 자기를 닦는 것이 모든 것의 출발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Batang"/>
              </a:rPr>
              <a:t>醲 肥 辛 甘 非 眞 味  眞 味 只 是 淡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진하고 달콤한 것은 참맛이 아니다. 참된 맛은 담백할 뿐이다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중심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담박(淡泊)·겸손·신독(愼獨)·균형·점진적 축적·비움 — 화려함이 아니라 담백함이 본체.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압축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「지극한 사람은 평범해 보인다」 — 화려함이 아닌 담백함이, 탁월함의 과시가 아닌 꾸준한 축적이 수양의 본체.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전집 5편 깊이 읽기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處世와 人間關係  (전집 2편 — 처세와 인간관계)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남에게 관대하고 자기에게 엄격하며, 언제나 한 걸음의 여지를 남긴다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Batang"/>
              </a:rPr>
              <a:t>路 徑 窄 處 留 一 步 與 人 行  滋 味 濃 的 減 三 分 讓 人 嗜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좁은 길에선 한 걸음 양보하고, 진한 맛은 삼분을 덜어 나누라 — 이것이 세상 사는 가장 편안한 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중심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양보(讓)·관용·신뢰·말의 신중·여지(餘地) — 「不責人小過, 不發人陰私, 不念人舊惡」.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압축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「양보는 손해가 아니라 가장 편안한 길」 — 제로섬에서 벗어나 여지를 남길 줄 아는 자가 지속 가능한 관계를 얻는다.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전집 5편 깊이 읽기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權力과 富貴  (전집 3편 — 권력과 부귀)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도덕에 뿌리내린 부귀만이 오래가며, 절정에서 물러설 줄 알아야 화를 면한다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Batang"/>
              </a:rPr>
              <a:t>富 貴 名 譽 自 道 德 來 者  如 山 林 中 花  舒 徐 繁 衍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도덕에서 온 부귀는 산속 꽃과 같아 느리되 오래 번성한다 / 권력으로 얻은 것은 병 속 꽃이라 곧 시든다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중심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근원(本源)·분수·지족(知足)·퇴보(退步)·불탐(不貪) — 「進步處便思退步」.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압축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「부귀의 뿌리를 보라」 — 같은 열매라도 뿌리가 다르면 수명이 다르다. 도덕에 뿌리박은 부귀만이 산속 꽃처럼 번성한다.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전집 5편 깊이 읽기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治心 마음 다스리기  (전집 4편 — 마음 다스리기)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욕망과 분노를 초기에 다스리고, 분주함 속에서도 한가한 마음을 지킨다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Batang"/>
              </a:rPr>
              <a:t>心 體 光 明  暗 室 中 有 靑 天   念 頭 暗 昧  白 日 下 有 厲 鬼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마음이 밝으면 어두운 방에도 푸른 하늘이 있다 / 마음이 어두우면 대낮에도 무서운 귀신이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중심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절제·관조(觀)·비움·신독·명상 — 「怒時暫緩須臾, 便不傷手足之情」.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압축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「세상은 내 마음이 만드는 거울」 — 외부 조건이 아니라 마음 상태가 나의 세계를 결정한다.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전집 5편 깊이 읽기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敎育과 學問  (전집 5편 — 교육과 학문)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참된 학문은 지식 축적이 아니라 인격의 완성이며, 반드시 실천으로 연결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Batang"/>
              </a:rPr>
              <a:t>德 者 才 之 主  才 者 德 之 奴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덕이 재주의 주인이고, 재주는 덕의 종이다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중심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인격 수양·실천(踐)·겸손·질문(疑)·항심(恒心) — 「讀書不見聖賢, 爲鉛槧傭」.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압축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「지식은 도구, 인격이 목적」 — 책 1만 권을 읽고도 덕이 없으면 활자의 하인. 크게 의심하는 자만이 크게 깨닫는다.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후집 5편 깊이 읽기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閑居 한적한 삶  (후집 1편 — 한적한 삶)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은둔이란 산속이 아니라, 세상 한복판에서도 마음이 한가로운 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Batang"/>
              </a:rPr>
              <a:t>出 世 之 道  卽 在 涉 世 中   了 心 之 功  卽 在 盡 心 內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세상을 벗어나는 길은 세상 속에 있고, 마음을 깨치는 공부는 마음을 다하는 안에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중심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한(閑)·담박·여유·자족·관조 — 「閒中不放過, 忙處有受用」.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압축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「한가함은 장소가 아니라 상태」 — 시끄러운 저잣거리에서도 마음이 한가하면 그것이 산림이다.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후집 5편 깊이 읽기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自然과 風流  (후집 2편 — 자연과 풍류)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자연은 말 없이 가르친다 — 꽃이 반쯤 핀 순간, 달이 차기 전의 조각에 참된 미가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Batang"/>
              </a:rPr>
              <a:t>花 看 半 開  酒 飮 微 醉   此 中 大 有 佳 趣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꽃은 반쯤 피었을 때, 술은 살짝 취했을 때 — 그 안에 큰 멋이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중심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반개(半開)의 미학·무흔(無痕)·여백·자연의 스승됨 — 「風來疏竹, 風過而竹不留聲」.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압축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「최고는 반쯤에 있다」 — 가득 찬 것은 기울기 직전. 반쯤의 아름다움, 흔적 없는 경지가 자연이 가르치는 풍류.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후집 5편 깊이 읽기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人生 인생의 본질  (후집 3편 — 인생의 본질)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모든 것은 변하고 순환한다 — 유한을 자각할수록 현재가 소중해진다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Batang"/>
              </a:rPr>
              <a:t>天 地 有 萬 古  此 身 不 再 得   人 生 只 百 年  此 日 最 易 過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천지는 영원하나 이 몸은 다시 얻을 수 없다 / 인생은 백 년뿐이요 오늘은 가장 쉽게 간다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중심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무상(無常)·순환·유한·절정과 추락·현재 — 「衰颯的景象 就在盛滿中」.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압축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「영원을 붙잡으려 말고 오늘을 살아라」 — 번성 속에 쇠락의 씨앗이 있고, 쇠락 속에 재생의 기틀이 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후집 5편 깊이 읽기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無慾 무욕과 해탈  (후집 4편 — 무욕과 해탈)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욕망을 덜어낼수록 자유로워진다 — 감소(減)는 소극이 아니라 최고의 적극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Batang"/>
              </a:rPr>
              <a:t>貪 得 者  身 富 而 心 貧   知 足 者  身 貧 而 心 富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탐하는 자는 몸이 부유해도 마음이 가난하고, 만족하는 자는 몸이 가난해도 마음이 부유하다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중심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감(減)·지족·무집착·소박·비움 — 「減省一分, 便超脫一分」.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압축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「빼기가 곧 채움」 — 줄일수록 자유롭고, 비울수록 풍요롭다. 무욕은 무기력이 아니라 가장 강한 자유.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후집 5편 깊이 읽기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覺悟 깨달음과 귀결  (후집 5편 — 깨달음과 귀결)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모든 수양의 종착지는 본래의 순수한 자리로 돌아옴 — 還初(환초)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Batang"/>
              </a:rPr>
              <a:t>寵 辱 不 驚  閑 看 庭 前 花 開 花 落   去 留 無 意  漫 隨 天 外 雲 卷 雲 舒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영예·치욕에 놀라지 않고 뜰 앞 꽃이 피고 짐을 한가히 보며 / 떠남과 머묾에 뜻이 없어 하늘 밖 구름의 말리고 펴짐을 그저 따른다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중심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본래성(本來)·졸(拙)·평정·회귀(還初)·삼세의 초월 — 「文以拙進, 道以拙成」.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압축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「배움의 끝은 배우기 전의 자리」 — 졸박(拙朴)한 처음으로 돌아오는 것이 깨달음. 저자의 호 「환초」가 그 정신.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채근담의 10대 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360조를 관통하는 10가지 주제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103120"/>
            <a:ext cx="15544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淡泊 담박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14884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참된 맛은 담백 — 「眞味只是淡」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64008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2103120"/>
            <a:ext cx="15544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103120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中庸 중용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14884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청렴하되 포용 · 인자하되 결단 — 양극의 균형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71800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71800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971800"/>
            <a:ext cx="15544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2971800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愼獨 신독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01752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혼자 있을 때의 나가 진짜 — 「冥冥中에서 먼저」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971800"/>
            <a:ext cx="64008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971800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2971800"/>
            <a:ext cx="15544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971800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退一步 퇴일보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01752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물러섬은 지혜 — 「進步의 반대는 좌초」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840479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840479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3840479"/>
            <a:ext cx="15544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3840479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餘地 여지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3886199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80%만 채우고 20%는 비움 — 「달은 차면 기운다」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840479"/>
            <a:ext cx="64008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840479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3840479"/>
            <a:ext cx="15544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3840479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知足 지족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3886199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만족하면 신선의 세계 — 같은 현실이 천국·지옥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709159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709159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0" y="4709159"/>
            <a:ext cx="15544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4709159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澹心 담심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4754879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발분(發憤)보다 담심 — 가라앉은 마음으로 사물을 본다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709159"/>
            <a:ext cx="64008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709159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4709159"/>
            <a:ext cx="15544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0" y="4709159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觀心 관심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4754879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밤이 깊을 때 자기 마음을 본다 — 「夜深人靜 獨坐觀心」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577840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577840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71600" y="5577840"/>
            <a:ext cx="15544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0" y="5577840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無痕 무흔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0" y="562356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바람·기러기 지나간 자리에 흔적 없음 — 집착 없는 마음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5577840"/>
            <a:ext cx="64008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5577840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0" y="5577840"/>
            <a:ext cx="15544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0" y="5577840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還初 환초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562356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처음으로 돌아가기 — 모든 수양의 귀결점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(1/16)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전집 수양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Batang"/>
              </a:rPr>
              <a:t>棲 守 道 德 者 寂 寞 一 時  依 阿 權 勢 者 凄 涼 萬 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도덕을 지키면 한때 적막하지만, 권세에 아부하면 만고에 처량하다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한때의 적막을 견디는 자가 영원의 영광을 얻고, 한때의 위세를 좇는 자가 영원의 처량함을 얻는다. 시야의 길이가 인격을 결정한다.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(2/16)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전집 수양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Batang"/>
              </a:rPr>
              <a:t>醲 肥 辛 甘 非 眞 味  眞 味 只 是 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진하고 달콤한 것은 참맛이 아니다. 참된 맛은 담백할 뿐이다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채근담 전체의 심미(審美) 원리. 화려함이 아니라 담백함이 본체 — 진한 음식이 곧 질리듯, 진한 인생도 곧 무너진다.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(3/16)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전집 수양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Batang"/>
              </a:rPr>
              <a:t>神 奇 卓 異 非 至 人  至 人 只 是 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신기한 것이 지인(至人)이 아니다. 지인은 오직 평범할 뿐이다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진짜 큰 사람은 평범해 보인다. 「대교약졸(大巧若拙)」 — 큰 솜씨는 어리석어 보인다는 노자의 사상과 통한다.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(4/16)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전집 처세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Batang"/>
              </a:rPr>
              <a:t>路 徑 窄 處 留 一 步 與 人 行  滋 味 濃 的 減 三 分 讓 人 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좁은 길에선 한 걸음 양보하고, 진한 맛은 삼분을 덜어 나누라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이것이 「세상 사는 가장 편안한 법(涉世一極安樂法)」. 제로섬에서 벗어나는 자가 가장 평화롭다.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(5/16)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전집 처세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Batang"/>
              </a:rPr>
              <a:t>不 責 人 小 過  不 發 人 陰 私  不 念 人 舊 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남의 작은 허물을 꾸짖지 말고, 은밀한 사생활을 들추지 말며, 지난 잘못을 기억하지 말라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관계의 세 가지 절제 — 작은 허물은 흘리고, 사생활은 묻어두고, 지난 일은 잊는다. 이 셋을 지키면 평생 적이 없다.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(6/16)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전집 권력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Batang"/>
              </a:rPr>
              <a:t>富 貴 名 譽 自 道 德 來 者  如 山 林 中 花  自 是 舒 徐 繁 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도덕에서 온 부귀는 산속 꽃과 같아 느리되 오래 번성한다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뿌리의 비유 — 도덕의 부귀는 산속 꽃(영원), 공업의 부귀는 화분의 꽃(이동 시 사라짐), 권력의 부귀는 병 속 꽃(곧 시듦).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(7/16)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전집 권력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Batang"/>
              </a:rPr>
              <a:t>進 步 處 便 思 退 步  庶 免 觸 藩 之 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나아가는 곳에서 물러설 때를 생각하면, 화를 면한다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진보의 정점에서 퇴보를 생각하라 — 노자 「공성신퇴(功成身退)」의 채근담 버전. 가장 높을 때 가장 위험하다.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(8/16)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전집 마음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Batang"/>
              </a:rPr>
              <a:t>心 體 光 明  暗 室 中 有 靑 天   念 頭 暗 昧  白 日 下 有 厲 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마음이 밝으면 어두운 방에도 푸른 하늘이 있고, 마음이 어두우면 대낮에도 무서운 귀신이 있다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세상은 마음의 거울 — 외부 조건이 아니라 마음 상태가 나의 세계를 결정한다. 같은 방, 같은 시각이 천국이 되고 지옥이 된다.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(9/16)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전집 학문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Batang"/>
              </a:rPr>
              <a:t>德 者 才 之 主  才 者 德 之 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덕이 재주의 주인이고, 재주는 덕의 종이다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재능과 인격의 위계 — 덕 없는 재주는 흉기. 덕은 방향을, 재주는 추진력을 준다. 방향 없는 추진력은 재앙.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(10/16)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후집 한거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Batang"/>
              </a:rPr>
              <a:t>閒 中 不 放 過  忙 處 有 受 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한가할 때 허투루 보내지 않으면, 바쁠 때 쓸 것이 있다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한가함의 정의 전환 — 빈 시간이 아니라 「축적의 시간」. 위기에 쓰일 자원은 평화 때에 모은다.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(11/16)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후집 자연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Batang"/>
              </a:rPr>
              <a:t>花 看 半 開  酒 飮 微 醉   此 中 大 有 佳 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꽃은 반쯤 피었을 때, 술은 살짝 취했을 때 — 그 안에 큰 멋이 있다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반개(半開)의 미학 — 가득 찬 것은 기울기 직전이다. 최고의 순간은 「조금 못 미친」 자리에 있다. 동양 절제미의 정수.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(12/16)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후집 자연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Batang"/>
              </a:rPr>
              <a:t>風 來 疏 竹  風 過 而 竹 不 留 聲   雁 度 寒 潭  雁 去 而 潭 不 留 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바람이 성긴 대숲에 불어도 떠난 뒤엔 소리를 남기지 않고, 기러기가 찬 못을 건너도 그림자를 남기지 않는다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무흔(無痕)의 미학 — 일이 오면 드러내고 일이 가면 비운다. 「君子事來而心始現, 事去而心隨空」. 집착 없는 마음.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(13/16)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후집 인생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Batang"/>
              </a:rPr>
              <a:t>天 地 有 萬 古  此 身 不 再 得   人 生 只 百 年  此 日 最 易 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천지는 영원하나 이 몸은 다시 얻을 수 없다 / 인생은 백 년뿐이요 오늘은 가장 쉽게 간다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유한의 자각이 현재를 살게 한다 — 「오늘은 가장 쉽게 가는 것」. 영원을 붙잡으려 말고 지금 이 자리를 살아라.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(14/16)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후집 무욕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Batang"/>
              </a:rPr>
              <a:t>貪 得 者  身 富 而 心 貧   知 足 者  身 貧 而 心 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탐하는 자는 몸이 부유해도 마음이 가난하고, 만족하는 자는 몸이 가난해도 마음이 부유하다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부의 두 종류 — 몸의 부와 마음의 부. 둘은 종종 반대로 간다. 「知足者仙境, 不知足者凡境」.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(15/16)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후집 무욕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Batang"/>
              </a:rPr>
              <a:t>減 省 一 分  便 超 脫 一 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한 가지를 줄이면 한 걸음 초탈한다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감(減)의 적극성 — 빼기가 곧 채움이고, 줄임이 곧 자유. 무욕은 무기력이 아니라 가장 강한 적극성.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(16/16)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후집 깨달음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Batang"/>
              </a:rPr>
              <a:t>寵 辱 不 驚  閑 看 庭 前 花 開 花 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영예와 치욕에 놀라지 않고, 뜰 앞의 꽃이 피고 짐을 한가히 본다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채근담 마지막의 정수 — 「去留無意, 漫隨天外雲卷雲舒」와 짝. 영예·치욕·득실·거취에 흔들리지 않는 평정의 절정.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동아시아의 채근담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일본 — 「일본의 논어」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에도 시대 이래 가장 많이 읽힌 중국 수양서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에도 시대 — 일본 사대부·승려의 필독서로 자리잡음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메이지~쇼와 — 정치인·경영인·작가의 좌우명 자료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무라카미 하루키부터 마쓰시타 고노스케까지 — 「내가 늘 가까이 두는 책」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가와카미 데쓰타로(川上鐵太郞)의 1885년 일본어 역주가 결정적 보급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「論語·孟子보다 채근담이 더 일본인의 일상에 가까이 있다」 — 일본 동양학계의 평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일본의 「채근담 효과」 — 중국에서보다 일본에서 더 사랑받은 책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동아시아의 채근담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한국 — 조선 후기의 애독서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사대부의 처세서에서 현대 자기 계발서의 원형까지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조선 후기부터 사대부·선비의 애독서로 정착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한문 원문은 짧고 대구로 되어 있어 사대부 교양에 적합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정조·이덕무·박지원 등 18세기 지식인 — 채근담 구절 인용 다수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일제 강점기 — 윤석중·정인보·홍명희 등 문인의 좌우명 자료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1960년대 이후 — 한국 자기계발서·교양서의 가장 자주 인용되는 동양 고전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다양한 번역본 — 임어당·조지훈·홍자성 원전·생활 한문 시리즈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오늘 다시 펼치는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오늘의 결핍 지도 — 채근담이 채울 수 있는 자리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200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과잉의 시대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240280"/>
            <a:ext cx="7772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진한 자극·진한 소비·진한 정보 — 「眞味只是淡」이 절실한 시대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34639"/>
            <a:ext cx="3200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34639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비교 피로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880359"/>
            <a:ext cx="7772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지족(知足)편 「貪得者身富而心貧」 — 비교에서 자기로의 시선 전환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3200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가득 채움 강박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520440"/>
            <a:ext cx="7772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여지(餘地) 「事事留個有餘」 — 80%만 채우고 20%를 비우는 지혜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3200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관계의 마찰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160520"/>
            <a:ext cx="7772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처세편 「路徑窄處 留一步」 — 양보가 곧 가장 편안한 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54879"/>
            <a:ext cx="3200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54879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주의력 분산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800599"/>
            <a:ext cx="7772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관심(觀心) 「夜深人靜 獨坐觀心」 — 마음을 들여다보는 시간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94960"/>
            <a:ext cx="3200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절정에서 내려옴 못함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440680"/>
            <a:ext cx="7772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권력편 「進步處便思退步」 — 잘 나갈 때 물러설 줄 아는 안목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오늘 다시 펼치는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채근담 오늘 읽는 법 — 「한 조 한 조의 명상록」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360개의 진주알을 마음의 결에 따라 한 알씩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통독하지 말고 한 조(條)씩 — 마치 명상록(Meditations)을 펼치듯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오늘의 마음 상태에 따라 다가오는 조가 다르다 — 그것이 채근담의 묘미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마음에 닿는 한 줄을 적어두고 일주일 — 「實感(실감)」이 와야 진짜 읽은 것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전집은 일상에서 부딪치는 일들 옆에 두고 → 후집은 조용한 시간에 한 줄씩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자녀와 함께 — 「오늘 우리 가족엔 어떤 한 줄?」 일주일에 한 조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556070"/>
                </a:solidFill>
                <a:latin typeface="맑은 고딕"/>
              </a:rPr>
              <a:t>● 책 이름 그대로 — 「나물 뿌리를 씹는 마음」으로, 천천히 음미하며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오늘 다시 펼치는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채근담이 오늘 우리에게 일러주는 7가지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1. 참된 맛은 담백 — 진하게가 아니라 담박하게 살아라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2. 양보가 가장 편안한 길 — 좁은 길에선 한 걸음 비킨다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3. 부귀의 뿌리를 보라 — 도덕에 뿌리박은 부귀만 오래간다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4. 세상은 마음의 거울 — 마음이 밝으면 어두운 방도 푸른 하늘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5. 최고는 반쯤에 있다 — 꽃은 반개, 술은 미취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6. 일이 가면 마음도 따라 빈다 — 바람·기러기처럼 흔적 없이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7. 처음으로 돌아가라 — 모든 수양의 끝은 還初(환초)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채근담, 한 폭으로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채근담은 명 말 홍자성이 360조로 엮은 처세·수양·은일의 격언집.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전집 225조(입세) + 후집 135조(출세) — 두 세계를 한 책에 담음.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유·불·도 삼교가 한 사대부의 경험 속에 녹은 「생활의 융합」.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10대 주제 — 담박·중용·신독·퇴일보·여지·지족·담심·관심·무흔·환초.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일본의 「논어」 · 조선의 애독서 · 동아시아 자기 계발서의 원형.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그리고 무엇보다, 「나물 뿌리를 씹는 자라야 백 가지 일을 이룬다」는 책.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0" b="1">
                <a:solidFill>
                  <a:srgbClr val="1F2A44"/>
                </a:solidFill>
                <a:latin typeface="Batang"/>
              </a:rPr>
              <a:t>寵 辱 不 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Batang"/>
              </a:rPr>
              <a:t>閑 看 庭 前 花 開 花 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3566160"/>
            <a:ext cx="4846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3749039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영 예 와  치 욕 에  놀 라 지  않 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뜰  앞 의  꽃 이  피 고  짐 을  한 가 히  본 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채근담 후집 · 깨달음의 마지막 자리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1F2A44"/>
                </a:solidFill>
                <a:latin typeface="Batang"/>
              </a:rPr>
              <a:t>菜  根  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