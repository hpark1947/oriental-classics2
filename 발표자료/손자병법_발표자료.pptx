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C8A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600" b="1">
                <a:solidFill>
                  <a:srgbClr val="1F2A44"/>
                </a:solidFill>
                <a:latin typeface="맑은 고딕"/>
              </a:rPr>
              <a:t>孫子兵法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8B1A1A"/>
                </a:solidFill>
                <a:latin typeface="맑은 고딕"/>
              </a:rPr>
              <a:t>The Art of War · 손자병법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0" y="402336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1F2A44"/>
                </a:solidFill>
                <a:latin typeface="맑은 고딕"/>
              </a:rPr>
              <a:t>손무(孫武)의 13편 — 동양 최고(最古)의 전략 고전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춘추시대 말기 (BC 6~5세기) · 13편 약 6,000자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부전이굴인지병(不戰而屈人之兵) — 싸우지 않고 이기는 것이 최선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8A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1F2A44"/>
                </a:solidFill>
                <a:latin typeface="맑은 고딕"/>
              </a:rPr>
              <a:t>목 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2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15544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8B1A1A"/>
                </a:solidFill>
                <a:latin typeface="맑은 고딕"/>
              </a:rPr>
              <a:t>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15544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F2A44"/>
                </a:solidFill>
                <a:latin typeface="맑은 고딕"/>
              </a:rPr>
              <a:t>개요 — 손자병법이란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8B1A1A"/>
                </a:solidFill>
                <a:latin typeface="맑은 고딕"/>
              </a:rPr>
              <a:t>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20116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F2A44"/>
                </a:solidFill>
                <a:latin typeface="맑은 고딕"/>
              </a:rPr>
              <a:t>13편의 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4688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8B1A1A"/>
                </a:solidFill>
                <a:latin typeface="맑은 고딕"/>
              </a:rPr>
              <a:t>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4688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F2A44"/>
                </a:solidFill>
                <a:latin typeface="맑은 고딕"/>
              </a:rPr>
              <a:t>핵심 사상 ① — 부전승(不戰勝)과 오사(五事)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926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8B1A1A"/>
                </a:solidFill>
                <a:latin typeface="맑은 고딕"/>
              </a:rPr>
              <a:t>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926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F2A44"/>
                </a:solidFill>
                <a:latin typeface="맑은 고딕"/>
              </a:rPr>
              <a:t>핵심 사상 ② — 허실·기정·세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3832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8B1A1A"/>
                </a:solidFill>
                <a:latin typeface="맑은 고딕"/>
              </a:rPr>
              <a:t>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33832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F2A44"/>
                </a:solidFill>
                <a:latin typeface="맑은 고딕"/>
              </a:rPr>
              <a:t>핵심 사상 ③ — 지피지기와 변화의 철학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8404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8B1A1A"/>
                </a:solidFill>
                <a:latin typeface="맑은 고딕"/>
              </a:rPr>
              <a:t>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8404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F2A44"/>
                </a:solidFill>
                <a:latin typeface="맑은 고딕"/>
              </a:rPr>
              <a:t>명구절 10선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2976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8B1A1A"/>
                </a:solidFill>
                <a:latin typeface="맑은 고딕"/>
              </a:rPr>
              <a:t>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42976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F2A44"/>
                </a:solidFill>
                <a:latin typeface="맑은 고딕"/>
              </a:rPr>
              <a:t>손자병법의 구조적 특징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7548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8B1A1A"/>
                </a:solidFill>
                <a:latin typeface="맑은 고딕"/>
              </a:rPr>
              <a:t>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7548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F2A44"/>
                </a:solidFill>
                <a:latin typeface="맑은 고딕"/>
              </a:rPr>
              <a:t>현대적 의의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212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8B1A1A"/>
                </a:solidFill>
                <a:latin typeface="맑은 고딕"/>
              </a:rPr>
              <a:t>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5212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F2A44"/>
                </a:solidFill>
                <a:latin typeface="맑은 고딕"/>
              </a:rPr>
              <a:t>다른 사상과의 비교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6692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8B1A1A"/>
                </a:solidFill>
                <a:latin typeface="맑은 고딕"/>
              </a:rPr>
              <a:t>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56692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F2A44"/>
                </a:solidFill>
                <a:latin typeface="맑은 고딕"/>
              </a:rPr>
              <a:t>마무리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Ⅰ.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손자병법(孫子兵法)이란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11247120" cy="128016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A44"/>
                </a:solidFill>
                <a:latin typeface="맑은 고딕"/>
              </a:rPr>
              <a:t>동양에서 가장 오래되고 가장 영향력 있는 군사 전략서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803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8B1A1A"/>
                </a:solidFill>
                <a:latin typeface="맑은 고딕"/>
              </a:rPr>
              <a:t>전쟁 기술서를 넘어서, 전략적 사고의 교과서로 평가받는 고전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402336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800" b="1">
                <a:solidFill>
                  <a:srgbClr val="8B1A1A"/>
                </a:solidFill>
                <a:latin typeface="맑은 고딕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512064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556070"/>
                </a:solidFill>
                <a:latin typeface="맑은 고딕"/>
              </a:rPr>
              <a:t>편(篇)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402336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800" b="1">
                <a:solidFill>
                  <a:srgbClr val="8B1A1A"/>
                </a:solidFill>
                <a:latin typeface="맑은 고딕"/>
              </a:rPr>
              <a:t>약 6,000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12064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556070"/>
                </a:solidFill>
                <a:latin typeface="맑은 고딕"/>
              </a:rPr>
              <a:t>자(字)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02336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800" b="1">
                <a:solidFill>
                  <a:srgbClr val="8B1A1A"/>
                </a:solidFill>
                <a:latin typeface="맑은 고딕"/>
              </a:rPr>
              <a:t>2,500+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512064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556070"/>
                </a:solidFill>
                <a:latin typeface="맑은 고딕"/>
              </a:rPr>
              <a:t>년의 영향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극도로 간결한 문장에 압축된 보편 전략 — 군사·외교·경영·일상까지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Ⅰ.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손무(孫武)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— 손자병법의 저자, 춘추시대의 군사 전략가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105156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 i="0">
                <a:solidFill>
                  <a:srgbClr val="8B1A1A"/>
                </a:solidFill>
                <a:latin typeface="맑은 고딕"/>
              </a:rPr>
              <a:t>출신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F2A44"/>
                </a:solidFill>
                <a:latin typeface="맑은 고딕"/>
              </a:rPr>
              <a:t>  제(齊)나라 출신, 후에 오(吳)나라로 망명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800" b="1" i="0">
                <a:solidFill>
                  <a:srgbClr val="8B1A1A"/>
                </a:solidFill>
                <a:latin typeface="맑은 고딕"/>
              </a:rPr>
              <a:t>등용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F2A44"/>
                </a:solidFill>
                <a:latin typeface="맑은 고딕"/>
              </a:rPr>
              <a:t>  오왕(吳王) 합려(闔閭)에게 병법 13편을 올려 장군으로 임명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800" b="1" i="0">
                <a:solidFill>
                  <a:srgbClr val="8B1A1A"/>
                </a:solidFill>
                <a:latin typeface="맑은 고딕"/>
              </a:rPr>
              <a:t>전공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F2A44"/>
                </a:solidFill>
                <a:latin typeface="맑은 고딕"/>
              </a:rPr>
              <a:t>  초(楚)나라 수도 영(郢) 함락 — 약소국 오나라를 패자(覇者) 반열에 올림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800" b="1" i="0">
                <a:solidFill>
                  <a:srgbClr val="8B1A1A"/>
                </a:solidFill>
                <a:latin typeface="맑은 고딕"/>
              </a:rPr>
              <a:t>후대 평가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F2A44"/>
                </a:solidFill>
                <a:latin typeface="맑은 고딕"/>
              </a:rPr>
              <a:t>  "병성(兵聖)" — 병가(兵家)의 성인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Ⅰ.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오궁(吳宮)의 궁녀 훈련 — 손무를 증명한 일화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10881360" cy="3657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1033272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F2A44"/>
                </a:solidFill>
                <a:latin typeface="맑은 고딕"/>
              </a:rPr>
              <a:t>오왕 합려가 손무를 시험했다.</a:t>
            </a:r>
          </a:p>
          <a:p>
            <a:pPr algn="ctr">
              <a:lnSpc>
                <a:spcPct val="125000"/>
              </a:lnSpc>
              <a:spcBef>
                <a:spcPts val="400"/>
              </a:spcBef>
            </a:pPr>
            <a:r>
              <a:rPr sz="1700" b="0" i="0">
                <a:solidFill>
                  <a:srgbClr val="1F2A44"/>
                </a:solidFill>
                <a:latin typeface="맑은 고딕"/>
              </a:rPr>
              <a:t>"이 궁녀들도 훈련시킬 수 있겠소?"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ctr">
              <a:lnSpc>
                <a:spcPct val="125000"/>
              </a:lnSpc>
              <a:spcBef>
                <a:spcPts val="600"/>
              </a:spcBef>
            </a:pPr>
            <a:r>
              <a:rPr sz="1600" b="0" i="0">
                <a:solidFill>
                  <a:srgbClr val="556070"/>
                </a:solidFill>
                <a:latin typeface="맑은 고딕"/>
              </a:rPr>
              <a:t>손무는 궁녀 180명을 두 부대로 나누고 합려의 총희(寵姬) 두 명을 대장으로 세웠다.</a:t>
            </a:r>
          </a:p>
          <a:p>
            <a:pPr algn="ctr">
              <a:lnSpc>
                <a:spcPct val="125000"/>
              </a:lnSpc>
            </a:pPr>
            <a:r>
              <a:rPr sz="1600" b="0" i="0">
                <a:solidFill>
                  <a:srgbClr val="556070"/>
                </a:solidFill>
                <a:latin typeface="맑은 고딕"/>
              </a:rPr>
              <a:t>호령을 내리자 궁녀들은 웃기만 했다.</a:t>
            </a:r>
          </a:p>
          <a:p>
            <a:pPr algn="ctr">
              <a:lnSpc>
                <a:spcPct val="125000"/>
              </a:lnSpc>
            </a:pPr>
            <a:r>
              <a:rPr sz="1600" b="0" i="0">
                <a:solidFill>
                  <a:srgbClr val="556070"/>
                </a:solidFill>
                <a:latin typeface="맑은 고딕"/>
              </a:rPr>
              <a:t>"법령이 분명하지 않은 것은 장수의 죄"라며 다시 설명하고 명령을 내렸다.</a:t>
            </a:r>
          </a:p>
          <a:p>
            <a:pPr algn="ctr">
              <a:lnSpc>
                <a:spcPct val="125000"/>
              </a:lnSpc>
            </a:pPr>
            <a:r>
              <a:rPr sz="1600" b="0" i="0">
                <a:solidFill>
                  <a:srgbClr val="556070"/>
                </a:solidFill>
                <a:latin typeface="맑은 고딕"/>
              </a:rPr>
              <a:t>그래도 웃기만 하자 손무는 두 대장을 처형하려 했다.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ctr">
              <a:lnSpc>
                <a:spcPct val="125000"/>
              </a:lnSpc>
              <a:spcBef>
                <a:spcPts val="600"/>
              </a:spcBef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합려가 만류했지만 손무는 답했다.</a:t>
            </a:r>
          </a:p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8B1A1A"/>
                </a:solidFill>
                <a:latin typeface="맑은 고딕"/>
              </a:rPr>
              <a:t>"장군이 출정하면 임금의 명령도 받지 않는 바가 있습니다(將在軍 君命有所不受)"</a:t>
            </a:r>
          </a:p>
          <a:p>
            <a:pPr algn="ctr">
              <a:lnSpc>
                <a:spcPct val="125000"/>
              </a:lnSpc>
              <a:spcBef>
                <a:spcPts val="600"/>
              </a:spcBef>
            </a:pPr>
            <a:r>
              <a:rPr sz="1600" b="0" i="0">
                <a:solidFill>
                  <a:srgbClr val="556070"/>
                </a:solidFill>
                <a:latin typeface="맑은 고딕"/>
              </a:rPr>
              <a:t>두 총희를 베자 — 궁녀들은 더 이상 웃지 않았다.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— 사기(史記) 손자오기열전 · 군기(軍紀)와 장수의 권한을 보여주는 고전 일화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Ⅰ.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6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판본과 영향사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— 2,500년에 걸친 전파의 궤적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103120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AD 3세기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2194560"/>
            <a:ext cx="868680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2267712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F2A44"/>
                </a:solidFill>
                <a:latin typeface="맑은 고딕"/>
              </a:rPr>
              <a:t>조조(曹操)의 주석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606040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6070"/>
                </a:solidFill>
                <a:latin typeface="맑은 고딕"/>
              </a:rPr>
              <a:t>최초의 본격적 주석서를 편찬 — 후대 판본의 기초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63239"/>
            <a:ext cx="2103120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6440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AD 7세기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0" y="3063239"/>
            <a:ext cx="868680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8960" y="3136391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F2A44"/>
                </a:solidFill>
                <a:latin typeface="맑은 고딕"/>
              </a:rPr>
              <a:t>당송 11가 주석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474720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6070"/>
                </a:solidFill>
                <a:latin typeface="맑은 고딕"/>
              </a:rPr>
              <a:t>두목·이전 등 11명의 주석가가 가세 — 정본 형성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931920"/>
            <a:ext cx="2103120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133087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1972년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3931920"/>
            <a:ext cx="868680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4005072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F2A44"/>
                </a:solidFill>
                <a:latin typeface="맑은 고딕"/>
              </a:rPr>
              <a:t>은작산(銀雀山) 죽간 출토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4343400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6070"/>
                </a:solidFill>
                <a:latin typeface="맑은 고딕"/>
              </a:rPr>
              <a:t>한묘에서 죽간본 발견 — 현대 손자병법 연구의 전환점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800600"/>
            <a:ext cx="2103120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00176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18세기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4800600"/>
            <a:ext cx="868680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0" y="4873752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F2A44"/>
                </a:solidFill>
                <a:latin typeface="맑은 고딕"/>
              </a:rPr>
              <a:t>유럽 전파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5212080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6070"/>
                </a:solidFill>
                <a:latin typeface="맑은 고딕"/>
              </a:rPr>
              <a:t>예수회 선교사들이 라틴어·프랑스어로 번역 → 서구 진출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669280"/>
            <a:ext cx="2103120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87044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20세기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0" y="5669280"/>
            <a:ext cx="868680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08960" y="5742432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F2A44"/>
                </a:solidFill>
                <a:latin typeface="맑은 고딕"/>
              </a:rPr>
              <a:t>서구 군사학교 필독서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6080760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6070"/>
                </a:solidFill>
                <a:latin typeface="맑은 고딕"/>
              </a:rPr>
              <a:t>West Point·MBA·실리콘밸리까지 영향력 확장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Ⅱ.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7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13편의 구성 개관 — 세 층위의 논리 전개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86000"/>
            <a:ext cx="3749039" cy="4114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3749039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전략론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8B1A1A"/>
                </a:solidFill>
                <a:latin typeface="맑은 고딕"/>
              </a:rPr>
              <a:t>1~6편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14800"/>
            <a:ext cx="3749039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1F2A44"/>
                </a:solidFill>
                <a:latin typeface="맑은 고딕"/>
              </a:rPr>
              <a:t>전쟁의 본질과
근본 원칙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2286000"/>
            <a:ext cx="3749039" cy="4114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2286000"/>
            <a:ext cx="3749039" cy="7315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2423160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전술론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291840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8B1A1A"/>
                </a:solidFill>
                <a:latin typeface="맑은 고딕"/>
              </a:rPr>
              <a:t>7~11편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114800"/>
            <a:ext cx="3749039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1F2A44"/>
                </a:solidFill>
                <a:latin typeface="맑은 고딕"/>
              </a:rPr>
              <a:t>실전의 운용과
지형 활용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2286000"/>
            <a:ext cx="3749039" cy="4114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2286000"/>
            <a:ext cx="3749039" cy="731520"/>
          </a:xfrm>
          <a:prstGeom prst="rect">
            <a:avLst/>
          </a:prstGeom>
          <a:solidFill>
            <a:srgbClr val="556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423160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특수전법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291840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8B1A1A"/>
                </a:solidFill>
                <a:latin typeface="맑은 고딕"/>
              </a:rPr>
              <a:t>12~13편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114800"/>
            <a:ext cx="3749039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1F2A44"/>
                </a:solidFill>
                <a:latin typeface="맑은 고딕"/>
              </a:rPr>
              <a:t>화공·정보전 등
특수한 기법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총론(전략) → 원칙(전술) → 특수(정보·화공)로 이어지는 체계적 전개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Ⅱ.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8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전략론 — 1~6편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8B1A1A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031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맑은 고딕"/>
              </a:rPr>
              <a:t>시계(始計)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148839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56070"/>
                </a:solidFill>
                <a:latin typeface="맑은 고딕"/>
              </a:rPr>
              <a:t>전쟁의 기본 계산 — 오사칠계(五事七計)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8B1A1A"/>
                </a:solidFill>
                <a:latin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7432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맑은 고딕"/>
              </a:rPr>
              <a:t>작전(作戰)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889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56070"/>
                </a:solidFill>
                <a:latin typeface="맑은 고딕"/>
              </a:rPr>
              <a:t>전쟁의 비용 — 속전속결(速戰速決)의 원칙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8328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8B1A1A"/>
                </a:solidFill>
                <a:latin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3832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맑은 고딕"/>
              </a:rPr>
              <a:t>모공(謀攻)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42900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56070"/>
                </a:solidFill>
                <a:latin typeface="맑은 고딕"/>
              </a:rPr>
              <a:t>부전승(不戰勝) — 지피지기(知彼知己)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2336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8B1A1A"/>
                </a:solidFill>
                <a:latin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0233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맑은 고딕"/>
              </a:rPr>
              <a:t>군형(軍形)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406908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56070"/>
                </a:solidFill>
                <a:latin typeface="맑은 고딕"/>
              </a:rPr>
              <a:t>선승이후구전(先勝而後求戰) — 형(形)의 확립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6634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8B1A1A"/>
                </a:solidFill>
                <a:latin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66344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맑은 고딕"/>
              </a:rPr>
              <a:t>병세(兵勢)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70916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56070"/>
                </a:solidFill>
                <a:latin typeface="맑은 고딕"/>
              </a:rPr>
              <a:t>기정(奇正)의 운용 · 세(勢)의 위력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3035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8B1A1A"/>
                </a:solidFill>
                <a:latin typeface="맑은 고딕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3035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맑은 고딕"/>
              </a:rPr>
              <a:t>허실(虛實)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534924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56070"/>
                </a:solidFill>
                <a:latin typeface="맑은 고딕"/>
              </a:rPr>
              <a:t>주도권 장악 — 적의 빈 곳을 친다, 물의 비유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Ⅱ.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9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전술론·특수전법 — 7~13편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8B1A1A"/>
                </a:solidFill>
                <a:latin typeface="맑은 고딕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031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A44"/>
                </a:solidFill>
                <a:latin typeface="맑은 고딕"/>
              </a:rPr>
              <a:t>군쟁(軍爭)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130551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기동과 주도권 — 풍림화산(風林火山)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7004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8B1A1A"/>
                </a:solidFill>
                <a:latin typeface="맑은 고딕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700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A44"/>
                </a:solidFill>
                <a:latin typeface="맑은 고딕"/>
              </a:rPr>
              <a:t>구변(九變)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697479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아홉 가지 변통 · 장수의 다섯 위험(五危)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369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8B1A1A"/>
                </a:solidFill>
                <a:latin typeface="맑은 고딕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23697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A44"/>
                </a:solidFill>
                <a:latin typeface="맑은 고딕"/>
              </a:rPr>
              <a:t>행군(行軍)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264408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지형별 행군과 적의 동태 관찰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80390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8B1A1A"/>
                </a:solidFill>
                <a:latin typeface="맑은 고딕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80390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A44"/>
                </a:solidFill>
                <a:latin typeface="맑은 고딕"/>
              </a:rPr>
              <a:t>지형(地形)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831336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여섯 지형과 군대의 여섯 패망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7083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8B1A1A"/>
                </a:solidFill>
                <a:latin typeface="맑은 고딕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3708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A44"/>
                </a:solidFill>
                <a:latin typeface="맑은 고딕"/>
              </a:rPr>
              <a:t>구지(九地)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398264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아홉 지형 · 사지즉전(死地則戰)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93776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8B1A1A"/>
                </a:solidFill>
                <a:latin typeface="맑은 고딕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377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A44"/>
                </a:solidFill>
                <a:latin typeface="맑은 고딕"/>
              </a:rPr>
              <a:t>화공(火攻)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4965192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화공의 다섯 기법 · 분노로 군대를 일으키지 말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50468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8B1A1A"/>
                </a:solidFill>
                <a:latin typeface="맑은 고딕"/>
              </a:rP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5046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A44"/>
                </a:solidFill>
                <a:latin typeface="맑은 고딕"/>
              </a:rPr>
              <a:t>용간(用間)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553212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다섯 종류의 간첩(五間) · 선지(先知)의 중요성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Ⅲ. 부전승·오사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10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부전승(不戰勝) — 백전백승은 최선이 아니다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556070"/>
                </a:solidFill>
                <a:latin typeface="맑은 고딕"/>
              </a:rPr>
              <a:t>百 戰 百 勝   非 善 之 善 者 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8B1A1A"/>
                </a:solidFill>
                <a:latin typeface="맑은 고딕"/>
              </a:rPr>
              <a:t>不 戰 而 屈 人 之 兵   善 之 善 者 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백전백승 비선지선자야 · 부전이굴인지병 선지선자야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— 모공편 제3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0" y="475488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1F2A44"/>
                </a:solidFill>
                <a:latin typeface="맑은 고딕"/>
              </a:rPr>
              <a:t>백번 싸워 백번 이기는 것은 최선이 아니다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5778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1F2A44"/>
                </a:solidFill>
                <a:latin typeface="맑은 고딕"/>
              </a:rPr>
              <a:t>싸우지 않고 적의 군대를 굴복시키는 것이 최선의 최선이다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— 전쟁을 미화하지 않은, 가장 신중한 전략의 고전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Ⅲ. 부전승·오사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11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승리의 4등급 — 어떤 승리를 추구할 것인가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146304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59152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최상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2103120"/>
            <a:ext cx="1828800" cy="9144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21945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8B1A1A"/>
                </a:solidFill>
                <a:latin typeface="맑은 고딕"/>
              </a:rPr>
              <a:t>伐謀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65176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벌모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377439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F2A44"/>
                </a:solidFill>
                <a:latin typeface="맑은 고딕"/>
              </a:rPr>
              <a:t>적의 전략(謀)을 무력화 — 미연에 막는다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54679"/>
            <a:ext cx="1463040" cy="914400"/>
          </a:xfrm>
          <a:prstGeom prst="rect">
            <a:avLst/>
          </a:prstGeom>
          <a:solidFill>
            <a:srgbClr val="B5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1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차선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3154679"/>
            <a:ext cx="1828800" cy="9144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0" y="32461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8B1A1A"/>
                </a:solidFill>
                <a:latin typeface="맑은 고딕"/>
              </a:rPr>
              <a:t>伐交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7033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벌교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428999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F2A44"/>
                </a:solidFill>
                <a:latin typeface="맑은 고딕"/>
              </a:rPr>
              <a:t>적의 동맹(交)을 와해 — 고립시킨다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06240"/>
            <a:ext cx="1463040" cy="91440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462272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하책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0" y="4206240"/>
            <a:ext cx="1828800" cy="9144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86000" y="4297679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8B1A1A"/>
                </a:solidFill>
                <a:latin typeface="맑은 고딕"/>
              </a:rPr>
              <a:t>伐兵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54879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벌병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4480559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F2A44"/>
                </a:solidFill>
                <a:latin typeface="맑은 고딕"/>
              </a:rPr>
              <a:t>적의 군대(兵)를 공격 — 정면 충돌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257800"/>
            <a:ext cx="1463040" cy="914400"/>
          </a:xfrm>
          <a:prstGeom prst="rect">
            <a:avLst/>
          </a:prstGeom>
          <a:solidFill>
            <a:srgbClr val="556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513832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최하책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0" y="5257800"/>
            <a:ext cx="1828800" cy="9144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86000" y="534924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8B1A1A"/>
                </a:solidFill>
                <a:latin typeface="맑은 고딕"/>
              </a:rPr>
              <a:t>攻城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580644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공성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5532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F2A44"/>
                </a:solidFill>
                <a:latin typeface="맑은 고딕"/>
              </a:rPr>
              <a:t>적의 성(城)을 공격 — 최대 손실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Ⅲ. 부전승·오사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12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오사(五事) — 전쟁을 결정짓는 다섯 근본 요소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— 시계편 제1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914400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맑은 고딕"/>
              </a:rPr>
              <a:t>道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2011680"/>
            <a:ext cx="91440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37360" y="2212848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F2A44"/>
                </a:solidFill>
                <a:latin typeface="맑은 고딕"/>
              </a:rPr>
              <a:t>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176272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군주와 백성의 일체감 — 대의명분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0" y="2011680"/>
            <a:ext cx="2651760" cy="7772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2212848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현대: 명분과 비전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98648"/>
            <a:ext cx="914400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99008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맑은 고딕"/>
              </a:rPr>
              <a:t>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2898648"/>
            <a:ext cx="91440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3099816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F2A44"/>
                </a:solidFill>
                <a:latin typeface="맑은 고딕"/>
              </a:rPr>
              <a:t>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063240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기후·계절·타이밍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2898648"/>
            <a:ext cx="2651760" cy="7772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0" y="3099816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현대: 외부 환경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85615"/>
            <a:ext cx="914400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77055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맑은 고딕"/>
              </a:rPr>
              <a:t>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37360" y="3785615"/>
            <a:ext cx="91440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37360" y="3986783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F2A44"/>
                </a:solidFill>
                <a:latin typeface="맑은 고딕"/>
              </a:rPr>
              <a:t>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950207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지형·거리·경쟁 환경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61120" y="3785615"/>
            <a:ext cx="2651760" cy="7772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0" y="3986783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현대: 시장·지형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672583"/>
            <a:ext cx="914400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764023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맑은 고딕"/>
              </a:rPr>
              <a:t>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37360" y="4672583"/>
            <a:ext cx="91440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37360" y="4873751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F2A44"/>
                </a:solidFill>
                <a:latin typeface="맑은 고딕"/>
              </a:rPr>
              <a:t>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34640" y="4837175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지(智)·신(信)·인(仁)·용(勇)·엄(嚴)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61120" y="4672583"/>
            <a:ext cx="2651760" cy="7772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0" y="4873751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현대: 리더십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559551"/>
            <a:ext cx="914400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5650991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맑은 고딕"/>
              </a:rPr>
              <a:t>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37360" y="5559551"/>
            <a:ext cx="91440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760719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F2A44"/>
                </a:solidFill>
                <a:latin typeface="맑은 고딕"/>
              </a:rPr>
              <a:t>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5724143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편제·규율·보급 — 조직 시스템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61120" y="5559551"/>
            <a:ext cx="2651760" cy="7772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0" y="5760719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현대: 체계와 시스템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Ⅳ. 허실·기정·세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13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허실(虛實) — 빈 곳을 치고, 내 빈 곳을 감추라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8B1A1A"/>
                </a:solidFill>
                <a:latin typeface="맑은 고딕"/>
              </a:rPr>
              <a:t>避  實  而  擊  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1F2A44"/>
                </a:solidFill>
                <a:latin typeface="맑은 고딕"/>
              </a:rPr>
              <a:t>피실이격허 — 실(實)한 곳을 피하고 허(虛)한 곳을 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— 허실편 제6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0" y="411480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438912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800" b="1">
                <a:solidFill>
                  <a:srgbClr val="8B1A1A"/>
                </a:solidFill>
                <a:latin typeface="맑은 고딕"/>
              </a:rPr>
              <a:t>致 人 而 不 致 於 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1F2A44"/>
                </a:solidFill>
                <a:latin typeface="맑은 고딕"/>
              </a:rPr>
              <a:t>치인이부치어인 — 적을 끌어오지, 끌려가지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56070"/>
                </a:solidFill>
                <a:latin typeface="맑은 고딕"/>
              </a:rPr>
              <a:t>핵심은 주도권(initiative)의 장악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Ⅳ. 허실·기정·세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14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기정(奇正) — 정공(正)과 기습(奇)의 조화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8B1A1A"/>
                </a:solidFill>
                <a:latin typeface="맑은 고딕"/>
              </a:rPr>
              <a:t>以 正 合   以 奇 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1F2A44"/>
                </a:solidFill>
                <a:latin typeface="맑은 고딕"/>
              </a:rPr>
              <a:t>이정합 이기승 — 정(正)으로 맞서고, 기(奇)로 이긴다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204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— 병세편 제5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114800"/>
            <a:ext cx="5394960" cy="219456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5196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8B1A1A"/>
                </a:solidFill>
                <a:latin typeface="맑은 고딕"/>
              </a:rPr>
              <a:t>正 — 정공(正攻)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846320"/>
            <a:ext cx="5029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F2A44"/>
                </a:solidFill>
                <a:latin typeface="맑은 고딕"/>
              </a:rPr>
              <a:t>정규적·예측 가능한 본대
적을 묶어두는 주력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4114800"/>
            <a:ext cx="5394960" cy="219456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425196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8B1A1A"/>
                </a:solidFill>
                <a:latin typeface="맑은 고딕"/>
              </a:rPr>
              <a:t>奇 — 기습(奇襲)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46320"/>
            <a:ext cx="5029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F2A44"/>
                </a:solidFill>
                <a:latin typeface="맑은 고딕"/>
              </a:rPr>
              <a:t>비정규적·기상천외한 별동대
결정적 승리를 가르는 카드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B1A1A"/>
                </a:solidFill>
                <a:latin typeface="맑은 고딕"/>
              </a:rPr>
              <a:t>奇正相生 — 정·기는 끝없이 순환하며 무한한 변화를 낳는다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Ⅳ. 허실·기정·세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15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세(勢) — 형세(形勢)를 만들어 압도하라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8B1A1A"/>
                </a:solidFill>
                <a:latin typeface="맑은 고딕"/>
              </a:rPr>
              <a:t>激 水 之 疾   至 於 漂 石 者   勢 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격수지질 지어표석자 세야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— 병세편 제5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0" y="393192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411480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F2A44"/>
                </a:solidFill>
                <a:latin typeface="맑은 고딕"/>
              </a:rPr>
              <a:t>"급류가 빠르게 흘러 돌을 떠내려 보내는 것 — 그것이 세(勢)다"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937760"/>
            <a:ext cx="1088136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07492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8B1A1A"/>
                </a:solidFill>
                <a:latin typeface="맑은 고딕"/>
              </a:rPr>
              <a:t>求之於勢   不責於人</a:t>
            </a:r>
          </a:p>
          <a:p>
            <a:pPr algn="ctr">
              <a:lnSpc>
                <a:spcPct val="130000"/>
              </a:lnSpc>
              <a:spcBef>
                <a:spcPts val="400"/>
              </a:spcBef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세(勢)에서 승리를 구하지, 개인에게 책임을 돌리지 않는다</a:t>
            </a:r>
          </a:p>
          <a:p>
            <a:pPr algn="ctr">
              <a:lnSpc>
                <a:spcPct val="130000"/>
              </a:lnSpc>
              <a:spcBef>
                <a:spcPts val="400"/>
              </a:spcBef>
            </a:pPr>
            <a:r>
              <a:rPr sz="1400" b="0" i="0">
                <a:solidFill>
                  <a:srgbClr val="556070"/>
                </a:solidFill>
                <a:latin typeface="맑은 고딕"/>
              </a:rPr>
              <a:t>좋은 리더는 시스템을 설계하여 평범한 사람도 탁월한 성과를 내게 한다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지·변화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16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지피지기(知彼知己) — 지(知)의 세 수준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3840480" cy="10972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3172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8B1A1A"/>
                </a:solidFill>
                <a:latin typeface="맑은 고딕"/>
              </a:rPr>
              <a:t>知 彼 知 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529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지피지기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56032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8B1A1A"/>
                </a:solidFill>
                <a:latin typeface="맑은 고딕"/>
              </a:rPr>
              <a:t>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2194560"/>
            <a:ext cx="2926080" cy="10972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331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百 戰 不 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85292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맑은 고딕"/>
              </a:rPr>
              <a:t>백전불태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56032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백 번 싸워도 위태롭지 않다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474720"/>
            <a:ext cx="3840480" cy="10972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611879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906060"/>
                </a:solidFill>
                <a:latin typeface="맑은 고딕"/>
              </a:rPr>
              <a:t>不知彼而知己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33087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부지피이지기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84048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906060"/>
                </a:solidFill>
                <a:latin typeface="맑은 고딕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37760" y="3474720"/>
            <a:ext cx="2926080" cy="1097280"/>
          </a:xfrm>
          <a:prstGeom prst="rect">
            <a:avLst/>
          </a:prstGeom>
          <a:solidFill>
            <a:srgbClr val="9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3611879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一 勝 一 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4133087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맑은 고딕"/>
              </a:rPr>
              <a:t>일승일부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84048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한 번 이기고 한 번 진다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754879"/>
            <a:ext cx="3840480" cy="10972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89204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556070"/>
                </a:solidFill>
                <a:latin typeface="맑은 고딕"/>
              </a:rPr>
              <a:t>不知彼不知己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413247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부지피부지기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51206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556070"/>
                </a:solidFill>
                <a:latin typeface="맑은 고딕"/>
              </a:rPr>
              <a:t>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760" y="4754879"/>
            <a:ext cx="2926080" cy="1097280"/>
          </a:xfrm>
          <a:prstGeom prst="rect">
            <a:avLst/>
          </a:prstGeom>
          <a:solidFill>
            <a:srgbClr val="556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0" y="489204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每 戰 必 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5413247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맑은 고딕"/>
              </a:rPr>
              <a:t>매전필태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512064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매번 싸울 때마다 위태롭다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※ "백전백승"이 아니라 "백전불태" — 화려한 승리보다 안전을 추구하는 사상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지·변화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17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병형상수(兵形象水) — 군대는 물과 같다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8B1A1A"/>
                </a:solidFill>
                <a:latin typeface="맑은 고딕"/>
              </a:rPr>
              <a:t>兵   形   象   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556070"/>
                </a:solidFill>
                <a:latin typeface="맑은 고딕"/>
              </a:rPr>
              <a:t>병형상수 — "군대의 형태는 물과 같다"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204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— 허실편 제6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0" y="411480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434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8B1A1A"/>
                </a:solidFill>
                <a:latin typeface="맑은 고딕"/>
              </a:rPr>
              <a:t>• 높은 곳을 피하고 낮은 곳으로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43434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→  강한 곳 피하고 약한 곳 공격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4632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8B1A1A"/>
                </a:solidFill>
                <a:latin typeface="맑은 고딕"/>
              </a:rPr>
              <a:t>• 지형에 따라 형태가 변한다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84632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→  상황에 따라 전략을 바꾼다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492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8B1A1A"/>
                </a:solidFill>
                <a:latin typeface="맑은 고딕"/>
              </a:rPr>
              <a:t>• 일정한 형태가 없다(無常形)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53492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→  병법에 일정한 형세는 없다(兵無常勢)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지·변화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18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선승이후구전(先勝而後求戰) — 준비의 철학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8B1A1A"/>
                </a:solidFill>
                <a:latin typeface="맑은 고딕"/>
              </a:rPr>
              <a:t>勝 兵 先 勝 而 後 求 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556070"/>
                </a:solidFill>
                <a:latin typeface="맑은 고딕"/>
              </a:rPr>
              <a:t>敗 兵 先 戰 而 後 求 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승병선승이후구전 · 패병선전이후구승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— 군형편 제4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0" y="480060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1F2A44"/>
                </a:solidFill>
                <a:latin typeface="맑은 고딕"/>
              </a:rPr>
              <a:t>이기는 군대는 먼저 이겨놓고 싸우고,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6928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1F2A44"/>
                </a:solidFill>
                <a:latin typeface="맑은 고딕"/>
              </a:rPr>
              <a:t>지는 군대는 먼저 싸운 뒤에 이기려 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승리는 전장에서 결정되는 것이 아니라, 전장에 들어서기 전에 이미 결정된다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명구절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19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1124712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8B1A1A"/>
                </a:solidFill>
                <a:latin typeface="맑은 고딕"/>
              </a:rPr>
              <a:t>兵者 國之大事
死生之地 存亡之道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556070"/>
                </a:solidFill>
                <a:latin typeface="맑은 고딕"/>
              </a:rPr>
              <a:t>병자 국지대사 · 사생지지 존망지도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0" y="402336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297680"/>
            <a:ext cx="11247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F2A44"/>
                </a:solidFill>
                <a:latin typeface="맑은 고딕"/>
              </a:rPr>
              <a:t>전쟁은 나라의 중대사이니, 백성의 생사와 나라의 존망이 달린 길이라
살피지 않을 수 없다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— 시계편 제1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명구절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20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1124712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8B1A1A"/>
                </a:solidFill>
                <a:latin typeface="맑은 고딕"/>
              </a:rPr>
              <a:t>不戰而屈人之兵
善之善者也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556070"/>
                </a:solidFill>
                <a:latin typeface="맑은 고딕"/>
              </a:rPr>
              <a:t>부전이굴인지병 · 선지선자야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0" y="402336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297680"/>
            <a:ext cx="11247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F2A44"/>
                </a:solidFill>
                <a:latin typeface="맑은 고딕"/>
              </a:rPr>
              <a:t>싸우지 않고 적의 군대를 굴복시키는 것이 최선의 최선이다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— 모공편 제3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명구절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21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1124712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200" b="1">
                <a:solidFill>
                  <a:srgbClr val="8B1A1A"/>
                </a:solidFill>
                <a:latin typeface="맑은 고딕"/>
              </a:rPr>
              <a:t>知 彼 知 己   百 戰 不 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556070"/>
                </a:solidFill>
                <a:latin typeface="맑은 고딕"/>
              </a:rPr>
              <a:t>지피지기 백전불태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0" y="402336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297680"/>
            <a:ext cx="11247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F2A44"/>
                </a:solidFill>
                <a:latin typeface="맑은 고딕"/>
              </a:rPr>
              <a:t>적을 알고 나를 알면 백 번 싸워도 위태롭지 않다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— 모공편 제3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명구절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22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1124712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8B1A1A"/>
                </a:solidFill>
                <a:latin typeface="맑은 고딕"/>
              </a:rPr>
              <a:t>勝 兵 先 勝 而 後 求 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556070"/>
                </a:solidFill>
                <a:latin typeface="맑은 고딕"/>
              </a:rPr>
              <a:t>승병선승이후구전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0" y="402336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297680"/>
            <a:ext cx="11247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F2A44"/>
                </a:solidFill>
                <a:latin typeface="맑은 고딕"/>
              </a:rPr>
              <a:t>이기는 군대는 먼저 이겨놓고 싸운다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— 군형편 제4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명구절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23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1124712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8B1A1A"/>
                </a:solidFill>
                <a:latin typeface="맑은 고딕"/>
              </a:rPr>
              <a:t>凡 戰 者   以 正 合   以 奇 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556070"/>
                </a:solidFill>
                <a:latin typeface="맑은 고딕"/>
              </a:rPr>
              <a:t>범전자 이정합 이기승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0" y="402336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297680"/>
            <a:ext cx="11247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F2A44"/>
                </a:solidFill>
                <a:latin typeface="맑은 고딕"/>
              </a:rPr>
              <a:t>무릇 전투란 정(正)으로 맞서고 기(奇)로 이기는 것이다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— 병세편 제5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명구절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24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1124712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8B1A1A"/>
                </a:solidFill>
                <a:latin typeface="맑은 고딕"/>
              </a:rPr>
              <a:t>故 善 戰 者
致 人 而 不 致 於 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556070"/>
                </a:solidFill>
                <a:latin typeface="맑은 고딕"/>
              </a:rPr>
              <a:t>고선전자 · 치인이부치어인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0" y="402336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297680"/>
            <a:ext cx="11247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F2A44"/>
                </a:solidFill>
                <a:latin typeface="맑은 고딕"/>
              </a:rPr>
              <a:t>잘 싸우는 자는 적을 끌어오지, 끌려가지 않는다 — 주도권의 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— 허실편 제6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명구절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25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1124712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맑은 고딕"/>
              </a:rPr>
              <a:t>其疾如風  其徐如林
侵掠如火  不動如山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556070"/>
                </a:solidFill>
                <a:latin typeface="맑은 고딕"/>
              </a:rPr>
              <a:t>기질여풍 기서여림 · 침략여화 부동여산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0" y="402336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297680"/>
            <a:ext cx="11247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F2A44"/>
                </a:solidFill>
                <a:latin typeface="맑은 고딕"/>
              </a:rPr>
              <a:t>바람처럼 빠르고, 숲처럼 고요하며,
불처럼 공격하고, 산처럼 움직이지 않는다 — 풍림화산(風林火山)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— 군쟁편 제7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명구절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26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1124712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8B1A1A"/>
                </a:solidFill>
                <a:latin typeface="맑은 고딕"/>
              </a:rPr>
              <a:t>投之亡地然後存
陷之死地然後生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556070"/>
                </a:solidFill>
                <a:latin typeface="맑은 고딕"/>
              </a:rPr>
              <a:t>투지망지연후존 · 함지사지연후생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0" y="402336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297680"/>
            <a:ext cx="11247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F2A44"/>
                </a:solidFill>
                <a:latin typeface="맑은 고딕"/>
              </a:rPr>
              <a:t>망할 곳에 던져야 살고, 죽을 곳에 빠뜨려야 산다 — 사지즉전(死地則戰)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— 구지편 제11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명구절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27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1124712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8B1A1A"/>
                </a:solidFill>
                <a:latin typeface="맑은 고딕"/>
              </a:rPr>
              <a:t>主不可以怒而興師
將不可以慍而致戰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556070"/>
                </a:solidFill>
                <a:latin typeface="맑은 고딕"/>
              </a:rPr>
              <a:t>주불가이노이흥사 · 장불가이온이치전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0" y="402336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297680"/>
            <a:ext cx="11247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F2A44"/>
                </a:solidFill>
                <a:latin typeface="맑은 고딕"/>
              </a:rPr>
              <a:t>임금은 분노로 군대를 일으켜서는 안 되고,
장수는 격분하여 싸움을 일으켜서는 안 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— 화공편 제12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명구절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28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1124712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맑은 고딕"/>
              </a:rPr>
              <a:t>明君賢將  所以動而勝人者
先 知 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556070"/>
                </a:solidFill>
                <a:latin typeface="맑은 고딕"/>
              </a:rPr>
              <a:t>명군현장 소이동이승인자 · 선지야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0" y="402336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297680"/>
            <a:ext cx="11247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F2A44"/>
                </a:solidFill>
                <a:latin typeface="맑은 고딕"/>
              </a:rPr>
              <a:t>명군(明君)과 현장(賢將)이 움직이는 곳마다 승리하는 까닭은
미리 아는 것(先知) 때문이다 — 정보전의 중요성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— 용간편 제13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Ⅶ.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29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13편의 논리 구조 — 체계적 전개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19456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39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총론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2103120"/>
            <a:ext cx="8686800" cy="9144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221284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맑은 고딕"/>
              </a:rPr>
              <a:t>시계·작전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2128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0">
                <a:solidFill>
                  <a:srgbClr val="556070"/>
                </a:solidFill>
                <a:latin typeface="맑은 고딕"/>
              </a:rPr>
              <a:t>1~2편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606039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전쟁 자체의 본질과 비용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154679"/>
            <a:ext cx="219456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28999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전략 원칙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0" y="3154679"/>
            <a:ext cx="8686800" cy="9144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8960" y="326440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맑은 고딕"/>
              </a:rPr>
              <a:t>모공·군형·병세·허실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326440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0">
                <a:solidFill>
                  <a:srgbClr val="556070"/>
                </a:solidFill>
                <a:latin typeface="맑은 고딕"/>
              </a:rPr>
              <a:t>3~6편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657600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부전승·선승·기정·허실의 4대 원칙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06240"/>
            <a:ext cx="219456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480559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실전 운용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4206240"/>
            <a:ext cx="8686800" cy="9144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8960" y="431596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맑은 고딕"/>
              </a:rPr>
              <a:t>군쟁·구변·행군·지형·구지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431596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0">
                <a:solidFill>
                  <a:srgbClr val="556070"/>
                </a:solidFill>
                <a:latin typeface="맑은 고딕"/>
              </a:rPr>
              <a:t>7~11편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4709159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기동·변통·지형 활용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257800"/>
            <a:ext cx="219456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53212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특수 기법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5257800"/>
            <a:ext cx="8686800" cy="9144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08960" y="536752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맑은 고딕"/>
              </a:rPr>
              <a:t>화공·용간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36752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0">
                <a:solidFill>
                  <a:srgbClr val="556070"/>
                </a:solidFill>
                <a:latin typeface="맑은 고딕"/>
              </a:rPr>
              <a:t>12~13편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5760720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화공과 정보전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Ⅶ.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30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간결함의 미학 — "한 문장 = 한 원칙"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5029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0" b="1">
                <a:solidFill>
                  <a:srgbClr val="8B1A1A"/>
                </a:solidFill>
                <a:latin typeface="맑은 고딕"/>
              </a:rPr>
              <a:t>약 6,000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556070"/>
                </a:solidFill>
                <a:latin typeface="맑은 고딕"/>
              </a:rPr>
              <a:t>자(字)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556070"/>
                </a:solidFill>
                <a:latin typeface="맑은 고딕"/>
              </a:rPr>
              <a:t>— 손자병법 전체 분량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94560"/>
            <a:ext cx="5486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8B1A1A"/>
                </a:solidFill>
                <a:latin typeface="맑은 고딕"/>
              </a:rPr>
              <a:t>극도로 압축된 문장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논어보다도 짧은 분량 안에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완성된 전략 체계를 담아냈다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2000" b="1" i="0">
                <a:solidFill>
                  <a:srgbClr val="8B1A1A"/>
                </a:solidFill>
                <a:latin typeface="맑은 고딕"/>
              </a:rPr>
              <a:t>독립적 인용 가능성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한 문장이 하나의 원칙을 담고 있어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어디서든 단독으로 인용·활용 가능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2000" b="1" i="0">
                <a:solidFill>
                  <a:srgbClr val="8B1A1A"/>
                </a:solidFill>
                <a:latin typeface="맑은 고딕"/>
              </a:rPr>
              <a:t>보편성의 비밀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구체 사례 대신 원리만 남겨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어느 시대·어느 분야에도 적용 가능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Ⅶ.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31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비유의 힘 — 추상을 이미지로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水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2103120"/>
            <a:ext cx="2286000" cy="9144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2395727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1F2A44"/>
                </a:solidFill>
                <a:latin typeface="맑은 고딕"/>
              </a:rPr>
              <a:t>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103120"/>
            <a:ext cx="6126480" cy="9144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2377439"/>
            <a:ext cx="5852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F2A44"/>
                </a:solidFill>
                <a:latin typeface="맑은 고딕"/>
              </a:rPr>
              <a:t>유연한 변화와 적응의 상징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154679"/>
            <a:ext cx="228600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3375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激水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154679"/>
            <a:ext cx="2286000" cy="9144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520" y="3447287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1F2A44"/>
                </a:solidFill>
                <a:latin typeface="맑은 고딕"/>
              </a:rPr>
              <a:t>급류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0" y="3154679"/>
            <a:ext cx="6126480" cy="9144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3428999"/>
            <a:ext cx="5852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F2A44"/>
                </a:solidFill>
                <a:latin typeface="맑은 고딕"/>
              </a:rPr>
              <a:t>돌을 떠내려 보내는 세(勢)의 위력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06240"/>
            <a:ext cx="228600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38912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率然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4206240"/>
            <a:ext cx="2286000" cy="9144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17520" y="4498848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1F2A44"/>
                </a:solidFill>
                <a:latin typeface="맑은 고딕"/>
              </a:rPr>
              <a:t>상산의 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4206240"/>
            <a:ext cx="6126480" cy="9144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0" y="4480559"/>
            <a:ext cx="5852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F2A44"/>
                </a:solidFill>
                <a:latin typeface="맑은 고딕"/>
              </a:rPr>
              <a:t>머리·꼬리·중간이 유기적으로 호응하는 조직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257800"/>
            <a:ext cx="228600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44068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風林火山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5257800"/>
            <a:ext cx="2286000" cy="9144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520" y="5550408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1F2A44"/>
                </a:solidFill>
                <a:latin typeface="맑은 고딕"/>
              </a:rPr>
              <a:t>풍림화산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0" y="5257800"/>
            <a:ext cx="6126480" cy="9144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0" y="5532120"/>
            <a:ext cx="5852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F2A44"/>
                </a:solidFill>
                <a:latin typeface="맑은 고딕"/>
              </a:rPr>
              <a:t>상황별 군대 운용의 네 가지 모습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Ⅶ.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32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이중 구조 — 전쟁론이자 반전론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5486400" cy="4114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8B1A1A"/>
                </a:solidFill>
                <a:latin typeface="맑은 고딕"/>
              </a:rPr>
              <a:t>전쟁론의 얼굴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50292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1F2A44"/>
                </a:solidFill>
                <a:latin typeface="맑은 고딕"/>
              </a:rPr>
              <a:t>• 13편 전체가 전쟁의 기술서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700" b="0" i="0">
                <a:solidFill>
                  <a:srgbClr val="1F2A44"/>
                </a:solidFill>
                <a:latin typeface="맑은 고딕"/>
              </a:rPr>
              <a:t>• 정보·기동·기습·심리·화공까지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556070"/>
                </a:solidFill>
                <a:latin typeface="맑은 고딕"/>
              </a:rPr>
              <a:t>  전쟁의 모든 국면을 다룬다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700" b="0" i="0">
                <a:solidFill>
                  <a:srgbClr val="1F2A44"/>
                </a:solidFill>
                <a:latin typeface="맑은 고딕"/>
              </a:rPr>
              <a:t>• 동서양 군사학의 정전(正典)</a:t>
            </a:r>
          </a:p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8B1A1A"/>
                </a:solidFill>
                <a:latin typeface="맑은 고딕"/>
              </a:rPr>
              <a:t>  — 가장 뛰어난 병서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103120"/>
            <a:ext cx="5486400" cy="4114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2860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8B1A1A"/>
                </a:solidFill>
                <a:latin typeface="맑은 고딕"/>
              </a:rPr>
              <a:t>반전론의 얼굴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017520"/>
            <a:ext cx="50292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1F2A44"/>
                </a:solidFill>
                <a:latin typeface="맑은 고딕"/>
              </a:rPr>
              <a:t>• "싸우지 않고 이기라" — 부전승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700" b="0" i="0">
                <a:solidFill>
                  <a:srgbClr val="1F2A44"/>
                </a:solidFill>
                <a:latin typeface="맑은 고딕"/>
              </a:rPr>
              <a:t>• "분노로 싸우지 마라" — 화공편 경고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600" b="0" i="0">
                <a:solidFill>
                  <a:srgbClr val="556070"/>
                </a:solidFill>
                <a:latin typeface="맑은 고딕"/>
              </a:rPr>
              <a:t>• "전쟁은 국지대사 — 살피지 않을 수 없다"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400" b="1" i="0">
                <a:solidFill>
                  <a:srgbClr val="8B1A1A"/>
                </a:solidFill>
                <a:latin typeface="맑은 고딕"/>
              </a:rPr>
              <a:t>• 전쟁의 파괴력에 대한 가장 신중한 경고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현대적 의의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33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현대 ① — 경영 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손자병법이 비즈니스 전략의 고전이 된 까닭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05156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1" i="0">
                <a:solidFill>
                  <a:srgbClr val="8B1A1A"/>
                </a:solidFill>
                <a:latin typeface="맑은 고딕"/>
              </a:rPr>
              <a:t>부전승(不戰勝)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  → 블루오션 전략 · 경쟁 회피 · 시장 재정의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sz="2200" b="1" i="0">
                <a:solidFill>
                  <a:srgbClr val="8B1A1A"/>
                </a:solidFill>
                <a:latin typeface="맑은 고딕"/>
              </a:rPr>
              <a:t>속전속결(速戰速決)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  → MVP(Minimum Viable Product) · 린 스타트업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sz="2200" b="1" i="0">
                <a:solidFill>
                  <a:srgbClr val="8B1A1A"/>
                </a:solidFill>
                <a:latin typeface="맑은 고딕"/>
              </a:rPr>
              <a:t>지피지기(知彼知己)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  → 시장 조사 · 경쟁사 분석 · SWOT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sz="2200" b="1" i="0">
                <a:solidFill>
                  <a:srgbClr val="8B1A1A"/>
                </a:solidFill>
                <a:latin typeface="맑은 고딕"/>
              </a:rPr>
              <a:t>피실격허(避實擊虛)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  → 니치 마켓 공략 · 선택과 집중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현대적 의의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34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현대 ② — 리더십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시스템 설계자로서의 리더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05156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1" i="0">
                <a:solidFill>
                  <a:srgbClr val="8B1A1A"/>
                </a:solidFill>
                <a:latin typeface="맑은 고딕"/>
              </a:rPr>
              <a:t>세(勢)에서 승리를 구하라 — 求之於勢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  개인의 영웅성이 아니라 시스템 설계가 승부를 가른다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556070"/>
                </a:solidFill>
                <a:latin typeface="맑은 고딕"/>
              </a:rPr>
              <a:t>  → 좋은 리더는 평범한 사람도 탁월한 성과를 내게 한다</a:t>
            </a:r>
          </a:p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l">
              <a:lnSpc>
                <a:spcPct val="150000"/>
              </a:lnSpc>
              <a:spcBef>
                <a:spcPts val="1200"/>
              </a:spcBef>
            </a:pPr>
            <a:r>
              <a:rPr sz="2200" b="1" i="0">
                <a:solidFill>
                  <a:srgbClr val="8B1A1A"/>
                </a:solidFill>
                <a:latin typeface="맑은 고딕"/>
              </a:rPr>
              <a:t>장수의 다섯 덕목 (智·信·仁·勇·嚴)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  지혜·신뢰·인간미·용기·엄정함의 균형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556070"/>
                </a:solidFill>
                <a:latin typeface="맑은 고딕"/>
              </a:rPr>
              <a:t>  → 어느 한쪽으로 치우치면 무너진다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현대적 의의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35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현대 ③ — 일상의 지혜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개인의 삶에 적용되는 손자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05156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1" i="0">
                <a:solidFill>
                  <a:srgbClr val="8B1A1A"/>
                </a:solidFill>
                <a:latin typeface="맑은 고딕"/>
              </a:rPr>
              <a:t>선승이후구전(先勝而後求戰)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  → 준비 없이 도전하지 않는다 · 사전 준비의 가치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sz="2200" b="1" i="0">
                <a:solidFill>
                  <a:srgbClr val="8B1A1A"/>
                </a:solidFill>
                <a:latin typeface="맑은 고딕"/>
              </a:rPr>
              <a:t>노이흥사(怒而興師) 금지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  → 감정에 휩쓸린 중요 결정을 피하라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sz="2200" b="1" i="0">
                <a:solidFill>
                  <a:srgbClr val="8B1A1A"/>
                </a:solidFill>
                <a:latin typeface="맑은 고딕"/>
              </a:rPr>
              <a:t>병형상수(兵形象水)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  → 고정된 패턴에 얽매이지 마라 · 상황에 맞게 변하라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36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손자병법과 다른 사상의 비교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3200400" cy="5029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비교 대상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39" y="1828800"/>
            <a:ext cx="3657600" cy="502920"/>
          </a:xfrm>
          <a:prstGeom prst="rect">
            <a:avLst/>
          </a:prstGeom>
          <a:solidFill>
            <a:srgbClr val="556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39" y="19202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공통점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1828800"/>
            <a:ext cx="4206240" cy="502920"/>
          </a:xfrm>
          <a:prstGeom prst="rect">
            <a:avLst/>
          </a:prstGeom>
          <a:solidFill>
            <a:srgbClr val="556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9202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차이점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320040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5146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클라우제비츠 (전쟁론)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49039" y="2331720"/>
            <a:ext cx="3657600" cy="7772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0" y="2532888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F2A44"/>
                </a:solidFill>
                <a:latin typeface="맑은 고딕"/>
              </a:rPr>
              <a:t>전쟁을 정치의 연장으로 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2331720"/>
            <a:ext cx="4206240" cy="7772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532888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F2A44"/>
                </a:solidFill>
                <a:latin typeface="맑은 고딕"/>
              </a:rPr>
              <a:t>손자: 부전승 / 클라우제비츠: 결전 중시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108960"/>
            <a:ext cx="320040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29184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마키아벨리 (군주론)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9039" y="3108960"/>
            <a:ext cx="365760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0" y="3310128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F2A44"/>
                </a:solidFill>
                <a:latin typeface="맑은 고딕"/>
              </a:rPr>
              <a:t>현실주의적 권력관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79" y="3108960"/>
            <a:ext cx="42062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0128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F2A44"/>
                </a:solidFill>
                <a:latin typeface="맑은 고딕"/>
              </a:rPr>
              <a:t>손자: 도(道) 우선 / 마키아벨리: 권모술수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886200"/>
            <a:ext cx="320040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0690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노자 (도덕경)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49039" y="3886200"/>
            <a:ext cx="3657600" cy="7772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0" y="4087368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F2A44"/>
                </a:solidFill>
                <a:latin typeface="맑은 고딕"/>
              </a:rPr>
              <a:t>유연함과 물의 비유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98079" y="3886200"/>
            <a:ext cx="4206240" cy="7772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89520" y="4087368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F2A44"/>
                </a:solidFill>
                <a:latin typeface="맑은 고딕"/>
              </a:rPr>
              <a:t>노자: 무위(無爲) / 손자: 적극적 전략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663440"/>
            <a:ext cx="320040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8463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공자 (논어)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49039" y="4663440"/>
            <a:ext cx="365760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0" y="4864607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F2A44"/>
                </a:solidFill>
                <a:latin typeface="맑은 고딕"/>
              </a:rPr>
              <a:t>인(仁)의 가치 중시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79" y="4663440"/>
            <a:ext cx="42062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89520" y="4864607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F2A44"/>
                </a:solidFill>
                <a:latin typeface="맑은 고딕"/>
              </a:rPr>
              <a:t>공자: 도덕 우선 / 손자: 전략적 효용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440679"/>
            <a:ext cx="320040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순자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49039" y="5440679"/>
            <a:ext cx="3657600" cy="7772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40480" y="5641847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F2A44"/>
                </a:solidFill>
                <a:latin typeface="맑은 고딕"/>
              </a:rPr>
              <a:t>현실주의적 인간관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79" y="5440679"/>
            <a:ext cx="4206240" cy="7772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89520" y="5641847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F2A44"/>
                </a:solidFill>
                <a:latin typeface="맑은 고딕"/>
              </a:rPr>
              <a:t>순자: 제도 설계 / 손자: 전장 설계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Ⅹ. 마무리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37 / 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한 문장으로 정리하는 손자병법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10881360" cy="4114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1014984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1F2A44"/>
                </a:solidFill>
                <a:latin typeface="맑은 고딕"/>
              </a:rPr>
              <a:t>전쟁의 가부(可否)를 신중히 판단하고 (오사칠계)</a:t>
            </a:r>
          </a:p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ctr">
              <a:lnSpc>
                <a:spcPct val="120000"/>
              </a:lnSpc>
              <a:spcBef>
                <a:spcPts val="800"/>
              </a:spcBef>
            </a:pPr>
            <a:r>
              <a:rPr sz="2200" b="1" i="0">
                <a:solidFill>
                  <a:srgbClr val="8B1A1A"/>
                </a:solidFill>
                <a:latin typeface="맑은 고딕"/>
              </a:rPr>
              <a:t>가능하면 싸우지 않고 이기며 (부전승)</a:t>
            </a:r>
          </a:p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ctr">
              <a:lnSpc>
                <a:spcPct val="120000"/>
              </a:lnSpc>
              <a:spcBef>
                <a:spcPts val="800"/>
              </a:spcBef>
            </a:pPr>
            <a:r>
              <a:rPr sz="2200" b="1" i="0">
                <a:solidFill>
                  <a:srgbClr val="8B1A1A"/>
                </a:solidFill>
                <a:latin typeface="맑은 고딕"/>
              </a:rPr>
              <a:t>반드시 싸워야 한다면 먼저 이길 조건을 갖춘다 (선승이후구전)</a:t>
            </a:r>
          </a:p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ctr">
              <a:lnSpc>
                <a:spcPct val="120000"/>
              </a:lnSpc>
              <a:spcBef>
                <a:spcPts val="800"/>
              </a:spcBef>
            </a:pPr>
            <a:r>
              <a:rPr sz="2200" b="1" i="0">
                <a:solidFill>
                  <a:srgbClr val="1F2A44"/>
                </a:solidFill>
                <a:latin typeface="맑은 고딕"/>
              </a:rPr>
              <a:t>이 모든 것의 기반은</a:t>
            </a:r>
          </a:p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1F2A44"/>
                </a:solidFill>
                <a:latin typeface="맑은 고딕"/>
              </a:rPr>
              <a:t>정보(지피지기)와 유연한 변화(병무상세)다</a:t>
            </a:r>
          </a:p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ctr">
              <a:lnSpc>
                <a:spcPct val="120000"/>
              </a:lnSpc>
              <a:spcBef>
                <a:spcPts val="1000"/>
              </a:spcBef>
            </a:pPr>
            <a:r>
              <a:rPr sz="1800" b="1" i="0">
                <a:solidFill>
                  <a:srgbClr val="556070"/>
                </a:solidFill>
                <a:latin typeface="맑은 고딕"/>
              </a:rPr>
              <a:t>— 전쟁을 다루지만, 결국은 신중함의 철학 —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C8A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400" b="1">
                <a:solidFill>
                  <a:srgbClr val="8B1A1A"/>
                </a:solidFill>
                <a:latin typeface="맑은 고딕"/>
              </a:rPr>
              <a:t>不 戰 而 屈 人 之 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8B1A1A"/>
                </a:solidFill>
                <a:latin typeface="맑은 고딕"/>
              </a:rPr>
              <a:t>善 之 善 者 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556070"/>
                </a:solidFill>
                <a:latin typeface="맑은 고딕"/>
              </a:rPr>
              <a:t>부전이굴인지병 선지선자야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0" y="466344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49377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F2A44"/>
                </a:solidFill>
                <a:latin typeface="맑은 고딕"/>
              </a:rPr>
              <a:t>"싸우지 않고 적을 굴복시키는 것이 최선의 최선이다"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— 모공편 제3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1F2A44"/>
                </a:solidFill>
                <a:latin typeface="맑은 고딕"/>
              </a:rPr>
              <a:t>감사합니다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8A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