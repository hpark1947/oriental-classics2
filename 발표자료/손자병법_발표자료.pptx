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맑은 고딕"/>
              </a:rPr>
              <a:t>2,500년의 병법 · 세계 3대 병서의 최고봉 · 무경칠서의 첫머리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247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200" b="1">
                <a:solidFill>
                  <a:srgbClr val="1F2A44"/>
                </a:solidFill>
                <a:latin typeface="Batang"/>
              </a:rPr>
              <a:t>孫 子 兵 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0">
                <a:solidFill>
                  <a:srgbClr val="8B1A1A"/>
                </a:solidFill>
                <a:latin typeface="맑은 고딕"/>
              </a:rPr>
              <a:t>손 자 병 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4663440"/>
            <a:ext cx="39319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556070"/>
                </a:solidFill>
                <a:latin typeface="Batang"/>
              </a:rPr>
              <a:t>不 戰 而 屈 人 之 兵 — 싸우지 않고 이기는 것이 최선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손무(孫武) · 춘추 말 BC 6세기 · 13편 약 6,000자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1F2A44"/>
                </a:solidFill>
                <a:latin typeface="맑은 고딕"/>
              </a:rPr>
              <a:t>병법서이자 인생서 · 동아시아·서양 군사학의 영원한 교과서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목 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개요 — 6,000자의 역설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손무와 시대 — 춘추 말의 오나라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무경칠서의 첫머리 · 은작산 죽간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Ⅳ.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13편의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13편 각 편 깊이 읽기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37744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핵심 사상 6기둥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718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Ⅶ.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명구 16선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661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Ⅷ.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5661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동서양 후대 영향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605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짝 책들 — 오자·삼십육계·육도삼략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7548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8B1A1A"/>
                </a:solidFill>
                <a:latin typeface="맑은 고딕"/>
              </a:rPr>
              <a:t>Ⅹ.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47548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1F2A44"/>
                </a:solidFill>
                <a:latin typeface="맑은 고딕"/>
              </a:rPr>
              <a:t>오늘 우리에게 ·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한눈에 보는 손자병법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서명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손자병법(孫子兵法) · 손자(孫子) · 오손자(吳孫子)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저자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손무(孫武), 자(字) 장경(長卿) — 제(齊)나라 출신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시대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춘추시대 말기 (BC 6세기 말 ~ 5세기 초)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분량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13편 · 약 6,000자 — 동양 고전 중 가장 압축된 단일 저작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성격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동양 최고(最古)·최고(最高)의 군사 전략서 · 보편적 지혜의 보고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위상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세계 3대 병서 (손자병법 · 클라우제비츠 전쟁론 · 미야모토 오륜서)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주석사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조조(曹操) 최초 주석 · 송 무경칠서 첫머리 · 1972 은작산 죽간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적용 영역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전쟁 · 외교 · 경영 · 협상 · 스포츠 · 일상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왜 6,000자인가 — 간결함의 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단행본 한 챕터 분량이 2,500년 동안 살아남은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13편 · 6,000자 — 오늘날 단행본 한 챕터 분량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그러나 각 문장은 극도로 압축된 명제 — 한 구절이 한 원리, 한 편이 한 체계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『논어』가 공자의 단편적 어록 모음이라면,</a:t>
            </a:r>
          </a:p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     손자병법은 한 인물이 체계적으로 설계한 단일 저작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 점에서 동양 고전 중 독특한 위치를 차지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556070"/>
                </a:solidFill>
                <a:latin typeface="맑은 고딕"/>
              </a:rPr>
              <a:t>● 압축의 미학 — 읽는 자가 자기 상황에 비추어 해석할 수 있는 「열린 텍스트」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2,500년 동안 끊임없이 새 의미를 낳을 수 있었던 이유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위대한 역설 — 「병법서가 싸움을 부정한다」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서양 클라우제비츠 『전쟁론』과 결정적으로 다른 지점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8B1A1A"/>
                </a:solidFill>
                <a:latin typeface="Batang"/>
              </a:rPr>
              <a:t>不 戰 而 屈 人 之 兵  善 之 善 者 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싸우지 않고 적의 군대를 굴복시키는 것이 최선이다 — 제3편 모공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제1편 시계 — 「兵者 國之大事 不可不察也」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전쟁은 중대사이니 살피지 않을 수 없다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제3편 모공 — 「不戰而屈人之兵 善之善者也」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싸우지 않고 이기는 것이 최선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제12편 화공 — 「亡國不可以復存 死者不可以復生」</a:t>
            </a:r>
          </a:p>
          <a:p>
            <a:pPr algn="l">
              <a:lnSpc>
                <a:spcPct val="135000"/>
              </a:lnSpc>
              <a:spcBef>
                <a:spcPts val="2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     망한 나라는 되살릴 수 없고, 죽은 자는 다시 살릴 수 없다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「전쟁을 준비하되 전쟁을 넘어서라」 — 2,500년간 살아남은 이유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Ⅰ.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6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핵심 사상 한 폭으로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不 戰 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부전승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싸우지 않고 이긴다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知 彼 知 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지피지기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적을 알고 나를 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0312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28600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五 事 七 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718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오사칠계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3832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도·천·지·장·법 + 7가지 비교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奇 正 / 虛 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기정·허실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정공과 기습, 빈 곳과 찬 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활시위의 에너지 — 형세의 운용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4206240"/>
            <a:ext cx="3566160" cy="1828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38912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8B1A1A"/>
                </a:solidFill>
                <a:latin typeface="Batang"/>
              </a:rPr>
              <a:t>詭 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07492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궤도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54864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맑은 고딕"/>
              </a:rPr>
              <a:t>전쟁은 본질적으로 속임수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7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손무(孫武) — 제나라 출신의 오나라 장군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제나라 내분을 피해 오로 망명 · 오자서의 추천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이름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1031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손무(孫武), 자(字) 장경(長卿)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출생지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5176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제(齊)나라 (현 산동성)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가문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2004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제나라 명문 전씨(田氏) 가문 출신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활동 시기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74903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BC 544경 ~ BC 496경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활동 국가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29767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오(吳)나라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84632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주군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84632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오왕 합려(闔閭)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94959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동료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94959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오자서(伍子胥) — 손무를 합려에게 추천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2377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맑은 고딕"/>
              </a:rPr>
              <a:t>대표 업적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943600"/>
            <a:ext cx="8686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13편 저술 · 오의 초(楚) 정벌 (수도 영郢 함락)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8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후궁 180명 훈련 일화 — 사기에 전하는 손무의 출발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『사기·손자오기열전』의 가장 유명한 일화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합려가 손무의 실력을 시험하고자 후궁 180명을 주며 훈련시켜 보라 함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손무는 두 부대로 나누고 합려의 총희(寵姬) 두 명을 대장으로 삼음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556070"/>
                </a:solidFill>
                <a:latin typeface="맑은 고딕"/>
              </a:rPr>
              <a:t>● 명령을 내렸으나 궁녀들은 웃기만 함 — 한 번 용서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다시 명령했으나 여전히 웃음 → 총희 두 명을 즉시 참수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1F2A44"/>
                </a:solidFill>
                <a:latin typeface="Batang"/>
              </a:rPr>
              <a:t>● 합려가 만류하자 — 「君命有所不受 — 장군이 전장에 있을 때는 임금의 명도 받지 않는다」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이후 궁녀들은 완벽하게 명령에 따랐다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이 일화의 상징 — 엄격한 군법·실전에서 증명된 병법가·실력 평가가 감정보다 우선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Ⅱ. 손무와 시대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9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춘추 말기 — 손자병법이 나온 시대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전쟁 양상의 대형화 · 현실주의 전쟁관의 등장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주(周) 왕실 권위 완전 상실 — 「춘추 5패」의 시대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전쟁 양상의 변화 — 귀족 의례적 전투 → 대규모 동원 전쟁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철기 보급 · 보병 중심 편제 확대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오월(吳越)의 부상 — 남방 변방국이 중원을 뒤흔드는 시기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합려·부차·구천·오자서·범려 — 모두 이 시대의 인물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사상의 태동 — 공자(BC 551~479)가 거의 동시대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손자병법은 「전쟁이 대형화·전문화되던 시점」의 최초 체계적 병법서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600" b="0">
                <a:solidFill>
                  <a:srgbClr val="556070"/>
                </a:solidFill>
                <a:latin typeface="맑은 고딕"/>
              </a:rPr>
              <a:t>● 귀족 의례의 전쟁관을 버리고 「현실주의적·합리주의적」 전쟁관을 제시 — 획기적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위상과 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10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무경칠서(武經七書)의 첫머리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송 신종(1043) 공식 선정 · 동아시아 군사학의 정전 7권 중 으뜸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Batang"/>
              </a:rPr>
              <a:t>孫子兵法 손자병법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손무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전쟁의 원리 — 부전승의 철학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吳子兵法 오자병법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5176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오기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군사 행정 · 장수와 사기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司馬法 사마법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0040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전양저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군례(軍禮) · 군의 윤리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3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尉繚子 울료자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374903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울료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법치 군사론 · 엄정한 군기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9767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李衛公問對 이위공문대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9767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이정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7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당대 전략 문답 · 정·기의 변용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846320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六韜 육도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84632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태공망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846320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종합 통치 · 인재 · 전략 · 전술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394959"/>
            <a:ext cx="3383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Batang"/>
              </a:rPr>
              <a:t>三略 삼략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5394959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황석공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394959"/>
            <a:ext cx="5394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리더십 · 강유 조화 · 정당한 전쟁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56070"/>
                </a:solidFill>
                <a:latin typeface="맑은 고딕"/>
              </a:rPr>
              <a:t>송대부터 무과(武科) 필수 과목 — 동아시아 무관의 첫 교과서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Ⅲ. 위상과 판본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11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판본의 역사 — 1972년 은작산 죽간의 충격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조조의 최초 주석부터 한묘 죽간 출토까지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춘추 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2402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손무가 13편 저술, 오왕 합려에게 헌상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8803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803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전국시대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9260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후손 손빈(孫臏)이 별도의 『손빈병법』 저술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한(漢)대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118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장량·한신이 정리 · 『사기』 손자오기열전 수록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519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삼국시대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2976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조조(曹操)가 최초 주석서 『위무주손자(魏武注孫子)』 — 현존 가장 권위 있는 주해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송(宋)대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9834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무경칠서의 첫머리로 편입 — 무과 필수 과목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623560"/>
            <a:ext cx="2194560" cy="5486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8B1A1A"/>
                </a:solidFill>
                <a:latin typeface="맑은 고딕"/>
              </a:rPr>
              <a:t>1972년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669280"/>
            <a:ext cx="8778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F2A44"/>
                </a:solidFill>
                <a:latin typeface="맑은 고딕"/>
              </a:rPr>
              <a:t>산동 은작산(銀雀山) 한묘에서 죽간본 출토 — 진본 입증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은작산 죽간 — 『손자병법』과 『손빈병법』이 별개의 책임이 처음 명확히 입증된 결정적 발견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13편의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13편의 흐름 — 「계산 → 운용 → 변화 → 정보」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한 인물이 설계한 단일 체계의 논리적 전개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19456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9456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계산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2402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1~3편 시계·작전·모공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402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전쟁의 전제 — 「하기 전에 다 끝난다」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01752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301752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운용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06324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4~6편 군형·병세·허실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6324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힘의 운용 — 형(形)·세(勢)·허실(虛實)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4048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84048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384048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기동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88620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7~8편 군쟁·구변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88620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전장의 움직임 — 우직지계와 변통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6344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66344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466344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환경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70916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9~11편 행군·지형·구지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0916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환경의 활용 — 행군·지형·9가지 상황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486400"/>
            <a:ext cx="1097280" cy="6858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486400"/>
            <a:ext cx="1097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단계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5486400"/>
            <a:ext cx="1280160" cy="6858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0" y="5486400"/>
            <a:ext cx="12801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F2A44"/>
                </a:solidFill>
                <a:latin typeface="맑은 고딕"/>
              </a:rPr>
              <a:t>특수·정보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53212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1A1A"/>
                </a:solidFill>
                <a:latin typeface="Batang"/>
              </a:rPr>
              <a:t>12~13편 화공·용간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3212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특수 전술과 정보 — 결정적 비대칭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Ⅳ. 13편의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13편 한 폭으로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1097280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731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30175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편명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11680"/>
            <a:ext cx="72237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핵심 주제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23160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2316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始計 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기본 계산 — 오사칠계(五事七計)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761488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61488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761488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作戰 작전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61488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비용과 속전속결 — 졸속(拙速)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9815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99815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099815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謀攻 모공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099815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전략적 승리 — 부전승, 지피지기 백전불태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38144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38144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38144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軍形 군형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438144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공수의 형세 — 선승이후구전(先勝而後求戰)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76472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776472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3776472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兵勢 병세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3776472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기정(奇正)의 운용 · 세(勢)의 활용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114800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11480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11480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虛實 허실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11480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허와 실의 운용 · 주도권 장악 · 「피실격허」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53127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453127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453127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軍爭 군쟁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453127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우직지계(迂直之計) · 풍림화산(風林火山)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91456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791456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4791456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九變 구변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4791456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아홉 가지 변통 · 장수의 다섯 위험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129783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29783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129783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行軍 행군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129783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행군과 진영 배치 · 적정(敵情) 관찰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468112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468112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71600" y="5468112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地形 지형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5468112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여섯 가지 지형 · 장수의 리더십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5806440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5806440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5806440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九地 구지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5806440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아홉 가지 전장 상황 · 사지즉전(死地則戰)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6144768"/>
            <a:ext cx="10972800" cy="338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" y="6144768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71600" y="6144768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火攻 화공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6144768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화공의 다섯 유형 · 전쟁의 신중함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6483096"/>
            <a:ext cx="10972800" cy="338328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6483096"/>
            <a:ext cx="731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8B1A1A"/>
                </a:solidFill>
                <a:latin typeface="맑은 고딕"/>
              </a:rPr>
              <a:t>13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371600" y="6483096"/>
            <a:ext cx="301752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F2A44"/>
                </a:solidFill>
                <a:latin typeface="Batang"/>
              </a:rPr>
              <a:t>用間 용간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80560" y="6483096"/>
            <a:ext cx="704088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정보전 · 다섯 종류의 간첩 — 「先知」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始計 시계  (시계)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— 전쟁의 기본 계산 · 오사칠계(五事七計)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兵 者  國 之 大 事  死 生 之 地  存 亡 之 道  不 可 不 察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전쟁은 나라의 중대사 / 죽고 사는 터전, 존속하고 망하는 길이니, 살피지 않을 수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오사 — 道(도)·天(천)·地(지)·將(장)·法(법) / 칠계 — 일곱 가지 비교 분석 / 「兵者 詭道也」 — 전쟁은 본질적으로 속임수 / 「廟算多者勝」 — 묘산(廟算)에서 이기는 자가 실제로 이긴다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모든 전략적 결정의 출발점은 신중한 분석. 전쟁 전 「조정의 계산」이 곧 현대의 사업 계획·시장 분석.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作戰 작전  (작전)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제2편 — 전쟁의 비용과 속전속결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兵 聞 拙 速  未 睹 巧 之 久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전쟁에서 서툴더라도 빠른 것은 들었어도, 교묘하면서 오래 끄는 것은 본 적이 없다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졸속(拙速)의 원리 — 길게 끄는 완벽함보다 짧은 부족함이 낫다 / 전쟁 비용의 엄청남 — 하루 천금(日費千金) / 「智將務食於敵」 — 적의 식량으로 먹인다 — 현지 조달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완벽 강박을 버리고 빠른 실행 — 「good enough, but fast」. 보급선이 길수록 비용이 폭증.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16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謀攻 모공  (모공)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— 부전승의 철학 · 지피지기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不 戰 而 屈 人 之 兵  善 之 善 者 也    知 彼 知 己  百 戰 不 殆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싸우지 않고 굴복시키는 것이 최선 / 적을 알고 나를 알면 백 번 싸워도 위태롭지 않다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벌모(伐謀) → 벌교(伐交) → 벌병(伐兵) → 벌성(攻城)의 우선순위 / 「上兵伐謀」 — 최상의 병법은 적의 계책을 깬다 / 「知彼知己」 — 손자병법 전체에서 가장 유명한 명제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 이전에 정보·관계·전략으로 이긴다. 정면 충돌은 마지막 수단. 자기 인식과 상대 분석의 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(4/13)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17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軍形 군형  (군형)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제4편 — 공수의 형세 · 선승이후구전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勝 兵 先 勝 而 後 求 戰  敗 兵 先 戰 而 後 求 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이기는 군대는 먼저 이기고 나서 싸우고, 지는 군대는 먼저 싸우고 나서 이기려 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「先勝而後求戰」 — 이긴 다음 싸운다 / 「不可勝在己 可勝在敵」 — 지지 않는 것은 나에게, 이기는 것은 적에게 달림 / 「自保而全勝」 — 자기를 보전하면서 완전한 승리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준비된 자에게 승부는 이미 결정. 「운이 좋아 이긴 것」은 진짜 승리가 아니다. 평소 축적이 모든 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(5/13)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18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兵勢 병세  (병세)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— 기정(奇正)과 세(勢)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凡 戰 者  以 正 合  以 奇 勝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대저 전쟁이란 정공(正)으로 맞붙고, 기습(奇)으로 이긴다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기정상생(奇正相生) — 정과 기는 서로 끝없이 바뀐다 / 「激水之疾 至於漂石者 勢也」 — 격류가 돌을 띄우는 것이 곧 세 / 「善戰者 求之於勢 不責於人」 — 잘 싸우는 자는 사람을 탓하지 않고 세를 구한다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정공으로 안정, 기습으로 승부. 「에너지의 운용」이 전부 — 형세를 만든 자가 이긴다.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(6/13)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19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虛實 허실  (허실)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제6편 — 허와 실 · 주도권의 비밀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避 實 而 擊 虛   兵 形 象 水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실(實)을 피하고 허(虛)를 친다 / 군대의 형세는 물과 같다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「致人而不致於人」 — 남을 끌고 다니되 끌려다니지 않는다 — 주도권 / 「兵形象水」 — 물이 지형에 따르듯 적정(敵情)에 따라 변한다 / 적의 강한 곳을 피하고 약한 곳을 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경쟁에서 「내가 강한 곳, 적이 약한 곳」으로 승부를 옮기는 능력. 주도권을 잡고 놓지 않는 자가 이긴다.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(7/13)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20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軍爭 군쟁  (군쟁)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제7편 — 우직지계 · 풍림화산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其 疾 如 風  其 徐 如 林  侵 掠 如 火  不 動 如 山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빠르기는 바람, 느림은 숲, 침략은 불, 움직이지 않음은 산같이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우직지계(迂直之計) — 돌아가는 길이 빠른 길 / 풍림화산(風林火山) — 4가지 행군 자세 — 일본 다케다 신겐의 「풍림화산」 깃발의 원전 / 「以迂爲直 以患爲利」 — 우회를 직진으로, 어려움을 이점으로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직진이 항상 빠른 길이 아니다 — 돌아가는 지혜. 4가지 속도와 자세를 자유롭게 전환할 수 있는 유연성.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(8/13)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21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九變 구변  (구변)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제8편 — 아홉 가지 변통 · 장수의 다섯 위험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將 有 五 危 — 必 死 · 必 生 · 忿 速 · 廉 潔 · 愛 民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장수의 다섯 위험 — 죽기만 하려는 것·살기만 하려는 것·성내고 급한 것·청렴함에 매이는 것·백성을 사랑하기에 매이는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구변(九變) — 9가지 변통의 원리 / 장수의 다섯 위험 — 극단의 덕도 결정적 약점 / 「君命有所不受」 — 임금의 명도 거역할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한 덕목에 고착되면 그것이 곧 약점. 청렴·애민·용감조차 극단이면 위험. 상황에 따른 변통이 곧 능력.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(9/13)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行軍 행군  (행군)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제9편 — 행군과 진영 · 적정 관찰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辭 卑 而 益 備 者  進 也   辭 强 而 進 驅 者  退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말이 겸손하면서 준비가 많으면 진격할 것이고, 말이 강하면서 전진하면 물러나려는 것이다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32가지 적정 관찰법 — 적의 말·행동·연기·새의 움직임 등으로 의도 파악 / 「兵非益多」 — 군대가 많은 것이 능사가 아니다 / 「令之以文 齊之以武」 — 文으로 명령하고 武로 가지런히 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관찰의 힘 — 표면이 아닌 패턴을 읽는 안목. 협상장의 미세한 신호 읽기, 데이터 행간 읽기의 원형.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(10/13)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地形 지형  (지형)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제10편 — 여섯 가지 지형과 장수의 리더십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視 卒 如 嬰 兒  故 可 與 之 赴 深 谿   視 卒 如 愛 子  故 可 與 之 俱 死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병사를 갓난아기처럼 보면 깊은 골짜기에도 같이 갈 수 있고, 사랑하는 자식처럼 보면 함께 죽을 수 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여섯 가지 지형 — 통(通)·괘(掛)·지(支)·애(隘)·험(險)·원(遠) / 「知彼知己 知天知地 勝乃可全」 — 적·나·하늘·땅을 다 알아야 완전한 승리 / 장수의 인격 — 병사를 자기 몸으로 본다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환경(地)에 대한 분석 + 부하에 대한 사랑 — 리더십의 양 축. 「내 사람」으로 만드는 능력.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(11/13)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九地 구지  (구지)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제11편 — 아홉 가지 전장 상황 · 사지즉전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投 之 亡 地 然 後 存  陷 之 死 地 然 後 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망할 곳에 던진 뒤에야 살아나고, 죽을 곳에 빠뜨린 뒤에야 살아난다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구지(九地) — 산지·경지·쟁지·교지·구지·중지·비지·위지·사지 / 「사지즉전(死地則戰)」 — 죽을 곳에서는 결사적으로 싸운다 / 배수진의 사상적 원형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편안한 곳에서 안주하면 무너지고, 절박한 곳에서 결사적이면 살아난다 — 위기의 역설.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(12/13)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火攻 화공  (화공)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제12편 — 화공의 다섯 유형 · 전쟁의 신중함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亡 國 不 可 以 復 存  死 者 不 可 以 復 生   故 明 主 慎 之  良 將 警 之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망한 나라는 되살릴 수 없고, 죽은 자는 다시 살릴 수 없다 / 그러므로 명군은 신중하고 양장은 경계한다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화공오법(火攻五法) — 인(人)·적(積)·치(輜)·고(庫)·대(隊)의 다섯 유형 / 그러나 마지막 메시지는 「전쟁의 비가역성」 / 「非利不動 非得不用 非危不戰」 — 이익이 없으면 움직이지 말라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극단적 수단도 알아두되, 절대 가볍게 쓰지 말라. 전쟁(경쟁)은 되돌릴 수 없는 결과를 낳는다는 경고.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Ⅴ. 13편 깊이 읽기 (13/13)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26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F2A44"/>
                </a:solidFill>
                <a:latin typeface="Batang"/>
              </a:rPr>
              <a:t>用間 용간  (용간)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제13편 — 정보전 · 다섯 종류의 간첩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B1A1A"/>
                </a:solidFill>
                <a:latin typeface="Batang"/>
              </a:rPr>
              <a:t>故 明 君 賢 將  所 以 動 而 勝 人  成 功 出 於 衆 者  先 知 也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>
                <a:solidFill>
                  <a:srgbClr val="556070"/>
                </a:solidFill>
                <a:latin typeface="맑은 고딕"/>
              </a:rPr>
              <a:t>명군과 어진 장수가 움직여 이기고 무리에 뛰어난 공을 세우는 까닭은 「먼저 아는 것(先知)」 때문이다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핵심 가르침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오간(五間) — 향간(鄕間)·내간(內間)·반간(反間)·사간(死間)·생간(生間) / 「선지(先知)」 — 먼저 아는 자가 이긴다 / 정보의 가치 — 천금을 아끼지 말라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적용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03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정보는 가장 적은 비용으로 가장 큰 효과를 낳는 무기. 현대의 인텔리전스·시장 정보·HR이 모두 「용간편」의 후예.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27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不 戰 勝  (부전승)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모공 — 손자병법의 정점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「不戰而屈人之兵 善之善者也」 — 싸우지 않고 굴복시키는 것이 최선
· 우선순위 — 벌모(伐謀) → 벌교(伐交) → 벌병(伐兵) → 벌성(攻城)
· 「百戰百勝 非善之善者也」 — 백전백승도 최선이 아니다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 이전에 전략으로, 충돌 이전에 협상으로 이긴다.
현대 협상학·블루오션 전략·연합 외교의 동양적 원천.
「싸우지 않고 이기는 자가 가장 강한 자」.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28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知 彼 知 己  (지피지기)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제3편 모공 — 가장 자주 인용되는 명제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· 「知彼知己 百戰不殆」 — 적을 알고 나를 알면 백 번 싸워도 위태롭지 않다
· 「不知彼而知己 一勝一負」 — 적을 모르고 나만 알면 반은 이기고 반은 진다
· 「不知彼不知己 每戰必敗」 — 둘 다 모르면 매번 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자기 인식(知己)이 적 분석(知彼)에 선행한다 — 「나를 모르면 적도 모른다」.
현대 SWOT 분석·자기 진단·데이터 분석의 2,500년 선행 원리.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29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五 事 七 計  (오사칠계)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시계 — 전쟁 분석의 다섯 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오사(五事) — 道(도)·天(천)·地(지)·將(장)·法(법)
  도(道) — 명분 · 천(天) — 시기 · 지(地) — 환경 · 장(將) — 리더 · 법(法) — 시스템
칠계(七計) — 7가지 구체 비교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5가지 차원의 종합 분석 — 「대의 + 타이밍 + 환경 + 리더 + 시스템」.
현대 경영의 PEST/5 forces 분석과 직접 통한다.
특히 「도(道)」가 첫 번째 — 명분 없는 전쟁은 시작부터 진다.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30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奇 正 / 虛 實  (기정·허실)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병세 · 제6편 허실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「以正合 以奇勝」 — 정공으로 맞붙고, 기습으로 이긴다
기정상생(奇正相生) — 정과 기는 끝없이 바뀐다
「避實而擊虛」 — 실을 피하고 허를 친다
「兵形象水」 — 물처럼 형태를 바꾼다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정공(기본 역량)이 있어야 기습(혁신)이 통한다.
경쟁에서 「내가 강한 곳, 상대가 약한 곳」으로 옮기는 능력.
블루오션이 곧 「허(虛)」, 레드오션이 곧 「실(實)」.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31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勢  (세)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제5편 병세 — 활시위의 에너지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「激水之疾 至於漂石者 勢也」 — 격류가 돌을 띄우는 것이 세
「善戰者 求之於勢 不責於人」 — 잘 싸우는 자는 사람을 탓하지 않고 세를 구한다
「勢如張弩 節如發機」 — 활시위처럼 모으고 방아쇠처럼 풀어낸다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개인의 노력보다 「형세의 운용」이 우선.
트렌드·조류·모멘텀을 만드는 자가 이긴다.
현대 마케팅의 momentum, 정치의 기세, 스타트업의 PMF — 모두 「세」의 변주.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Ⅵ. 핵심 사상 6기둥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Batang"/>
              </a:rPr>
              <a:t>詭 道  (궤도)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제1편 시계 — 전쟁의 본질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0972800" cy="155448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>
                <a:solidFill>
                  <a:srgbClr val="1F2A44"/>
                </a:solidFill>
                <a:latin typeface="맑은 고딕"/>
              </a:rPr>
              <a:t>「兵者 詭道也」 — 전쟁은 본질적으로 속임수
「能而示之不能 用而示之不用」 — 능력을 감추고 의도를 가린다
「近而示之遠 遠而示之近」 — 가까이서 멀리 보이게, 멀리서 가까이 보이게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B1A1A"/>
                </a:solidFill>
                <a:latin typeface="맑은 고딕"/>
              </a:rPr>
              <a:t>◆ 오늘에의 함의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경쟁에서 「투명성」은 미덕이 아니다 — 정보 비대칭이 곧 무기.
포커·협상·시장 전략 — 「내 패를 보여주지 않는 것」이 기본.
현대 정보전·심리전의 원형.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제1편 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者  國 之 大 事  死 生 之 地  存 亡 之 道  不 可 不 察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전쟁은 나라의 중대사 · 죽고 사는 터전, 존속하고 망하는 길이니, 살피지 않을 수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손자병법의 첫 문장. 신중함이 모든 전략의 출발이라는 선언. 전쟁(경쟁)은 가벼이 시작할 일이 아니다.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제1편 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者  詭 道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전쟁은 본질적으로 속임수이다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정직함이 미덕이 아닌 영역. 정보의 비대칭이 곧 우위 — 포커·협상·시장의 기본 원리.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제2편 작전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聞 拙 速  未 睹 巧 之 久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서툴더라도 빠른 것은 들었어도, 교묘하면서 오래 끄는 것은 본 적이 없다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졸속(拙速)의 원리. 완벽 강박을 버리고 빠른 실행. 「good enough, but fast」의 가장 짧은 원전.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36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不 戰 而 屈 人 之 兵  善 之 善 者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싸우지 않고 적의 군대를 굴복시키는 것이 최선 중의 최선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 전체의 정점. 「최고의 승리는 전쟁 자체가 없는 것」 — 협상·외교·연합의 원천 명제.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37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知 彼 知 己  百 戰 不 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적을 알고 나를 알면 백 번 싸워도 위태롭지 않다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손자병법에서 가장 자주 인용되는 한 줄. 「위태롭지 않다」는 표현이 핵심 — 백전백승이 아니라 「불태(不殆)」.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38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제3편 모공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上 兵 伐 謀  其 次 伐 交  其 次 伐 兵  其 下 攻 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최상은 적의 계책을 깨고, 그 다음은 외교를 깨며, 그 다음이 군대 · 가장 하책이 성을 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경쟁의 우선순위. 직접 충돌은 마지막. 머리 → 관계 → 무력 → 정면 충돌 — 모든 영역에 적용되는 위계.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(7/16)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39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제4편 군형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勝 兵 先 勝 而 後 求 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이기는 군대는 먼저 이기고 나서 싸운다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준비된 자에게 승부는 이미 결정 — 「선승이후구전」. 「운으로 이긴 승리」는 진짜 승리가 아니다.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(8/16)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40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제5편 병세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以 正 合  以 奇 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정공으로 맞붙고, 기습으로 이긴다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기정(奇正)의 원리. 정공(기본 역량)이 있어야 기습(혁신)이 통한다 — 둘은 끊임없이 바뀐다.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(9/16)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41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제5편 병세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激 水 之 疾  至 於 漂 石 者  勢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격류가 돌을 띄우는 것이 곧 세(勢)이다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개인의 힘이 아니라 「세」의 운용. 격류는 본래 무거운 돌도 띄운다 — 형세를 만드는 자가 이긴다.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(10/16)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제6편 허실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兵 形 象 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군대의 형세는 물과 같다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물이 지형에 따라 흐르듯, 전략은 적정(敵情)에 따라 변한다. 손자병법의 가장 시적인 비유.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(11/16)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제6편 허실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致 人 而 不 致 於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남을 끌고 다니되, 끌려다니지 않는다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주도권의 정의. 모든 경쟁의 본질은 「누가 누구를 끌고 다니는가」 — 게임의 룰을 정하는 자가 이긴다.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(12/16)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제7편 군쟁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其 疾 如 風  其 徐 如 林  侵 掠 如 火  不 動 如 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빠를 때는 바람처럼, 느릴 때는 숲처럼, 칠 때는 불처럼, 멈출 때는 산처럼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풍림화산(風林火山). 일본 다케다 신겐의 깃발 문장. 4가지 속도·자세를 자유로이 전환하는 유연성의 표상.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(13/16)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제7편 군쟁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以 迂 爲 直  以 患 爲 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돌아가는 것을 직진으로 삼고, 어려움을 이점으로 삼는다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우직지계(迂直之計). 직진이 항상 빠른 길이 아니다 — 돌아가는 지혜. 어려움 속에서 기회를 보는 안목.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(14/16)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46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제8편 구변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君 命 有 所 不 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임금의 명령도 받지 않을 수 있다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장수의 전권 위임. 손무가 후궁 일화에서 실제 적용한 원칙. 현장의 판단이 본부의 명령보다 우선할 때가 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(15/16)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47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제11편 구지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投 之 亡 地 然 後 存  陷 之 死 地 然 後 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망할 곳에 던진 뒤에야 살아나고, 죽을 곳에 빠뜨린 뒤에야 살아난다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사지즉전(死地則戰). 배수진의 사상적 원형. 절박함이 곧 동력 — 위기의 역설.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Ⅶ. 명구 16선 (16/16)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48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822960"/>
            <a:ext cx="1170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6070"/>
                </a:solidFill>
                <a:latin typeface="맑은 고딕"/>
              </a:rPr>
              <a:t>제13편 용간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72800" cy="237744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8B1A1A"/>
                </a:solidFill>
                <a:latin typeface="Batang"/>
              </a:rPr>
              <a:t>故 明 君 賢 將  所 以 動 而 勝 人  成 功 出 於 衆 者  先 知 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1F2A44"/>
                </a:solidFill>
                <a:latin typeface="맑은 고딕"/>
              </a:rPr>
              <a:t>명군과 어진 장수가 움직여 이기는 까닭은, 「먼저 아는 것(先知)」 때문이다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114800"/>
            <a:ext cx="1097280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389120"/>
            <a:ext cx="109728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1F2A44"/>
                </a:solidFill>
                <a:latin typeface="맑은 고딕"/>
              </a:rPr>
              <a:t>정보의 가치. 가장 적은 비용으로 가장 큰 효과 — 현대 인텔리전스·시장 정보·HR의 2,500년 선행 명제.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49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동아시아의 손자병법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중국·한국·일본 — 2,500년의 영향사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중국 — 조조·제갈량·이정·악비 등 역대 명장의 필독서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조조 『위무주손자』 — 현존 가장 권위 있는 주석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송 무경칠서의 첫머리 — 무과 시험 필수 과목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한국 — 충무공 이순신의 애독서 · 조선 무과의 강경 과목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『난중일기』 곳곳에 「知彼知己」·「先勝而後求戰」의 정신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일본 — 다케다 신겐의 「풍림화산(風林火山)」 깃발 (제7편 군쟁 인용)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도쿠가와 이에야스 평생 옆에 두고 읽음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메이지 이후 — 일본 육사·해사의 정식 교재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베트남 — 호치민이 인용한 「以迂爲直」의 게릴라 전략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50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서양으로 건너간 손자병법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1772년 아미오의 프랑스어 번역 → 나폴레옹 → 슈워츠코프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1772 — 예수회 선교사 아미오(J.J.M. Amiot)의 프랑스어 첫 번역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「Art Militaire des Chinois」 — 중국인의 전쟁술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나폴레옹 — 손자병법을 깊이 연구했다는 기록 · 일부 전기에 언급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20세기 — 영어 번역(Lionel Giles, 1910)으로 본격 확산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1">
                <a:solidFill>
                  <a:srgbClr val="8B1A1A"/>
                </a:solidFill>
                <a:latin typeface="맑은 고딕"/>
              </a:rPr>
              <a:t>● 1991 걸프전 — 슈워츠코프(Norman Schwarzkopf) 사령관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>
                <a:solidFill>
                  <a:srgbClr val="556070"/>
                </a:solidFill>
                <a:latin typeface="맑은 고딕"/>
              </a:rPr>
              <a:t>     · 「내 책상엔 늘 손자병법이 있었다」 — 우회 기동(left hook)이 「以迂爲直」 응용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</a:pPr>
            <a:r>
              <a:rPr sz="1700" b="0">
                <a:solidFill>
                  <a:srgbClr val="1F2A44"/>
                </a:solidFill>
                <a:latin typeface="맑은 고딕"/>
              </a:rPr>
              <a:t>● 마오쩌둥의 게릴라 전술 · 미 해병대·서점가 베스트셀러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600" b="1">
                <a:solidFill>
                  <a:srgbClr val="8B1A1A"/>
                </a:solidFill>
                <a:latin typeface="맑은 고딕"/>
              </a:rPr>
              <a:t>● 영문판이 동양 고전 중 가장 많이 팔린 책 — 서양에서 가장 사랑받는 동양 병서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Ⅷ. 동서양 후대 영향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51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현대 응용 — 군사를 넘어 경영·외교·일상으로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경영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2140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마이클 포터의 경쟁 전략 · 블루오션 · 차별화 — 「避實擊虛」의 직역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06039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06039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협상학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24327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하버드 협상론 · BATNA · 정보 비대칭 — 「兵者詭道」의 응용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896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마케팅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2724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포지셔닝 · 모멘텀 · 차별화 — 「勢」와 「奇正」의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61188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스포츠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63016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농구·축구의 전술 다양화 — 풍림화산의 4가지 페이스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1480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1480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정보·HR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13308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인텔리전스 · 인재 분석 · 인사 평가 — 「先知」와 「五間」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자기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63600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「知己」가 곧 자기 인식 · 「先勝而後求戰」이 곧 준비된 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12064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IT·스타트업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513892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아마존 베조스 등 — 「拙速」 = 「Move fast, ship fast」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623560"/>
            <a:ext cx="2560320" cy="4114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623560"/>
            <a:ext cx="25603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일본 기업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641848"/>
            <a:ext cx="8412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F2A44"/>
                </a:solidFill>
                <a:latin typeface="맑은 고딕"/>
              </a:rPr>
              <a:t>소니·도요타의 「변통」 — 「九變」과 「兵形象水」의 응용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짝 책들 — 비교 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52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동양 병서의 큰 지도 — 손자를 중심으로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오자병법·삼십육계·육도삼략과의 관계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743200" cy="50292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atang"/>
              </a:rPr>
              <a:t>孫子兵法 손자병법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945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56070"/>
                </a:solidFill>
                <a:latin typeface="맑은 고딕"/>
              </a:rPr>
              <a:t>손무 · 13편 6,000자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전쟁의 본질 · 부전승의 철학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1945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본 PPT의 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吳子兵法 오자병법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7432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오기 · 6편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7432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군사 행정 · 장수와 사기 · 실전 매뉴얼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274320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91839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91839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三十六計 삼십육계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9183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저자·시대 불명 · 36계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291839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구체적 계책 매뉴얼 · 모공의 「벌모」 사례집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9183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응용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840479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79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六韜 三略 육도삼략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404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강태공·황석공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840479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제왕학의 병서 · 통치와 결합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3840479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보완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司馬法 사마법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891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전양저 · 5편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38912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군의 윤리(軍禮)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38912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무경칠서 동기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93776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377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尉繚子 울료자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49377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울료 · 24편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93776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법치 군사론 · 엄정한 군기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92640" y="493776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무경칠서 동기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486400"/>
            <a:ext cx="2743200" cy="502920"/>
          </a:xfrm>
          <a:prstGeom prst="rect">
            <a:avLst/>
          </a:prstGeom>
          <a:solidFill>
            <a:srgbClr val="F5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48640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F2A44"/>
                </a:solidFill>
                <a:latin typeface="Batang"/>
              </a:rPr>
              <a:t>李衛公問對 이위공문대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486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6070"/>
                </a:solidFill>
                <a:latin typeface="맑은 고딕"/>
              </a:rPr>
              <a:t>이정 · 3권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486400"/>
            <a:ext cx="3657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F2A44"/>
                </a:solidFill>
                <a:latin typeface="맑은 고딕"/>
              </a:rPr>
              <a:t>당대 전략 문답 · 정·기의 변용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48640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B1A1A"/>
                </a:solidFill>
                <a:latin typeface="맑은 고딕"/>
              </a:rPr>
              <a:t>손자의 해설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Ⅸ. 짝 책들 — 비교 지도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53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손자와 짝 — 같이 읽으면 좋은 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704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56070"/>
                </a:solidFill>
                <a:latin typeface="맑은 고딕"/>
              </a:rPr>
              <a:t>「장수의 눈」과 「왕의 눈」을 함께 가지는 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394960" cy="91440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tang"/>
              </a:rPr>
              <a:t>孫 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장수의 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6,000자의 압축
전장의 정밀한 승부 기술
전술과 운용 중심
「부전승」의 철학
좁고 깊은 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103120"/>
            <a:ext cx="5394960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394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Batang"/>
              </a:rPr>
              <a:t>六 韜 三 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53949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8A25B"/>
                </a:solidFill>
                <a:latin typeface="맑은 고딕"/>
              </a:rPr>
              <a:t>왕의 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1F2A44"/>
                </a:solidFill>
                <a:latin typeface="맑은 고딕"/>
              </a:rPr>
              <a:t>수만 자의 풍부
천하 창건의 정치
통치와 인재 중심
「천하공유」의 철학
넓고 풍부한 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556070"/>
                </a:solidFill>
                <a:latin typeface="맑은 고딕"/>
              </a:rPr>
              <a:t>한신(韓信)이 손자병법의 장수, 장량(張良)이 삼략의 책사 — 한(漢) 건국의 두 축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54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손자병법이 오늘 우리에게 일러주는 10가지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1. 신중하라 — 큰 결정 앞에서는 「오사칠계」로 다섯 차원을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2. 싸우지 않고 이기는 길을 먼저 찾아라 — 부전승의 우선순위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3. 적보다 자기를 먼저 알라 — 「知己」가 「知彼」에 선행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4. 빠른 부족이 늦은 완벽보다 낫다 — 졸속의 원리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5. 준비된 자에게 승부는 이미 결정 — 「先勝而後求戰」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6. 정공과 기습을 자유로이 전환하라 — 기정의 운용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7. 강한 곳을 피하고 약한 곳을 쳐라 — 「避實擊虛」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83479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8. 직진이 항상 빠른 길이 아니다 — 우직지계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9. 한 덕목에 고착되면 그것이 약점 — 장수의 다섯 위험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F2A44"/>
                </a:solidFill>
                <a:latin typeface="맑은 고딕"/>
              </a:rPr>
              <a:t>10. 정보가 가장 적은 비용으로 가장 큰 효과 — 「先知」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0"/>
                </a:solidFill>
                <a:latin typeface="맑은 고딕"/>
              </a:rPr>
              <a:t>Ⅹ. 오늘 우리에게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27432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56070"/>
                </a:solidFill>
                <a:latin typeface="맑은 고딕"/>
              </a:rPr>
              <a:t>55 / 56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594360"/>
            <a:ext cx="11704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777240"/>
            <a:ext cx="11704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맑은 고딕"/>
              </a:rPr>
              <a:t>손자병법, 한 폭으로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600"/>
              </a:spcBef>
            </a:pPr>
            <a:r>
              <a:rPr sz="1800" b="1">
                <a:solidFill>
                  <a:srgbClr val="8B1A1A"/>
                </a:solidFill>
                <a:latin typeface="맑은 고딕"/>
              </a:rPr>
              <a:t>● 손무가 BC 6세기 말 오나라에서 합려에게 바친 13편 6,000자.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동양 최고(最古)·최고(最高)의 병서, 무경칠서의 첫머리.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6대 핵심 사상 — 부전승·지피지기·오사칠계·기정허실·세·궤도.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풍림화산·우직지계·졸속·선승이후구전·사지즉전·선지 — 일상에 살아 있는 표현.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800" b="0">
                <a:solidFill>
                  <a:srgbClr val="1F2A44"/>
                </a:solidFill>
                <a:latin typeface="맑은 고딕"/>
              </a:rPr>
              <a:t>● 조조의 주석 · 이순신의 애독서 · 다케다 신겐의 깃발 · 슈워츠코프의 책상.</a:t>
            </a:r>
          </a:p>
          <a:p>
            <a:pPr algn="l">
              <a:lnSpc>
                <a:spcPct val="135000"/>
              </a:lnSpc>
              <a:spcBef>
                <a:spcPts val="1400"/>
              </a:spcBef>
            </a:pPr>
            <a:r>
              <a:rPr sz="1900" b="1">
                <a:solidFill>
                  <a:srgbClr val="8B1A1A"/>
                </a:solidFill>
                <a:latin typeface="맑은 고딕"/>
              </a:rPr>
              <a:t>● 그리고 무엇보다, 「병법서이면서 싸우지 말라는」 위대한 역설의 책.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1F2A44"/>
                </a:solidFill>
                <a:latin typeface="Batang"/>
              </a:rPr>
              <a:t>不 戰 而 屈 人 之 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8B1A1A"/>
                </a:solidFill>
                <a:latin typeface="Batang"/>
              </a:rPr>
              <a:t>善 之 善 者 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3931920"/>
            <a:ext cx="4846320" cy="0"/>
          </a:xfrm>
          <a:prstGeom prst="line">
            <a:avLst/>
          </a:prstGeom>
          <a:ln w="25400">
            <a:solidFill>
              <a:srgbClr val="C8A2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싸 우 지  않 고  적 의  군 대 를  굴 복 시 키 는  것 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634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556070"/>
                </a:solidFill>
                <a:latin typeface="맑은 고딕"/>
              </a:rPr>
              <a:t>최 선  중 의  최 선 이 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556070"/>
                </a:solidFill>
                <a:latin typeface="맑은 고딕"/>
              </a:rPr>
              <a:t>— 손자병법 제3편 모공(謀攻)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1F2A44"/>
                </a:solidFill>
                <a:latin typeface="Batang"/>
              </a:rPr>
              <a:t>孫  子  兵  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