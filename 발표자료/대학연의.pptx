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맑은 고딕"/>
              </a:rPr>
              <a:t>제왕학의 — 절대 — 교본 · 자기 수양에서 천하 평정까지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1247120" cy="1828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800" b="1">
                <a:solidFill>
                  <a:srgbClr val="1F2A44"/>
                </a:solidFill>
                <a:latin typeface="Batang"/>
              </a:rPr>
              <a:t>大 學 衍 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0">
                <a:solidFill>
                  <a:srgbClr val="8B1A1A"/>
                </a:solidFill>
                <a:latin typeface="맑은 고딕"/>
              </a:rPr>
              <a:t>대 학 연 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Batang"/>
              </a:rPr>
              <a:t>人 心 惟 危  道 心 惟 微    惟 精 惟 一  允 執 厥 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진덕수(眞德秀, 1178~1235) · 1234년 진헌 · 43권 약 60만 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송 이종에게 — 「대학」 8조목 중 — 격물·치지·성의·정심·수신·제가까지의 — 정수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목 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194560"/>
            <a:ext cx="4846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개요 — 대학연의란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Ⅱ.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697480"/>
            <a:ext cx="4846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진덕수와 송대 도학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Ⅲ.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200400"/>
            <a:ext cx="4846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책의 정체 — 자치통감과의 대비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03320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Ⅳ.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703320"/>
            <a:ext cx="4846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대학 8조목 구성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06240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Ⅴ.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206240"/>
            <a:ext cx="4846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6부 깊이 읽기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09160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Ⅵ.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709160"/>
            <a:ext cx="4846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핵심 사상 — 16자 심전·민본·덕치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194560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Ⅶ.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194560"/>
            <a:ext cx="4846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진덕수의 4가지 통찰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697480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Ⅷ.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2697480"/>
            <a:ext cx="4846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한국 수용사 — 세종·율곡·정조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200400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Ⅸ.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200400"/>
            <a:ext cx="4846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명 구준의 「대학연의보」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703320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Ⅹ.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703320"/>
            <a:ext cx="4846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명구·고사성어 22선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206240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Ⅺ.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206240"/>
            <a:ext cx="4846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후대 영향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709160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Ⅻ.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4709160"/>
            <a:ext cx="4846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마무리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한눈에 보는 대학연의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핵심 정보를 한 표로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920240" cy="521207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18288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서명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965960"/>
            <a:ext cx="96012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大學衍義 — 「대학의 의미를 확장 해설」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87168"/>
            <a:ext cx="1920240" cy="521207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2532888"/>
            <a:ext cx="18288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저자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532888"/>
            <a:ext cx="96012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진덕수(眞德秀, 1178~1235) — 서산(西山) 선생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54096"/>
            <a:ext cx="1920240" cy="521207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48640" y="3099815"/>
            <a:ext cx="18288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진헌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099815"/>
            <a:ext cx="96012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1234년 — 송 이종(理宗)에게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21024"/>
            <a:ext cx="1920240" cy="521207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48640" y="3666744"/>
            <a:ext cx="18288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분량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3666744"/>
            <a:ext cx="96012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43권 · 약 60만 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87952"/>
            <a:ext cx="1920240" cy="521207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8640" y="4233672"/>
            <a:ext cx="18288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다룬 조목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4233672"/>
            <a:ext cx="96012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「대학」 8조목 중 격물·치지·성의·정심·수신·제가까지 (6조목)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54880"/>
            <a:ext cx="1920240" cy="521207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48640" y="4800600"/>
            <a:ext cx="18288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미완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4800600"/>
            <a:ext cx="96012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치국·평천하 — 명대 구준 「대학연의보」(1487)가 250년 후 보완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321808"/>
            <a:ext cx="1920240" cy="521207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48640" y="5367528"/>
            <a:ext cx="18288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위상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5367528"/>
            <a:ext cx="96012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「제왕학의 절대 교본」 — 송·원·명·청·조선 600년의 군주 필독서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「衍義」 — 이름의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「대학의 의미를 확장 해설」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993392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두 한자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衍 — 「확장한다」, 「넓힌다」.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義 — 「의미」, 「뜻」.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→ 「원전의 의미를 — 풀어 — 자세히 펴낸다」.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86912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3560064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왜 「연의」를 했는가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62400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「대학」의 원문은 — 매우 짧음. 약 1,750자. 8조목의 핵심 원리만.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진덕수가 각 조목의 의미를 자세히 펴 — 「경전 인용 + 역사 사례 + 자기 평론」 3중 구조.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53584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" y="5126736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「衍義」 vs 「演義」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29072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衍義(대학연의) — 「의미를 확장한다(衍)」 — 학술적 해설.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演義(삼국지연의) — 「의미를 펼친다(演)」 — 문학적 풀이.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같은 발음, 다른 한자, 다른 — 본질.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핵심 — 자기 수양 + 정치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8조목의 — 흐름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993392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대학 8조목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格物 → 致知 → 誠意 → 正心 → 修身 → 齊家 → 治國 → 平天下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「자기 사물 인식 → 마음 정립 → 몸 닦음 → 가정 → 나라 → 천하」.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86912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3560064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자기 수양이 — 모든 정치의 — 시작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62400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진덕수의 가장 깊은 한 문장 — 「자기 가정을 다스리지 못한 자가 천하를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다스리겠다 한다면, 그것은 자기 집 마당의 풀도 못 깎으면서 큰 들의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농사를 짓겠다 함과 같습니다.」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53584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" y="5126736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대학연의의 의도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29072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「대학」의 8조목을 — 황제의 자기 수양·통치 교본으로 — 확장.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주자(朱熹)가 「대학」을 사서의 정수로 자리매김 → 진덕수가 그 「대학」을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제왕의 절대 교본으로 — 한 단계 — 더 — 깊이 발전.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진덕수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진덕수 (1/3) — 「서산 선생」 한 사람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주자의 재전 제자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993392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생애의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1178년 — 복건성 포성(浦城) 출생. 자 — 경원/경희. 호 — 서산(西山).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부친 — 가난한 선비, 일찍 사망. 어려서 어머니에게 학문을 배움.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86912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3560064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학통 — 주자의 재전 제자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62400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스승 — 첨체인(詹體仁) — 주희(朱熹)의 직접 제자.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진덕수 — 주자의 재전(再傳) 제자.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53584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" y="5126736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박해의 시대 — 한탁주의 「경원당금」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29072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주자학이 — 「위학(僞學, 가짜 학문)」으로 박해받는 시기.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진덕수의 청년기. 자기 신념을 굽히지 않음.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1199년 — 24세 — 진사 합격. 여러 지방관 — 청렴·근면.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진덕수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진덕수 (2/3) — 송 이종의 스승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대학연의 진헌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993392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최고위 관료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한탁주 사후 — 주자학 정통 회복. 진덕수의 학문 빛남.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한림학사·참지정사(부재상)·호부상서 — 최고위.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86912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3560064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송 이종의 깊은 존경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62400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이종 — 진덕수를 「서산 선생」으로 호칭하며 가르침을 받음.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진덕수 — 이종에게 자주 — 「臣 按」 직간.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53584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" y="5126736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대학연의 진헌 — 1234년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29072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송 이종 단평 원년 — 대학연의 43권 완성 — 이종에게 진헌.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이종 — 깊이 감복. 「짐의 가장 큰 스승의 책」이라 평가.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진덕수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진덕수 (3/3) — 「치국평천하」의 미완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1235년 사망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993392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1235년 사망 — 향년 58세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대학연의 진헌 다음 해 — 사망.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「치국평천하 부분을 — 마저 — 쓰지 못한 — 한」.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86912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3560064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미완성 — 치국·평천하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62400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「대학」 8조목 중 — 격물치지·성의정심·수신·제가까지만.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치국·평천하 — 250년 후 명 구준의 「대학연의보」(1487)가 보완.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53584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" y="5126736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다른 저작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29072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「서산독서기」 — 자기 독서 기록.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「문공어록」 — 주희의 어록 정리.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「심경(心經)」 — 마음의 본질에 대한 어록.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→ 송대 — 주자학의 — 마지막 거유.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책의 정체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9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5부 + 12강령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43권을 한 표로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920240" cy="521207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18288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제1부 (권1~4)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965960"/>
            <a:ext cx="96012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서론 — 帝王爲治之序 + 帝王爲學之本 · 4권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87168"/>
            <a:ext cx="1920240" cy="521207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2532888"/>
            <a:ext cx="18288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제2부 (권5~12)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532888"/>
            <a:ext cx="96012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격물치지의 요 · 8권 · 明道術·辨人材·審民情·察民治 (4강령)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54096"/>
            <a:ext cx="1920240" cy="521207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48640" y="3099815"/>
            <a:ext cx="18288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제3부 (권13~22)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099815"/>
            <a:ext cx="96012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성의정심의 요 · 10권 · 崇敬畏·戒逸欲 (2강령)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21024"/>
            <a:ext cx="1920240" cy="521207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48640" y="3666744"/>
            <a:ext cx="18288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제4부 (권23~32)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3666744"/>
            <a:ext cx="96012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수신의 요 · 10권 · 謹言行·正威儀 (2강령)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87952"/>
            <a:ext cx="1920240" cy="521207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8640" y="4233672"/>
            <a:ext cx="18288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제5부 (권33~43)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4233672"/>
            <a:ext cx="96012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제가의 요 · 11권 · 重妃匹·嚴內治·定國本·敎戚屬 (4강령)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54880"/>
            <a:ext cx="1920240" cy="521207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48640" y="4800600"/>
            <a:ext cx="18288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총 12강령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4800600"/>
            <a:ext cx="96012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각 강령마다 — 경문 + 역사 사례 + 진덕수의 「臣 按」 평론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책의 정체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10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자치통감 vs 대학연의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송대 양대 거작의 대비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920240" cy="521207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18288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저자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965960"/>
            <a:ext cx="96012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사마광 (1019~1086) vs 진덕수 (1178~1235)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87168"/>
            <a:ext cx="1920240" cy="521207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2532888"/>
            <a:ext cx="18288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완성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532888"/>
            <a:ext cx="96012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1084 (북송) vs 1234 (남송) — 150년 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54096"/>
            <a:ext cx="1920240" cy="521207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48640" y="3099815"/>
            <a:ext cx="18288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분량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099815"/>
            <a:ext cx="96012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294권 · 300만 자 vs 43권 · 60만 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21024"/>
            <a:ext cx="1920240" cy="521207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48640" y="3666744"/>
            <a:ext cx="18288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체제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3666744"/>
            <a:ext cx="96012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편년체 1,362년 vs 강목 「대학」 해설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87952"/>
            <a:ext cx="1920240" cy="521207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8640" y="4233672"/>
            <a:ext cx="18288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주제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4233672"/>
            <a:ext cx="96012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「역사」 — 흥망의 거울 vs 「경전 + 역사」 — 자기 수양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54880"/>
            <a:ext cx="1920240" cy="521207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48640" y="4800600"/>
            <a:ext cx="18288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사관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4800600"/>
            <a:ext cx="96012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「資治」 vs 「衍義」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321808"/>
            <a:ext cx="1920240" cy="521207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48640" y="5367528"/>
            <a:ext cx="18288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평론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5367528"/>
            <a:ext cx="96012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「臣光曰」 218회 vs 「臣 按」 반복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888736"/>
            <a:ext cx="1920240" cy="521207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48640" y="5934455"/>
            <a:ext cx="18288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관점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5934455"/>
            <a:ext cx="96012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「천하」의 책 vs 「자기」의 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8조목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11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대학 8조목 — 한눈에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자기에서 천하까지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920240" cy="521207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18288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1. 格物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965960"/>
            <a:ext cx="96012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만물의 이치를 깨달음 — 진덕수 권5~12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87168"/>
            <a:ext cx="1920240" cy="521207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2532888"/>
            <a:ext cx="18288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2. 致知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532888"/>
            <a:ext cx="96012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지식에 이름 — 진덕수 권5~12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54096"/>
            <a:ext cx="1920240" cy="521207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48640" y="3099815"/>
            <a:ext cx="18288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3. 誠意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099815"/>
            <a:ext cx="96012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뜻을 진실되게 — 진덕수 권13~22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21024"/>
            <a:ext cx="1920240" cy="521207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48640" y="3666744"/>
            <a:ext cx="18288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4. 正心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3666744"/>
            <a:ext cx="96012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마음을 바르게 — 진덕수 권13~22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87952"/>
            <a:ext cx="1920240" cy="521207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8640" y="4233672"/>
            <a:ext cx="18288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5. 修身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4233672"/>
            <a:ext cx="96012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자기 몸을 닦음 — 진덕수 권23~32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54880"/>
            <a:ext cx="1920240" cy="521207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48640" y="4800600"/>
            <a:ext cx="18288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6. 齊家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4800600"/>
            <a:ext cx="96012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집안을 다스림 — 진덕수 권33~43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321808"/>
            <a:ext cx="1920240" cy="521207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48640" y="5367528"/>
            <a:ext cx="18288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7. 治國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5367528"/>
            <a:ext cx="96012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나라를 다스림 — 구준 대학연의보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888736"/>
            <a:ext cx="1920240" cy="521207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48640" y="5934455"/>
            <a:ext cx="18288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8. 平天下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5934455"/>
            <a:ext cx="96012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천하를 평정 — 구준 대학연의보 · 총 203권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6부 깊이 읽기 (1/7)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12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제1부 帝王爲學 — 권1~4 (서론)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「왜 제왕이 배워야 하는가」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993392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두 강령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帝王爲治之序 — 다스림의 차례. 帝王爲學之本 — 학문의 근본.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「자기 → 가족 → 백성 → 천하」의 — 순서.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86912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3560064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「16자 심전(十六字心傳)」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62400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「人心惟危 / 道心惟微 / 惟精惟一 / 允執厥中」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순(舜)이 우(禹)에게 천하 양위 시 남긴 — 도학의 가장 깊은 16자.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진덕수 — 「폐하께서는 매일 이 한 구절을 잊지 마십시오」.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53584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" y="5126736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당 태종 vs 진시황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29072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당 태종 — 「평생 배우는 자세」 → 정관의 치.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진시황 — 「분서갱유」 → 15년 멸망.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「학문 없는 통치는 폭정으로 흐른다」.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6부 깊이 읽기 (2/7)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13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제2부 格物致知 — 권5~12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만물의 이치를 깨닫는 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993392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4강령 — 明道術·辨人材·審民情·察民治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明道術 — 천도·인도·심술. 辨人材 — 군자/소인 분별 (가장 분량 큼).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審民情 — 백성의 정. 察民治 — 지난 정치의 흥망.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86912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3560064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군자/소인 — 5가지 분별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62400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喻於義 vs 喻於利 — 의 vs 이익.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和而不同 vs 同而不和 — 조화 vs 편당.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坦蕩蕩 vs 長戚戚 / 周而不比 vs 比而不周 / 求諸己 vs 求諸人.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53584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" y="5126736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民惟邦本·창업이수업난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29072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民惟邦本 — 「백성이 나라의 근본」.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위징 — 「물(백성)은 배(군주)를 띄울 수도 뒤집을 수도 있다」.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創業易 守業難 — 진의 15년 멸망의 가장 깊은 교훈.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6부 깊이 읽기 (3/7)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14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제3부 誠意正心 — 권13~22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마음을 진실되고 바르게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993392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2강령 — 崇敬畏·戒逸欲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崇敬畏 — 경외를 높임. 군자 三畏 — 천명·대인·성인의 말.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戒逸欲 — 방종·욕망을 경계.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86912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3560064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居敬窮理 — 송대 도학의 정수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62400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居敬 — 경에 머무름. 窮理 — 이치를 끝까지.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경(敬) 5가지 적용 — 敬天·敬鬼神·敬人·敬事·敬己.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53584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" y="5126736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4종 반면교사 — 君主의 욕망의 비극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29072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진시황 — 불사약·수은 중독. 한 무제 — 만년 방사 미혹.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당 현종 — 양귀비/안록산의 난. 송 휘종 — 화석강/정강의 변 → 북송 멸망.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진덕수 — 「폐하의 황실에서 가까이 일어난 휘종의 비극을 새기십시오」.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6부 깊이 읽기 (4/7)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15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제4부 修身 — 권23~32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자기 몸을 닦는 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993392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謹言行 — 말과 행동을 삼감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駟不及舌 — 「4마차도 혀를 못 따라잡는다」. 한 번 나온 말은 못 거둠.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訥於言 / 敏於行 — 「말은 더디게, 행동은 빠르게」.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한 고조 약법삼장 — 3가지 약속의 단순함이 400년의 토대.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86912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3560064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正威儀 — 위엄과 의례를 바르게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62400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威而不猛 — 「위엄은 있되 사납지 않게」. 카리스마의 정수.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愼獨 — 「홀로 있을 때 더 삼감」. 자기 수양의 가장 깊은 시험.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克己復禮 為仁 / 反求諸己 — 자기 책임의 정수.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53584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" y="5126736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진시황의 「威而猛」 반면교사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29072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진시황 — 위(威)만 있고 맹(猛)의 절제 없음.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신하 매로 죽임·학자 매장·백성 가혹.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그 결과 — 천하를 15년 만에 잃음.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6부 깊이 읽기 (5/7)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16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제5부 齊家 — 권33~43 (가장 분량 큼)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가정·왕실 다스리기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993392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4강령 — 重妃匹·嚴內治·定國本·敎戚屬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重妃匹 — 황후의 5원칙. 嚴內治 — 후궁·환관 절제.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定國本 — 황태자 일찍 정립. 敎戚屬 — 외척 통제.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86912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3560064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환관의 위험 — 진덕수의 가장 절박한 경고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62400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「환관이 망친 왕조가 동양사 절반이 넘습니다」.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진 — 조고 「指鹿爲馬」 / 한 — 십상시 「당고의 화」 / 당 — 환관 정치.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오늘 — 모든 조직의 「예스맨·측근」의 위험.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53584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" y="5126736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후계자·외척의 비극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29072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진시황의 후계자 정립 실패 — 사구의 음모 → 진 15년 멸망.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조 무령왕 — 사구궁 굶어 죽음.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여태후·왕망·무측천·양국충 — 외척의 4종 반면교사.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6부 깊이 읽기 (6/7)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17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구준의 대학연의보 (1487) — 250년 후 완성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치국·평천하의 보완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993392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구준(丘濬, 1421~1495)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「경산(瓊山) 선생」 — 명 효종 시기 무영전 대학사.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30여 년의 작업 — 1487년 — 67세 — 완성 → 1488년 명 효종에게 진헌.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86912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3560064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분량과 의도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62400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160권 · 약 200만 자 — 대학연의(43권)의 약 4배.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치국 + 평천하 — 진덕수가 못 다룬 마지막 두 조목.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서문 — 「진서산 선생이 못 완성한 한을 풀고자 한다」.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53584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" y="5126736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12강령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29072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正朝廷·正百官·固邦本·制國用·明禮樂·秩祭祀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崇敎化·備規制·愼刑憲·嚴武備·馭夷狄·成功化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「조정이 바르면 천하가 바르다」, 「백성이 근본」, 「환관·재정 — 두 큰 위험」.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6부 깊이 읽기 (7/7)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18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「絜矩之道」와 — 합본 정점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평천하의 근본 + 203권의 완성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993392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「絜矩之道」(혈구지도) — 황금률의 동양적 원형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所惡於上 / 毋以使下 / 所惡於下 / 毋以事上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「윗사람에게 싫었던 것을 아랫사람에게 하지 마라.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아랫사람에게 싫었던 것을 윗사람에게 하지 마라.」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86912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3560064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德治 — 천하는 덕으로 얻고 덕으로 지킨다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62400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진시황 — 무력으로 통일 → 15년 멸망.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한 고조 — 약법삼장(덕) → 400년.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萬世太平 — 한 사람·한 세대가 아니라 — 끊임없는 누적.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53584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" y="5126736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203권의 완성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29072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진덕수 43권 + 구준 160권 = 203권의 완전한 「대학 8조목 백과사전」.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동양 제왕학의 — 가장 깊은 정점.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조선 정조의 「홍재전서」와 정약용 「경세유표」의 토대.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핵심 사상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19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「16자 심전(十六字心傳)」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도학의 가장 깊은 한 가르침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993392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원문 — 「서경」 대우모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人心惟危 / 道心惟微 / 惟精惟一 / 允執厥中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「인간의 마음은 위태롭고, 도(道)의 마음은 미세하다.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오직 정밀히 살피고, 한결같이 지켜야 그 중심을 잡는다.」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86912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3560064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인심 vs 도심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62400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인심(人心) — 자기 욕망에서 나오는 마음 — 항상 끓고 있음.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도심(道心) — 자기 본성에서 나오는 마음 — 미세하여 잘 안 보임.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정(精)·일(一)로 살펴야 — 인심이 도심에 진다.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53584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" y="5126736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진덕수의 강조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29072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순(舜)이 우(禹)에게 천하 양위 시 남긴 16자.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진덕수 — 「폐하께서는 매일 이 한 구절을 잊지 마십시오」.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율곡·퇴계도 깊이 이어받음.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핵심 사상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20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「民惟邦本」 — 민본 사상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백성이 나라의 근본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993392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民惟邦本 — 「서경」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「民惟邦本 / 本固邦寧」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「백성이 나라의 근본이다. 근본이 견고하면 나라가 평안하다.」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86912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3560064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民貴君輕 — 「맹자」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62400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「民爲貴 / 社稷次之 / 君爲輕」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「백성이 가장 귀하고, 사직이 다음, 군주가 가장 가볍다.」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→ 「군주는 백성 위에 있는 자가 아니라, 봉사하는 자」.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53584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" y="5126736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위징의 「舟水」 비유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29072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「水能載舟 / 亦能覆舟」 — 「물은 배를 띄울 수도 뒤집을 수도」.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진덕수 — 「백성에게 직접 물으라」.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평민으로 변장하여 시장에 나가는 자세.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핵심 사상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21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「德治」 — 덕으로 다스림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무력의 한계와 덕의 영원함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993392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「천하는 덕으로 얻고 덕으로 지킨다」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진덕수·구준의 가장 깊은 통찰.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무력으로 얻은 천하는 무력으로 잃는다.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86912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3560064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대비 — 진시황 vs 한 고조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62400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진시황 — 무력으로 천하 통일(BC 221) → 15년 만에 멸망(BC 207).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한 고조 — 약법삼장(殺人者死·傷人者刑·盜者刑)의 단순한 덕 → 한 400년.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53584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" y="5126736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검약(儉約) — 한 문제·경제의 「문경지치」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29072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자기 욕망을 절제, 백성 부담을 줄이는 자세.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한 문제 — 자기 옷 검은 베옷, 무덤 작게, 세금 절반으로.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결과 — 한 인구·경제 번성. 한 400년의 가장 큰 토대.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핵심 사상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22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「絜矩之道」 — 황금률의 동양적 원형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평천하의 근본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993392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원문 — 「대학」 마지막 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所惡於上 / 毋以使下 / 所惡於下 / 毋以事上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「윗사람에게 싫었던 것을 아랫사람에게 하지 마라.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아랫사람에게 싫었던 것을 윗사람에게 하지 마라.」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86912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3560064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「자기를 자(矩)로 — 다른 사람의 마음을 헤아림」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62400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자기 마음에 비추어 다른 사람의 마음을 헤아리는 자세.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「남에게 자기가 받기 싫은 것을 하지 마라」 — 동양의 황금률.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53584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" y="5126736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평천하의 자연성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29072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한 황제가 — 천하의 모든 사람의 마음을 — 자기 마음처럼 헤아리면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천하가 — 자연히 평안해진다.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강제가 — 아닌 자연.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진덕수의 통찰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23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인재와 환관 — 가장 큰 두 결정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진덕수의 가장 강렬한 직간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993392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1. 「인재 분별이 — 한 글자 잘못이면 천하가 갈린다」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군자/소인의 5가지 분별 — 매일 적용.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당 태종의 위징(군자) → 정관의 치.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한 영제의 십상시(환관·소인) → 한 멸망.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86912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3560064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2. 「환관이 망친 왕조가 동양사 절반이 넘는다」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62400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진의 조고 「指鹿爲馬」 → 진 15년 멸망.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한의 십상시 → 당고의 화 → 한 멸망.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당의 환관 정치 → 당 멸망.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53584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" y="5126736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오늘 — 「예스맨·측근」 경계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29072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CEO·정치인의 비서·측근이 — 가장 가까운 — 가장 큰 위험.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자기 귀와 눈을 가리고, 자기 권력을 — 자기 이익에 활용.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직간하는 자를 — 가까이 두는 자세.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진덕수의 통찰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24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욕망과 후계자 — 만년의 위험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청년기 위대, 만년 비극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993392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3. 「자기 욕망의 끝은 없다 — 처음부터 절제」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진시황 — 불사약·수은 중독 → 50세 사망.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한 무제 — 만년 방사 미혹.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당 현종 — 양귀비 → 안록산의 난.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송 휘종 — 화석강 → 정강의 변 → 북송 멸망.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86912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3560064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4. 「황태자를 일찍 정립하라」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62400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진시황 — 후계자 정립 실패가 가장 큰 실패.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부소(어진 자) → 변경. 호해(어리석은 자) → 가까이.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사구의 음모 → 부소 자결 → 호해 즉위 → 진 15년 멸망.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53584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" y="5126736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조 무령왕의 사구궁 — 또 다른 후계 비극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29072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호복기사로 명군이었으나 — 두 아들의 권력 다툼.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사구궁(沙丘宮)에서 3개월 굶어 죽음.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「가장 큰 위업의 끝은 후계 관리」.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진덕수의 통찰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25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4가지 통찰 — 종합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오늘 우리에게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920240" cy="521207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18288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1. 인재 분별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965960"/>
            <a:ext cx="96012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한 글자 잘못이면 — 천하 흥망. 위징 vs 십상시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87168"/>
            <a:ext cx="1920240" cy="521207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2532888"/>
            <a:ext cx="18288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2. 환관·외척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532888"/>
            <a:ext cx="96012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동양사 절반 — 조고·여태후·왕망·무측천이 망침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54096"/>
            <a:ext cx="1920240" cy="521207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48640" y="3099815"/>
            <a:ext cx="18288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3. 욕망의 끝없음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099815"/>
            <a:ext cx="96012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처음부터 절제. 진시황·한 무제·당 현종·송 휘종의 만년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21024"/>
            <a:ext cx="1920240" cy="521207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48640" y="3666744"/>
            <a:ext cx="18288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4. 후계 일찍 정립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3666744"/>
            <a:ext cx="96012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진시황 사구의 음모, 조 무령왕 사구궁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87952"/>
            <a:ext cx="1920240" cy="521207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8640" y="4233672"/>
            <a:ext cx="18288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오늘 적용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4233672"/>
            <a:ext cx="96012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「예스맨」 멀리, 「직간 신하」 가까이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54880"/>
            <a:ext cx="1920240" cy="521207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48640" y="4800600"/>
            <a:ext cx="18288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오늘 적용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4800600"/>
            <a:ext cx="96012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가족·친족 무능 등용 경계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321808"/>
            <a:ext cx="1920240" cy="521207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48640" y="5367528"/>
            <a:ext cx="18288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오늘 적용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5367528"/>
            <a:ext cx="96012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성공의 절정에서 가장 조심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888736"/>
            <a:ext cx="1920240" cy="521207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48640" y="5934455"/>
            <a:ext cx="18288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오늘 적용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5934455"/>
            <a:ext cx="96012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자기 자리의 후임을 — 일찍 정립하고 가르침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한국 수용사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26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세종 — 「대학연의를 백 번 천 번 읽었다」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한국의 가장 깊은 독자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993392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매일의 경연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세종 — 즉위(1418) 후 매일 경연에서 대학연의 강독.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황희(黃喜)·맹사성(孟思誠)·변계량 등 명재상과 토론.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86912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3560064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세종의 명언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62400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「짐은 대학연의를 백 번 천 번 읽었다」.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세종의 모든 위업이 — 대학연의의 자기 수양 정신에서 출발.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53584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" y="5126736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한글 창제 — 「심민정」의 가장 위대한 결실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29072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「우리 백성이 자기 뜻을 글로 못 펴는 답답함」을 직접 깨달음.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진덕수의 「심민정」(백성의 정을 살핌) 정신의 가장 큰 결실.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「대학연의가 세종을 만들고, 세종이 한글을 만들었다」.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한국 수용사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27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율곡 — 「성학집요」와 십만양병설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한국형 대학연의의 정립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993392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「성학집요(聖學輯要)」 — 1575년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진덕수의 대학연의(43권)가 너무 길어 — 군주가 다 못 읽을까 우려.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8권으로 압축 — 격물·궁리·성의·정심·수신·정가·위정·성현도통.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한국 실정에 맞는 사례 추가.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86912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3560064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한국형 대학연의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62400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선조에게 진헌. 조선 후반 군주의 필독서.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진덕수 + 율곡 — 조선 500년의 통치 정신의 두 토대.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53584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" y="5126736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십만양병설 — 「居安思危」의 한국 정수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29072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율곡 — 10만 군대를 미리 준비 — 임진왜란(1592)을 17년 앞서 경고.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대학연의의 「居安思危」 정신의 가장 깊은 한국 적용.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율곡 사후 8년 후 임진왜란 — 율곡의 경고가 실현.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한국 수용사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28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정조·정약용 — 18~19세기로 이어진 정수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5세기에 걸친 수용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993392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정조 — 「일성록」 27년 매일 점검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정조(1752~1800) — 「일성록(日省錄)」 27년 매일 자기 점검.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「愼獨」(홀로 있을 때 더 삼감) 정신의 가장 위대한 한국 적용.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증자 「吾日三省吾身」(매일 세 번 자기 몸을 살핌)의 정수.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86912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3560064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정약용 — 「경세유표」(1817)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62400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다산 정약용 — 구준의 대학연의보의 정신을 한국에 재정립.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「正朝廷·正百官·固邦本·制國用」 모두 다룸.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「대학연의보가 정약용을 만들고, 정약용이 조선 후기 실학을 만들었다」.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53584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" y="5126736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5세기에 걸친 한국 수용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29072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세종(15c) → 율곡(16c) → 정조(18c) → 정약용(19c).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진덕수와 구준의 정신이 — 한국에 — 살아 있는 5세기.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명 구준의 보완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29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구준의 「대학연의보」 — 160권 (1487)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250년 후의 완성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993392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구준(丘濬, 1421~1495)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「경산(瓊山) 선생」 — 광동성 경주(오늘 해남도) 출생.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23세 거인, 38세 진사. 명 효종 시기 무영전 대학사.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30여 년 「대학연의보」 작성 — 67세 완성.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86912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3560064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서문의 한 마디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62400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「진서산 선생이 대학연의를 완성하지 못하고 떠나신 한을 풀고자 한다」.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「선현의 한을 푸는 후학의 자세」.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53584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" y="5126736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분량 — 진덕수의 4배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29072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160권 · 약 200만 자.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치국 + 평천하 — 진덕수가 못 다룬 마지막 두 조목.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1488년 명 효종에게 진헌 — 깊은 감복.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명 구준의 보완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30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구준의 12강령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치국·평천하의 모든 영역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920240" cy="33528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1828800" cy="289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1. 正朝廷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965960"/>
            <a:ext cx="9601200" cy="289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조정을 바르게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01240"/>
            <a:ext cx="1920240" cy="33528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2346960"/>
            <a:ext cx="1828800" cy="289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2. 正百官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346960"/>
            <a:ext cx="9601200" cy="289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백관(관료)을 바르게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82240"/>
            <a:ext cx="1920240" cy="33528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48640" y="2727960"/>
            <a:ext cx="1828800" cy="289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3. 固邦本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727960"/>
            <a:ext cx="9601200" cy="289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나라의 근본(백성)을 굳건히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63240"/>
            <a:ext cx="1920240" cy="33528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48640" y="3108960"/>
            <a:ext cx="1828800" cy="289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4. 制國用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3108960"/>
            <a:ext cx="9601200" cy="289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나라의 재정을 다스림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444240"/>
            <a:ext cx="1920240" cy="33528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8640" y="3489960"/>
            <a:ext cx="1828800" cy="289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5. 明禮樂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3489960"/>
            <a:ext cx="9601200" cy="289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예악을 밝힘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25240"/>
            <a:ext cx="1920240" cy="33528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48640" y="3870960"/>
            <a:ext cx="1828800" cy="289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6. 秩祭祀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3870960"/>
            <a:ext cx="9601200" cy="289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제사의 차례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06240"/>
            <a:ext cx="1920240" cy="33528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48640" y="4251959"/>
            <a:ext cx="1828800" cy="289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7. 崇敎化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4251959"/>
            <a:ext cx="9601200" cy="289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교화를 높임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587240"/>
            <a:ext cx="1920240" cy="33528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48640" y="4632960"/>
            <a:ext cx="1828800" cy="289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8. 備規制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4632960"/>
            <a:ext cx="9601200" cy="289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규제(법)를 갖춤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968240"/>
            <a:ext cx="1920240" cy="33528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48640" y="5013960"/>
            <a:ext cx="1828800" cy="289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9. 愼刑憲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4600" y="5013960"/>
            <a:ext cx="9601200" cy="289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형벌과 법을 신중히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49240"/>
            <a:ext cx="1920240" cy="33528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8640" y="5394959"/>
            <a:ext cx="1828800" cy="289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10. 嚴武備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14600" y="5394959"/>
            <a:ext cx="9601200" cy="289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군비를 엄히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730240"/>
            <a:ext cx="1920240" cy="33528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48640" y="5775960"/>
            <a:ext cx="1828800" cy="289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11. 馭夷狄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14600" y="5775960"/>
            <a:ext cx="9601200" cy="289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이적(외이)을 다스림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111240"/>
            <a:ext cx="1920240" cy="33528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48640" y="6156960"/>
            <a:ext cx="1828800" cy="289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12. 成功化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14600" y="6156960"/>
            <a:ext cx="9601200" cy="289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공·화의 완성 — 203권의 정점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 22선 (1/22)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31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大學之道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대학연의 명구 — (1) 大 學 之 道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1124712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800" b="1">
                <a:solidFill>
                  <a:srgbClr val="1F2A44"/>
                </a:solidFill>
                <a:latin typeface="Batang"/>
              </a:rPr>
              <a:t>大 學 之 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8B1A1A"/>
                </a:solidFill>
                <a:latin typeface="맑은 고딕"/>
              </a:rPr>
              <a:t>대 학 지 도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9184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94360" y="338328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36499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대학의 — 도(道).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4340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443484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유래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441655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「大學之道 在明明德 在親民 在止於至善」 — 대학의 3강령.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39496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94360" y="548640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오늘 우리에게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546811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모든 — 자기 수양·정치의 시작. 리더십·교육·자기계발의 동양적 원형.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 22선 (2/22)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32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人心惟危道心惟微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대학연의 명구 — (2) 人 心 惟 危  道 心 惟 微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1124712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800" b="1">
                <a:solidFill>
                  <a:srgbClr val="1F2A44"/>
                </a:solidFill>
                <a:latin typeface="Batang"/>
              </a:rPr>
              <a:t>人 心 惟 危  道 心 惟 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8B1A1A"/>
                </a:solidFill>
                <a:latin typeface="맑은 고딕"/>
              </a:rPr>
              <a:t>인심유위  도심유미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9184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94360" y="338328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36499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인심은 위태롭고, 도심은 미세하다.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4340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443484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유래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441655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순(舜)이 우(禹)에게 천하 양위 시 — 16자 심전. 도학의 가장 깊은 가르침.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39496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94360" y="548640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오늘 우리에게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546811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진덕수 — 「매일 이 한 구절을 잊지 마십시오」. 자기 마음의 점검.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 22선 (3/22)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33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三過家門而不入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대학연의 명구 — (3) 三 過 家 門 而 不 入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1124712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800" b="1">
                <a:solidFill>
                  <a:srgbClr val="1F2A44"/>
                </a:solidFill>
                <a:latin typeface="Batang"/>
              </a:rPr>
              <a:t>三 過 家 門 而 不 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8B1A1A"/>
                </a:solidFill>
                <a:latin typeface="맑은 고딕"/>
              </a:rPr>
              <a:t>삼과가문이불입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9184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94360" y="338328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36499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자기 집 앞을 세 번 지나치면서도 들어가지 않았다.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4340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443484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유래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441655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우(禹)의 13년 치수. 천하 백성을 위해 자기 가정도 잠시 잊은 헌신.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39496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94360" y="548640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오늘 우리에게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546811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큰 일을 위한 — 사적 안락의 절제. 헌신의 동양적 모범.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 22선 (4/22)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34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君子三畏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대학연의 명구 — (4) 君 子 三 畏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1124712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800" b="1">
                <a:solidFill>
                  <a:srgbClr val="1F2A44"/>
                </a:solidFill>
                <a:latin typeface="Batang"/>
              </a:rPr>
              <a:t>君 子 三 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8B1A1A"/>
                </a:solidFill>
                <a:latin typeface="맑은 고딕"/>
              </a:rPr>
              <a:t>군 자 삼 외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9184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94360" y="338328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36499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군자는 세 가지 두려움이 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4340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443484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유래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441655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「畏天命 畏大人 畏聖人之言」 — 천명·대인·성인의 말을 두려워하라.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39496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94360" y="548640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오늘 우리에게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546811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자기 위에 더 큰 것이 있음을 아는 자세. 「자기를 정점에 두지 않는」 리더십.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 22선 (5/22)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35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民惟邦本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대학연의 명구 — (5) 民 惟 邦 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1124712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800" b="1">
                <a:solidFill>
                  <a:srgbClr val="1F2A44"/>
                </a:solidFill>
                <a:latin typeface="Batang"/>
              </a:rPr>
              <a:t>民 惟 邦 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8B1A1A"/>
                </a:solidFill>
                <a:latin typeface="맑은 고딕"/>
              </a:rPr>
              <a:t>민 유 방 본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9184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94360" y="338328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36499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백성이 나라의 근본이다.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4340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443484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유래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441655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「民惟邦本 本固邦寧」 — 서경. 진덕수 — 「모든 통치의 가장 깊은 한 원리」.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39496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94360" y="548640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오늘 우리에게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546811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민본 사상의 가장 오래된 원전. 권력자가 자기 위치를 잊지 않는 자세.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 22선 (6/22)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36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水能載舟亦能覆舟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대학연의 명구 — (6) 水 能 載 舟  亦 能 覆 舟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1124712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800" b="1">
                <a:solidFill>
                  <a:srgbClr val="1F2A44"/>
                </a:solidFill>
                <a:latin typeface="Batang"/>
              </a:rPr>
              <a:t>水 能 載 舟  亦 能 覆 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8B1A1A"/>
                </a:solidFill>
                <a:latin typeface="맑은 고딕"/>
              </a:rPr>
              <a:t>수능재주 역능복주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9184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94360" y="338328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36499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물은 배를 띄울 수도 — 뒤집을 수도 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4340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443484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유래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441655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위징(魏徵)이 당 태종에게. 「군주는 배, 백성은 물」. 원전은 「순자」.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39496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94360" y="548640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오늘 우리에게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546811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민심의 무서움. 백성이 격노하면 군주가 뒤집힌다는 가장 깊은 비유.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 22선 (7/22)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37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和而不同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대학연의 명구 — (7) 和 而 不 同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1124712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800" b="1">
                <a:solidFill>
                  <a:srgbClr val="1F2A44"/>
                </a:solidFill>
                <a:latin typeface="Batang"/>
              </a:rPr>
              <a:t>和 而 不 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8B1A1A"/>
                </a:solidFill>
                <a:latin typeface="맑은 고딕"/>
              </a:rPr>
              <a:t>화 이 부 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9184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94360" y="338328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36499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조화는 이루되 같지는 않다.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4340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443484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유래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441655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「君子和而不同 / 小人同而不和」 — 논어. 군자/소인의 분별.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39496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94360" y="548640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오늘 우리에게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546811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다양성을 존중하면서 조화를 이루는 자세. 오늘 협력의 가장 깊은 원리.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 22선 (8/22)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38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喻於義喻於利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대학연의 명구 — (8) 喻 於 義  喻 於 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1124712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800" b="1">
                <a:solidFill>
                  <a:srgbClr val="1F2A44"/>
                </a:solidFill>
                <a:latin typeface="Batang"/>
              </a:rPr>
              <a:t>喻 於 義  喻 於 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8B1A1A"/>
                </a:solidFill>
                <a:latin typeface="맑은 고딕"/>
              </a:rPr>
              <a:t>유어의 유어리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9184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94360" y="338328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36499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의(義)에 깨우치고, 이익(利)에 깨우친다.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4340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443484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유래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441655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「君子喻於義 / 小人喻於利」 — 논어. 행동의 기준이 의인가 이익인가.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39496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94360" y="548640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오늘 우리에게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546811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군자/소인의 가장 깊은 분별. 자기 옆 사람의 본질을 보는 기준.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 22선 (9/22)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39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反求諸己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대학연의 명구 — (9) 反 求 諸 己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1124712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800" b="1">
                <a:solidFill>
                  <a:srgbClr val="1F2A44"/>
                </a:solidFill>
                <a:latin typeface="Batang"/>
              </a:rPr>
              <a:t>反 求 諸 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8B1A1A"/>
                </a:solidFill>
                <a:latin typeface="맑은 고딕"/>
              </a:rPr>
              <a:t>반 구 제 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9184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94360" y="338328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36499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자기 안에서 찾는다.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4340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443484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유래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441655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맹자 — 일이 잘못되면 남을 탓하지 말고 자기를 돌아보는 자세.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39496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94360" y="548640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오늘 우리에게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546811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「자기 책임」의 가장 깊은 동양적 원형. 리더십의 정수.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 22선 (10/22)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40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創業易守業難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대학연의 명구 — (10) 創 業 易  守 業 難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1124712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800" b="1">
                <a:solidFill>
                  <a:srgbClr val="1F2A44"/>
                </a:solidFill>
                <a:latin typeface="Batang"/>
              </a:rPr>
              <a:t>創 業 易  守 業 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8B1A1A"/>
                </a:solidFill>
                <a:latin typeface="맑은 고딕"/>
              </a:rPr>
              <a:t>창업이 수업난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9184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94360" y="338328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36499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창업은 쉽고, 지키는 것은 어렵다.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4340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443484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유래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441655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진의 15년 멸망의 가장 깊은 교훈. 천하를 만든 자가 지키지 못한 비극.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39496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94360" y="548640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오늘 우리에게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546811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성공한 기업·조직이 빠르게 무너지는 패턴의 가장 오래된 경고.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 22선 (11/22)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41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居安思危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대학연의 명구 — (11) 居 安 思 危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1124712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800" b="1">
                <a:solidFill>
                  <a:srgbClr val="1F2A44"/>
                </a:solidFill>
                <a:latin typeface="Batang"/>
              </a:rPr>
              <a:t>居 安 思 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8B1A1A"/>
                </a:solidFill>
                <a:latin typeface="맑은 고딕"/>
              </a:rPr>
              <a:t>거 안 사 위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9184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94360" y="338328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36499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평안할 때 위기를 생각하라.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4340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443484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유래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441655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「居安思危 思則有備 有備無患」 — 춘추좌씨전. 율곡 십만양병설의 토대.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39496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94360" y="548640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오늘 우리에게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546811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리스크 관리의 가장 깊은 원형. 성공한 시기에 미래의 위기를 준비.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 22선 (12/22)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42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駟不及舌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대학연의 명구 — (12) 駟 不 及 舌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1124712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800" b="1">
                <a:solidFill>
                  <a:srgbClr val="1F2A44"/>
                </a:solidFill>
                <a:latin typeface="Batang"/>
              </a:rPr>
              <a:t>駟 不 及 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8B1A1A"/>
                </a:solidFill>
                <a:latin typeface="맑은 고딕"/>
              </a:rPr>
              <a:t>사 불 급 설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9184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94360" y="338328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36499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4마차도 혀를 못 따라잡는다.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4340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443484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유래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441655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논어 — 한 번 나온 말은 다시 거둘 수 없다. 군주의 말은 천하에 즉시 전파.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39496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94360" y="548640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오늘 우리에게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546811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「SNS 시대의 말의 무게」의 가장 오래된 동양적 경고. 말의 신중.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 22선 (13/22)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43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訥於言敏於行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대학연의 명구 — (13) 訥 於 言  敏 於 行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1124712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800" b="1">
                <a:solidFill>
                  <a:srgbClr val="1F2A44"/>
                </a:solidFill>
                <a:latin typeface="Batang"/>
              </a:rPr>
              <a:t>訥 於 言  敏 於 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8B1A1A"/>
                </a:solidFill>
                <a:latin typeface="맑은 고딕"/>
              </a:rPr>
              <a:t>눌 어 언  민 어 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9184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94360" y="338328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36499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말은 더디게, 행동은 빠르게.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4340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443484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유래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441655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「君子欲訥於言 而敏於行」 — 논어. 소인은 반대 — 말 많고 행동 없음.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39496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94360" y="548640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오늘 우리에게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546811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약속을 행동으로 증명하는 리더십의 정수. 「말이 많은 자 — 멀리」.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 22선 (14/22)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44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愼獨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대학연의 명구 — (14) 愼 獨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1124712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800" b="1">
                <a:solidFill>
                  <a:srgbClr val="1F2A44"/>
                </a:solidFill>
                <a:latin typeface="Batang"/>
              </a:rPr>
              <a:t>愼 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8B1A1A"/>
                </a:solidFill>
                <a:latin typeface="맑은 고딕"/>
              </a:rPr>
              <a:t>신   독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9184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94360" y="338328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36499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홀로 있을 때 더 삼간다.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4340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443484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유래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441655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「君子必愼其獨」 — 대학. 정조 「일성록」 27년 매일 자기 점검의 토대.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39496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94360" y="548640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오늘 우리에게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546811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진정성의 가장 깊은 동양적 원형. 다른 사람이 안 볼 때 더 자기 단속.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 22선 (15/22)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45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威而不猛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대학연의 명구 — (15) 威 而 不 猛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1124712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800" b="1">
                <a:solidFill>
                  <a:srgbClr val="1F2A44"/>
                </a:solidFill>
                <a:latin typeface="Batang"/>
              </a:rPr>
              <a:t>威 而 不 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8B1A1A"/>
                </a:solidFill>
                <a:latin typeface="맑은 고딕"/>
              </a:rPr>
              <a:t>위 이 불 맹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9184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94360" y="338328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36499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위엄은 있되 사납지 않다.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4340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443484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유래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441655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논어 — 공자의 인격. 자기 무게가 깊되 다른 사람을 위협하지 않음.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39496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94360" y="548640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오늘 우리에게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546811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「카리스마」의 가장 깊은 동양적 원형. 진시황의 「威而猛」 반면교사.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 22선 (16/22)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46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克己復禮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대학연의 명구 — (16) 克 己 復 禮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1124712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800" b="1">
                <a:solidFill>
                  <a:srgbClr val="1F2A44"/>
                </a:solidFill>
                <a:latin typeface="Batang"/>
              </a:rPr>
              <a:t>克 己 復 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8B1A1A"/>
                </a:solidFill>
                <a:latin typeface="맑은 고딕"/>
              </a:rPr>
              <a:t>극 기 복 례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9184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94360" y="338328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36499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자기를 이기고 — 예로 돌아감이 인(仁).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4340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443484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유래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441655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「克己復禮 為仁」 — 논어. 자기 욕망을 이기고 옛 예법으로 돌아가는 자세.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39496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94360" y="548640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오늘 우리에게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546811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계일욕(욕망 경계)의 가장 적극적 정수. 자기 절제의 동양적 원형.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 22선 (17/22)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47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泰山不讓土壤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대학연의 명구 — (17) 泰 山 不 讓 土 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1124712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800" b="1">
                <a:solidFill>
                  <a:srgbClr val="1F2A44"/>
                </a:solidFill>
                <a:latin typeface="Batang"/>
              </a:rPr>
              <a:t>泰 山 不 讓 土 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8B1A1A"/>
                </a:solidFill>
                <a:latin typeface="맑은 고딕"/>
              </a:rPr>
              <a:t>태산불양토양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9184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94360" y="338328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36499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태산은 흙을 — 가리지 않는다.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4340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443484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유래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441655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이사 「諫逐客書」 — 「故能成其大 / 河海不擇細流 / 故能就其深」.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39496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94360" y="548640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오늘 우리에게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546811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다양성·개방성의 정수. 큰 사람이 되려면 작은 사람의 말도 들어야.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 22선 (18/22)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48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指鹿爲馬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대학연의 명구 — (18) 指 鹿 爲 馬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1124712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800" b="1">
                <a:solidFill>
                  <a:srgbClr val="1F2A44"/>
                </a:solidFill>
                <a:latin typeface="Batang"/>
              </a:rPr>
              <a:t>指 鹿 爲 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8B1A1A"/>
                </a:solidFill>
                <a:latin typeface="맑은 고딕"/>
              </a:rPr>
              <a:t>지 록 위 마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9184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94360" y="338328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36499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사슴을 가리켜 말이라 한다.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4340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443484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유래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441655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진 2세 호해 — 환관 조고가 사슴을 말이라 강요. 인정 안 한 신하 모두 처형.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39496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94360" y="548640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오늘 우리에게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546811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전체주의의 거짓·조직의 진실 차단의 가장 깊은 동양적 원형.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 22선 (19/22)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49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絜矩之道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대학연의 명구 — (19) 絜 矩 之 道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1124712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800" b="1">
                <a:solidFill>
                  <a:srgbClr val="1F2A44"/>
                </a:solidFill>
                <a:latin typeface="Batang"/>
              </a:rPr>
              <a:t>絜 矩 之 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8B1A1A"/>
                </a:solidFill>
                <a:latin typeface="맑은 고딕"/>
              </a:rPr>
              <a:t>혈 구 지 도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9184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94360" y="338328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36499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자기를 자(矩)로 — 다른 사람의 마음을 헤아림.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4340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443484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유래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441655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「所惡於上 毋以使下 / 所惡於下 毋以事上」 — 대학.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39496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94360" y="548640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오늘 우리에게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546811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황금률(Golden Rule)의 가장 깊은 동양적 원형. 평천하의 근본.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 22선 (20/22)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50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敬天愛人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대학연의 명구 — (20) 敬 天 愛 人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1124712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800" b="1">
                <a:solidFill>
                  <a:srgbClr val="1F2A44"/>
                </a:solidFill>
                <a:latin typeface="Batang"/>
              </a:rPr>
              <a:t>敬 天 愛 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8B1A1A"/>
                </a:solidFill>
                <a:latin typeface="맑은 고딕"/>
              </a:rPr>
              <a:t>경 천 애 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9184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94360" y="338328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36499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하늘을 공경하고, 사람을 사랑하라.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4340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443484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유래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441655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진덕수 「숭경외」의 정수. 자기 위에는 천명을, 자기 옆에는 사랑을.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39496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94360" y="548640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오늘 우리에게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546811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오늘 — 「자기를 — 두려움과 — 사랑의 — 균형 안에 두는 자세」.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 22선 (21/22)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51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萬世太平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대학연의 명구 — (21) 萬 世 太 平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1124712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800" b="1">
                <a:solidFill>
                  <a:srgbClr val="1F2A44"/>
                </a:solidFill>
                <a:latin typeface="Batang"/>
              </a:rPr>
              <a:t>萬 世 太 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8B1A1A"/>
                </a:solidFill>
                <a:latin typeface="맑은 고딕"/>
              </a:rPr>
              <a:t>만 세 태 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9184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94360" y="338328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36499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만 세대에 이르는 — 태평.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4340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443484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유래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441655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구준 — 평천하의 가장 깊은 목표. 한 사람·한 세대가 만드는 것이 아님.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39496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94360" y="548640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오늘 우리에게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546811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「끊임없는 누적」의 정수. 자기 세대만 잘 살아남는 것이 아니라 다음 세대.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 22선 (22/22)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52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吾日三省吾身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대학연의 명구 — (22) 吾 日 三 省 吾 身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1124712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800" b="1">
                <a:solidFill>
                  <a:srgbClr val="1F2A44"/>
                </a:solidFill>
                <a:latin typeface="Batang"/>
              </a:rPr>
              <a:t>吾 日 三 省 吾 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8B1A1A"/>
                </a:solidFill>
                <a:latin typeface="맑은 고딕"/>
              </a:rPr>
              <a:t>오일삼성오신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9184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94360" y="338328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36499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나는 매일 — 세 번 — 자기 — 몸을 — 살핀다.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4340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443484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유래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441655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증자 — 논어. 자기 점검의 가장 오래된 동양적 표현. 「愼獨」의 실천.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394960"/>
            <a:ext cx="1124712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94360" y="548640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오늘 우리에게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5468112"/>
            <a:ext cx="9418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정조의 「일성록」 27년의 정신. 오늘 — 일기·저녁 회고·자기 코칭의 원형.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후대 영향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53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송·원·명·청 — 600년 황실의 필독서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동양의 대각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993392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송 — 황실 필독서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황실·관료의 필독서. 모든 황태자 교육에 강독.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진덕수 자신이 송 이종의 「가장 큰 스승」.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86912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3560064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원·명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62400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원 — 한족 학자의 정신적 토대. 한족 사대부 등용 시험에 포함.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명 — 구준 「대학연의보」(1487) 160권 보완.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진덕수 43권 + 구준 160권 = 203권의 완전한 백과사전.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53584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" y="5126736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청 — 강희제·옹정제의 애독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29072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강희제 — 「대학연의를 어려서부터 100회 이상 읽었다」.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옹정제도 깊이 애독.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600년 — 송·원·명·청의 모든 황실의 필독서.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후대 영향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54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한국 — 조선 500년의 제왕학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5세기에 걸친 수용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993392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15c 세종 — 「백 번 천 번」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매일 경연에서 강독. 한글 창제의 정신적 토대.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86912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3560064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16c 율곡 — 「성학집요」·십만양병설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62400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8권으로 압축한 한국형 대학연의.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「居安思危」의 한국 정수 — 임진왜란 17년 전 경고.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53584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" y="5126736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18~19c 정조·정약용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29072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정조 — 「일성록」 27년 — 「愼獨」의 한국 정수.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정약용 — 「경세유표」 — 구준 대학연의보의 한국 정수.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「대학연의가 조선 500년의 통치 정신을 만들었다」.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후대 영향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55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오늘 우리에게 — 4가지 살아 있는 영역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21세기에도 살아 있음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993392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1. 리더십 교육 + 자기 수양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「자기 수양 → 가정 → 조직 → 사회」의 8조목 흐름.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「자기 인격이 모든 영향력의 시작」 — 동서양 리더십의 공통 토대.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86912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3560064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2. MBA·경영학의 동양적 보완 + 자기 점검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62400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서양 MBA — 「역량」 중심. 대학연의 — 「덕」 중심. 두 패러다임의 보완.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愼獨·一日三省 — 「일기 쓰기」, 「저녁 회고」, 「자기 코칭」의 원형.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53584"/>
            <a:ext cx="11247120" cy="143865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" y="5126736"/>
            <a:ext cx="10881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3. 조직 윤리 + 황금률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29072"/>
            <a:ext cx="10881360" cy="908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군자/소인의 5가지 분별 — 인사·조직 운영의 가장 깊은 원리.</a:t>
            </a:r>
          </a:p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絜矩之道 — 동양의 황금률. 모든 인간관계의 가장 깊은 원리.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Ⅻ. 마무리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56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대학연의 + 대학연의보 — 8가지 정수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203권의 정점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920240" cy="521207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18288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1. 자기 수양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965960"/>
            <a:ext cx="96012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모든 정치의 시작 — 격물치지·성의정심·수신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87168"/>
            <a:ext cx="1920240" cy="521207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2532888"/>
            <a:ext cx="18288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2. 제가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532888"/>
            <a:ext cx="96012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가정을 못 다스리면 — 천하를 못 다스린다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54096"/>
            <a:ext cx="1920240" cy="521207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48640" y="3099815"/>
            <a:ext cx="18288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3. 환관·외척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099815"/>
            <a:ext cx="96012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가장 큰 위험 — 동양사 절반을 망침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21024"/>
            <a:ext cx="1920240" cy="521207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48640" y="3666744"/>
            <a:ext cx="18288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4. 정조정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3666744"/>
            <a:ext cx="96012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조정이 바르면 — 천하가 바르다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87952"/>
            <a:ext cx="1920240" cy="521207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8640" y="4233672"/>
            <a:ext cx="18288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5. 민유방본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4233672"/>
            <a:ext cx="96012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백성이 근본 — 모든 정치의 토대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54880"/>
            <a:ext cx="1920240" cy="521207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48640" y="4800600"/>
            <a:ext cx="18288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6. 문·무 균형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4800600"/>
            <a:ext cx="96012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예악 + 무비 — 양 날개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321808"/>
            <a:ext cx="1920240" cy="521207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48640" y="5367528"/>
            <a:ext cx="18288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7. 絜矩之道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5367528"/>
            <a:ext cx="96012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자기 마음으로 다른 사람의 마음을 헤아림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888736"/>
            <a:ext cx="1920240" cy="521207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48640" y="5934455"/>
            <a:ext cx="18288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8. 덕치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5934455"/>
            <a:ext cx="960120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천하는 덕으로 얻고 — 덕으로 지킨다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대학연의의 가장 깊은 한 가르침 — 「16자 심전」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5000" b="1">
                <a:solidFill>
                  <a:srgbClr val="1F2A44"/>
                </a:solidFill>
                <a:latin typeface="Batang"/>
              </a:rPr>
              <a:t>人 心 惟 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5000" b="1">
                <a:solidFill>
                  <a:srgbClr val="1F2A44"/>
                </a:solidFill>
                <a:latin typeface="Batang"/>
              </a:rPr>
              <a:t>道 心 惟 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5000" b="1">
                <a:solidFill>
                  <a:srgbClr val="8B1A1A"/>
                </a:solidFill>
                <a:latin typeface="Batang"/>
              </a:rPr>
              <a:t>惟 精 惟 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6052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5000" b="1">
                <a:solidFill>
                  <a:srgbClr val="8B1A1A"/>
                </a:solidFill>
                <a:latin typeface="Batang"/>
              </a:rPr>
              <a:t>允 執 厥 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035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— 순임금이 우임금에게 천하 양위 시 남긴 — 도학의 가장 깊은 16자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경청해주셔서 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