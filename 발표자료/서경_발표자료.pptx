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오경(五經)의 으뜸 · 동양 정치사상의 원천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맑은 고딕"/>
              </a:rPr>
              <a:t>書 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서 경  ·  상서(尙書)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75488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天視自我民視 天聽自我民聽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우서·하서·상서·주서 — 요순부터 동주 초까지의 정치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서경이란 무엇인가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전승 — 금문상서와 고문상서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육체(六體) — 여섯 가지 문체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우서(虞書) — 요순의 이상 정치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하서(夏書) — 우왕의 치수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상서(商書) — 은의 흥망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2120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주서(周書) — 주의 건국과 제도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1945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명편 깊이 읽기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97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974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사상 — 천명·덕치·민본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200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모음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7033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703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후대 영향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062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206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7091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XIII.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709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서경(書經) — 중국 최초의 정치 산문집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요순부터 동주 초까지, 「옛 문서」의 모음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중국에서 가장 오래된 정치 문서·역사 기록 모음집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「상서(尙書)」 — 「상(尙)」은 「위(上)」 곧 「옛것」 → 「옛 문서」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한대(漢代)에 오경의 하나로 격상되어 「서경(書經)」으로 불림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요(堯)·순(舜) 시대부터 하·상·주 삼대에 이르는 제왕의 말씀과 정치 문서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훈시(誥)·서약(誓)·명령(命)·모의(謨)·법전(典) 등 정치 행위 그 자체의 기록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동양 정치사상 — 천명·덕치·민본의 원천이 되는 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명칭의 변천 — 書에서 經으로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書 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48840"/>
            <a:ext cx="8595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원래의 이름 — 「적은 것」, 곧 정치 문서·기록의 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237744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尙書 상서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17520"/>
            <a:ext cx="8595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「옛 문서」라는 뜻으로 한대 이전까지의 표준 명칭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79"/>
            <a:ext cx="237744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書經 서경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886199"/>
            <a:ext cx="8595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한대 오경(五經)으로 격상되며 「경(經)」의 지위를 얻음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09159"/>
            <a:ext cx="237744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59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六經 / 五經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54879"/>
            <a:ext cx="8595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시·서·역·예·악·춘추 → 악이 빠진 오경 — 서는 그 한 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시대와 규모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시대 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요순(전설) → 하 → 상(은) → 주 (BC 2300년경 ~ BC 8세기)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수록 인물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4320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요·순·우·탕·이윤·반경·부열·문왕·무왕·주공·강왕 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79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79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현존 편수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79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58편 — 금문 33편 + 고문(僞古文) 25편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59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59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네 부분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23359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우서 5 · 하서 4 · 상서 17 · 주서 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63440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체재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6344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왕의 훈시·맹세·명령·모의 — 1인칭 발화체 다수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03520"/>
            <a:ext cx="237744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303520"/>
            <a:ext cx="8686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단순한 역사서가 아닌 「정치 행위 그 자체」의 기록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사상 — 한 폭으로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天 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하늘의 뜻 — 덕 있는 자에게 천하를 맡긴다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德 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덕치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덕으로 다스리기 — 형벌보다 교화·위력보다 덕행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民 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민본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백성이 나라의 근본 — 民惟邦本 本固邦寧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敬天勤民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경천근민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86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하늘을 공경하고 백성을 위해 부지런히 힘쓴다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전승 — 금문·고문 상서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서경의 험난한 전승사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진시황의 분서 → 한대의 복원 → 청대의 위작 고증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BC 213 — 진시황의 분서갱유로 서경의 원본이 거의 소실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한 초(漢初) — 노학자 복생(伏生, 90세)이 구술로 28편을 전함 → 금문상서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한 무제 — 공자 옛집 벽에서 고문(古文)으로 쓰인 「공벽본」 발견 (16편 추가)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동진(東晉) — 매색(梅賾)이 고문상서 25편을 추가로 헌상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청대 염약거(閻若璩) — 매색본 25편이 위작임을 고증 → 「위고문(僞古文)」 확정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그러나 사상적 가치는 「위(僞)」라도 부정되지 않음 — 「인심도심」 등은 그 안에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전승 — 금문·고문 상서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금문상서 vs 고문상서 — 한눈에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97280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금문상서(今文)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840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고문상서(古文)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전승 시기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060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한초 복생이 구전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060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공자 구택 발견·동진 매색 헌상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문자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5468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한대 예서(隸書)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5468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선진 시대 고문(古文)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편수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28편 (또는 29편)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70332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추가 25편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5196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진위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25196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대체로 진본으로 인정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25196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청 염약거 「위고문」 고증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00600"/>
            <a:ext cx="109728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현존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0060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현행 58편 중 33편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0060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현행 58편 중 25편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4924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맑은 고딕"/>
              </a:rPr>
              <a:t>대표 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3492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요전·우공·반경·홍범 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3492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대우모(「인심도심」)·태서·열명 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육체(六體) — 여섯 가지 문체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서경의 글은 여섯 갈래로 분류된다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典 · 謨 · 訓 · 誥 · 誓 · 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서경은 「문서」이지만 그 형식이 한 가지가 아니다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「전(典)」은 법도, 「모(謨)」는 의논, 「훈(訓)」은 가르침의 기록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「고(誥)」는 위에서 아래로 내리는 훈시, 「서(誓)」는 출정의 맹세, 「명(命)」은 임명·책봉의 명령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같은 정치 문서라도 「누가 누구에게 무엇을 말하는가」에 따라 문체가 갈라진다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후대 한문 산문 — 특히 詔·勅·誥·命 등 황실 문서 양식의 원형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육체(六體) — 여섯 가지 문체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육체(六體) — 누가 누구에게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3716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典 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103120"/>
            <a:ext cx="4389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03120"/>
            <a:ext cx="4297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제왕의 행적과 법도 기록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요전(堯典), 순전(舜典)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16352"/>
            <a:ext cx="13716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謨 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816352"/>
            <a:ext cx="4389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816352"/>
            <a:ext cx="4297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군신 간의 모략·의논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16352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대우모(大禹謨), 고요모(皐陶謨)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13716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4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訓 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3529584"/>
            <a:ext cx="4389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3529584"/>
            <a:ext cx="4297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신하가 군주에게 올리는 가르침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529584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이훈(伊訓)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42816"/>
            <a:ext cx="13716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42816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誥 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4242816"/>
            <a:ext cx="4389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242816"/>
            <a:ext cx="4297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군주가 신하·백성에게 내리는 훈시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242816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탕고(湯誥), 강고(康誥), 주고(酒誥), 대고(大誥)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956048"/>
            <a:ext cx="13716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56048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誓 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4956048"/>
            <a:ext cx="4389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4956048"/>
            <a:ext cx="4297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출전·출정 시의 서약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956048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감서(甘誓), 탕서(湯誓), 목서(牧誓), 진서(秦誓)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669280"/>
            <a:ext cx="13716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669280"/>
            <a:ext cx="1371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atang"/>
              </a:rPr>
              <a:t>命 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5669280"/>
            <a:ext cx="4389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5669280"/>
            <a:ext cx="4297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군주가 신하에게 내리는 명령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669280"/>
            <a:ext cx="50292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열명(說命), 문후지명(文侯之命), 고명(顧命)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우서(虞書)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우서(虞書) — 요순의 이상 정치 5편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선양(禪讓)의 이상과 덕치의 원형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「우(虞)」 — 순임금의 나라 — 요로부터 천하를 받음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요·순의 「선양(禪讓)」 — 천하를 사사로이 하지 않고 덕 있는 자에게 물려줌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5편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1. 요전(堯典) — 요임금의 성덕·치세, 순에게 선양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2. 순전(舜典) — 순임금의 등용·관직 설치, 「詩言志」의 출전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3. 대우모(大禹謨) — 우(禹)에 대한 순의 훈시, 「人心惟危 道心惟微」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4. 고요모(皐陶謨) — 고요의 정치론, 구덕(九德)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   5. 익직(益稷) — 익과 후직의 보좌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우서(虞書)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요(堯)·순(舜) — 동양 정치의 영원한 표상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堯 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요전(堯典)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「克明俊德, 以親九族」
큰 덕을 밝혀 구족을 친애.
능력과 덕이 있는 자에게
천하를 물려준 첫 임금.
순을 시험하여 등용·선양.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舜 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순전(舜典)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461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「愼徽五典, 五典克從」
오륜을 신중히 펴니 백성이 따름.
역산에서 농사·하빈에서 도자기.
효성으로 부모를 감동시킴.
구관(九官)을 설치, 천하를 다스림.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하서(夏書)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하서(夏書) — 4편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우왕(禹王)의 치수와 국토 정리의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1. 우공(禹貢) — 구주(九州)의 지리·공물·토질 — 중국 최초의 지리서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기·연·청·서·양·형·예·양·옹 — 아홉 주(州)로 천하를 나눠 다스림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2. 감서(甘誓) — 유호씨 정벌을 앞두고 한 우왕의 군중 맹세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서경의 첫 「서(誓)」 — 후대 모든 군중 맹세의 원형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3. 오자지가(五子之歌) — 태강(太康)의 실정을 한탄하는 다섯 형제의 노래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「民惟邦本 本固邦寧」 — 「백성은 나라의 근본」 민본주의의 절대 명구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4. 윤정(胤征) — 천문관 의·화의 직무 태만에 대한 정벌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하서(夏書)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우공(禹貢)과 구주(九州) — 중국 최초의 지리서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치수로 국토를 정리한 우왕의 행정 청사진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우왕은 13년간 「세 번 자기 집 앞을 지나면서도 들어가지 않고」 치수에 전념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황하의 범람을 다스리며 구주(九州)를 획정 — 중국 최초의 지리·행정 구획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구주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Batang"/>
              </a:rPr>
              <a:t>     冀(기) · 兗(연) · 靑(청) · 徐(서) · 揚(양) · 荊(형) · 豫(예) · 梁(양) · 雍(옹)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각 주의 토질·산천·공물(貢物)·교통로를 상세히 기록 — 행정과 지리학의 동시 효시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「구주(九州)」는 이후 「중국 전체」를 가리키는 대명사로 자리잡음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상서(商書) — 은의 흥망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상서(商書) — 17편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탕왕의 건국 → 이윤·반경·부열 → 미자의 절망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1. 탕서(湯誓) — 탕왕이 하의 걸왕을 정벌하기 전의 맹세 — 「予畏上帝, 不敢不正」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2. 이훈(伊訓) — 명재상 이윤이 어린 태갑 왕에게 올린 훈계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3. 태갑(太甲) 상·중·하 — 태갑의 유배와 회개·복위 — 「習與性成」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4. 함유일덕(咸有一德) — 군신이 모두 「한결같은 덕」을 가져야 함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5. 반경(盤庚) 상·중·하 — 도읍을 은(殷)으로 옮긴 반경의 천도 설득문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6. 열명(說命) 상·중·하 — 고종 무정이 부열(傅說)을 등용하고 정치를 논함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7. 미자(微子) — 은 말기 미자의 절망과 결단 — 망국 앞의 충신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상서(商書) — 은의 흥망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반경(盤庚)의 천도 — 설득의 정치학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은(殷)으로의 천도, 6번째 수도를 정하다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잦은 홍수와 귀족의 사치로 흔들리던 상나라 — 반경은 결단을 내림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백성과 귀족 모두가 천도를 꺼리자, 반경은 강압이 아닌 「설득」을 택함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900" b="1">
                <a:solidFill>
                  <a:srgbClr val="8B1A1A"/>
                </a:solidFill>
                <a:latin typeface="Batang"/>
              </a:rPr>
              <a:t>● 명구 — 「若網在綱, 有條而不紊」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그물이 벼리에 있어야 가지런하고 어지럽지 않은 것처럼, 정치도 강기(綱紀)가 서야 한다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「天命不易」 — 천명은 쉽지 않으니 백성을 두려워하라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결국 은으로 천도 — 이후 「은(殷)」이 상나라의 별칭이 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주서(周書)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주서(周書) — 32편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서경에서 가장 방대하고 가장 핵심적인 부분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건국 — 태서(상·중·하)·목서·무성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무왕의 은 정벌과 정복 — 「天視自我民視」 출전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법전·홍범 — 홍범(洪範)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기자(箕子)가 무왕에게 전한 구주홍범(九疇) — 정치의 대법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주공 섭정 — 금등·대고·강고·주고·재재·소고·낙고·다사·무일·군석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성왕을 보필한 주공의 정치 문서 모음 — 주서의 정수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성·강 시대 — 다방·입정·주관·고명·강왕지고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주의 황금기 — 제도와 의례의 정비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후기 — 여형·문후지명·진서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형법(呂刑)·서주의 쇠퇴와 동주의 도래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주서(周書)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주공(周公) — 주서의 주인공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섭정 7년 — 어린 조카를 위해 천하를 다스리다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무왕의 동생이자 성왕의 숙부 — 무왕 사후 어린 조카를 대신해 섭정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「一沐三捉髮, 一飯三吐哺」 — 머리 감다 세 번, 밥 먹다 세 번 손님을 맞이함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관숙·채숙의 반란을 진압(삼감의 난)하고 동방을 평정 — 「대고(大誥)」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낙읍(雒邑) 건설 — 동도(東都) 설립으로 천하 통치의 중심 마련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봉건제·종법제·예악을 정비 — 「제례작악(制禮作樂)」의 주인공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7년 후 성왕에게 권력을 돌려주고 신하의 자리로 — 충성과 도덕의 표상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Batang"/>
              </a:rPr>
              <a:t>● 공자가 가장 흠모한 사람 — 「久矣吾不復夢見周公」 (오랫동안 꿈에 주공을 못 뵈었구나)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주서(周書)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홍범(洪範) — 구주(九疇), 정치의 큰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기자(箕子)가 무왕에게 전한 통치의 9가지 강령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● 1. 오행(五行) — 수·화·목·금·토 — 자연의 기본 원리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● 2. 오사(五事) — 모(貌)·언(言)·시(視)·청(聽)·사(思) — 몸가짐의 다섯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● 3. 팔정(八政) — 식·화·사·사공·사도·사구·빈·사 — 여덟 가지 정사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● 4. 오기(五紀) — 세·월·일·성신·역수 — 시간과 천문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● 5. 황극(皇極) — 군주가 세우는 큰 중도 — 구주의 중심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● 6. 삼덕(三德) — 정직·강극·유극 — 통치의 세 결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● 7. 계의(稽疑) — 거북점·시초로 의심을 풀다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● 8. 서징(庶徵) — 비·바람 같은 징조로 정치를 점검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● 9. 오복·육극(五福·六極) — 다섯 가지 복과 여섯 가지 화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「홍범」은 동아시아 통치 철학의 최고(最古) 강령서 — 한대 이후 정치·천문·역의 종합 매뉴얼이 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요전(堯典)  (요전)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우서 — 서경의 첫 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克明俊德 以親九族  百姓昭明 協和萬邦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큰 덕을 밝혀 구족을 친애하니, 백성이 환히 밝아지고 만방이 화합하다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한 사람의 덕이 가족 → 백성 → 천하로 동심원처럼 퍼지는 정치의 출발점.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『대학』 「수신제가치국평천하」 — 동양 도덕정치의 모형은 모두 이 구절에서 비롯한다.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순전(舜典)  (순전)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우서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詩言志 歌永言  聲依永 律和聲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시는 뜻을 말한 것, 노래는 말을 길게 펼친 것 / 소리는 길이에 의지하고, 가락은 소리에 화합한다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동양 시론(詩論)의 원전 — 「시언지(詩言志)」가 처음 등장하는 구절.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시경의 「대서」는 이 구절을 받아 동아시아 시 이론의 토대를 마련했다.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대우모(大禹謨)  (대우모)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우서 — 16자심전(十六字心傳)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人心惟危 道心惟微  惟精惟一 允執厥中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인심은 위태롭고 도심은 은미하니 / 정밀하고 한결같이 그 중도를 잡으라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동양 도통(道統)의 핵심 — 「16자심전」으로 불리는 유학의 최고 명제.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주희가 『중용장구서』에서 이 구절을 도통 전수의 핵심으로 지목 — 성리학의 출발점.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고요모(皐陶謨)  (고요모)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우서 — 구덕(九德)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寬而栗 柔而立 愿而恭 亂而敬  擾而毅 直而溫 簡而廉 剛而塞 彊而義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너그러우면서 위엄있고, 부드러우면서 굳세고, 성실하면서 공손하고...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인재 등용의 기준 — 한 사람의 덕을 아홉 가지 모순적 균형으로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편향이 아닌 「양극의 통합」이 덕 — 동양 인재론의 깊이를 보여주는 명제.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우공(禹貢)  (우공)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하서 — 중국 최초의 지리서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禹敷土 隨山刊木  奠高山大川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우가 토지를 정돈하니 산을 따라 나무를 베고 / 큰 산과 큰 강을 정했다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치수와 함께 진행된 국토 정리 — 구주(九州)의 획정.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단순한 지리가 아닌 「정치 행정의 청사진」 — 한대 이후 모든 행정 구획의 모범.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오자지가(五子之歌)  (오자지가)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하서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民惟邦本 本固邦寧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백성이 곧 나라의 근본이니, 근본이 굳어야 나라가 평안하다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동양 민본주의의 절대 명제 — 민(民)을 근본으로 삼는 정치의 출발점.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맹자의 「민귀군경(民貴君輕)」, 정약용의 민본 사상이 모두 이 구절을 잇는다.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(7/16)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탕서(湯誓)  (탕서)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상서 — 탕왕의 정벌 맹세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予畏上帝 不敢不正  夏氏有罪 予畏上帝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나는 상제(上帝)를 두려워하여 바로잡지 않을 수 없으니 / 하씨가 죄가 있어 상제를 두려워한다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폭군 정벌의 정당성을 천명(天命)으로 논증 — 후대 「방벌론」의 원형.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나의 의지가 아닌 「하늘의 명」으로 정벌한다는 논리 — 맹자 역성혁명론의 출전.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(8/16)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이훈(伊訓)  (이훈)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상서 — 이윤의 훈계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與人不求備 檢身若不及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남에게는 완전함을 구하지 않되, 자신을 살피기는 미치지 못한 듯이 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재상 이윤이 어린 태갑 왕에게 올린 「세 가지 풍(三風)·열 가지 죄(十愆)」의 가르침.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타인에겐 관대, 자신에겐 엄격 — 동양 자기수양의 핵심 원칙.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(9/16)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태갑(太甲)  (태갑)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상서 — 「習與性成」의 출전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習與性成  茲乃不義 習與性成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습관이 성품을 이룬다 / 이런 의롭지 못함이 습관이 되어 성품이 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태갑이 어려서 무도하다 이윤에 의해 동궁(桐宮)에 유배 → 3년 만에 회개·복위.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「습관이 곧 운명」 — 자기 변화·교육의 가능성을 보여주는 위대한 회개의 서사.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(10/16)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반경(盤庚)  (반경)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상서 — 천도(遷都)의 정치학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若網在綱 有條而不紊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그물이 벼리에 있어야 가닥가닥 어지럽지 않다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천도를 반대하는 백성·귀족을 설득하는 반경의 정치적 수사.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「강기(綱紀)」 — 정치는 큰 줄기가 잡혀야 비로소 가지가 흐트러지지 않는다.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(11/16)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열명(說命)  (열명)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상서 — 고종이 부열을 등용함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非知之艱 行之惟艱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아는 것이 어려운 것이 아니라, 행하는 것이 어렵다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재상 부열(傅說)이 고종 무정에게 올린 정치 격언.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「지행(知行)」의 동양적 명제 — 왕양명의 「지행합일」, 정약용의 「행기지(行其知)」의 원천.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(12/16)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태서(泰誓)  (태서)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주서 — 무왕의 은 정벌 맹세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天視自我民視  天聽自我民聽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하늘이 보는 것은 우리 백성이 보는 것에서, 하늘이 듣는 것은 우리 백성이 듣는 것에서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「하늘의 뜻은 곧 백성의 뜻」 — 천명을 민의(民意)와 동일시한 동양 정치의 정점.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맹자·동중서·왕양명까지 — 모든 민본·여론 사상의 절대 출전이 된 한 구절.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(13/16)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홍범(洪範)  (홍범)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주서 — 기자가 무왕에게 전한 구주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皇建其有極  斂時五福 用敷錫厥庶民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임금이 그 큰 중도(皇極)를 세워, 오복을 모아 백성에게 베푼다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「황극(皇極)」 — 9주(疇)의 중심에 놓인 「임금의 큰 중도」.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동양 통치 철학의 최고 강령 — 정치·천문·윤리를 하나의 체계로 묶은 최고(最古)의 청사진.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(14/16)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무일(無逸)  (무일)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주서 — 주공이 성왕에게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先知稼穡之艱難 乃逸 則知小人之依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먼저 농사의 어려움을 알고 나서 편안해야, 백성의 의지하는 바를 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편안함(逸)에 빠지지 말라는 주공의 절절한 훈계 — 「농사의 고통을 알라」.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치자(治者)는 피치자(被治者)의 삶을 직접 알아야 함 — 「민이 의지하는 바」를 아는 지도자의 조건.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(15/16)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여형(呂刑)  (여형)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주서 — 형법의 신중함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哀矜折獄  輕重諸罰有權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슬퍼하고 가엾이 여기며 옥사를 결단하고 / 가볍고 무거운 형벌엔 헤아림이 있어야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형벌을 가볍게 하기보다 「신중하게」 적용 — 동양 형법 사상의 원전.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「의심나면 가볍게」 「죄인이라도 가엾이」 — 인본주의 사법 정신의 출발점.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명편 깊이 읽기 (16/16)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진서(秦誓)  (진서)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출전 — 주서 — 서경의 마지막 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人之有技 若己有之  人之彦聖 其心好之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남에게 기예가 있으면 마치 자기가 가진 듯이 / 남이 아름답고 거룩하면 마음으로 좋아한다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진 목공이 패전 후 자기를 반성하며 한 맹세 — 「겸손과 인재 포용」의 표본.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『대학』이 통째로 인용 — 「사람을 알아보고 시기 없이 포용함」이 치자의 큰 그릇.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천명(天命) — 하늘의 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왕조 교체의 정당성과 통치의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皇 天 無 親, 惟 德 是 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하늘은 친소(親疏)가 없으니, 오직 덕을 가진 자를 돕는다 — 채중지명(蔡仲之命)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하늘은 특정 왕조·혈통에 매이지 않는다 — 「天命靡常」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덕이 있으면 천명을 받고, 덕을 잃으면 천명이 거두어간다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「폭군 방벌」의 논리적 토대 — 하 걸·은 주의 천명 박탈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후대 동양 정치사 — 모든 왕조 교체의 정당화 언어가 되다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덕치(德治) — 덕으로 다스리기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형벌이 아닌 교화, 위력이 아닌 덕행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8B1A1A"/>
                </a:solidFill>
                <a:latin typeface="Batang"/>
              </a:rPr>
              <a:t>● 「克明德 慎罰」 — 덕을 밝히고 형벌을 신중히 한다 (강고)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형벌은 최후 수단 — 그 적용도 「슬퍼하고 가엾이 여기며(哀矜)」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「만물에는 도(道)가 있다」 — 군주는 사물의 결을 따라 다스릴 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Batang"/>
              </a:rPr>
              <a:t>● 「正德 利用 厚生」 — 덕을 바르게, 쓰임을 이롭게, 삶을 두텁게 (대우모)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후대 — 공자의 「爲政以德」, 맹자의 「王道」가 모두 이 자리에서 자라남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민본(民本) — 백성이 나라의 근본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서경이 동양 민본주의의 절대 원천이 된 까닭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民 惟 邦 本, 本 固 邦 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백성이 곧 나라의 근본이니, 근본이 굳어야 나라가 평안하다 — 오자지가(五子之歌)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백성이 군주의 도구가 아니라, 군주가 백성을 위한 직책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Batang"/>
              </a:rPr>
              <a:t>· 「天視自我民視 天聽自我民聽」 — 하늘의 뜻은 곧 백성의 뜻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· 맹자 「民貴君輕」, 황종희 『명이대방록』, 정약용 『목민심서』의 원천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· 동양 정치사상 2500년의 가장 깊은 뿌리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경천근민(敬天勤民) — 군주의 자세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하늘을 공경하고 백성을 위해 부지런히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경천(敬天) — 천명을 두려워하는 자세, 「天命不易」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군주의 권한이 자기 것이 아니라 「하늘로부터 빌린 것」이라는 자각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근민(勤民) — 백성을 위해 부지런함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Batang"/>
              </a:rPr>
              <a:t>     「先知稼穡之艱難」 — 농사의 어려움부터 알아야 한다 (무일)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안일(逸)의 경계 — 무일(無逸) 한 편이 모두 「안일하지 말라」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Batang"/>
              </a:rPr>
              <a:t>● 「臨深履薄」 — 깊은 못 앞에, 살얼음 위에 선 듯한 신중함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핵심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인심·도심 — 16자심전(十六字心傳)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대우모 — 동양 도통(道統)의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94183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4183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人 心 惟 危  道 心 惟 微
惟 精 惟 一  允 執 厥 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「人心」 — 욕망에 흔들리는 일상의 마음 — 위태롭다(危)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「道心」 — 도리에 따르는 마음 — 은미하여 잘 보이지 않는다(微)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「惟精惟一」 — 정밀히 분별하고 한결같이 지킴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「允執厥中」 — 진실로 그 중도(中)를 잡음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주희가 『중용장구서』 머리에서 「道統의 비밀」로 풀이 — 성리학의 핵심 명제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오자지가(五子之歌)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民 惟 邦 本, 本 固 邦 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백성이 나라의 근본이니, 근본이 굳어야 나라가 평안하다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동양 민본주의의 절대 명제. 정약용 『목민심서』의 머리글, 한국 헌법 정신의 깊은 원천.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태서 중(泰誓 中)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天 視 自 我 民 視, 天 聽 自 我 民 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하늘이 보는 것은 우리 백성이 보는 것에서, 하늘이 듣는 것은 우리 백성이 듣는 것에서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천명을 민의(民意)와 동일시한 동양 정치사상 최고의 명제. 맹자·왕양명까지 끊임없이 인용.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(3/12)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대우모(大禹謨)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人 心 惟 危, 道 心 惟 微  惟 精 惟 一, 允 執 厥 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인심은 위태롭고 도심은 은미하니, 정밀하고 한결같이 그 중도를 잡으라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「16자심전」 — 주희가 『중용장구서』에서 도통 전수의 핵심으로 지목. 성리학의 토대.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(4/12)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대우모(大禹謨)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正 德 利 用 厚 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덕을 바르게 하고, 쓰임을 이롭게 하며, 삶을 두텁게 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동양 정치의 세 큰 과제. 한국 「홍익인간」의 정신과도 통하는 통치의 세 축.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(5/12)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이훈(伊訓)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與 人 不 求 備, 檢 身 若 不 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남에게는 완전함을 구하지 않되, 자신을 살피기는 미치지 못한 듯이 하라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타인에겐 관대, 자신에겐 엄격 — 동양 자기수양의 결정적 한 줄.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(6/12)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태갑(太甲)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習 與 性 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습관이 성품을 이룬다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습관 = 성품 = 운명. 어려서 잘못 든 태갑이 회개·복위했듯, 사람은 끝까지 변할 수 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(7/12)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열명(說命)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非 知 之 艱, 行 之 惟 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아는 것이 어려운 것이 아니라, 행하는 것이 어렵다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「지행(知行)」의 동양적 명제. 왕양명의 「지행합일」, 정약용의 「행기지」 모두 여기서 출발.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(8/12)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소민(小民) 인용·다방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與 治 同 道 罔 不 興  與 亂 同 事 罔 不 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다스림과 도(道)를 함께하면 흥하지 않을 수 없고, 어지러움과 일을 함께하면 망하지 않을 수 없다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정치의 도리는 단순하다 — 어떤 결을 따르느냐가 흥망을 가른다.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(9/12)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홍범(洪範)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無 偏 無 黨, 王 道 蕩 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치우치지 않고 편당하지 않으니, 왕도가 평탄하구나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동양 정치의 「공평무사」 이상. 「왕도」라는 말의 가장 오래된 출전 중 하나.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(10/12)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무일(無逸)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先 知 稼 穡 之 艱 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먼저 농사의 어려움을 알라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주공이 어린 성왕에게 — 치자가 피치자의 삶을 모르면 「민이 의지하는 바」를 알 수 없다.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(11/12)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진서(秦誓)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人 之 有 技, 若 己 有 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남이 가진 재주를, 마치 자기 것인 듯이 (기뻐한다)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인재 포용의 정수. 『대학』이 통째로 인용 — 사람을 알아보고 시기하지 않는 그릇이 큰 정치를 만든다.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명구 모음 (12/12)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주관(周官)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功 崇 惟 志, 業 廣 惟 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공이 높은 것은 뜻이 있어서이고, 업이 넓은 것은 부지런해서이다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큰 공과 큰 업은 결국 「뜻」과 「부지런함」 — 동양 일의 원리의 한 줄 격언.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유가 경전의 핵심으로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논어 · 맹자 · 대학 · 중용이 끊임없이 서경을 인용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『논어』 — 「子曰: 書云, 孝乎惟孝, 友于兄弟」 (효와 우애의 출전을 서경에 둠)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『맹자』 — 「天視自我民視」를 인용해 역성혁명론 전개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『대학』 — 「克明俊德」 (요전), 「日新 又日新」 (탕지반명), 「進賢退不肖」 (진서)를 통째 인용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『중용』 — 「人心道心」(대우모)을 도통 전수의 비밀로 풀이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『순자』·『묵자』·『여씨춘추』까지 — 선진 사상 거의 모두 서경을 인용 토대로 삼음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서경 없이는 유학의 정치 철학과 도통론을 말할 수 없다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송학(宋學)과 16자심전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주희가 『중용장구서』에서 도통의 비밀로 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주희(朱熹) — 『중용장구서』 — 도통(道統)의 16자심전 정립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Batang"/>
              </a:rPr>
              <a:t>     「人心惟危, 道心惟微, 惟精惟一, 允執厥中」 — 요·순·우·탕·문·무·주공·공자·맹자로 이어진 도의 비밀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채침(蔡沈) — 주희의 명을 받아 『서집전(書集傳)』 완성 (1209)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이후 동아시아 서경 강독의 표준 — 조선·일본·베트남 모두 채침본을 사용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위(僞)고문 논쟁 — 청 염약거(閻若璩) 『상서고문소증(尚書古文疏證)』 (1745)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고문 25편이 위작임을 정밀히 고증 — 그러나 사상적 가치는 살아남음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한국과 일본에서의 서경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한국 — 삼국시대부터 수용, 조선조에 「치국의 교과서」로 자리잡음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세종·정조의 경연(經筵)에서 가장 자주 강독된 책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정약용 『상서고훈(尙書古訓)』·『매씨서평(梅氏書平)』 — 고문상서 비판의 정점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「민유방본」, 「천시자아민시」가 동학(東學)·민본 사상의 토양이 됨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일본 — 헤이안 시대부터 한학자 강독, 에도 막부의 통치 이념 형성에 활용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야마자키 안사이(山崎闇齋)·아라이 하쿠세키(新井白石)의 서경 연구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   · 「경천근민」의 이념이 막부 정치 윤리의 한 축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베트남 — 한문 교양의 기초, 사서삼경 체계의 한 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 한문학사에서의 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오경 중 「최고(最古)의 산문집」 — 시경이 운문이라면 서경은 산문의 원조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한문 산문의 원형 — 後代 詔·策·誥·命 등 황실 문서 양식의 토대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「3대(三代)의 정치」 = 「이상 정치」의 동의어가 됨 — 서경의 영향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모든 동양 정치 어휘의 보고 — 천명·덕치·민본·왕도·중도(中)·황극(皇極) 등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『사기』·『한서』·『자치통감』까지 — 모든 정사(正史)가 서경에서 출발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민주주의와 「민유방본」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동양 민본주의는 현대 민주주의와 어떻게 만나는가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서양 민주주의 — 「민(民)이 곧 권력의 주체」 (popular sovereignty)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동양 민본주의 — 「민(民)이 정치의 근본·목적」 (for the people)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두 사상은 「주체」와 「목적」의 차이를 두고도 깊이 만남 — 모두 사람을 향한다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「天視自我民視」 = 「Vox populi, vox dei」 (백성의 소리가 곧 신의 소리)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21세기 정치 — 여론·선거·SNS 또한 「하늘의 시청(視聽)」이 발현되는 통로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리더십의 5가지 원리 — 서경에서 길어낸 교훈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9144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914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011680"/>
            <a:ext cx="22860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011680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경천(敬天)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057400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큰 책임 앞에서 두려워하라 — 권한은 빌린 것이다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9144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914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880360"/>
            <a:ext cx="22860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880360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근민(勤民)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926080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편안함을 경계하라 — 안일이 곧 패망의 시작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9144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914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3749039"/>
            <a:ext cx="22860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3749039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경덕(敬德)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794759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능력보다 덕 — 큰 자리는 큰 그릇이 채워야 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9144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914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4617720"/>
            <a:ext cx="22860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4617720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집중(執中)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663440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극단이 아닌 중도 — 인심도심을 가려 잡으라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486400"/>
            <a:ext cx="91440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914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5486400"/>
            <a:ext cx="228600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5486400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포현(包賢)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532120"/>
            <a:ext cx="7589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남의 재주를 자기 것처럼 — 시기 없이 인재를 안다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정의로운 사법 — 「哀矜折獄」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여형(呂刑) — 인본주의 형법의 원천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8B1A1A"/>
                </a:solidFill>
                <a:latin typeface="Batang"/>
              </a:rPr>
              <a:t>● 「哀矜折獄」 — 슬퍼하고 가엾이 여기며 옥사를 결단하라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0">
                <a:solidFill>
                  <a:srgbClr val="1F2A44"/>
                </a:solidFill>
                <a:latin typeface="Batang"/>
              </a:rPr>
              <a:t>● 의심나는 죄는 가볍게, 의심나는 공은 무겁게 — 罪疑惟輕, 功疑惟重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형벌의 목적은 「벌(罰)」이 아니라 「교정(矯正)」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현대 회복적 사법(restorative justice)·인본 사법의 동양적 원형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「열 명의 죄인을 놓치는 것이, 한 사람의 무고한 자를 죽이는 것보다 낫다」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현대적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서경이 오늘 우리에게 말하는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권력은 결국 「사람을 위한 것」이다 — 民惟邦本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큰 자리는 큰 두려움이 따라야 한다 — 敬天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편안함이 가장 위험하다 — 無逸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사람의 마음은 늘 위태롭다 — 중도(中)를 잡지 못하면 흔들린다 — 允執厥中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남의 재주를 자기 것처럼 기뻐할 수 있을 때, 비로소 큰 그릇이다 — 진서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안다는 것이 어려운 게 아니라 행하는 것이 어렵다 — 非知之艱 行之惟艱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XIII.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62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서경,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서경은 요순부터 동주 초까지, 약 1500년의 정치 문서 모음이다.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우서 5 · 하서 4 · 상서 17 · 주서 32 — 사대(四代)의 말씀.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典·謨·訓·誥·誓·命 — 여섯 갈래 문체로 정치 행위를 기록한다.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천명(天命)·덕치(德治)·민본(民本)·경천근민 — 동양 정치의 네 기둥.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16자심전 — 인심도심·惟精惟一·允執厥中 — 도통(道統)의 비밀.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「하늘의 뜻과 백성의 마음이 하나임을 일러주는 책」.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0" b="1">
                <a:solidFill>
                  <a:srgbClr val="1F2A44"/>
                </a:solidFill>
                <a:latin typeface="Batang"/>
              </a:rPr>
              <a:t>民 惟 邦 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8B1A1A"/>
                </a:solidFill>
                <a:latin typeface="Batang"/>
              </a:rPr>
              <a:t>本 固 邦 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411480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백성이 곧 나라의 근본이니, 근본이 굳어야 나라가 평안하다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— 서경, 하서 「오자지가(五子之歌)」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1F2A44"/>
                </a:solidFill>
                <a:latin typeface="Batang"/>
              </a:rPr>
              <a:t>書  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