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동아시아 2,500년의 정신적 DNA · 사서(四書)의 으뜸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1F2A44"/>
                </a:solidFill>
                <a:latin typeface="Batang"/>
              </a:rPr>
              <a:t>論 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0">
                <a:solidFill>
                  <a:srgbClr val="8B1A1A"/>
                </a:solidFill>
                <a:latin typeface="맑은 고딕"/>
              </a:rPr>
              <a:t>논 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4754880"/>
            <a:ext cx="39319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556070"/>
                </a:solidFill>
                <a:latin typeface="Batang"/>
              </a:rPr>
              <a:t>學 而 時 習 之 不 亦 說 乎  — 배우고 때때로 익히면 기쁘지 아니한가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공자(孔子, BC 551~479)와 제자들의 언행록 · 20편 482장 약 16,000자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Batang"/>
              </a:rPr>
              <a:t>半 部 論 語 治 天 下 — 논어 반 권으로 천하를 다스린다 (송 조보趙普)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개요 — 논어란 무엇인가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974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편찬 — 400년의 완성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200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공자의 생애 — 한 인간의 드라마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033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공문사과와 핵심 제자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06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20편의 구조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9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709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20편 각 편 깊이 읽기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945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Ⅶ.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핵심 사상 7기둥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974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Ⅷ.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6974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명구 16선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00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200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한국·일본·서양 수용사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703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7033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오늘 우리에게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2062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Ⅺ.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206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한눈에 보는 논어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서명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0312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논어(論語) — 「토론하여 정리한 말씀」 (論 토론 + 語 말씀)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저자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65176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공자와 제자들 — 공자 사후 제자들이 수 차례 편찬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시대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0040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춘추시대 말기 (BC 6~5세기)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4903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분량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4903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20편 482장 · 약 16,000자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9767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7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성격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29767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공자와 제자들의 언행록(語錄) · 단편적 어록 모음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위상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84632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사서(四書)의 으뜸 — 논어 · 맹자 · 대학 · 중용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9495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9495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영향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39495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동아시아 2,500년의 정신적 DNA · 한국·일본·베트남의 교양 기초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94360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상징어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94360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반부논어치천하(半部論語治天下) — 송 조보(趙普)의 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왜 논어인가 — 동양 경전의 원점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반부논어치천하 — 논어 반 권으로 천하를 다스린다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Batang"/>
              </a:rPr>
              <a:t>半 部 論 語 治 天 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북송의 재상 조보(趙普)가 한 말 — 논어가 얼마나 깊고 실천적인 책인가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노신(魯迅) — 「중국 사상의 뼈대는 공자에게서 나왔다」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빌 게이츠 — 인생의 책으로 꼽은 동양 고전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피터 드러커 — 「공자의 인(仁)과 서(恕)는 현대 경영의 근본 원리다」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한국 — 조선 500년 사대부의 「제1 교양서」 · 일본 — 에도 막부의 정치 이념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556070"/>
                </a:solidFill>
                <a:latin typeface="맑은 고딕"/>
              </a:rPr>
              <a:t>● 16,000자의 작은 책이 2,500년의 동아시아를 만들었다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논어가 다른 고전과 다른 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「체계적 저작」이 아니다 — 그래서 더 사람 냄새 나는 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1. 체계적 저작이 아닌 「대화록」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『한비자』·『손자병법』은 체계 논문, 논어는 단편적 어록의 모음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Batang"/>
              </a:rPr>
              <a:t>● 2. 공자 자신이 쓴 책이 아니다 — 「述而不作」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공자는 「전할 뿐 짓지 않는다」 — 제자들이 스승의 말과 행동을 기록·편찬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3. 인간 공자의 약점까지 기록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화내는 공자·우는 공자·유머하는 공자 — 완벽한 성인이 아닌 흔들리며 가르친 스승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Batang"/>
              </a:rPr>
              <a:t>● 4. 해석 가능성의 무한함 — 「因材施敎」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같은 「인(仁)」을 제자마다 다르게 정의 — 독자마다 다른 논어를 읽는다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편찬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편찬 과정 — 400년에 걸친 완성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사람이 한 번에 쓴 책이 아니다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91440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914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1차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286000"/>
            <a:ext cx="29260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28600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공자 사후 (BC 479~)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377440"/>
            <a:ext cx="3657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중궁·자유·자하 등 직계 제자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377440"/>
            <a:ext cx="3108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기본 자료 정리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54680"/>
            <a:ext cx="91440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914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3154680"/>
            <a:ext cx="29260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315468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증자(曾子) 사후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246120"/>
            <a:ext cx="3657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유자·민자건 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246120"/>
            <a:ext cx="3108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보충과 정리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23360"/>
            <a:ext cx="91440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914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37360" y="4023360"/>
            <a:ext cx="29260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402336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전국시대 (BC 400~300)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114800"/>
            <a:ext cx="3657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맹자 시기 전후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114800"/>
            <a:ext cx="3108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첨가와 보충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892040"/>
            <a:ext cx="91440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92040"/>
            <a:ext cx="914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7360" y="4892040"/>
            <a:ext cx="29260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489204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전한 말 (BC 1세기)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983480"/>
            <a:ext cx="3657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장우(張禹)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983480"/>
            <a:ext cx="3108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현행 판본의 기초 — 후한에서 정본화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「논어」라는 이름은 전한 경제·무제 시기(BC 157~87)에 정착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공자의 생애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공자(孔子) — 한 인간의 기본 정보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가난한 무관의 아들이 동아시아의 스승이 되기까지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이름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103120"/>
            <a:ext cx="9235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공구(孔丘), 자(字) 중니(仲尼)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5176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생몰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651760"/>
            <a:ext cx="9235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BC 551 ~ BC 479 (72~73세)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0040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출신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200400"/>
            <a:ext cx="9235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노(魯)나라 (현 중국 산동성 곡부시)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49039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부친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749039"/>
            <a:ext cx="9235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숙량흘(叔梁紇) — 노나라 하급 무관 (공자 3세에 사망)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97679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97679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모친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297679"/>
            <a:ext cx="9235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안징재(顔徵在) — 홀어머니 밑에서 가난하게 성장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4632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4632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아들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846320"/>
            <a:ext cx="9235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공리(孔鯉) — 공자보다 먼저 사망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394959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94959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손자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5394959"/>
            <a:ext cx="9235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자사(子思) — 『중용』 저자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94360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94360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제자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5943600"/>
            <a:ext cx="9235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약 3,000명, 뛰어난 자 72명 (칠십이현 七十二賢)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공자의 생애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공자가 직접 남긴 인생 연표 — 위정편 4장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六 단어가 한국어의 「나이」를 가리키는 말이 되다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Batang"/>
              </a:rPr>
              <a:t>吾 十 有 五 而 志 于 學  三 十 而 立  四 十 而 不 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Batang"/>
              </a:rPr>
              <a:t>五 十 而 知 天 命  六 十 而 耳 順  七 十 而 從 心 所 欲 不 踰 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65760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志于學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657600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지학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657600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학문에 뜻을 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1480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而立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114800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이립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114800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자립함 — 독립적 사상 확립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7200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不惑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572000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불혹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572000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미혹되지 않음 — 의심·흔들림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0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02920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知天命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029200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지천명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029200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천명을 앎 — 소명·한계 자각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486400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48640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耳順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5486400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이순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486400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귀가 순해짐 — 어떤 말도 편안히 수용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43600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94360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從心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943600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종심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5943600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마음대로 해도 법도 어긋나지 않음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공자의 생애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공자의 인생 — 4단계 드라마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소년의 가난 → 학문과 관직 → 14년 주유 → 노년의 교육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94960" cy="2011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소년기 (0~19세)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56070"/>
                </a:solidFill>
                <a:latin typeface="맑은 고딕"/>
              </a:rPr>
              <a:t>가난한 성장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A44"/>
                </a:solidFill>
                <a:latin typeface="맑은 고딕"/>
              </a:rPr>
              <a:t>3세에 부친 사망 · 「吾少也賤 故多能鄙事」 — 어려서 천했기에 비천한 일을 많이 할 줄 안다.
그럼에도 15세에 학문에 뜻을 둠(志于學).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5394960" cy="2011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청·장년기 (20~50세)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060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56070"/>
                </a:solidFill>
                <a:latin typeface="맑은 고딕"/>
              </a:rPr>
              <a:t>학문과 관직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7180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A44"/>
                </a:solidFill>
                <a:latin typeface="맑은 고딕"/>
              </a:rPr>
              <a:t>노 계손씨 가문 하급 관리.
주(周) 낙양에서 노자를 만났다는 전승 · 제(齊)에서 「소(韶) 음악」 듣고 3개월간 고기 맛을 잊음.
50세 전후 노나라 대사구(大司寇) 임명 — 정치적 절정.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97679"/>
            <a:ext cx="5394960" cy="2011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389119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천하주유 (55~68세)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0059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56070"/>
                </a:solidFill>
                <a:latin typeface="맑은 고딕"/>
              </a:rPr>
              <a:t>14년의 방랑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66359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A44"/>
                </a:solidFill>
                <a:latin typeface="맑은 고딕"/>
              </a:rPr>
              <a:t>노에서 정치 개혁 실패 → 위·조·송·정·진·채 6개국 주유.
광(匡)의 위기 · 진채(陳蔡)의 절량 · 정나라 「상갓집 개」.
어느 제후도 등용하지 않음 — 그러나 가르침은 더 깊어짐.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297679"/>
            <a:ext cx="5394960" cy="2011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19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노년 귀향 (68~73세)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80059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56070"/>
                </a:solidFill>
                <a:latin typeface="맑은 고딕"/>
              </a:rPr>
              <a:t>교육과 저술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166359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A44"/>
                </a:solidFill>
                <a:latin typeface="맑은 고딕"/>
              </a:rPr>
              <a:t>68세 노로 귀환 — 후학 양성에 전념.
『춘추』 편찬 · 『시경·서경·역경·예기』 정리.
안연 요절(71세) → 「天喪予!」 · 자로 전사(72세).
BC 479년 봄 사망, 향년 73세.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공문사과와 핵심 제자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공문사과(孔門四科) — 제자 분류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선진편 3장 — 공자의 강점 기반 교육관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65176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Batang"/>
              </a:rPr>
              <a:t>德 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덕행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08960"/>
            <a:ext cx="265176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인격·도덕 실천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23774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안연 · 민자건
염백우 · 중궁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103120"/>
            <a:ext cx="265176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103120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Batang"/>
              </a:rPr>
              <a:t>言 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0604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언어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108960"/>
            <a:ext cx="265176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3108960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외교·웅변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840480"/>
            <a:ext cx="23774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재아 · 자공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103120"/>
            <a:ext cx="265176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103120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Batang"/>
              </a:rPr>
              <a:t>政 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60604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정사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108960"/>
            <a:ext cx="265176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108960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정치·행정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840480"/>
            <a:ext cx="23774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염유 · 자로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2103120"/>
            <a:ext cx="265176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103120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Batang"/>
              </a:rPr>
              <a:t>文 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60604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문학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3108960"/>
            <a:ext cx="265176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3108960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학문·경전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840480"/>
            <a:ext cx="23774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자유 · 자하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공자는 제자의 「강점」을 파악해 길을 안내 — 현대 strengths-based leadership의 원조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공문사과와 핵심 제자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핵심 제자 4인 — 논어를 빛낸 인물들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394960" cy="2011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Batang"/>
              </a:rPr>
              <a:t>顔淵 안연 (BC 521~481)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070"/>
                </a:solidFill>
                <a:latin typeface="맑은 고딕"/>
              </a:rPr>
              <a:t>안빈낙도의 화신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A44"/>
                </a:solidFill>
                <a:latin typeface="맑은 고딕"/>
              </a:rPr>
              <a:t>「賢哉回也! 一簞食一瓢飮 在陋巷 不改其樂」
공자의 가장 사랑받은 제자 · 41세 요절
「天喪予! — 하늘이 나를 버렸다!」 (공자의 통곡)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103120"/>
            <a:ext cx="5394960" cy="2011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Batang"/>
              </a:rPr>
              <a:t>子路 자로 (BC 542~480)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060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070"/>
                </a:solidFill>
                <a:latin typeface="맑은 고딕"/>
              </a:rPr>
              <a:t>용기의 화신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7180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A44"/>
                </a:solidFill>
                <a:latin typeface="맑은 고딕"/>
              </a:rPr>
              <a:t>공자보다 9세 어린 맏형격 제자 · 호위대장 같은 역할
「知之爲知之 不知爲不知 是知也」(공자의 가르침)
위(衛) 반란에서 「君子死 冠不免」 외치며 전사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97679"/>
            <a:ext cx="5394960" cy="2011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389119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Batang"/>
              </a:rPr>
              <a:t>子貢 자공 (BC 520?~456?)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00599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070"/>
                </a:solidFill>
                <a:latin typeface="맑은 고딕"/>
              </a:rPr>
              <a:t>외교·경제의 천재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66359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A44"/>
                </a:solidFill>
                <a:latin typeface="맑은 고딕"/>
              </a:rPr>
              <a:t>언어과 대표 · 거상(巨商) · 사기 화식열전에도 등장
공자 사후 6년간 시묘살이 — 제자 중 가장 길게
「夫子之不可及也 猶天之不可階而升也」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297679"/>
            <a:ext cx="5394960" cy="2011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389119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Batang"/>
              </a:rPr>
              <a:t>曾子 증자 (BC 505~435)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800599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070"/>
                </a:solidFill>
                <a:latin typeface="맑은 고딕"/>
              </a:rPr>
              <a:t>효도의 화신 · 도통의 핵심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166359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A44"/>
                </a:solidFill>
                <a:latin typeface="맑은 고딕"/>
              </a:rPr>
              <a:t>46세 어린 최연소급 제자 · 『대학』·『효경』 저자
「吾日三省吾身」 — 매일 세 가지로 자기를 반성
공자 → 증자 → 자사 → 맹자의 도통(道統) 핵심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20편의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20편 한 폭으로 — 상론(1~10) + 하론(11~20)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각 편명은 첫 두 글자에서 따옴 — 체계가 아닌 어록 모음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39496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Batang"/>
              </a:rPr>
              <a:t>上 論 (상론, 1~10편)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521208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212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Batang"/>
              </a:rPr>
              <a:t>下 論 (하론, 11~20편)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95728"/>
            <a:ext cx="5394960" cy="3657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95728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95728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Batang"/>
              </a:rPr>
              <a:t>學而 학이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95728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학문의 출발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53949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79776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779776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Batang"/>
              </a:rPr>
              <a:t>爲政 위정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77977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정치의 도와 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163824"/>
            <a:ext cx="5394960" cy="3657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163824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163824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Batang"/>
              </a:rPr>
              <a:t>八佾 팔일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163824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예의 본질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547872"/>
            <a:ext cx="53949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547872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54787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Batang"/>
              </a:rPr>
              <a:t>里仁 이인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547872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인(仁)의 거처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931920"/>
            <a:ext cx="5394960" cy="3657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93192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93192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Batang"/>
              </a:rPr>
              <a:t>公冶長 공야장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3931920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인물 평가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315968"/>
            <a:ext cx="53949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315968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315968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Batang"/>
              </a:rPr>
              <a:t>雍也 옹야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4315968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안빈낙도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700016"/>
            <a:ext cx="5394960" cy="3657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700016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4700016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Batang"/>
              </a:rPr>
              <a:t>述而 술이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470001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공자의 자기 진술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084064"/>
            <a:ext cx="53949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084064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5084064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Batang"/>
              </a:rPr>
              <a:t>泰伯 태백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5084064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성왕과 군자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468112"/>
            <a:ext cx="5394960" cy="3657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468112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546811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Batang"/>
              </a:rPr>
              <a:t>子罕 자한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5468112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공자의 가르침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5852160"/>
            <a:ext cx="53949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85216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8720" y="58521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Batang"/>
              </a:rPr>
              <a:t>鄕黨 향당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7520" y="5852160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공자의 일상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2395728"/>
            <a:ext cx="5212080" cy="3657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2395728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0" y="2395728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Batang"/>
              </a:rPr>
              <a:t>先進 선진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0" y="2395728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제자들의 인물상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2779776"/>
            <a:ext cx="52120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2779776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80" y="2779776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Batang"/>
              </a:rPr>
              <a:t>顔淵 안연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0" y="2779776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인과 군자의 정의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3163824"/>
            <a:ext cx="5212080" cy="3657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3163824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13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40880" y="3163824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Batang"/>
              </a:rPr>
              <a:t>子路 자로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61120" y="3163824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정치의 실무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3547872"/>
            <a:ext cx="52120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0" y="3547872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14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0880" y="3547872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Batang"/>
              </a:rPr>
              <a:t>憲問 헌문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1120" y="3547872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인물·정치 평론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3931920"/>
            <a:ext cx="5212080" cy="3657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0" y="3931920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40880" y="3931920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Batang"/>
              </a:rPr>
              <a:t>衛靈公 위령공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61120" y="39319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군자의 도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0" y="4315968"/>
            <a:ext cx="52120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0" y="4315968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16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40880" y="4315968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Batang"/>
              </a:rPr>
              <a:t>季氏 계씨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61120" y="4315968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삼우삼락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0" y="4700016"/>
            <a:ext cx="5212080" cy="3657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0" y="4700016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17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40880" y="4700016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Batang"/>
              </a:rPr>
              <a:t>陽貨 양화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61120" y="4700016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인간 본성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0" y="5084064"/>
            <a:ext cx="52120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0800" y="5084064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18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40880" y="5084064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Batang"/>
              </a:rPr>
              <a:t>微子 미자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61120" y="5084064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은자와 공자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00800" y="5468112"/>
            <a:ext cx="5212080" cy="3657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0" y="5468112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19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40880" y="5468112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Batang"/>
              </a:rPr>
              <a:t>子張 자장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61120" y="5468112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제자들의 어록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00800" y="5852160"/>
            <a:ext cx="52120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0" y="5852160"/>
            <a:ext cx="640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20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40880" y="5852160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Batang"/>
              </a:rPr>
              <a:t>堯曰 요왈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61120" y="585216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천명과 마무리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20편 깊이 읽기 (1/20)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學而 학이  (학이)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제1편 — 학문의 출발 · 논어의 첫 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學 而 時 習 之  不 亦 說 乎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배우고 때때로 익히면 기쁘지 아니한가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편의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논어의 첫 구절 — 「학(學)」으로 시작 / 「유붕자원방래(有朋自遠方來)」 — 벗이 멀리서 옴 / 「인부지이불온(人不知而不慍)」 — 남이 알아주지 않아도 / 증자의 「吾日三省吾身」 — 매일 자기 점검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공부의 기쁨은 외부 평가가 아닌 내부 변화에서 — 「위기지학(爲己之學)」의 출발점.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20편 깊이 읽기 (2/20)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爲政 위정  (위정)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제2편 — 정치의 도와 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爲 政 以 德  譬 如 北 辰  居 其 所 而 衆 星 共 之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덕으로 정치를 하면, 마치 북극성이 제자리에 있고 뭇 별이 함께 도는 것과 같다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편의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「위정이덕(爲政以德)」 — 덕치의 정의 / 공자의 인생 연표(15~70) / 「知之爲知之」 — 자로에게 / 효(孝)에 대한 다양한 답 (인재시교)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리더십은 「누가 명령하는가」가 아니라 「누구를 따르고 싶은가」 — 덕이 사람을 끌어당기는 힘.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20편 깊이 읽기 (3/20)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八佾 팔일  (팔일)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제3편 — 예(禮)의 본질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人 而 不 仁  如 禮 何   人 而 不 仁  如 樂 何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사람이 인하지 않다면 예를 어찌하며, 사람이 인하지 않다면 악을 어찌하랴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편의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「八佾舞於庭 是可忍也 孰不可忍也」 — 계씨의 무례에 분노 / 「祭如在 祭神如神在」 — 정성의 예 / 「樂而不淫 哀而不傷」 — 관저편 평어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형식만의 예는 의미 없다 — 「내용」으로서의 인(仁)이 먼저. 진정성 없는 의례는 죽은 예.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20편 깊이 읽기 (4/20)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里仁 이인  (이인)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제4편 — 인(仁)의 거처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里 仁 爲 美   君 子 喩 於 義  小 人 喩 於 利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인한 마을에 사는 것이 아름답다 / 군자는 의로움에 밝고, 소인은 이익에 밝다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편의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「朝聞道 夕死可矣」 — 아침에 도를 들으면 저녁에 죽어도 좋다 / 「君子喩於義 小人喩於利」 — 군자와 소인의 결정적 차이 / 「見賢思齊」 — 어진 이를 보면 같아질 것을 생각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환경이 사람을 만든다 — 누구와 함께 있느냐가 자기 인격의 절반. 어떤 가치에 밝은가가 군자/소인을 가른다.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20편 깊이 읽기 (5/20)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公冶長 공야장  (공야장)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제5편 — 인물 평가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聞 一 以 知 十  聞 一 以 知 二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안회는 하나를 들으면 열을 알지만, 자공은 하나를 들으면 둘을 알 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편의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인물 평가의 모음편 / 자공과 안연의 비교 / 「敏而好學 不恥下問」 — 공문자의 시호 풀이 / 「老者安之 朋友信之 少者懷之」 — 공자의 포부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인물을 평가할 때 강점에 주목 — 누구를 닮고 싶은가의 안목이 곧 자기 길의 안목.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20편 깊이 읽기 (6/20)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雍也 옹야  (옹야)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제6편 — 안빈낙도(安貧樂道)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賢 哉 回 也  一 簞 食 一 瓢 飮  不 改 其 樂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훌륭하도다 안회여 — 한 그릇 밥 한 표주박 물에도 그 즐거움을 바꾸지 않는다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편의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안연의 안빈낙도 / 「知之者不如好之者 好之者不如樂之者」 — 아는 자 &lt; 좋아하는 자 &lt; 즐기는 자 / 「中庸之爲德也 其至矣乎」 — 중용의 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즐길 줄 아는 자가 가장 강하다 — 「열정」 위에 「즐거움」. 외부 조건이 흔들어도 무너지지 않는 내면.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20편 깊이 읽기 (7/20)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述而 술이  (술이)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제7편 — 공자의 자기 진술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述 而 不 作  信 而 好 古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전할 뿐 짓지 않으며, 옛것을 믿고 좋아한다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편의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공자가 자기를 그린 편 — 「不作」의 겸손 / 「三人行 必有我師焉」 — 세 사람이면 반드시 스승 / 「飯疏食 飮水 曲肱而枕之 樂亦在其中矣」 — 거친 밥에도 즐거움 / 「發憤忘食 樂以忘憂」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겸손과 자족 — 새것을 짓는 게 아니라 옛것을 잇는다는 자세. 거친 밥에도 즐거움이 있다는 마음.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20편 깊이 읽기 (8/20)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泰伯 태백  (태백)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제8편 — 성왕과 군자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士 不 可 以 不 弘 毅  任 重 而 道 遠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선비는 넓고 굳세지 않으면 안 된다 — 짐은 무겁고 갈 길은 멀다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편의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증자의 「임중도원(任重道遠)」 / 「興於詩 立於禮 成於樂」 — 시에서 일으키고 예에서 서고 악에서 완성 / 「不在其位 不謀其政」 — 그 자리에 있지 않으면 그 일을 도모하지 않는다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인생의 짐과 길은 늘 무겁고 멀다 — 그 무게를 감당하는 자가 「선비(士)」. 자기 책임의 자각.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20편 깊이 읽기 (9/20)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子罕 자한  (자한)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제9편 — 공자의 가르침과 자취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子 絕 四 — 毋 意  毋 必  毋 固  毋 我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공자에게 네 가지가 없었다 — 억측·고집·완고·자기 중심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편의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「子在川上曰 逝者如斯夫 不舍晝夜」 — 흐르는 물처럼 / 「歲寒然後知松柏之後彫也」 — 추워진 뒤에야 송백을 안다 / 「絕四」 — 네 가지 없음 / 「後生可畏」 — 후배가 두렵다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비움의 미학 — 억측·고집·완고·자기 중심을 비울 때 비로소 보인다. 시간이 모든 것을 가려준다.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20편 깊이 읽기 (10/20)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鄕黨 향당  (향당)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제10편 — 공자의 일상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食 不 厭 精  膾 不 厭 細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밥은 정한 것을 싫어하지 않고, 회는 가는 것을 싫어하지 않는다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편의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공자의 일상 생활 묘사 — 식사·옷·말투·움직임의 디테일 / 「食不語 寢不言」 — 먹을 때와 잘 때 말 없음 / 「鄕人飮酒 杖者出 斯出矣」 — 노인을 먼저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인격은 거창한 곳이 아니라 일상의 작은 동작에서 — 향당편은 공자의 「살아 있는 모습」을 가장 생생히 보여준다.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20편 깊이 읽기 (11/20)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先進 선진  (선진)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제11편 — 제자들의 인물상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未 知 生  焉 知 死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삶도 모르거늘 어찌 죽음을 알랴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편의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공문사과(德行·言語·政事·文學) 출전 / 자로의 죽음에 대한 답 — 「未能事人 焉能事鬼」 / 안연의 요절에 「天喪予!」 / 자로·증석·염유·공서화의 「각자의 뜻」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죽음을 묻기 전에 삶을 먼저 — 형이상학적 사변보다 현재의 사람과 일에 충실. 「지금 여기」의 윤리.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20편 깊이 읽기 (12/20)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顔淵 안연  (안연)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제12편 — 인(仁)과 군자의 정의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克 己 復 禮 爲 仁   己 所 不 欲  勿 施 於 人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자기를 이기고 예로 돌아감이 인이다 / 자기가 바라지 않는 바를 남에게 베풀지 말라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편의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안연의 인(仁) 질문 → 克己復禮 / 중궁의 인(仁) 질문 → 己所不欲 勿施於人 / 사마우의 인(仁) 질문 → 訒(말의 신중함) / 「君君臣臣父父子子」 — 정명(正名)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인(仁)의 정의가 사람마다 다른 까닭 — 「因材施敎」. 같은 진리도 그 사람에게 가장 절실한 말로 전해진다.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20편 깊이 읽기 (13/20)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子路 자로  (자로)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제13편 — 정치의 실무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君 子 和 而 不 同   小 人 同 而 不 和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군자는 화합하되 같지 않고, 소인은 같되 화합하지 않는다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편의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「화이부동(和而不同)」 — 군자와 소인의 결정적 차이 / 「其身正 不令而行」 — 자기 몸이 바르면 명령 없어도 행해진다 / 「先之勞之」 — 솔선수범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진정한 화합은 「같음」이 아닌 「다름의 조화」. 다양성이 곧 힘 — 동질화는 동조 압력일 뿐.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20편 깊이 읽기 (14/20)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憲問 헌문  (헌문)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제14편 — 인물·정치 평론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不 患 人 之 不 己 知  患 其 不 能 也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남이 나를 알아주지 않음을 근심하지 말고, 자기의 능력 없음을 근심하라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편의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「不患人之不己知」 — 학이편의 변주 / 「以直報怨 以德報德」 — 곧음으로 원망에 갚고, 덕으로 덕에 갚는다 / 관중·자산 등 역대 인물 평론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평가의 주체를 자기로 옮긴다 — 외부 인정에 끌려다니지 않는 자유. 자기 능력의 키움이 진짜 답.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20편 깊이 읽기 (15/20)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衛靈公 위령공  (위령공)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제15편 — 군자의 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己 所 不 欲  勿 施 於 人 — 一 言 而 可 以 終 身 行 之 者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자기가 바라지 않는 바를 남에게 베풀지 말라 — 평생 한 마디로 행할 수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편의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자공의 「평생 한 글자」 질문 → 「恕」와 「己所不欲 勿施於人」 / 「君子求諸己 小人求諸人」 — 군자는 자기에게서 구하고 소인은 남에게서 구한다 / 「君子固窮 小人窮斯濫矣」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도덕의 가장 짧은 원칙 — 황금률(Golden Rule)의 동양적 음각. 「하지 말라」의 자기 절제로 시작.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20편 깊이 읽기 (16/20)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季氏 계씨  (계씨)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제16편 — 삼우삼락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益 者 三 友 — 友 直  友 諒  友 多 聞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이로운 세 벗 — 곧은 벗·신실한 벗·견문 넓은 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편의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익자삼우(益者三友) / 손자삼우(損者三友) — 便辟·善柔·便佞 / 익자삼락(益者三樂) — 절예악·도인지선·다현우 / 군자에게 「三戒」 — 색·투·득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관계의 질이 인생의 질 — 누구와 어울리는가가 곧 나의 인격. 시기별 경계(三戒)는 자기 관리의 매뉴얼.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20편 깊이 읽기 (17/20)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陽貨 양화  (양화)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제17편 — 인간 본성과 시대 비판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性 相 近 也  習 相 遠 也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본성은 서로 가깝지만, 습관이 서로 멀게 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편의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인간 본성에 대한 가장 짧은 명제 / 「色厲而內荏」 — 겉은 엄하지만 속이 약함 / 「鄕原 德之賊也」 — 향원은 덕의 도적 / 「飽食終日 無所用心 難矣哉」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사람의 차이는 타고난 본성이 아니라 「습관(習)」이 만든다 — 교육과 환경의 결정적 힘. 향원의 위선 경계.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20편 깊이 읽기 (18/20)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微子 미자  (미자)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제18편 — 은자와 공자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鳥 獸 不 可 與 同 群  吾 非 斯 人 之 徒 與  而 誰 與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새와 짐승과는 무리 지을 수 없으니, 내가 이 사람들과 함께하지 않으면 누구와 함께하랴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편의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은자(隱者)들 — 장저·걸닉·접여 / 그들이 공자를 「풍자」하고 공자가 답함 / 「鳥獸不可與同群」 — 공자의 인본주의 / 「天下有道 丘不與易也」 — 천하에 도가 있다면 내가 바꾸려 하지 않을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세상을 떠나는 자에 대한 공자의 답 — 「인간 가운데 있어야 한다」. 도피보다 참여, 좌절보다 시도.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20편 깊이 읽기 (19/20)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子張 자장  (자장)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제19편 — 제자들의 어록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博 學 而 篤 志  切 問 而 近 思  仁 在 其 中 矣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널리 배우고 뜻을 돈독히 하며, 절실하게 묻고 가까이 생각하면 인은 그 가운데 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편의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공자의 말이 아니라 자장·자하·증자·자공의 어록 / 자하의 「博學篤志 切問近思」 — 성균관대학 교훈, 『근사록』 서명 출전 / 자공의 「夫子之不可及也 猶天之不可階而升也」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스승의 말을 잇는 제자들의 목소리 — 가르침의 진정성은 「누가 이어 말하는가」로 입증된다.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20편 깊이 읽기 (20/20)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堯曰 요왈  (요왈)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제20편 — 천명과 마무리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不 知 命  無 以 爲 君 子 也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천명을 모르면 군자가 될 수 없다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편의 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논어의 마지막 편 / 요·순·우·탕·문·무 — 성왕들의 말씀 인용 / 「不知命 不知禮 不知言」 — 천명·예·말의 세 가지를 알아야 / 학이편의 「학(學)」으로 시작하여 요왈편의 「명(命)」으로 끝남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논어의 끝은 다시 시작 — 학문의 길은 결국 천명의 자각에 이른다. 수미상관(首尾相關)의 정점.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핵심 사상 7기둥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Batang"/>
              </a:rPr>
              <a:t>仁  (인)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논어 전체의 중심 — 109회 등장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· 「克己復禮爲仁」 — 자기를 이기고 예로 돌아감 (안연편)
· 「己所不欲 勿施於人」 — 자기가 원치 않는 것을 남에게 베풀지 말라
· 「仁者愛人」 — 인이란 사람을 사랑함
· 「巧言令色 鮮矣仁」 — 꾸민 말과 얼굴엔 인이 드물다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함의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동양 도덕의 가장 큰 그릇 — 「사람다움」.
현대 윤리학·EQ·사회적 감수성의 동양적 원천.
공자가 제자마다 다르게 정의한 「열린 개념」.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핵심 사상 7기둥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Batang"/>
              </a:rPr>
              <a:t>義  (의)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이익에 대비되는 「올바름」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· 「君子喩於義 小人喩於利」 — 군자는 의에 밝고 소인은 이익에 밝다
· 「見利思義」 — 이익을 보면 의를 생각하라
· 「不義而富且貴 於我如浮雲」 — 의롭지 않은 부귀는 뜬구름 같다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함의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이익과 도덕의 분기점 — 「의(義)냐 이(利)냐」가 군자/소인을 가른다.
현대 비즈니스 윤리·ESG의 동양 원형.
「견리사의」가 모든 결정의 저울.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핵심 사상 7기둥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Batang"/>
              </a:rPr>
              <a:t>禮  (예)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사회 규범과 질서의 형식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· 「人而不仁 如禮何」 — 사람이 인하지 않다면 예를 어찌하랴
· 「克己復禮爲仁」 — 자기를 이기고 예로 돌아감이 인
· 「非禮勿視 非禮勿聽 非禮勿言 非禮勿動」 — 사물(四勿)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함의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예는 형식이 아니라 「인의 표현」 — 내용과 형식의 통합.
현대의 매너·프로토콜·기업 윤리 강령의 근원.
인 없는 예는 죽은 의례.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핵심 사상 7기둥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Batang"/>
              </a:rPr>
              <a:t>知 / 學  (지·학)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앎과 배움의 윤리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· 「知之爲知之 不知爲不知 是知也」 — 아는 것을 안다, 모르는 것을 모른다 함이 앎
· 「學而時習之 不亦說乎」 — 배우고 익힘의 기쁨
· 「知之者不如好之者 好之者不如樂之者」 — 아는 자 &lt; 좋아하는 자 &lt; 즐기는 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함의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지적 겸손이 진짜 지혜 — 소크라테스 「너 자신을 알라」와 통한다.
외부 인정이 아닌 내부 변화로서의 학문 — 「위기지학」.
즐기는 자가 가장 강하다.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핵심 사상 7기둥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Batang"/>
              </a:rPr>
              <a:t>孝 / 悌  (효·제)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관계 윤리의 출발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· 「孝弟也者 其爲仁之本」 — 효와 제는 인의 근본
· 「父在觀其志 父沒觀其行」 — 부모 생전에는 뜻을, 사후에는 행을 본다
· 「事父母幾諫」 — 부모를 섬기되 은근히 간한다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함의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모든 관계의 시작은 부모-자식 — 가까운 데서 먼 데로 확장되는 윤리.
「가까운 사람에게 막대하지 않기」의 동양적 원형.
효(孝)는 절대 복종이 아닌 「깊은 배려」.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핵심 사상 7기둥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Batang"/>
              </a:rPr>
              <a:t>忠 / 恕  (충·서)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공자 사상의 한 줄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· 「夫子之道 忠恕而已矣」 — 공자의 도는 충과 서일 뿐 (증자, 이인편)
· 「忠」 — 마음을 다하는 것 (盡心)
· 「恕」 — 같이 헤아리는 것 (推己及人)
· 「己所不欲 勿施於人」 — 서(恕)의 정의 (위령공편)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함의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서양 「황금률」의 동양 음각 버전 — 「하지 말라」의 자기 절제.
현대 협상·관계의 가장 짧은 원칙.
공자 사상 전체를 두 글자로 요약 — 모든 도덕의 코드.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핵심 사상 7기둥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Batang"/>
              </a:rPr>
              <a:t>君 子  (군자)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논어의 이상적 인간상 — 107회 등장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· 「君子和而不同 小人同而不和」 — 군자는 화합하되 같지 않다
· 「君子求諸己 小人求諸人」 — 군자는 자기에게서 구한다
· 「君子坦蕩蕩 小人長戚戚」 — 군자는 평탄하고 소인은 늘 근심
· 「君子喩於義 小人喩於利」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함의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논어 전체의 인격적 도착점 — 「군자」.
태생이 아닌 「됨」의 인격 — 누구나 군자가 될 수 있다.
현대 인격·리더십의 동양 표준.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(1/16)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학이편 첫 구절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學 而 時 習 之  不 亦 說 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배우고 때때로 익히면 기쁘지 아니한가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논어 첫 문장. 학문의 본질을 「기쁨」으로 정의 — 외부 평가가 아닌 내부 변화. 「위기지학」의 출발.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(2/16)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학이편 · 증자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吾 日 三 省 吾 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나는 하루에 세 가지로 나를 반성한다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증자의 일과 — 충(忠)·신(信)·습(習) 세 가지로 자기 점검. 매일 자기 점검 루틴의 가장 짧고 강력한 원전.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(3/16)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위정편 · 공자의 인생 연표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三 十 而 立  四 十 而 不 惑  五 十 而 知 天 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서른에 자립하고, 마흔에 미혹되지 않고, 쉰에 천명을 안다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이립·불혹·지천명 — 한국어에서 나이를 가리키는 말이 된 6단어의 원전. 인생 연표의 동양적 표준.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(4/16)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위정편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知 之 爲 知 之  不 知 爲 不 知  是 知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아는 것을 안다, 모르는 것을 모른다 하는 것이 아는 것이다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공자가 자로에게. 지적 겸손이 곧 지혜의 시작 — 「너 자신을 알라」의 동양 음각 버전.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(5/16)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이인편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朝 聞 道  夕 死 可 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아침에 도를 들으면 저녁에 죽어도 좋다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진리에 대한 가장 뜨거운 갈망. 안위가 아니라 「도(道)」를 위해 사는 삶 — 모든 학자의 좌우명.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(6/16)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45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이인편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君 子 喩 於 義  小 人 喩 於 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군자는 의로움에 밝고, 소인은 이익에 밝다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군자와 소인의 결정적 차이 — 무엇에 「밝은가」가 사람을 가른다. 비즈니스 윤리의 동양적 원천.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(7/16)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46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이인편 · 증자가 풀이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夫 子 之 道  忠 恕 而 已 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선생님의 도는 충과 서일 뿐이다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공자 사상 전체를 두 글자로 요약. 충(忠) — 마음을 다함 / 서(恕) — 같이 헤아림. 모든 도덕의 코드.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(8/16)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47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옹야편 · 안연 찬탄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賢 哉 回 也  一 簞 食  一 瓢 飮  不 改 其 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훌륭하도다 안회여 — 한 그릇 밥, 한 표주박 물에도 그 즐거움을 바꾸지 않는다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안빈낙도(安貧樂道)의 화신 안연에 대한 공자의 찬탄. 외부 조건과 무관한 내면의 강건함.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(9/16)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48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옹야편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知 之 者 不 如 好 之 者  好 之 者 不 如 樂 之 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아는 자는 좋아하는 자만 못하고, 좋아하는 자는 즐기는 자만 못하다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학습·일·삶의 3단계 위계. 「즐기는 자가 가장 강하다」 — 현대 몰입(flow) 이론의 2,500년 선행 명제.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(10/16)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49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술이편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三 人 行  必 有 我 師 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세 사람이 가면 그 가운데 반드시 내 스승이 있다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겸손과 학습 의지의 결정판. 모든 사람에게서 배운다는 자세 — 「스승은 도처에 있다」.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(11/16)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50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자한편 · 절사(絕四)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子 絕 四 — 毋 意  毋 必  毋 固  毋 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공자에게 네 가지가 없었다 — 억측·고집·완고·자기 중심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공자의 인격 자화상. 비움의 미학 — 네 가지를 비울 때 비로소 본다. 현대 열린 마음의 동양 원형.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(12/16)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51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자한편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逝 者 如 斯 夫  不 舍 晝 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흘러가는 것이 이와 같구나 — 밤낮을 가리지 않는다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공자가 강가에서 한 말. 시간의 무상함에 대한 가장 시적인 표현. 현재에 충실하라는 동양적 명제.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(13/16)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52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안연편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克 己 復 禮  爲 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자기를 이기고 예로 돌아감이 인이다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안연이 인을 물은 답. 인(仁)의 가장 핵심 정의. 「자기 절제 + 사회적 규범」의 통합.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(14/16)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53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안연편 / 위령공편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己 所 不 欲  勿 施 於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자기가 바라지 않는 바를 남에게 베풀지 말라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서(恕)의 정의. 황금률의 동양 음각. 「평생 한 글자로 행할 만한 것」 — 도덕의 가장 짧은 원칙.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(15/16)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54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자로편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君 子 和 而 不 同  小 人 同 而 不 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군자는 화합하되 같지 않고, 소인은 같되 화합하지 않는다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진정한 화합은 「다름의 조화」. 동질화 압력에 대한 가장 오래된 비판. 다양성의 가치를 선언.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16선 (16/16)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55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요왈편 · 논어의 마지막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不 知 命  無 以 爲 君 子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천명을 모르면 군자가 될 수 없다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논어의 마지막 구절. 학이편의 「학(學)」으로 시작해 요왈편의 「명(命)」으로 끝난다 — 수미상관의 정점.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한국·일본·서양 수용사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56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한국 — 조선 500년의 「제1 교양서」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사림의 정체성 · 과거 시험의 핵심 · 현대까지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고려 — 안향이 원에서 주자학과 함께 도입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조선 — 사서삼경의 첫머리 · 과거 시험(생원·진사)의 핵심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퇴계 이황 — 『논어석의』 · 율곡 이이 — 『논어석의』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정약용 — 『논어고금주』 — 가장 방대한 조선 시대 논어 주석서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경연(經筵) — 왕에게 가장 자주 진강된 책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현대 — 「오늘 우리도 매일 쓰는 표현」 — 학이시습·온고지신·삼인행필유아사 등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556070"/>
                </a:solidFill>
                <a:latin typeface="맑은 고딕"/>
              </a:rPr>
              <a:t>● 한국인의 「민족 어휘」에 가장 깊이 새겨진 외래 고전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한국·일본·서양 수용사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57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일본 — 에도 막부의 정치 이념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오규 소라이·이토 진사이의 비판적 독해부터 시부사와 에이이치까지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오진 천황 시기 백제 왕인(王仁)이 『논어』를 전했다는 전승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에도 막부 — 도쿠가와의 통치 이념으로 채택 (하야시 라잔)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이토 진사이(伊藤仁齋) · 오규 소라이(荻生徂徠) — 주자 비판하고 「원전 논어」로 회귀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시부사와 에이이치(澁澤榮一) — 「논어와 주판」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일본 자본주의의 아버지 — 「도덕(논어) + 경제(주판)」의 결합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메이지 이후 — 일본 기업 윤리의 사상적 기반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한국·일본·서양 수용사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58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서양 — 「Confucius」가 된 공자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예수회 선교사부터 빌 게이츠·피터 드러커까지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17세기 — 예수회 선교사 마테오 리치 → 「Confucius」로 라틴어 명명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1687 — 『Confucius Sinarum Philosophus』 (파리) — 논어 최초 라틴어 완역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볼테르 · 라이프니츠 — 공자를 「이상적 철학자」로 격찬 — 계몽주의에 영향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헤겔 — 비판적이었으나 동양 사유의 대표로 인정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현대 — 빌 게이츠의 「인생의 책」 · 피터 드러커 「인(仁)과 서(恕)는 현대 경영의 근본」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556070"/>
                </a:solidFill>
                <a:latin typeface="맑은 고딕"/>
              </a:rPr>
              <a:t>● 영문 번역 50종 이상 — 동양 고전 중 가장 많이 번역·인용된 책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오늘 우리에게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59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논어가 오늘 우리에게 일러주는 12가지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1. 공부는 외부 평가가 아닌 내부 변화 — 學而時習之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2. 매일 자기를 세 가지로 점검하라 — 三省吾身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3. 모르는 것을 모른다 함이 진짜 앎 — 知之爲知之 不知爲不知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4. 의(義)와 이(利)의 갈림에서 의를 보라 — 君子喩於義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79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5. 자기가 원치 않는 것을 남에게 베풀지 말라 — 己所不欲 勿施於人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383279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6. 즐기는 자가 가장 강하다 — 樂之者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59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7. 세 사람이면 반드시 내 스승이 있다 — 三人行必有我師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59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8. 다름의 조화 — 和而不同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9. 평가를 자기에게 돌리라 — 不患人之不己知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66344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10. 한 덕목에 고착되지 말라 — 絕四(억측·고집·완고·자기 중심)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11. 진리에 대한 갈망 — 朝聞道 夕死可矣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30352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12. 천명을 안다는 것 — 不知命 無以爲君子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60 / 61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논어, 한 폭으로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공자와 제자들의 언행록 — 20편 482장 약 16,000자.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사서(四書)의 으뜸 — 동아시아 2,500년의 정신적 DNA.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학(學)으로 시작해 명(命)으로 끝나는 수미상관의 책.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7대 사상 기둥 — 인 · 의 · 예 · 지/학 · 효/제 · 충/서 · 군자.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학이시습·온고지신·이립불혹·지천명·종심·삼인행필유아사 — 일상에 살아 있는 표현.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그리고 무엇보다, 「흔들리며 가르친 한 스승의 살아 있는 모습」.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400" b="1">
                <a:solidFill>
                  <a:srgbClr val="1F2A44"/>
                </a:solidFill>
                <a:latin typeface="Batang"/>
              </a:rPr>
              <a:t>學 而 時 習 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8B1A1A"/>
                </a:solidFill>
                <a:latin typeface="Batang"/>
              </a:rPr>
              <a:t>不 亦 說 乎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4023360"/>
            <a:ext cx="4846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42062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배 우 고  때 때 로  익 히 면  기 쁘 지  아 니 한 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논어 제1편 학이(學而), 첫 구절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1F2A44"/>
                </a:solidFill>
                <a:latin typeface="Batang"/>
              </a:rPr>
              <a:t>論  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