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C8A2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1F2A44"/>
                </a:solidFill>
                <a:latin typeface="맑은 고딕"/>
              </a:rPr>
              <a:t>論 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832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8B1A1A"/>
                </a:solidFill>
                <a:latin typeface="맑은 고딕"/>
              </a:rPr>
              <a:t>The Analects · 논어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0" y="411480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438912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1F2A44"/>
                </a:solidFill>
                <a:latin typeface="맑은 고딕"/>
              </a:rPr>
              <a:t>공자(孔子)와 제자들의 언행록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춘추시대 (BC 551~479) · 사서(四書)의 으뜸 · 20편 482장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8A2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1F2A44"/>
                </a:solidFill>
                <a:latin typeface="맑은 고딕"/>
              </a:rPr>
              <a:t>목 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2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15544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8B1A1A"/>
                </a:solidFill>
                <a:latin typeface="맑은 고딕"/>
              </a:rPr>
              <a:t>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15544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F2A44"/>
                </a:solidFill>
                <a:latin typeface="맑은 고딕"/>
              </a:rPr>
              <a:t>개요 — 논어란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8B1A1A"/>
                </a:solidFill>
                <a:latin typeface="맑은 고딕"/>
              </a:rPr>
              <a:t>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20116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F2A44"/>
                </a:solidFill>
                <a:latin typeface="맑은 고딕"/>
              </a:rPr>
              <a:t>20편의 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4688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8B1A1A"/>
                </a:solidFill>
                <a:latin typeface="맑은 고딕"/>
              </a:rPr>
              <a:t>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4688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F2A44"/>
                </a:solidFill>
                <a:latin typeface="맑은 고딕"/>
              </a:rPr>
              <a:t>핵심 사상 ① — 인(仁)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926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8B1A1A"/>
                </a:solidFill>
                <a:latin typeface="맑은 고딕"/>
              </a:rPr>
              <a:t>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9260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F2A44"/>
                </a:solidFill>
                <a:latin typeface="맑은 고딕"/>
              </a:rPr>
              <a:t>핵심 사상 ② — 예(禮)와 덕치(德治)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3832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8B1A1A"/>
                </a:solidFill>
                <a:latin typeface="맑은 고딕"/>
              </a:rPr>
              <a:t>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33832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F2A44"/>
                </a:solidFill>
                <a:latin typeface="맑은 고딕"/>
              </a:rPr>
              <a:t>핵심 사상 ③ — 군자(君子)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8404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8B1A1A"/>
                </a:solidFill>
                <a:latin typeface="맑은 고딕"/>
              </a:rPr>
              <a:t>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8404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F2A44"/>
                </a:solidFill>
                <a:latin typeface="맑은 고딕"/>
              </a:rPr>
              <a:t>명구절 10선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2976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8B1A1A"/>
                </a:solidFill>
                <a:latin typeface="맑은 고딕"/>
              </a:rPr>
              <a:t>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42976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F2A44"/>
                </a:solidFill>
                <a:latin typeface="맑은 고딕"/>
              </a:rPr>
              <a:t>논어의 구조적 특징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7548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8B1A1A"/>
                </a:solidFill>
                <a:latin typeface="맑은 고딕"/>
              </a:rPr>
              <a:t>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7548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F2A44"/>
                </a:solidFill>
                <a:latin typeface="맑은 고딕"/>
              </a:rPr>
              <a:t>현대적 의의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212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8B1A1A"/>
                </a:solidFill>
                <a:latin typeface="맑은 고딕"/>
              </a:rPr>
              <a:t>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52120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F2A44"/>
                </a:solidFill>
                <a:latin typeface="맑은 고딕"/>
              </a:rPr>
              <a:t>다른 고전과의 비교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6692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8B1A1A"/>
                </a:solidFill>
                <a:latin typeface="맑은 고딕"/>
              </a:rPr>
              <a:t>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56692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F2A44"/>
                </a:solidFill>
                <a:latin typeface="맑은 고딕"/>
              </a:rPr>
              <a:t>마무리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Ⅰ.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논어(論語)란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11247120" cy="128016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1F2A44"/>
                </a:solidFill>
                <a:latin typeface="맑은 고딕"/>
              </a:rPr>
              <a:t>공자와 제자들의 언행을 기록한 유교 핵심 경전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803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8B1A1A"/>
                </a:solidFill>
                <a:latin typeface="맑은 고딕"/>
              </a:rPr>
              <a:t>"論(논의하다) + 語(말씀)" — 토론하여 정리한 말씀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402336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8B1A1A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512064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556070"/>
                </a:solidFill>
                <a:latin typeface="맑은 고딕"/>
              </a:rPr>
              <a:t>편(篇)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402336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8B1A1A"/>
                </a:solidFill>
                <a:latin typeface="맑은 고딕"/>
              </a:rPr>
              <a:t>482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12064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556070"/>
                </a:solidFill>
                <a:latin typeface="맑은 고딕"/>
              </a:rPr>
              <a:t>장(章)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02336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8B1A1A"/>
                </a:solidFill>
                <a:latin typeface="맑은 고딕"/>
              </a:rPr>
              <a:t>약 600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512064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556070"/>
                </a:solidFill>
                <a:latin typeface="맑은 고딕"/>
              </a:rPr>
              <a:t>문장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Ⅰ.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공자(孔子, BC 551~479)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유교의 창시자, 동아시아 사상의 원천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105156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 i="0">
                <a:solidFill>
                  <a:srgbClr val="8B1A1A"/>
                </a:solidFill>
                <a:latin typeface="맑은 고딕"/>
              </a:rPr>
              <a:t>이름·자(字)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F2A44"/>
                </a:solidFill>
                <a:latin typeface="맑은 고딕"/>
              </a:rPr>
              <a:t>  공구(孔丘) — 이름  |  중니(仲尼) — 자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800" b="1" i="0">
                <a:solidFill>
                  <a:srgbClr val="8B1A1A"/>
                </a:solidFill>
                <a:latin typeface="맑은 고딕"/>
              </a:rPr>
              <a:t>출신·신분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F2A44"/>
                </a:solidFill>
                <a:latin typeface="맑은 고딕"/>
              </a:rPr>
              <a:t>  노(魯)나라 출신  |  정치인·사상가·교육자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800" b="1" i="0">
                <a:solidFill>
                  <a:srgbClr val="8B1A1A"/>
                </a:solidFill>
                <a:latin typeface="맑은 고딕"/>
              </a:rPr>
              <a:t>제자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F2A44"/>
                </a:solidFill>
                <a:latin typeface="맑은 고딕"/>
              </a:rPr>
              <a:t>  약 3,000명, 그중 뛰어난 자 72명(七十二賢)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800" b="1" i="0">
                <a:solidFill>
                  <a:srgbClr val="8B1A1A"/>
                </a:solidFill>
                <a:latin typeface="맑은 고딕"/>
              </a:rPr>
              <a:t>생애의 분기점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F2A44"/>
                </a:solidFill>
                <a:latin typeface="맑은 고딕"/>
              </a:rPr>
              <a:t>  14년간 천하를 주유(周遊) 후 고향에 돌아와 후학 양성에 전념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Ⅰ.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편찬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한 사람의 저작이 아닌, 여러 세대에 걸친 집단 편집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1280160" cy="10058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39"/>
            <a:ext cx="1280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맑은 고딕"/>
              </a:rPr>
              <a:t>1차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148839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2A44"/>
                </a:solidFill>
                <a:latin typeface="맑은 고딕"/>
              </a:rPr>
              <a:t>직계 제자 주도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606039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56070"/>
                </a:solidFill>
                <a:latin typeface="맑은 고딕"/>
              </a:rPr>
              <a:t>중궁·자유·자하 등이 공자 사후 어록을 모아 1차 편집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1280160" cy="10058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1280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맑은 고딕"/>
              </a:rPr>
              <a:t>2차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34747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2A44"/>
                </a:solidFill>
                <a:latin typeface="맑은 고딕"/>
              </a:rPr>
              <a:t>증자 사후 보충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9319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56070"/>
                </a:solidFill>
                <a:latin typeface="맑은 고딕"/>
              </a:rPr>
              <a:t>증자(曾子) 학파가 자료를 보충하여 확장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754880"/>
            <a:ext cx="1280160" cy="10058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029200"/>
            <a:ext cx="1280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맑은 고딕"/>
              </a:rPr>
              <a:t>3차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480060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2A44"/>
                </a:solidFill>
                <a:latin typeface="맑은 고딕"/>
              </a:rPr>
              <a:t>전국시대 추가·확정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525780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56070"/>
                </a:solidFill>
                <a:latin typeface="맑은 고딕"/>
              </a:rPr>
              <a:t>전한 말 장우(張禹) 편집본을 거쳐 후한대에 현재 형태로 확정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Ⅱ.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6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20편의 구성 개관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상론(上論) 10편 + 하론(下論) 10편 = 총 20편 482장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394960" cy="402336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2194560"/>
            <a:ext cx="5394960" cy="402336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8B1A1A"/>
                </a:solidFill>
                <a:latin typeface="맑은 고딕"/>
              </a:rPr>
              <a:t>상론(上論) 1~10편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86000" y="2880360"/>
            <a:ext cx="2103120" cy="0"/>
          </a:xfrm>
          <a:prstGeom prst="line">
            <a:avLst/>
          </a:prstGeom>
          <a:ln w="1524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3108960"/>
            <a:ext cx="48463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700" b="1" i="0">
                <a:solidFill>
                  <a:srgbClr val="1F2A44"/>
                </a:solidFill>
                <a:latin typeface="맑은 고딕"/>
              </a:rPr>
              <a:t>학이 · 위정 · 팔일 · 이인</a:t>
            </a:r>
          </a:p>
          <a:p>
            <a:pPr algn="ctr">
              <a:lnSpc>
                <a:spcPct val="140000"/>
              </a:lnSpc>
            </a:pPr>
            <a:r>
              <a:rPr sz="1700" b="1" i="0">
                <a:solidFill>
                  <a:srgbClr val="1F2A44"/>
                </a:solidFill>
                <a:latin typeface="맑은 고딕"/>
              </a:rPr>
              <a:t>공야장 · 옹야 · 술이</a:t>
            </a:r>
          </a:p>
          <a:p>
            <a:pPr algn="ctr">
              <a:lnSpc>
                <a:spcPct val="140000"/>
              </a:lnSpc>
              <a:spcBef>
                <a:spcPts val="600"/>
              </a:spcBef>
            </a:pPr>
            <a:r>
              <a:rPr sz="1700" b="1" i="0">
                <a:solidFill>
                  <a:srgbClr val="1F2A44"/>
                </a:solidFill>
                <a:latin typeface="맑은 고딕"/>
              </a:rPr>
              <a:t>태백 · 자한 · 향당</a:t>
            </a:r>
          </a:p>
          <a:p>
            <a:pPr algn="l">
              <a:lnSpc>
                <a:spcPct val="140000"/>
              </a:lnSpc>
            </a:pPr>
            <a:r>
              <a:rPr sz="8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ctr">
              <a:lnSpc>
                <a:spcPct val="140000"/>
              </a:lnSpc>
              <a:spcBef>
                <a:spcPts val="1200"/>
              </a:spcBef>
            </a:pPr>
            <a:r>
              <a:rPr sz="1500" b="0" i="0">
                <a:solidFill>
                  <a:srgbClr val="556070"/>
                </a:solidFill>
                <a:latin typeface="맑은 고딕"/>
              </a:rPr>
              <a:t>수신·인·예·공자의 일상까지</a:t>
            </a:r>
          </a:p>
          <a:p>
            <a:pPr algn="ctr">
              <a:lnSpc>
                <a:spcPct val="140000"/>
              </a:lnSpc>
            </a:pPr>
            <a:r>
              <a:rPr sz="1500" b="0" i="0">
                <a:solidFill>
                  <a:srgbClr val="556070"/>
                </a:solidFill>
                <a:latin typeface="맑은 고딕"/>
              </a:rPr>
              <a:t>— 논어의 총론적 부분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37744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8B1A1A"/>
                </a:solidFill>
                <a:latin typeface="맑은 고딕"/>
              </a:rPr>
              <a:t>하론(下論) 11~20편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840" y="2880360"/>
            <a:ext cx="2103120" cy="0"/>
          </a:xfrm>
          <a:prstGeom prst="line">
            <a:avLst/>
          </a:prstGeom>
          <a:ln w="1524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92240" y="3108960"/>
            <a:ext cx="48463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700" b="1" i="0">
                <a:solidFill>
                  <a:srgbClr val="1F2A44"/>
                </a:solidFill>
                <a:latin typeface="맑은 고딕"/>
              </a:rPr>
              <a:t>선진 · 안연 · 자로</a:t>
            </a:r>
          </a:p>
          <a:p>
            <a:pPr algn="ctr">
              <a:lnSpc>
                <a:spcPct val="140000"/>
              </a:lnSpc>
            </a:pPr>
            <a:r>
              <a:rPr sz="1700" b="1" i="0">
                <a:solidFill>
                  <a:srgbClr val="1F2A44"/>
                </a:solidFill>
                <a:latin typeface="맑은 고딕"/>
              </a:rPr>
              <a:t>헌문 · 위령공 · 계씨</a:t>
            </a:r>
          </a:p>
          <a:p>
            <a:pPr algn="ctr">
              <a:lnSpc>
                <a:spcPct val="140000"/>
              </a:lnSpc>
              <a:spcBef>
                <a:spcPts val="600"/>
              </a:spcBef>
            </a:pPr>
            <a:r>
              <a:rPr sz="1700" b="1" i="0">
                <a:solidFill>
                  <a:srgbClr val="1F2A44"/>
                </a:solidFill>
                <a:latin typeface="맑은 고딕"/>
              </a:rPr>
              <a:t>양화 · 미자 · 자장 · 요왈</a:t>
            </a:r>
          </a:p>
          <a:p>
            <a:pPr algn="l">
              <a:lnSpc>
                <a:spcPct val="140000"/>
              </a:lnSpc>
            </a:pPr>
            <a:r>
              <a:rPr sz="8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ctr">
              <a:lnSpc>
                <a:spcPct val="140000"/>
              </a:lnSpc>
              <a:spcBef>
                <a:spcPts val="1200"/>
              </a:spcBef>
            </a:pPr>
            <a:r>
              <a:rPr sz="1500" b="0" i="0">
                <a:solidFill>
                  <a:srgbClr val="556070"/>
                </a:solidFill>
                <a:latin typeface="맑은 고딕"/>
              </a:rPr>
              <a:t>정치·군자론·역대 성왕에 이르기까지</a:t>
            </a:r>
          </a:p>
          <a:p>
            <a:pPr algn="ctr">
              <a:lnSpc>
                <a:spcPct val="140000"/>
              </a:lnSpc>
            </a:pPr>
            <a:r>
              <a:rPr sz="1500" b="0" i="0">
                <a:solidFill>
                  <a:srgbClr val="556070"/>
                </a:solidFill>
                <a:latin typeface="맑은 고딕"/>
              </a:rPr>
              <a:t>— 논어의 각론·심화부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Ⅱ.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7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상론(上論) — 1~10편의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1031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맑은 고딕"/>
              </a:rPr>
              <a:t>학이(學而)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21031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56070"/>
                </a:solidFill>
                <a:latin typeface="맑은 고딕"/>
              </a:rPr>
              <a:t>배움·효제·수신 — 논어의 총론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79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69747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맑은 고딕"/>
              </a:rPr>
              <a:t>위정(爲政)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697479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56070"/>
                </a:solidFill>
                <a:latin typeface="맑은 고딕"/>
              </a:rPr>
              <a:t>덕치·효도·학문의 단계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91839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329183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맑은 고딕"/>
              </a:rPr>
              <a:t>팔일(八佾)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291839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56070"/>
                </a:solidFill>
                <a:latin typeface="맑은 고딕"/>
              </a:rPr>
              <a:t>예악의 본질, 인과 예의 관계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8862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8862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맑은 고딕"/>
              </a:rPr>
              <a:t>이인(里仁)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8862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56070"/>
                </a:solidFill>
                <a:latin typeface="맑은 고딕"/>
              </a:rPr>
              <a:t>인(仁)의 내면, 충서(忠恕)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48056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5–6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448056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맑은 고딕"/>
              </a:rPr>
              <a:t>공야장 · 옹야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4805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56070"/>
                </a:solidFill>
                <a:latin typeface="맑은 고딕"/>
              </a:rPr>
              <a:t>인물 평가, 문질빈빈(文質彬彬)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7–10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5074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맑은 고딕"/>
              </a:rPr>
              <a:t>술이 · 태백 · 자한 · 향당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50749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56070"/>
                </a:solidFill>
                <a:latin typeface="맑은 고딕"/>
              </a:rPr>
              <a:t>공자의 학문관·일상·절조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Ⅱ.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8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하론(下論) — 11~20편의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11–12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19456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맑은 고딕"/>
              </a:rPr>
              <a:t>선진 · 안연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1945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56070"/>
                </a:solidFill>
                <a:latin typeface="맑은 고딕"/>
              </a:rPr>
              <a:t>과유불급(過猶不及), 극기복례(克己復禮)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13–15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88036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맑은 고딕"/>
              </a:rPr>
              <a:t>자로 · 헌문 · 위령공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8803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56070"/>
                </a:solidFill>
                <a:latin typeface="맑은 고딕"/>
              </a:rPr>
              <a:t>정명(正名)·정치·군자론의 총결산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16–18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56616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맑은 고딕"/>
              </a:rPr>
              <a:t>계씨 · 양화 · 미자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5661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56070"/>
                </a:solidFill>
                <a:latin typeface="맑은 고딕"/>
              </a:rPr>
              <a:t>수양·예악·은일(隱逸)과 입세(入世)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5196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25196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맑은 고딕"/>
              </a:rPr>
              <a:t>자장(子張)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42519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56070"/>
                </a:solidFill>
                <a:latin typeface="맑은 고딕"/>
              </a:rPr>
              <a:t>제자들의 발언 모음 — 공자 어록이 없는 유일한 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3776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493776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맑은 고딕"/>
              </a:rPr>
              <a:t>요왈(堯曰)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9377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56070"/>
                </a:solidFill>
                <a:latin typeface="맑은 고딕"/>
              </a:rPr>
              <a:t>요·순·우 등 성왕(聖王)의 이상, 논어의 결어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Ⅲ. 인(仁)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9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인(仁) — 사람다움의 최고 덕목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3200400" cy="320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0" b="1">
                <a:solidFill>
                  <a:srgbClr val="8B1A1A"/>
                </a:solidFill>
                <a:latin typeface="맑은 고딕"/>
              </a:rPr>
              <a:t>仁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286000"/>
            <a:ext cx="7315200" cy="38404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2560320"/>
            <a:ext cx="68580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8B1A1A"/>
                </a:solidFill>
                <a:latin typeface="맑은 고딕"/>
              </a:rPr>
              <a:t>어원</a:t>
            </a:r>
          </a:p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F2A44"/>
                </a:solidFill>
                <a:latin typeface="맑은 고딕"/>
              </a:rPr>
              <a:t>사람 人(인) + 둘 二(이)</a:t>
            </a:r>
          </a:p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F2A44"/>
                </a:solidFill>
                <a:latin typeface="맑은 고딕"/>
              </a:rPr>
              <a:t>= 사람 둘이 함께하는 모양</a:t>
            </a:r>
          </a:p>
          <a:p>
            <a:pPr algn="l">
              <a:lnSpc>
                <a:spcPct val="135000"/>
              </a:lnSpc>
            </a:pPr>
            <a:r>
              <a:rPr sz="8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2000" b="1" i="0">
                <a:solidFill>
                  <a:srgbClr val="8B1A1A"/>
                </a:solidFill>
                <a:latin typeface="맑은 고딕"/>
              </a:rPr>
              <a:t>의미</a:t>
            </a:r>
          </a:p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F2A44"/>
                </a:solidFill>
                <a:latin typeface="맑은 고딕"/>
              </a:rPr>
              <a:t>사람과 사람의 바람직한 관계</a:t>
            </a:r>
          </a:p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F2A44"/>
                </a:solidFill>
                <a:latin typeface="맑은 고딕"/>
              </a:rPr>
              <a:t>곧 "사람다움" 그 자체</a:t>
            </a:r>
          </a:p>
          <a:p>
            <a:pPr algn="l">
              <a:lnSpc>
                <a:spcPct val="135000"/>
              </a:lnSpc>
            </a:pPr>
            <a:r>
              <a:rPr sz="8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2000" b="1" i="0">
                <a:solidFill>
                  <a:srgbClr val="8B1A1A"/>
                </a:solidFill>
                <a:latin typeface="맑은 고딕"/>
              </a:rPr>
              <a:t>논어에서의 위치</a:t>
            </a:r>
          </a:p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F2A44"/>
                </a:solidFill>
                <a:latin typeface="맑은 고딕"/>
              </a:rPr>
              <a:t>전체 등장 횟수 109회 — 단연 최다 핵심어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Ⅲ. 인(仁)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10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克己復禮爲仁 — 극기복례위인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1247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8B1A1A"/>
                </a:solidFill>
                <a:latin typeface="맑은 고딕"/>
              </a:rPr>
              <a:t>克 己 復 禮 爲 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556070"/>
                </a:solidFill>
                <a:latin typeface="맑은 고딕"/>
              </a:rPr>
              <a:t>극 기 복 례 위 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— 안연편 1장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0" y="411480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438912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A44"/>
                </a:solidFill>
                <a:latin typeface="맑은 고딕"/>
              </a:rPr>
              <a:t>자기를 이기고 예(禮)로 돌아감이 곧 인(仁)이다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556070"/>
                </a:solidFill>
                <a:latin typeface="맑은 고딕"/>
              </a:rPr>
              <a:t>자신의 욕망을 절제하고 사회적 규범과 조화를 이루는 것이 인의 출발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Ⅲ. 인(仁)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11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仁者愛人 — 인자애인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1247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200" b="1">
                <a:solidFill>
                  <a:srgbClr val="8B1A1A"/>
                </a:solidFill>
                <a:latin typeface="맑은 고딕"/>
              </a:rPr>
              <a:t>仁 者 愛 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556070"/>
                </a:solidFill>
                <a:latin typeface="맑은 고딕"/>
              </a:rPr>
              <a:t>인 자 애 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— 안연편 22장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0" y="420624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4480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1F2A44"/>
                </a:solidFill>
                <a:latin typeface="맑은 고딕"/>
              </a:rPr>
              <a:t>인(仁)이란, 사람을 사랑하는 것이다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556070"/>
                </a:solidFill>
                <a:latin typeface="맑은 고딕"/>
              </a:rPr>
              <a:t>제자 번지(樊遲)의 "인이 무엇입니까?" 라는 물음에 대한 공자의 가장 간명한 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Ⅲ. 인(仁)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12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추기급인(推己及人) — 자기에서 출발하는 사랑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5486400" cy="4114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8B1A1A"/>
                </a:solidFill>
                <a:latin typeface="맑은 고딕"/>
              </a:rPr>
              <a:t>적극적 표현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5303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8B1A1A"/>
                </a:solidFill>
                <a:latin typeface="맑은 고딕"/>
              </a:rPr>
              <a:t>己欲立而立人
己欲達而達人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5303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F2A44"/>
                </a:solidFill>
                <a:latin typeface="맑은 고딕"/>
              </a:rPr>
              <a:t>자기가 서고자 하면 남을 세워주고
자기가 도달하고자 하면 남을 도달하게 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— 옹야편 30장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103120"/>
            <a:ext cx="5486400" cy="4114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2860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8B1A1A"/>
                </a:solidFill>
                <a:latin typeface="맑은 고딕"/>
              </a:rPr>
              <a:t>소극적 표현 (황금률)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834640"/>
            <a:ext cx="5303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8B1A1A"/>
                </a:solidFill>
                <a:latin typeface="맑은 고딕"/>
              </a:rPr>
              <a:t>己所不欲
勿施於人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297680"/>
            <a:ext cx="5303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F2A44"/>
                </a:solidFill>
                <a:latin typeface="맑은 고딕"/>
              </a:rPr>
              <a:t>자기가 원하지 않는 것을
남에게 하지 말라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576072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— 위령공편 24장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Ⅲ. 인(仁)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13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충서(忠恕) — 인의 실천 방법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"夫子之道 忠恕而已矣" — 선생님의 도는 충서일 뿐이다 (이인편 15장)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286000"/>
            <a:ext cx="5303520" cy="402336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303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0" b="1">
                <a:solidFill>
                  <a:srgbClr val="8B1A1A"/>
                </a:solidFill>
                <a:latin typeface="맑은 고딕"/>
              </a:rPr>
              <a:t>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1F2A44"/>
                </a:solidFill>
                <a:latin typeface="맑은 고딕"/>
              </a:rPr>
              <a:t>충 (盡己)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663440"/>
            <a:ext cx="5303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556070"/>
                </a:solidFill>
                <a:latin typeface="맑은 고딕"/>
              </a:rPr>
              <a:t>자기 마음을 다하는 것
— 안으로 향하는 진정성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286000"/>
            <a:ext cx="5303520" cy="402336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468880"/>
            <a:ext cx="5303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0" b="1">
                <a:solidFill>
                  <a:srgbClr val="8B1A1A"/>
                </a:solidFill>
                <a:latin typeface="맑은 고딕"/>
              </a:rPr>
              <a:t>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11480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1F2A44"/>
                </a:solidFill>
                <a:latin typeface="맑은 고딕"/>
              </a:rPr>
              <a:t>서 (推己及人)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663440"/>
            <a:ext cx="5303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556070"/>
                </a:solidFill>
                <a:latin typeface="맑은 고딕"/>
              </a:rPr>
              <a:t>자기를 미루어 남에게 미치는 것
— 밖으로 향하는 공감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Ⅲ. 인(仁)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14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효(孝) — 인의 출발점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11247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8B1A1A"/>
                </a:solidFill>
                <a:latin typeface="맑은 고딕"/>
              </a:rPr>
              <a:t>孝 弟 也 者   其 爲 仁 之 本 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556070"/>
                </a:solidFill>
                <a:latin typeface="맑은 고딕"/>
              </a:rPr>
              <a:t>효제야자 기위인지본여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— 학이편 2장 (유자 발언)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0" y="420624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4480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1F2A44"/>
                </a:solidFill>
                <a:latin typeface="맑은 고딕"/>
              </a:rPr>
              <a:t>효(孝)와 제(弟)는 인을 이루는 근본이다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12080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556070"/>
                </a:solidFill>
                <a:latin typeface="맑은 고딕"/>
              </a:rPr>
              <a:t>가장 가까운 가족 관계에서 시작된 사랑이
점차 이웃·사회·천하로 확장되어 인(仁)이 된다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Ⅳ. 예·덕치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15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예(禮) — 인(仁)의 외적 표현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274320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0" b="1">
                <a:solidFill>
                  <a:srgbClr val="8B1A1A"/>
                </a:solidFill>
                <a:latin typeface="맑은 고딕"/>
              </a:rPr>
              <a:t>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194560"/>
            <a:ext cx="77724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8B1A1A"/>
                </a:solidFill>
                <a:latin typeface="맑은 고딕"/>
              </a:rPr>
              <a:t>의미의 확장</a:t>
            </a:r>
          </a:p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1F2A44"/>
                </a:solidFill>
                <a:latin typeface="맑은 고딕"/>
              </a:rPr>
              <a:t>종교 제례(祭禮) → 일상 행위 규범으로 확장</a:t>
            </a:r>
          </a:p>
          <a:p>
            <a:pPr algn="l">
              <a:lnSpc>
                <a:spcPct val="135000"/>
              </a:lnSpc>
            </a:pPr>
            <a:r>
              <a:rPr sz="8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2000" b="1" i="0">
                <a:solidFill>
                  <a:srgbClr val="8B1A1A"/>
                </a:solidFill>
                <a:latin typeface="맑은 고딕"/>
              </a:rPr>
              <a:t>인과 예의 관계</a:t>
            </a:r>
          </a:p>
          <a:p>
            <a:pPr algn="l">
              <a:lnSpc>
                <a:spcPct val="135000"/>
              </a:lnSpc>
            </a:pPr>
            <a:r>
              <a:rPr sz="2400" b="1" i="0">
                <a:solidFill>
                  <a:srgbClr val="1F2A44"/>
                </a:solidFill>
                <a:latin typeface="맑은 고딕"/>
              </a:rPr>
              <a:t>人而不仁 如禮何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56070"/>
                </a:solidFill>
                <a:latin typeface="맑은 고딕"/>
              </a:rPr>
              <a:t>어질지 못하면 예를 어찌하겠는가 (팔일편 3장)</a:t>
            </a:r>
          </a:p>
          <a:p>
            <a:pPr algn="l">
              <a:lnSpc>
                <a:spcPct val="135000"/>
              </a:lnSpc>
            </a:pPr>
            <a:r>
              <a:rPr sz="8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2000" b="1" i="0">
                <a:solidFill>
                  <a:srgbClr val="8B1A1A"/>
                </a:solidFill>
                <a:latin typeface="맑은 고딕"/>
              </a:rPr>
              <a:t>두 축은 한 몸</a:t>
            </a:r>
          </a:p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1F2A44"/>
                </a:solidFill>
                <a:latin typeface="맑은 고딕"/>
              </a:rPr>
              <a:t>인(仁) 없는 예 = 빈 껍데기</a:t>
            </a:r>
          </a:p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1F2A44"/>
                </a:solidFill>
                <a:latin typeface="맑은 고딕"/>
              </a:rPr>
              <a:t>예(禮) 없는 인 = 실현 불가능한 추상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Ⅳ. 예·덕치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16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덕치(德治) — 덕(德)으로 다스림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0698480" cy="173736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8B1A1A"/>
                </a:solidFill>
                <a:latin typeface="맑은 고딕"/>
              </a:rPr>
              <a:t>爲政以德   譬如北辰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8036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1F2A44"/>
                </a:solidFill>
                <a:latin typeface="맑은 고딕"/>
              </a:rPr>
              <a:t>덕으로 정치를 하면, 마치 북극성과 같다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832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— 위정편 1장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114800"/>
            <a:ext cx="10698480" cy="173736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251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8B1A1A"/>
                </a:solidFill>
                <a:latin typeface="맑은 고딕"/>
              </a:rPr>
              <a:t>其身正   不令而行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9204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1F2A44"/>
                </a:solidFill>
                <a:latin typeface="맑은 고딕"/>
              </a:rPr>
              <a:t>자신이 바르면, 명령하지 않아도 행해진다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39496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— 자로편 6장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556070"/>
                </a:solidFill>
                <a:latin typeface="맑은 고딕"/>
              </a:rPr>
              <a:t>솔선수범(率先垂範) — 통치자의 인격이 곧 정치의 정당성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Ⅳ. 예·덕치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17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정명(正名) — 이름을 바르게 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8B1A1A"/>
                </a:solidFill>
                <a:latin typeface="맑은 고딕"/>
              </a:rPr>
              <a:t>名 不 正 則 言 不 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1F2A44"/>
                </a:solidFill>
                <a:latin typeface="맑은 고딕"/>
              </a:rPr>
              <a:t>이름(명분)이 바르지 않으면 말이 순조롭지 못하고,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1F2A44"/>
                </a:solidFill>
                <a:latin typeface="맑은 고딕"/>
              </a:rPr>
              <a:t>말이 순조롭지 않으면 일이 이루어지지 못한다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— 자로편 3장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0" y="452628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475488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8B1A1A"/>
                </a:solidFill>
                <a:latin typeface="맑은 고딕"/>
              </a:rPr>
              <a:t>君  君   臣  臣   父  父   子  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임금은 임금답게, 신하는 신하답게, 아버지는 아버지답게, 자식은 자식답게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— 안연편 11장 · 각자 자기 역할에 충실할 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Ⅳ. 예·덕치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18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공자의 교육 철학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5577840" cy="4114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8B1A1A"/>
                </a:solidFill>
                <a:latin typeface="맑은 고딕"/>
              </a:rPr>
              <a:t>배움과 사유의 균형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53949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맑은 고딕"/>
              </a:rPr>
              <a:t>學而不思則罔
思而不學則殆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5394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F2A44"/>
                </a:solidFill>
                <a:latin typeface="맑은 고딕"/>
              </a:rPr>
              <a:t>배우기만 하고 생각하지 않으면 어둡고
생각하기만 하고 배우지 않으면 위태롭다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— 위정편 15장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103120"/>
            <a:ext cx="5486400" cy="4114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2860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8B1A1A"/>
                </a:solidFill>
                <a:latin typeface="맑은 고딕"/>
              </a:rPr>
              <a:t>교육 기회의 평등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301752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8B1A1A"/>
                </a:solidFill>
                <a:latin typeface="맑은 고딕"/>
              </a:rPr>
              <a:t>有 敎 無 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57200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F2A44"/>
                </a:solidFill>
                <a:latin typeface="맑은 고딕"/>
              </a:rPr>
              <a:t>가르침에는 차별이 없다
신분·빈부와 무관하게 누구나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58521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— 위령공편 39장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군자(君子)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19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군자(君子) — 이상적 인간상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3200400" cy="320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0" b="1">
                <a:solidFill>
                  <a:srgbClr val="8B1A1A"/>
                </a:solidFill>
                <a:latin typeface="맑은 고딕"/>
              </a:rPr>
              <a:t>君子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286000"/>
            <a:ext cx="73152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8B1A1A"/>
                </a:solidFill>
                <a:latin typeface="맑은 고딕"/>
              </a:rPr>
              <a:t>어원적 의미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556070"/>
                </a:solidFill>
                <a:latin typeface="맑은 고딕"/>
              </a:rPr>
              <a:t>본래 "임금의 아들" — 귀족·통치 계층을 지칭하는 신분 용어</a:t>
            </a:r>
          </a:p>
          <a:p>
            <a:pPr algn="l">
              <a:lnSpc>
                <a:spcPct val="135000"/>
              </a:lnSpc>
            </a:pPr>
            <a:r>
              <a:rPr sz="8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2000" b="1" i="0">
                <a:solidFill>
                  <a:srgbClr val="8B1A1A"/>
                </a:solidFill>
                <a:latin typeface="맑은 고딕"/>
              </a:rPr>
              <a:t>공자의 재정의</a:t>
            </a:r>
          </a:p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F2A44"/>
                </a:solidFill>
                <a:latin typeface="맑은 고딕"/>
              </a:rPr>
              <a:t>혈통이 아니라 인격으로 정의되는</a:t>
            </a:r>
          </a:p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F2A44"/>
                </a:solidFill>
                <a:latin typeface="맑은 고딕"/>
              </a:rPr>
              <a:t>"도덕적으로 수양된 이상적 인간"</a:t>
            </a:r>
          </a:p>
          <a:p>
            <a:pPr algn="l">
              <a:lnSpc>
                <a:spcPct val="135000"/>
              </a:lnSpc>
            </a:pPr>
            <a:r>
              <a:rPr sz="8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2000" b="1" i="0">
                <a:solidFill>
                  <a:srgbClr val="8B1A1A"/>
                </a:solidFill>
                <a:latin typeface="맑은 고딕"/>
              </a:rPr>
              <a:t>사상사적 의의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556070"/>
                </a:solidFill>
                <a:latin typeface="맑은 고딕"/>
              </a:rPr>
              <a:t>계급 개념을 도덕 개념으로 전환 — 누구나 군자가 될 수 있다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군자(君子)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20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군자 vs 소인 — 다섯 가지 대비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26480" y="2011680"/>
            <a:ext cx="5486400" cy="457200"/>
          </a:xfrm>
          <a:prstGeom prst="rect">
            <a:avLst/>
          </a:prstGeom>
          <a:solidFill>
            <a:srgbClr val="556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군자(君子)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0574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소인(小人)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5486400" cy="6400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2606040"/>
            <a:ext cx="5486400" cy="6400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79192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F2A44"/>
                </a:solidFill>
                <a:latin typeface="맑은 고딕"/>
              </a:rPr>
              <a:t>和而不同 — 조화롭되 같지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679192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F2A44"/>
                </a:solidFill>
                <a:latin typeface="맑은 고딕"/>
              </a:rPr>
              <a:t>同而不和 — 같되 조화롭지 않다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95351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56070"/>
                </a:solidFill>
                <a:latin typeface="맑은 고딕"/>
              </a:rPr>
              <a:t>(자로 23)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19272"/>
            <a:ext cx="5486400" cy="6400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3319272"/>
            <a:ext cx="5486400" cy="6400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392424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F2A44"/>
                </a:solidFill>
                <a:latin typeface="맑은 고딕"/>
              </a:rPr>
              <a:t>周而不比 — 두루 사귀되 편당하지 않는다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392424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F2A44"/>
                </a:solidFill>
                <a:latin typeface="맑은 고딕"/>
              </a:rPr>
              <a:t>比而不周 — 편당하되 두루 사귀지 못한다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666744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56070"/>
                </a:solidFill>
                <a:latin typeface="맑은 고딕"/>
              </a:rPr>
              <a:t>(위정 14)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32504"/>
            <a:ext cx="5486400" cy="6400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4032504"/>
            <a:ext cx="5486400" cy="6400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105656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F2A44"/>
                </a:solidFill>
                <a:latin typeface="맑은 고딕"/>
              </a:rPr>
              <a:t>坦蕩蕩 — 마음이 넓고 평탄하다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105656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F2A44"/>
                </a:solidFill>
                <a:latin typeface="맑은 고딕"/>
              </a:rPr>
              <a:t>長戚戚 — 항상 근심하고 초조하다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379976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56070"/>
                </a:solidFill>
                <a:latin typeface="맑은 고딕"/>
              </a:rPr>
              <a:t>(술이 37)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745736"/>
            <a:ext cx="5486400" cy="6400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4745736"/>
            <a:ext cx="5486400" cy="6400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818888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F2A44"/>
                </a:solidFill>
                <a:latin typeface="맑은 고딕"/>
              </a:rPr>
              <a:t>喩於義 — 의(義)에 밝다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818888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F2A44"/>
                </a:solidFill>
                <a:latin typeface="맑은 고딕"/>
              </a:rPr>
              <a:t>喩於利 — 이(利)에 밝다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09320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56070"/>
                </a:solidFill>
                <a:latin typeface="맑은 고딕"/>
              </a:rPr>
              <a:t>(이인 16)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458968"/>
            <a:ext cx="5486400" cy="6400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26480" y="5458968"/>
            <a:ext cx="5486400" cy="6400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53212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F2A44"/>
                </a:solidFill>
                <a:latin typeface="맑은 고딕"/>
              </a:rPr>
              <a:t>求諸己 — 자신에게서 구한다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53212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F2A44"/>
                </a:solidFill>
                <a:latin typeface="맑은 고딕"/>
              </a:rPr>
              <a:t>求諸人 — 남에게서 구한다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56070"/>
                </a:solidFill>
                <a:latin typeface="맑은 고딕"/>
              </a:rPr>
              <a:t>(위령공 21)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군자(君子)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21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삼달덕(三達德) — 군자의 세 덕목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— 자한편 29장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3749039" cy="42976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286000"/>
            <a:ext cx="37490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0" b="1">
                <a:solidFill>
                  <a:srgbClr val="8B1A1A"/>
                </a:solidFill>
                <a:latin typeface="맑은 고딕"/>
              </a:rPr>
              <a:t>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1F2A44"/>
                </a:solidFill>
                <a:latin typeface="맑은 고딕"/>
              </a:rPr>
              <a:t>知者不惑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0"/>
            <a:ext cx="37490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지자불혹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03520"/>
            <a:ext cx="37490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F2A44"/>
                </a:solidFill>
                <a:latin typeface="맑은 고딕"/>
              </a:rPr>
              <a:t>지혜로운 자는 미혹되지 않는다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2103120"/>
            <a:ext cx="3749039" cy="42976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2286000"/>
            <a:ext cx="37490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0" b="1">
                <a:solidFill>
                  <a:srgbClr val="8B1A1A"/>
                </a:solidFill>
                <a:latin typeface="맑은 고딕"/>
              </a:rPr>
              <a:t>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114800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1F2A44"/>
                </a:solidFill>
                <a:latin typeface="맑은 고딕"/>
              </a:rPr>
              <a:t>仁者不憂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754880"/>
            <a:ext cx="37490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인자불우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303520"/>
            <a:ext cx="37490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F2A44"/>
                </a:solidFill>
                <a:latin typeface="맑은 고딕"/>
              </a:rPr>
              <a:t>어진 자는 근심하지 않는다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2103120"/>
            <a:ext cx="3749039" cy="42976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286000"/>
            <a:ext cx="37490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0" b="1">
                <a:solidFill>
                  <a:srgbClr val="8B1A1A"/>
                </a:solidFill>
                <a:latin typeface="맑은 고딕"/>
              </a:rPr>
              <a:t>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4114800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1F2A44"/>
                </a:solidFill>
                <a:latin typeface="맑은 고딕"/>
              </a:rPr>
              <a:t>勇者不懼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754880"/>
            <a:ext cx="37490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용자불구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5303520"/>
            <a:ext cx="37490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F2A44"/>
                </a:solidFill>
                <a:latin typeface="맑은 고딕"/>
              </a:rPr>
              <a:t>용감한 자는 두려워하지 않는다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명구절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22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1124712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800" b="1">
                <a:solidFill>
                  <a:srgbClr val="8B1A1A"/>
                </a:solidFill>
                <a:latin typeface="맑은 고딕"/>
              </a:rPr>
              <a:t>學而時習之  不亦說乎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556070"/>
                </a:solidFill>
                <a:latin typeface="맑은 고딕"/>
              </a:rPr>
              <a:t>학이시습지   불역열호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0" y="402336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297680"/>
            <a:ext cx="112471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A44"/>
                </a:solidFill>
                <a:latin typeface="맑은 고딕"/>
              </a:rPr>
              <a:t>배우고 때때로 익히면 또한 기쁘지 아니한가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— 학이편 1장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명구절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23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1124712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800" b="1">
                <a:solidFill>
                  <a:srgbClr val="8B1A1A"/>
                </a:solidFill>
                <a:latin typeface="맑은 고딕"/>
              </a:rPr>
              <a:t>溫故而知新  可以爲師矣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556070"/>
                </a:solidFill>
                <a:latin typeface="맑은 고딕"/>
              </a:rPr>
              <a:t>온고이지신   가이위사의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0" y="402336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297680"/>
            <a:ext cx="112471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A44"/>
                </a:solidFill>
                <a:latin typeface="맑은 고딕"/>
              </a:rPr>
              <a:t>옛것을 익히고 새것을 알면 스승이 될 만하다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— 위정편 11장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명구절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24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1124712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8B1A1A"/>
                </a:solidFill>
                <a:latin typeface="맑은 고딕"/>
              </a:rPr>
              <a:t>朝聞道  夕死可矣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556070"/>
                </a:solidFill>
                <a:latin typeface="맑은 고딕"/>
              </a:rPr>
              <a:t>조문도   석사가의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0" y="402336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297680"/>
            <a:ext cx="112471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A44"/>
                </a:solidFill>
                <a:latin typeface="맑은 고딕"/>
              </a:rPr>
              <a:t>아침에 도(道)를 들으면 저녁에 죽어도 좋다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— 이인편 8장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명구절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25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1124712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800" b="1">
                <a:solidFill>
                  <a:srgbClr val="8B1A1A"/>
                </a:solidFill>
                <a:latin typeface="맑은 고딕"/>
              </a:rPr>
              <a:t>三人行  必有我師焉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556070"/>
                </a:solidFill>
                <a:latin typeface="맑은 고딕"/>
              </a:rPr>
              <a:t>삼인행   필유아사언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0" y="402336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297680"/>
            <a:ext cx="112471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A44"/>
                </a:solidFill>
                <a:latin typeface="맑은 고딕"/>
              </a:rPr>
              <a:t>세 사람이 길을 가면 반드시 그 중에 나의 스승이 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— 술이편 22장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명구절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26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1124712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8B1A1A"/>
                </a:solidFill>
                <a:latin typeface="맑은 고딕"/>
              </a:rPr>
              <a:t>歲寒然後  知松柏之後彫也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556070"/>
                </a:solidFill>
                <a:latin typeface="맑은 고딕"/>
              </a:rPr>
              <a:t>세한연후   지송백지후조야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0" y="402336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297680"/>
            <a:ext cx="112471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A44"/>
                </a:solidFill>
                <a:latin typeface="맑은 고딕"/>
              </a:rPr>
              <a:t>날이 추워진 뒤에야 소나무·잣나무가 늦게 시드는 줄을 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— 자한편 28장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명구절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27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1124712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000" b="1">
                <a:solidFill>
                  <a:srgbClr val="8B1A1A"/>
                </a:solidFill>
                <a:latin typeface="맑은 고딕"/>
              </a:rPr>
              <a:t>克己復禮爲仁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556070"/>
                </a:solidFill>
                <a:latin typeface="맑은 고딕"/>
              </a:rPr>
              <a:t>극기복례위인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0" y="402336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297680"/>
            <a:ext cx="112471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A44"/>
                </a:solidFill>
                <a:latin typeface="맑은 고딕"/>
              </a:rPr>
              <a:t>자기를 이기고 예(禮)로 돌아감이 인(仁)이다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— 안연편 1장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명구절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28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1124712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0" b="1">
                <a:solidFill>
                  <a:srgbClr val="8B1A1A"/>
                </a:solidFill>
                <a:latin typeface="맑은 고딕"/>
              </a:rPr>
              <a:t>己所不欲  勿施於人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556070"/>
                </a:solidFill>
                <a:latin typeface="맑은 고딕"/>
              </a:rPr>
              <a:t>기소불욕   물시어인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0" y="402336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297680"/>
            <a:ext cx="112471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A44"/>
                </a:solidFill>
                <a:latin typeface="맑은 고딕"/>
              </a:rPr>
              <a:t>자기가 원하지 않는 것을 남에게 행하지 말라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— 위령공편 24장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명구절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29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1124712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8B1A1A"/>
                </a:solidFill>
                <a:latin typeface="맑은 고딕"/>
              </a:rPr>
              <a:t>君子和而不同  小人同而不和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556070"/>
                </a:solidFill>
                <a:latin typeface="맑은 고딕"/>
              </a:rPr>
              <a:t>군자화이부동   소인동이불화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0" y="402336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297680"/>
            <a:ext cx="112471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A44"/>
                </a:solidFill>
                <a:latin typeface="맑은 고딕"/>
              </a:rPr>
              <a:t>군자는 조화롭되 같지 않고, 소인은 같되 조화롭지 않다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— 자로편 23장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명구절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30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1124712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8B1A1A"/>
                </a:solidFill>
                <a:latin typeface="맑은 고딕"/>
              </a:rPr>
              <a:t>過猶不及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556070"/>
                </a:solidFill>
                <a:latin typeface="맑은 고딕"/>
              </a:rPr>
              <a:t>과유불급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0" y="402336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297680"/>
            <a:ext cx="112471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A44"/>
                </a:solidFill>
                <a:latin typeface="맑은 고딕"/>
              </a:rPr>
              <a:t>지나친 것은 미치지 못함과 같다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— 선진편 16장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명구절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31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1124712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8B1A1A"/>
                </a:solidFill>
                <a:latin typeface="맑은 고딕"/>
              </a:rPr>
              <a:t>志士仁人  有殺身以成仁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556070"/>
                </a:solidFill>
                <a:latin typeface="맑은 고딕"/>
              </a:rPr>
              <a:t>지사인인   유살신이성인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0" y="402336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297680"/>
            <a:ext cx="112471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A44"/>
                </a:solidFill>
                <a:latin typeface="맑은 고딕"/>
              </a:rPr>
              <a:t>뜻있는 선비와 어진 사람은 목숨을 바쳐서라도 인(仁)을 이룬다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— 위령공편 9장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Ⅶ.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32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논어의 문체 — 네 가지 형식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2743200" cy="82296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子曰 (자왈)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2194560"/>
            <a:ext cx="7955279" cy="82296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2377440"/>
            <a:ext cx="7589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F2A44"/>
                </a:solidFill>
                <a:latin typeface="맑은 고딕"/>
              </a:rPr>
              <a:t>공자의 직접 발언 — 가장 기본적인 형식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154680"/>
            <a:ext cx="2743200" cy="82296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375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문답체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3154680"/>
            <a:ext cx="7955279" cy="82296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3337560"/>
            <a:ext cx="7589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F2A44"/>
                </a:solidFill>
                <a:latin typeface="맑은 고딕"/>
              </a:rPr>
              <a:t>제자의 질문 + 공자의 답 (안연·자로편 등에 집중)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114800"/>
            <a:ext cx="2743200" cy="82296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2976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서사체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0" y="4114800"/>
            <a:ext cx="7955279" cy="82296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0" y="4297680"/>
            <a:ext cx="7589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F2A44"/>
                </a:solidFill>
                <a:latin typeface="맑은 고딕"/>
              </a:rPr>
              <a:t>사건과 일화를 서술 (미자·향당편)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074920"/>
            <a:ext cx="2743200" cy="82296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2578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제자 발언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0" y="5074920"/>
            <a:ext cx="7955279" cy="82296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0" y="5257800"/>
            <a:ext cx="7589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F2A44"/>
                </a:solidFill>
                <a:latin typeface="맑은 고딕"/>
              </a:rPr>
              <a:t>제자의 어록 — 자장(子張)편은 공자 발언이 없는 유일한 편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Ⅶ.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33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인(仁)의 등장 패턴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논어의 핵심 개념이 어떻게 분포되어 있는가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0" b="1">
                <a:solidFill>
                  <a:srgbClr val="8B1A1A"/>
                </a:solidFill>
                <a:latin typeface="맑은 고딕"/>
              </a:rPr>
              <a:t>109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148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논어 전체에서 仁이 등장하는 횟수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556070"/>
                </a:solidFill>
                <a:latin typeface="맑은 고딕"/>
              </a:rPr>
              <a:t>— 단연 최다 핵심어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86000"/>
            <a:ext cx="54864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8B1A1A"/>
                </a:solidFill>
                <a:latin typeface="맑은 고딕"/>
              </a:rPr>
              <a:t>집중되는 편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F2A44"/>
                </a:solidFill>
                <a:latin typeface="맑은 고딕"/>
              </a:rPr>
              <a:t>안연편 · 이인편 — 인(仁) 논의의 본진</a:t>
            </a:r>
          </a:p>
          <a:p>
            <a:pPr algn="l">
              <a:lnSpc>
                <a:spcPct val="135000"/>
              </a:lnSpc>
            </a:pPr>
            <a:r>
              <a:rPr sz="8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2000" b="1" i="0">
                <a:solidFill>
                  <a:srgbClr val="8B1A1A"/>
                </a:solidFill>
                <a:latin typeface="맑은 고딕"/>
              </a:rPr>
              <a:t>등장하지 않는 편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F2A44"/>
                </a:solidFill>
                <a:latin typeface="맑은 고딕"/>
              </a:rPr>
              <a:t>계씨편 — 仁이 단 한 번도 나오지 않는다</a:t>
            </a:r>
          </a:p>
          <a:p>
            <a:pPr algn="l">
              <a:lnSpc>
                <a:spcPct val="135000"/>
              </a:lnSpc>
            </a:pPr>
            <a:r>
              <a:rPr sz="8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2000" b="1" i="0">
                <a:solidFill>
                  <a:srgbClr val="8B1A1A"/>
                </a:solidFill>
                <a:latin typeface="맑은 고딕"/>
              </a:rPr>
              <a:t>의의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F2A44"/>
                </a:solidFill>
                <a:latin typeface="맑은 고딕"/>
              </a:rPr>
              <a:t>제자마다 다른 인의 정의 — 인재시교(因材施敎)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56070"/>
                </a:solidFill>
                <a:latin typeface="맑은 고딕"/>
              </a:rPr>
              <a:t>상대에 따라 다르게 설명한다는 교육 원리의 증거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Ⅶ.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34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수미상관(首尾相關) — 닫힌 구조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5394960" cy="4114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8B1A1A"/>
                </a:solidFill>
                <a:latin typeface="맑은 고딕"/>
              </a:rPr>
              <a:t>첫 머리 — 학이편 1장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3949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F2A44"/>
                </a:solidFill>
                <a:latin typeface="맑은 고딕"/>
              </a:rPr>
              <a:t>學而時習之
不亦君子乎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53949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배우고 때때로 익히면
이 또한 군자가 아니겠는가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194560"/>
            <a:ext cx="5394960" cy="4114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37744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8B1A1A"/>
                </a:solidFill>
                <a:latin typeface="맑은 고딕"/>
              </a:rPr>
              <a:t>맨 끝 — 요왈편 3장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017520"/>
            <a:ext cx="53949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F2A44"/>
                </a:solidFill>
                <a:latin typeface="맑은 고딕"/>
              </a:rPr>
              <a:t>不知命
無以爲君子也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572000"/>
            <a:ext cx="53949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천명(天命)을 알지 못하면
군자가 될 수 없다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B1A1A"/>
                </a:solidFill>
                <a:latin typeface="맑은 고딕"/>
              </a:rPr>
              <a:t>배움(學)에서 출발 → 군자(君子)로 귀결 — 처음과 끝이 호응하는 닫힌 구조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현대적 의의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35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현대 ① — 화이부동(和而不同)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4937760" cy="4206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원전(原典)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8B1A1A"/>
                </a:solidFill>
                <a:latin typeface="맑은 고딕"/>
              </a:rPr>
              <a:t>和 而 不 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화이부동 (자로 23장)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286000"/>
            <a:ext cx="5852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맑은 고딕"/>
              </a:rPr>
              <a:t>다원주의 사회의 원리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43600" y="2743200"/>
            <a:ext cx="548640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43600" y="2926080"/>
            <a:ext cx="5852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F2A44"/>
                </a:solidFill>
                <a:latin typeface="맑은 고딕"/>
              </a:rPr>
              <a:t>서로 다른 종교·문화·가치관이</a:t>
            </a:r>
          </a:p>
          <a:p>
            <a:pPr algn="l">
              <a:lnSpc>
                <a:spcPct val="140000"/>
              </a:lnSpc>
            </a:pPr>
            <a:r>
              <a:rPr sz="1700" b="1" i="0">
                <a:solidFill>
                  <a:srgbClr val="1F2A44"/>
                </a:solidFill>
                <a:latin typeface="맑은 고딕"/>
              </a:rPr>
              <a:t>공존하는 다양성 속의 조화</a:t>
            </a:r>
          </a:p>
          <a:p>
            <a:pPr algn="l">
              <a:lnSpc>
                <a:spcPct val="140000"/>
              </a:lnSpc>
            </a:pPr>
            <a:r>
              <a:rPr sz="8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600" b="0" i="0">
                <a:solidFill>
                  <a:srgbClr val="556070"/>
                </a:solidFill>
                <a:latin typeface="맑은 고딕"/>
              </a:rPr>
              <a:t>획일적 동일성이 아니라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556070"/>
                </a:solidFill>
                <a:latin typeface="맑은 고딕"/>
              </a:rPr>
              <a:t>차이를 인정하면서 어울리는 사회의 원리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현대적 의의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36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현대 ② — 기소불욕 물시어인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4937760" cy="4206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원전(原典)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8B1A1A"/>
                </a:solidFill>
                <a:latin typeface="맑은 고딕"/>
              </a:rPr>
              <a:t>己所不欲
勿施於人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위령공 24장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286000"/>
            <a:ext cx="5852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맑은 고딕"/>
              </a:rPr>
              <a:t>보편 윤리 · 황금률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43600" y="2743200"/>
            <a:ext cx="548640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43600" y="2926080"/>
            <a:ext cx="5852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 i="0">
                <a:solidFill>
                  <a:srgbClr val="1F2A44"/>
                </a:solidFill>
                <a:latin typeface="맑은 고딕"/>
              </a:rPr>
              <a:t>동서양을 관통하는 황금률(Golden Rule)</a:t>
            </a:r>
          </a:p>
          <a:p>
            <a:pPr algn="l">
              <a:lnSpc>
                <a:spcPct val="140000"/>
              </a:lnSpc>
            </a:pPr>
            <a:r>
              <a:rPr sz="8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600" b="1" i="0">
                <a:solidFill>
                  <a:srgbClr val="8B1A1A"/>
                </a:solidFill>
                <a:latin typeface="맑은 고딕"/>
              </a:rPr>
              <a:t>적용 영역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F2A44"/>
                </a:solidFill>
                <a:latin typeface="맑은 고딕"/>
              </a:rPr>
              <a:t>• 세계인권선언 정신의 동양 원형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F2A44"/>
                </a:solidFill>
                <a:latin typeface="맑은 고딕"/>
              </a:rPr>
              <a:t>• 기업 윤리 강령의 핵심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F2A44"/>
                </a:solidFill>
                <a:latin typeface="맑은 고딕"/>
              </a:rPr>
              <a:t>• AI 윤리 가이드라인의 기초 원리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현대적 의의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37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현대 ③ — 학이불사즉망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4937760" cy="4206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원전(原典)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8B1A1A"/>
                </a:solidFill>
                <a:latin typeface="맑은 고딕"/>
              </a:rPr>
              <a:t>學而不思則罔
思而不學則殆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위정 15장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286000"/>
            <a:ext cx="5852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맑은 고딕"/>
              </a:rPr>
              <a:t>비판적 사고 (Critical Thinking)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43600" y="2743200"/>
            <a:ext cx="548640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43600" y="2926080"/>
            <a:ext cx="5852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F2A44"/>
                </a:solidFill>
                <a:latin typeface="맑은 고딕"/>
              </a:rPr>
              <a:t>정보 과잉의 시대에 요구되는</a:t>
            </a:r>
          </a:p>
          <a:p>
            <a:pPr algn="l">
              <a:lnSpc>
                <a:spcPct val="140000"/>
              </a:lnSpc>
            </a:pPr>
            <a:r>
              <a:rPr sz="1700" b="1" i="0">
                <a:solidFill>
                  <a:srgbClr val="1F2A44"/>
                </a:solidFill>
                <a:latin typeface="맑은 고딕"/>
              </a:rPr>
              <a:t>암기가 아닌 비판적 사고와 성찰</a:t>
            </a:r>
          </a:p>
          <a:p>
            <a:pPr algn="l">
              <a:lnSpc>
                <a:spcPct val="140000"/>
              </a:lnSpc>
            </a:pPr>
            <a:r>
              <a:rPr sz="8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600" b="0" i="0">
                <a:solidFill>
                  <a:srgbClr val="556070"/>
                </a:solidFill>
                <a:latin typeface="맑은 고딕"/>
              </a:rPr>
              <a:t>생성형 AI 시대에 더욱 중요해진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556070"/>
                </a:solidFill>
                <a:latin typeface="맑은 고딕"/>
              </a:rPr>
              <a:t>"배움 + 사유"의 균형이라는 통찰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현대적 의의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38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현대 ④ — 덕치와 솔선수범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4937760" cy="4206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원전(原典)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8B1A1A"/>
                </a:solidFill>
                <a:latin typeface="맑은 고딕"/>
              </a:rPr>
              <a:t>其身正
不令而行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자로 6장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286000"/>
            <a:ext cx="5852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맑은 고딕"/>
              </a:rPr>
              <a:t>리더십 · 수기치인(修己治人)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43600" y="2743200"/>
            <a:ext cx="548640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43600" y="2926080"/>
            <a:ext cx="5852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 i="0">
                <a:solidFill>
                  <a:srgbClr val="1F2A44"/>
                </a:solidFill>
                <a:latin typeface="맑은 고딕"/>
              </a:rPr>
              <a:t>서번트 리더십 · 윤리적 리더십과 상통</a:t>
            </a:r>
          </a:p>
          <a:p>
            <a:pPr algn="l">
              <a:lnSpc>
                <a:spcPct val="140000"/>
              </a:lnSpc>
            </a:pPr>
            <a:r>
              <a:rPr sz="8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600" b="1" i="0">
                <a:solidFill>
                  <a:srgbClr val="8B1A1A"/>
                </a:solidFill>
                <a:latin typeface="맑은 고딕"/>
              </a:rPr>
              <a:t>핵심 원리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F2A44"/>
                </a:solidFill>
                <a:latin typeface="맑은 고딕"/>
              </a:rPr>
              <a:t>• 권위는 명령이 아니라 인격에서 나온다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F2A44"/>
                </a:solidFill>
                <a:latin typeface="맑은 고딕"/>
              </a:rPr>
              <a:t>• 자기를 다스린 자만이 남을 다스릴 수 있다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556070"/>
                </a:solidFill>
                <a:latin typeface="맑은 고딕"/>
              </a:rPr>
              <a:t>— 修己治人 (수기치인)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현대적 의의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39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현대 ⑤ — 仁, AI 시대의 인문학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4937760" cy="4206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원전(原典)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8B1A1A"/>
                </a:solidFill>
                <a:latin typeface="맑은 고딕"/>
              </a:rPr>
              <a:t>仁  者
愛  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안연 22장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286000"/>
            <a:ext cx="5852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맑은 고딕"/>
              </a:rPr>
              <a:t>인공지능 시대, "사람다움"의 좌표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43600" y="2743200"/>
            <a:ext cx="548640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43600" y="2926080"/>
            <a:ext cx="5852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F2A44"/>
                </a:solidFill>
                <a:latin typeface="맑은 고딕"/>
              </a:rPr>
              <a:t>기술만으로 해결할 수 없는</a:t>
            </a:r>
          </a:p>
          <a:p>
            <a:pPr algn="l">
              <a:lnSpc>
                <a:spcPct val="140000"/>
              </a:lnSpc>
            </a:pPr>
            <a:r>
              <a:rPr sz="1700" b="1" i="0">
                <a:solidFill>
                  <a:srgbClr val="1F2A44"/>
                </a:solidFill>
                <a:latin typeface="맑은 고딕"/>
              </a:rPr>
              <a:t>"사람다움"의 방향을 제시</a:t>
            </a:r>
          </a:p>
          <a:p>
            <a:pPr algn="l">
              <a:lnSpc>
                <a:spcPct val="140000"/>
              </a:lnSpc>
            </a:pPr>
            <a:r>
              <a:rPr sz="8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600" b="0" i="0">
                <a:solidFill>
                  <a:srgbClr val="556070"/>
                </a:solidFill>
                <a:latin typeface="맑은 고딕"/>
              </a:rPr>
              <a:t>AI가 무엇을 할 수 있는가가 아니라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556070"/>
                </a:solidFill>
                <a:latin typeface="맑은 고딕"/>
              </a:rPr>
              <a:t>사람이 사람에게 무엇이어야 하는가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 i="0">
                <a:solidFill>
                  <a:srgbClr val="8B1A1A"/>
                </a:solidFill>
                <a:latin typeface="맑은 고딕"/>
              </a:rPr>
              <a:t>— 2,500년 전의 물음이 다시 현재형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40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논어 · 맹자 · 순자 — 유가 삼대 경전 비교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83080"/>
            <a:ext cx="2011680" cy="5029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80" y="1783080"/>
            <a:ext cx="3154680" cy="5029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0" y="1874519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논어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1783080"/>
            <a:ext cx="3154680" cy="502920"/>
          </a:xfrm>
          <a:prstGeom prst="rect">
            <a:avLst/>
          </a:prstGeom>
          <a:solidFill>
            <a:srgbClr val="556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1874519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맹자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783080"/>
            <a:ext cx="3154680" cy="502920"/>
          </a:xfrm>
          <a:prstGeom prst="rect">
            <a:avLst/>
          </a:prstGeom>
          <a:solidFill>
            <a:srgbClr val="556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1874519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순자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86000"/>
            <a:ext cx="2011680" cy="566928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395728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시대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68880" y="2286000"/>
            <a:ext cx="3154680" cy="56692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14600" y="239572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춘추 말기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23560" y="2286000"/>
            <a:ext cx="3154680" cy="56692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239572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F2A44"/>
                </a:solidFill>
                <a:latin typeface="맑은 고딕"/>
              </a:rPr>
              <a:t>전국 중기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0" y="2286000"/>
            <a:ext cx="3154680" cy="56692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239572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F2A44"/>
                </a:solidFill>
                <a:latin typeface="맑은 고딕"/>
              </a:rPr>
              <a:t>전국 말기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852928"/>
            <a:ext cx="2011680" cy="566928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962656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형식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68880" y="2852928"/>
            <a:ext cx="31546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14600" y="2962656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어록·문답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23560" y="2852928"/>
            <a:ext cx="31546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0" y="2962656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F2A44"/>
                </a:solidFill>
                <a:latin typeface="맑은 고딕"/>
              </a:rPr>
              <a:t>대화·논변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78240" y="2852928"/>
            <a:ext cx="31546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23960" y="2962656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F2A44"/>
                </a:solidFill>
                <a:latin typeface="맑은 고딕"/>
              </a:rPr>
              <a:t>논설문(論說文)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419856"/>
            <a:ext cx="2011680" cy="566928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529584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인성론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68880" y="3419856"/>
            <a:ext cx="3154680" cy="56692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14600" y="3529584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성상근(性相近)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23560" y="3419856"/>
            <a:ext cx="3154680" cy="56692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3529584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F2A44"/>
                </a:solidFill>
                <a:latin typeface="맑은 고딕"/>
              </a:rPr>
              <a:t>성선설(性善說)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0" y="3419856"/>
            <a:ext cx="3154680" cy="56692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23960" y="3529584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F2A44"/>
                </a:solidFill>
                <a:latin typeface="맑은 고딕"/>
              </a:rPr>
              <a:t>성악설(性惡說)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986783"/>
            <a:ext cx="2011680" cy="566928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4096511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핵심 덕목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68880" y="3986783"/>
            <a:ext cx="31546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14600" y="4096511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인(仁)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23560" y="3986783"/>
            <a:ext cx="31546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0" y="4096511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F2A44"/>
                </a:solidFill>
                <a:latin typeface="맑은 고딕"/>
              </a:rPr>
              <a:t>인의(仁義)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240" y="3986783"/>
            <a:ext cx="31546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23960" y="4096511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F2A44"/>
                </a:solidFill>
                <a:latin typeface="맑은 고딕"/>
              </a:rPr>
              <a:t>예(禮)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553712"/>
            <a:ext cx="2011680" cy="566928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466344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수양 방법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68880" y="4553712"/>
            <a:ext cx="3154680" cy="56692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14600" y="466344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학·극기복례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23560" y="4553712"/>
            <a:ext cx="3154680" cy="56692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0" y="466344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F2A44"/>
                </a:solidFill>
                <a:latin typeface="맑은 고딕"/>
              </a:rPr>
              <a:t>존심양성·확충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778240" y="4553712"/>
            <a:ext cx="3154680" cy="56692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23960" y="466344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F2A44"/>
                </a:solidFill>
                <a:latin typeface="맑은 고딕"/>
              </a:rPr>
              <a:t>화성기위·적(積)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5120640"/>
            <a:ext cx="2011680" cy="566928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5230368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천(天)관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68880" y="5120640"/>
            <a:ext cx="31546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14600" y="523036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도덕적 천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23560" y="5120640"/>
            <a:ext cx="31546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9280" y="523036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F2A44"/>
                </a:solidFill>
                <a:latin typeface="맑은 고딕"/>
              </a:rPr>
              <a:t>의지적 천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778240" y="5120640"/>
            <a:ext cx="31546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823960" y="523036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F2A44"/>
                </a:solidFill>
                <a:latin typeface="맑은 고딕"/>
              </a:rPr>
              <a:t>자연적 천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5687568"/>
            <a:ext cx="2011680" cy="566928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5797296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정치론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468880" y="5687568"/>
            <a:ext cx="3154680" cy="56692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514600" y="5797296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덕치·정명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23560" y="5687568"/>
            <a:ext cx="3154680" cy="56692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0" y="5797296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F2A44"/>
                </a:solidFill>
                <a:latin typeface="맑은 고딕"/>
              </a:rPr>
              <a:t>왕도·역성혁명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778240" y="5687568"/>
            <a:ext cx="3154680" cy="56692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823960" y="5797296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F2A44"/>
                </a:solidFill>
                <a:latin typeface="맑은 고딕"/>
              </a:rPr>
              <a:t>왕도·예법 병용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Ⅹ. 마무리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41 / 42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맑은 고딕"/>
              </a:rPr>
              <a:t>한 문장으로 정리하는 논어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10881360" cy="4114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1014984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1F2A44"/>
                </a:solidFill>
                <a:latin typeface="맑은 고딕"/>
              </a:rPr>
              <a:t>배움(學)에서 출발하여</a:t>
            </a:r>
          </a:p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ctr">
              <a:lnSpc>
                <a:spcPct val="120000"/>
              </a:lnSpc>
              <a:spcBef>
                <a:spcPts val="800"/>
              </a:spcBef>
            </a:pPr>
            <a:r>
              <a:rPr sz="2200" b="1" i="0">
                <a:solidFill>
                  <a:srgbClr val="8B1A1A"/>
                </a:solidFill>
                <a:latin typeface="맑은 고딕"/>
              </a:rPr>
              <a:t>인(仁)을 핵심으로</a:t>
            </a:r>
          </a:p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8B1A1A"/>
                </a:solidFill>
                <a:latin typeface="맑은 고딕"/>
              </a:rPr>
              <a:t>예(禮)를 형식으로</a:t>
            </a:r>
          </a:p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8B1A1A"/>
                </a:solidFill>
                <a:latin typeface="맑은 고딕"/>
              </a:rPr>
              <a:t>충서(忠恕)를 방법으로</a:t>
            </a:r>
          </a:p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8B1A1A"/>
                </a:solidFill>
                <a:latin typeface="맑은 고딕"/>
              </a:rPr>
              <a:t>군자(君子)를 이상으로 삼아</a:t>
            </a:r>
          </a:p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ctr">
              <a:lnSpc>
                <a:spcPct val="120000"/>
              </a:lnSpc>
              <a:spcBef>
                <a:spcPts val="800"/>
              </a:spcBef>
            </a:pPr>
            <a:r>
              <a:rPr sz="2200" b="1" i="0">
                <a:solidFill>
                  <a:srgbClr val="1F2A44"/>
                </a:solidFill>
                <a:latin typeface="맑은 고딕"/>
              </a:rPr>
              <a:t>수기(修己)에서 치인(治人)으로 나아가는</a:t>
            </a:r>
          </a:p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F2A44"/>
                </a:solidFill>
                <a:latin typeface="맑은 고딕"/>
              </a:rPr>
              <a:t/>
            </a:r>
          </a:p>
          <a:p>
            <a:pPr algn="ctr">
              <a:lnSpc>
                <a:spcPct val="120000"/>
              </a:lnSpc>
              <a:spcBef>
                <a:spcPts val="800"/>
              </a:spcBef>
            </a:pPr>
            <a:r>
              <a:rPr sz="2200" b="1" i="0">
                <a:solidFill>
                  <a:srgbClr val="1F2A44"/>
                </a:solidFill>
                <a:latin typeface="맑은 고딕"/>
              </a:rPr>
              <a:t>— 사람다움의 총체적 설계도 —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C8A2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600" b="1">
                <a:solidFill>
                  <a:srgbClr val="8B1A1A"/>
                </a:solidFill>
                <a:latin typeface="맑은 고딕"/>
              </a:rPr>
              <a:t>半 部 論 語 治 天 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556070"/>
                </a:solidFill>
                <a:latin typeface="맑은 고딕"/>
              </a:rPr>
              <a:t>반 부 논 어 치 천 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0" y="4023360"/>
            <a:ext cx="2103120" cy="0"/>
          </a:xfrm>
          <a:prstGeom prst="line">
            <a:avLst/>
          </a:prstGeom>
          <a:ln w="1905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429768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A44"/>
                </a:solidFill>
                <a:latin typeface="맑은 고딕"/>
              </a:rPr>
              <a:t>"논어 반 권으로 천하를 다스린다"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— 송(宋) 재상 조보(趙普)의 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F2A44"/>
                </a:solidFill>
                <a:latin typeface="맑은 고딕"/>
              </a:rPr>
              <a:t>감사합니다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8A2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