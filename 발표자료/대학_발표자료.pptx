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1F2A44"/>
                </a:solidFill>
                <a:latin typeface="맑은 고딕"/>
              </a:rPr>
              <a:t>大 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The Great Learning · 대학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"대인지학(大人之學)" — 사서(四書)의 입덕지문(入德之門)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본래 『예기(禮記)』의 한 편 · 약 1,700자 · 주희(朱熹) 사서 독립 · 800년의 표준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"自天子以至於庶人, 壹是皆以修身爲本"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천자로부터 서민에 이르기까지, 모두 한결같이 수신(修身)을 근본으로 삼는다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개요 — 대학이란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시대 배경과 사상사적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구성 — 경 1장 + 전 10장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경 1장 — 대학의 헌법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삼강령 ① 明明德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삼강령 ② 親民·新民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삼강령 ③ 止於至善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개관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① 格物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86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② 致知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943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③ 誠意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④ 正心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⑤ 修身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⑥ 齊家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⑦ 治國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00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팔조목 ⑧ 平天下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657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명구절 8선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14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114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7대 핵심 메시지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72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572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029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29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다른 고전과의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486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ⅩⅩⅠ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486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대학(大學)이란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"큰 배움" — 대인(大人)의 학(學)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8B1A1A"/>
                </a:solidFill>
                <a:latin typeface="맑은 고딕"/>
              </a:rPr>
              <a:t>주희(朱熹)의 풀이 — "대인지학(大人之學)"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약 1,700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자(字)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경 1장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+ 전 10장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삼강령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+ 팔조목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 표준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어린아이의 소학(小學)을 넘어 — "사람다운 어른이 되고 세상을 이롭게 하는 학문"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고대 교육 — 8세 소학(灑掃應對) → 15세 대학(窮理正心修己治人)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96596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7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대학(大學)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39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"큰 배움 · 대인지학"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606039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원출처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5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『예기(禮記)』 제42편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79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본래 독립 책이 아닌 한 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24612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0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경문 저자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918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공자(孔子)의 말 → 증자(曾子)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전통적 견해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88620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전문 저자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증자의 뜻 → 문인(門人) 풀이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전 10장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52628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사서 독립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72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주희(朱熹, 1130~1200)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남송에서 사서로 묶음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516636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212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대학장구(大學章句)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경 1장 + 전 10장 + 보망장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80644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71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조선 500년 · 일본 막부기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79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동아시아 교육 표준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성립과 저자 — 공자·증자·문인의 합작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경문(經文) 1장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공자(孔子)의 말을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증자(曾子)가 기록한 것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단 205자에 압축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삼강령·팔조목이 모두 담김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"헌법의 전문(前文)" 같은 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전문(傳文) 10장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증자의 뜻을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문인(門人)이 풀어 기록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약 1,500자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시경·서경·공자 어록 인용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 1~3장 = 삼강령 해설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 4~10장 = 팔조목 해설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주희(朱熹) — 사서로 독립시킨 800년의 결단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남송(南宋) 주희 (1130~1200) — 『예기』에서 대학·중용을 독립시켜 사서로 묶음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088136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주희의 선언 — 대학은 "입덕지문(入德之門)"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"대학을 먼저 읽어 그 규모(規模)를 잡고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논어를 읽어 그 근본(根本)을 세우고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맹자를 읽어 그 발휘(發揮)를 보고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중용을 읽어 그 미묘(微妙)를 얻는다"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→ 사서 학습의 첫 책 — 800년간 동아시아 교육의 출발점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대학장구(大學章句)와 보망장(補亡章)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주희의 편집 — "대학장구(大學章句)"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예기의 본문을 재구성하여 경 1장 + 전 10장으로 분류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조선 500년·일본 막부기 유학 교육의 표준본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보망장(補亡章) — 전 5장의 누락을 채움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주희는 전 5장(격물치지)이 누락됐다고 보고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자신이 직접 글을 지어 보충 → "보망장"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"활연관통(豁然貫通)"의 명문이 여기서 나옴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시대·사상사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고대 교육 체계 — 소학(小學)과 대학(大學)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소학(小學) — 8세부터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"쇄소응대진퇴(灑掃應對進退)"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일상의 예절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청소(灑掃)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응대(應對)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진퇴(進退)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육예(六藝)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예·악·사·어·서·수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대학(大學) — 15세부터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"궁리정심수기치인"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(窮理正心修己治人)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궁리(窮理) — 이치 궁구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정심(正心) — 마음 바르게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수기(修己) — 자기 닦음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치인(治人) — 남을 다스림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8세 일상 예절 → 15세 어른의 학(學) — 단계적 성장의 교육 체계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시대·사상사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사서(四書)의 입문 — 입덕지문(入德之門)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대학(大學)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規模 —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64008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전체의 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먼저 읽어 큰 그림을 잡는다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논어(論語)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15468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根本 — 근본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3154680"/>
            <a:ext cx="64008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2461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인(仁)의 뿌리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61188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두 번째로 근본을 세운다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맹자(孟子)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11480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361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發揮 — 발휘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114800"/>
            <a:ext cx="64008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20624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활달한 논변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720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세 번째로 발휘를 본다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7492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218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중용(中庸)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07492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3218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微妙 — 미묘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5074920"/>
            <a:ext cx="64008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5166359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형이상학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5321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마지막으로 미묘함을 얻는다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주희가 정한 800년의 학습 순서 — 대학이 곧 출발점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시대·사상사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유학의 중심 — 대학의 영향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퇴계 이황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286000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4871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성학십도(聖學十圖)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대학의 삼강령·팔조목을 기본 골격으로 한 선조에게 올린 도설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7413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율곡 이이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172968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3741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성학집요(聖學輯要)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72968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74136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대학의 구조로 쓴 제왕학(帝王學) — 선조 시대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59935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6110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세종대왕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59935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261103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일신우일신(日日新)을 좌우명으로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59935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61103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집무실에 걸어두고 매일 자기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46903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4807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정약용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946903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5148071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대학공의(大學公議)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946903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148071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실학의 시각에서 재해석한 대학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"군주·관료·선비 모두 반드시 외워야 하는 책" — 조선 500년 교육의 중심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시대·사상사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리더십 교육의 원전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"수기치인(修己治人)의 완성된 프레임 — 자기와 세상을 잇는 다리"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47120" cy="3383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대학이 유학에서 차지하는 4가지 위치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① 사서(四書)의 입문 — 논어·맹자·중용의 뼈대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② 수기치인의 완성된 프레임 — 개인의 덕과 세상의 다스림은 하나의 연속체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③ 조선 유학의 중심 — 퇴계·율곡의 제왕학 모두 대학 골격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④ 동아시아 리더십의 원전 — 한국·중국·일본·베트남 공통 교과서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경(經) 1장 + 전(傳) 10장 — 헌법과 주석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경(經) 1장 — 총론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단 205자 안에 모든 것이 담겨 있다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삼강령(三綱領) 선언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팔조목(八條目) 연쇄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본말(本末) 선언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"수신위본"의 결론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"헌법의 전문(前文)" 같은 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전(傳) 10장 — 해설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약 1,500자 — 시·서·공자 어록 인용 해설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전1~3장 — 삼강령 해설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명명덕·신민·지어지선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전4장 — 본말 선언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전5장 — 격물치지 (보망장)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전6~10장 — 성의·정심~평천하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동심원 구조 — 안에서 밖으로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288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476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격물 (格物)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476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사물의 이치 궁구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328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42316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5420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치지 (致知)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2316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5420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앎의 극진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272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0175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1363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성의 (誠意)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01752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136391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뜻의 성실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11879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21607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611879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730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정심 (正心)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611879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7307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마음의 바름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159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206240"/>
            <a:ext cx="3200400" cy="5486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3251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수신 (修身)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206240"/>
            <a:ext cx="7132320" cy="5486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32511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★ 축 — 모든 것의 근본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0060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103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48006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49194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제가 (齊家)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80060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49194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집을 가지런히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9496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046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39496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5138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치국 (治國)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539496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55138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나라를 다스림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98932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0990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0" y="59893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6108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평천하 (平天下)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5989320"/>
            <a:ext cx="71323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610819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세계의 평화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766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6070"/>
                </a:solidFill>
                <a:latin typeface="맑은 고딕"/>
              </a:rPr>
              <a:t>1~4 = 내면 / 5 = 축(수신) / 6~8 = 외적 확장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분량의 극적인 대비 — 간결함이 곧 권위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0" b="1">
                <a:solidFill>
                  <a:srgbClr val="8B1A1A"/>
                </a:solidFill>
                <a:latin typeface="맑은 고딕"/>
              </a:rPr>
              <a:t>205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자(字)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— 경 1장 전체 분량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총 분량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약 1,700자 — A4 세 장 분량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그러나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동아시아 2,000년 지성사의 중심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"간결함이 곧 권위였다"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손자병법(약 6,000자)보다도 짧지만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유학의 모든 것을 담은 압축의 미학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 1장 — 205자의 "대학의 헌법"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단 205자 안에 모든 것이 담겨 있다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삼강령 선언 + "지(止)"의 효능 + 본말 선언 +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팔조목 역순·순순 + "수신위본"의 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6개 원문의 흐름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① 삼강령 선언 — 大學之道, 在明明德, 在親民, 在止於至善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② "지(止)"의 효능 — 知止 → 定 → 靜 → 安 → 慮 → 得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③ 본말 선언 — 物有本末, 事有終始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④⑤ 팔조목 — 천하에서 격물로(역순), 격물에서 천하로(순순)</a:t>
            </a: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⑥ 결론 — 自天子以至於庶人, 壹是皆以修身爲本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① 삼강령 선언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"대학의 도(道)는 어디에 있는가?"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大 學 之 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在 明 明 德   在 親 民   在 止 於 至 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대학지도 · 재명명덕 · 재친민 · 재지어지선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2062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"대학의 도는 밝은 덕을 밝히는 데 있고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 백성을 새롭게 하는 데 있으며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 지극한 선에 머무는 데 있다"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"재(在)"의 반복이 리드미컬 — 셋이 병렬이 아니라 하나의 도(道)의 세 얼굴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② "지(止)"의 효능 — 5단계 내면 심리학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知止而后有定, 定而后能靜, 靜而后能安, 安而后能慮, 慮而后能得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知止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3200400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지지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200400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319272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목표의식 — 지극한 선이 어디인지 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749039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86791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74903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867911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결심 — 방향이 정해진다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79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297679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41655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29767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416551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평정 — 마음이 흔들리지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19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1947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4846319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96519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84631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4965191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안정 — 처한 상황 속에 편안하다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94959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6811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394959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551383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39495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513831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통찰 — 맑은 머리로 사유한다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43599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01675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5943599"/>
            <a:ext cx="1371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606247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5943599"/>
            <a:ext cx="86868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6062471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성취 — 마침내 얻는다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③ 본말의 선언 — 대학 전체의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物 有 本 末   事 有 終 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知 所 先 後   則 近 道 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물유본말 · 사유종시 · 지소선후 · 즉근도의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5262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"사물에는 근본과 말단이 있고, 일에는 시작과 끝이 있다"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"먼저 할 바와 나중 할 바를 알면 도(道)에 가까워진다"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스티븐 코비의 "first things first"의 원형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④ 팔조목 역방향 — "천하"에서 "격물"로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"옛날에 천하에 밝은 덕을 밝히려는 자는…"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欲明明德於天下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880360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천하에 밝은 덕을 밝히려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9992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880360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926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先治其國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880360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9992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나라를 다스렸다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欲治其國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429000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5478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나라를 다스리려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5478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429000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4747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先齊其家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429000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547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집을 가지런히 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7763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欲齊其家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977639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09651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집을 가지런히 하려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09651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97763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40233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先修其身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3977639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09651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몸을 닦았다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2627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欲修其身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4526279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64515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몸을 닦으려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64515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52627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先正其心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4526279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464515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마음을 바르게 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7491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1206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欲正其心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5074919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51937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마음을 바르게 하려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519379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07491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51206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先誠其意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5074919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519379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뜻을 정성스럽게 했다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62355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6692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欲誠其意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5623559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574243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뜻을 정성스럽게 하려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74243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562355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9320" y="56692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先致其知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5623559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79" y="574243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먼저 그 앎을 극진히 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17219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217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致知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6172199"/>
            <a:ext cx="2926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80" y="629107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앎을 극진히 함은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7840" y="629107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6172199"/>
            <a:ext cx="21031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89320" y="6217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1A1A"/>
                </a:solidFill>
                <a:latin typeface="맑은 고딕"/>
              </a:rPr>
              <a:t>在格物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2440" y="6172199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83879" y="629107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사물의 이치를 궁구함에 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⑤ 팔조목 순방향 — "격물"에서 "천하"로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"사물이 궁구된 뒤에 앎이 이르고…"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992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物格 → 知至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880360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99923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사물이 궁구된 뒤에 앎이 이르고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知至 → 意誠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429000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54787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앎이 이른 뒤에 뜻이 성실해지고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意誠 → 心正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977639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096511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뜻이 성실해진 뒤에 마음이 바르게 되고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79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心正 → 身修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4526279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4645151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마음이 바르게 된 뒤에 몸이 닦이고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74919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身修 → 家齊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074919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193791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몸이 닦인 뒤에 집이 가지런해지고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23559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4243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家齊 → 國治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5623559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5742431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집이 가지런해진 뒤에 나라가 다스려지고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172199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29107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國治 → 天下平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6172199"/>
            <a:ext cx="7772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6291071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나라가 다스려진 뒤에 천하가 평안해진다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팔조목의 이중 구조 — "방법과 목표가 서로를 끌고 밀어간다"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원문 ④ — 역순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"천하 → 격물"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목표에서 출발해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방법으로 내려감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"무엇을 위해 무엇이 필요한가?"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원문 ⑤ — 순순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"격물 → 천하"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방법에서 출발해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목표로 올라감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"무엇을 하면 무엇에 이르는가?"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같은 팔조목을 두 방향으로 — 문장 구조 자체가 "방법↔목표 상호작용"을 그린다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원문 ⑥ 결론 — 수신(修身)을 근본으로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自 天 子 以 至 於 庶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壹 是 皆 以 修 身 爲 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자천자이지어서인 · 일시개이수신위본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3891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"천자(天子)로부터 서민(庶人)에 이르기까지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모두 한결같이 수신(修身)을 근본으로 삼는다"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"일시(壹是)" — 한결같이, 신분과 무관하게 — 보편 교육의 선언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경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"천자로부터 서민까지" — 보편 교육의 선언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수신이 모든 것의 축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팔조목 8개 중 가운데 자리인 "수신(修身)"이 대학의 축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앞 4조목(격물·치지·성의·정심) = 수신의 내적 준비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뒤 3조목(제가·치국·평천하) = 수신의 외적 확장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"천자로부터 서민까지" — 혁명적 선언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유학은 사실상 신분을 뛰어넘는 보편 교육을 선언했다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왕도 평민도 수신의 책임에서는 동등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2,400년 전의 이 한 문장은 매우 혁신적이었다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明明德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明明德 — 내 안의 등불을 밝혀라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明
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두 글자의 의미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앞 明 = 동사 — "밝히다"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뒤 明 = 형용사 — "밝은"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德 = 덕(德)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전체 의미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"이미 밝은 덕을 더 밝게 닦는다"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핵심 전제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인간은 본래 밝은 덕(明德)을 타고난다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맹자의 성선설(性善說)과 이어지는 유학의 인간관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明明德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덕이 가려지는가 — 그리고 교육의 본질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덕(德)이 가려지는 세 가지 원인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① 기질(氣質)의 치우침 — 타고난 편향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② 욕망의 침식 — 끝없는 욕심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③ 습관의 덧칠 — 반복된 부정적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교육의 본질에 대한 혁명적 정의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"새 것을 채우는 것"이 아니라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"가린 것을 걷어내는 것"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루소·페스탈로치·몬테소리까지 이어진 현대 교육사상의 동양적 원형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明明德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 1장의 3가지 인용 — 명덕은 "끊임없이 닦는 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서경 강고(康誥)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32004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克 明 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극명덕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94560"/>
            <a:ext cx="521208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능히 덕을 밝혔다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73552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서경 태갑(太甲)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273552"/>
            <a:ext cx="32004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4107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顧 諟 天 之 明 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221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고시천지명명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273552"/>
            <a:ext cx="521208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5935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이 하늘의 밝은 명을 돌아본다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52544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서경 제전(帝典)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352544"/>
            <a:ext cx="32004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4897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克 明 峻 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901183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극명준덕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352544"/>
            <a:ext cx="521208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67258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능히 큰 덕을 밝혔다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 번 밝혀 끝이 아니라 매일 닦아야 빛을 유지한다 — 자기성찰의 영구 작업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親民·新民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친민·신민 — 유학사의 큰 갈림길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주희의 新民 (신민)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"親"은 "新"의 오기(誤記)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F2A44"/>
                </a:solidFill>
                <a:latin typeface="맑은 고딕"/>
              </a:rPr>
              <a:t>"백성을 새롭게 한다"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자기 덕을 밝힌 뒤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백성을 교화하여 새롭게 함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상하 관계 · 가르침의 관점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왕양명의 親民 (친민)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원문 그대로 "親"으로 읽음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F2A44"/>
                </a:solidFill>
                <a:latin typeface="맑은 고딕"/>
              </a:rPr>
              <a:t>"백성과 친히 하나가 된다"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백성과 친(親)히 만남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함께 변화함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수평 관계 · 공감의 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오늘날의 통합 — "자기의 변화가 타인의 변화로 이어지도록 한다"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親民·新民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일신우일신(日日新) — 탕왕(湯王)의 반명(盤銘)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苟 日 新   日 日 新   又 日 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구일신 일일신 우일신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은(殷) 탕왕(湯王)이 세숫대야(盤)에 새긴 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"진실로 하루가 새롭거든, 날로 새롭고, 또 날로 새로워라"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108813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세숫대야에 새긴 글 — 매일 얼굴을 씻을 때마다 자기를 새롭게 하라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세종이 집무실에 걸어두었고, 이승훈·김구가 좌우명으로 삼았다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親民·新民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변화의 파급 — 작신민(作新民)·주수구방(周雖舊邦)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서경 — 作新民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8B1A1A"/>
                </a:solidFill>
                <a:latin typeface="맑은 고딕"/>
              </a:rPr>
              <a:t>作 新 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작신민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"백성을 새롭게 하라"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내가 어제의 나에서 벗어나지 못하면
내 주변도 어제와 같다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시경 — 周雖舊邦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周 雖 舊 邦   其 命 維 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11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주수구방 기명유신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148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"주(周)는 비록 옛 나라이나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 그 명(命)은 오직 새롭다"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2064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오래된 조직도
사명(命)은 새로울 수 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止於至善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止於至善 — 정상에 머무는 능력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0" b="1">
                <a:solidFill>
                  <a:srgbClr val="8B1A1A"/>
                </a:solidFill>
                <a:latin typeface="맑은 고딕"/>
              </a:rPr>
              <a:t>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"지(止)"의 의미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일회적 도달이 아니라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"머물러 유지하는 상태(安住)"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정상에 한 번 오르는 것이 아니라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그 자리에 안주(安住)하는 능력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지극한 선(至善)이란?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각자의 자리에서 추구할 최고의 모습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역할마다 "지선"이 다르다 — 다음 슬라이드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止於至善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5가지 자리(役割)의 지선(至善) — 시경 인용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군주(君)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128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止 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1488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103120"/>
            <a:ext cx="5943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1762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인 — 어짊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군주(君)는 어짊(仁)에 머문다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90087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9125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신하(臣)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099815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止 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990087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035807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990087"/>
            <a:ext cx="5943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06323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경 — 공경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47287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신하(臣)는 공경(敬)에 머문다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77055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자식(子)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986783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止 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877055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922775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877055"/>
            <a:ext cx="5943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950207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효 — 효도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34255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자식(子)는 효도(孝)에 머문다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64023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6519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부모(父)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873751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止 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764023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809743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764023"/>
            <a:ext cx="5943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4837175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자 — 자애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221223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부모(父)는 자애(慈)에 머문다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650991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5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벗(友)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7607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止 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5650991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5696711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5650991"/>
            <a:ext cx="5943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5724143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신 — 믿음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10819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벗(友)는 믿음(信)에 머문다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 사람이 군주이자 부모이자 벗 — 각 역할의 지선에 모두 머묾이 "지어지선"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止於至善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"새조차 머물 곳을 안다" — 시경의 비유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맑은 고딕"/>
              </a:rPr>
              <a:t>緡 蠻 黃 鳥   止 于 丘 隅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민만황조 지우구우 — "꾀꼬리도 자기 머무를 자리를 안다"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891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"새조차 머물 곳을 아는데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 사람이 새만 못할까?"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"지(止) 한 글자"가 대학 전체를 관통한다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팔조목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팔조목 — 안에서 밖으로 펼쳐지는 동심원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01168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格物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3055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격물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11680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13055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사물의 이치를 궁구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78608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700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578608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致知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578608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697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치지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578608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697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앎을 극진히 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45536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369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3145536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32369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誠意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145536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2644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성의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3145536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26440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뜻을 성실히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12464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0390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712464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38039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正心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712464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83133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정심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3712464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383133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마음을 바르게 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79392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708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4279392"/>
            <a:ext cx="228600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4370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修身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279392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3982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수신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4279392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439826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몸을 닦음 — ★ 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846320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377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84632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937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齊家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4846320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49651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제가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846320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496519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집을 가지런히 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13248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5046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5413248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55046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治國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5413248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55321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치국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5413248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나라를 다스림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980176"/>
            <a:ext cx="6400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0716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80160" y="5980176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80160" y="60716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平天下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980176"/>
            <a:ext cx="1371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0" y="6099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평천하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5980176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3520" y="609904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천하를 평안케 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팔조목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知 · 體 · 用 — 팔조목의 3단계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8288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知 (지)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194560"/>
            <a:ext cx="32004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4871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격물·치지 (1~2)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077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앎의 단계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194560"/>
            <a:ext cx="5760720" cy="12801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6334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대상에 다가가 이치를 파악한다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1828800" cy="128016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體 (체)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611880"/>
            <a:ext cx="32004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9044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성의·정심·수신 (3~5)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3251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수양의 단계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11880"/>
            <a:ext cx="5760720" cy="12801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050791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안에서 자기를 닦는다 — 핵심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1828800" cy="12801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用 (용)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5029200"/>
            <a:ext cx="32004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321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제가·치국·평천하 (6~8)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7424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실천의 단계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029200"/>
            <a:ext cx="5760720" cy="12801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4681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밖으로 펼쳐 세상에 작용한다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格物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格物 — 사물의 이치를 끝까지 파고든다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0" b="1">
                <a:solidFill>
                  <a:srgbClr val="8B1A1A"/>
                </a:solidFill>
                <a:latin typeface="맑은 고딕"/>
              </a:rPr>
              <a:t>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"격(格)"의 두 해석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주희 — 이르다(至)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"사물에 이르러 그 이치를 궁구한다"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= 객관적 탐구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왕양명 — 바로잡다(正)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"사물의 뜻(事)을 바르게 한다"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= 마음의 부정을 바로잡는 것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두 해석이 유학사 800년의 분기점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格物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 vs 왕양명 — 해석의 대립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39496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주희 — 정주학(程朱學)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39496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왕양명 — 양명학(陽明學)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620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격(格)의 풀이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743200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86207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이르다(至)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743200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6207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바로잡다(正)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탐구 방향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310128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42900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밖 → 안 (대상 → 마음)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310128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429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안 → 밖 (마음 → 세상)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77056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95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877056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99592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천하 사물의 이치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877056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959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마음의 부정(不正)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43984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5628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방법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4443984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56285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독서·관찰·추론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443984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5628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치양지(致良知)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10912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주된 영역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5010912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512978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학문·과학적 탐구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010912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1297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내면 수양·실천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7784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6967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영향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88920" y="5577840"/>
            <a:ext cx="3611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569671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조선 주류 (퇴계·율곡)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5577840"/>
            <a:ext cx="5303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69671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조선 일부 (정제두 등)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格物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주희의 보망장(補亡章) — 활연관통(豁然貫通)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"내 앎을 이루려 하면 사물에 나아가 그 이치를 궁구하는 데 있다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…오래도록 힘을 쓰다가 하루아침에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3600" b="1">
                <a:solidFill>
                  <a:srgbClr val="8B1A1A"/>
                </a:solidFill>
                <a:latin typeface="맑은 고딕"/>
              </a:rPr>
              <a:t>豁 然 貫 通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활연관통 — 활짝 통하다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모든 사물의 겉과 속이 이르지 않는 바가 없고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내 마음의 전체와 큰 작용이 밝지 않은 바가 없게 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현대적 의미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반복된 탐구가 어느 순간 질적 도약을 일으키는 학습의 구조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= 오늘의 "aha moment"·"insight" 이론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致知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致知 — 앎을 극진히 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"격물과 치지는 동전의 양면"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격물(格物) = 대상에 다가가는 노력</a:t>
            </a:r>
          </a:p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치지(致知) = 나의 앎이 극진해지는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88136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과학과의 만남 — "격물(格物)"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19세기 일본의 니시 아마네는 "science"를 처음 번역할 때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"격물학(格物學)"이라 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조선 실학자(홍대용·박지원·정약용)도 격물의 대상을 확장 → 실사구시(實事求是)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致知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활연관통(豁然貫通)의 순간 — 학습의 질적 도약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豁 然 貫 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활연관통 — "활짝 통하다"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4297680"/>
            <a:ext cx="108813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332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주희: "오랜 격물이 쌓인 어느 날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불현듯 전체가 환히 꿰뚫리는 순간"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축적된 격물이 어느 순간 통합적 이해로 도약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"aha moment" · "사고의 임계점"의 동양적 정식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誠意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誠意 — 자기기만 없는 진심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所 謂 誠 其 意 者   毋 自 欺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소위성기의자 무자기야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전 6장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"이른바 뜻을 성실히 한다는 것은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스스로를 속이지 않는 것이다"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"如惡惡臭 如好好色" — 나쁜 냄새를 싫어하듯 하고, 아름다운 것을 좋아하듯 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여악악취 여호호색 — 감정과 행동이 일치하는 진정한 마음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誠意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毋自欺 — 가장 깊은 병, 자기기만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毋 自 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무자기 — "스스로를 속이지 말라"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"자기(自欺)는 남을 속이는 것보다 더 깊은 병"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악을 싫어한다면서도 실은 즐기는 마음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선을 좋아한다면서도 실은 귀찮아하는 마음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현대 — "authenticity(진정성)"의 가장 정밀한 동양적 정식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誠意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愼獨 — 혼자 있을 때를 삼가다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愼 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신독 — "홀로 있을 때를 삼가다"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남이 보지 않을 때의 나와 보는 때의 내가 같다면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뜻이 성실한 것이다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"사람이 자기를 보는 것이 폐와 간을 꿰뚫어 보는 것과 같으니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무엇이 유익하겠는가?"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正心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正心 — 마음의 4가지 치우침을 경계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"마음이 ~한 바가 있으면 그 바름(正)을 얻지 못한다"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忿 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08960"/>
            <a:ext cx="13716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319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분치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108960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3192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분노 · 노여움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10896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319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판단을 흐리는 격노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59352"/>
            <a:ext cx="18288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239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恐 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959352"/>
            <a:ext cx="13716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169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공구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959352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1696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두려움 · 불안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959352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169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결정을 막는 위축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18288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7433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好 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809744"/>
            <a:ext cx="13716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502005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809744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5020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좋아함 · 집착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4809744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5020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평정을 무너뜨리는 편애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60136"/>
            <a:ext cx="18288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2472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憂 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660136"/>
            <a:ext cx="13716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58704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우환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5660136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870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근심 · 걱정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5660136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58704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현재를 잠식하는 미래 불안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正心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心不在焉 — 마음이 없으면…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心 不 在 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심부재언 — "마음이 여기 없으면"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4114800"/>
            <a:ext cx="3657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336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視 而 不 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2336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시이불견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114800"/>
            <a:ext cx="50292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251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보아도 보이지 않는다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3657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聽 而 不 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80060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9194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청이불문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800600"/>
            <a:ext cx="50292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937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들어도 들리지 않는다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3657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052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食 而 不 知 其 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548640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5605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식이불지기미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5486400"/>
            <a:ext cx="50292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6235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먹어도 맛을 모른다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리더가 감정에 휘둘리면 팀 전체가 "보지 못하고 듣지 못한다"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正心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— 감정 조절(Emotional Regulation)의 고전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정심(正心) = 마음챙김(Mindfulness)의 동양적 원형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"분치·공구·호요·우환"의 4가지 치우침은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현대 뇌과학의 "편도체 과잉 활성"과 정확히 일치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응용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다니엘 골먼 "감성지능(EQ)" — 자기 인식·자기 관리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행동경제학 — 감정에 휩쓸린 의사결정의 오류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"분노했을 때 결정하지 말라"는 모든 리더십 원칙의 원조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修身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修身 — 다섯 가지 편벽(辟)을 뛰어넘어라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"사람은 ~ 하는 대상에 대해 편벽(辟)된다"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186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親愛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108960"/>
            <a:ext cx="1371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2461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친애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108960"/>
            <a:ext cx="41148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2461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사랑하는 대상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108960"/>
            <a:ext cx="40233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246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→ 결점을 보지 못함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044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賤惡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794760"/>
            <a:ext cx="1371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931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천오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794760"/>
            <a:ext cx="41148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931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천하게 여겨 미워하는 대상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794760"/>
            <a:ext cx="40233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9319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→ 장점을 보지 못함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56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902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畏敬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480560"/>
            <a:ext cx="1371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46177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외경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480560"/>
            <a:ext cx="41148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6177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두려워하며 공경하는 대상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4480560"/>
            <a:ext cx="40233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46177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→ 비판을 못 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6636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76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哀矜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5166360"/>
            <a:ext cx="1371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5303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애긍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166360"/>
            <a:ext cx="41148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53035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불쌍히 여기는 대상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5166360"/>
            <a:ext cx="40233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53035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→ 엄격함을 못 가짐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52160"/>
            <a:ext cx="13716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9618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敖惰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5852160"/>
            <a:ext cx="1371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11680" y="59893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오타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5852160"/>
            <a:ext cx="41148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5989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교만·게으름 부리는 대상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5852160"/>
            <a:ext cx="40233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59893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→ 존중을 못 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修身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愛而知其惡, 惡而知其美 — 수신의 경지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愛 而 知 其 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惡 而 知 其 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애이지기악 · 오이지기미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4805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"사랑하되 그의 결점을 알고,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미워하되 그의 장점을 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인지편향(confirmation bias) 극복 — 현대 360도 평가의 원형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修身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수신 — 팔조목 8개의 축(軸)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"수신(修身)이 모든 것의 근본"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팔조목 8개 중 가운데 자리인 "수신"이 대학의 축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앞 4조목(격물·치지·성의·정심) = 수신의 내적 준비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뒤 3조목(제가·치국·평천하) = 수신의 외적 확장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대학 전체가 결국 한 구절로 수렴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"自天子以至於庶人 壹是皆以修身爲本"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"천자로부터 서민까지 한결같이 수신을 근본으로 삼는다"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齊家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齊家 — 집은 곧 축소된 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其 家 不 可 敎   而 能 敎 人 者   無 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기가불가교 이능교인자 무지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전 9장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"자기 집도 가르치지 못하면서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남을 가르칠 수 있는 자는 없다"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리더십의 진정한 시험대는 "가정" — 가족에게 보이는 모습이 진짜 얼굴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齊家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효(孝)·제(悌)·자(慈) — 가정의 3덕은 사회의 연습장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孝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194560"/>
            <a:ext cx="1828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4688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346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효도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94560"/>
            <a:ext cx="77724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33172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所以事君 — 군주를 섬기는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가정에서의 孝 → 사회의 忠(충)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429000"/>
            <a:ext cx="1828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703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공경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429000"/>
            <a:ext cx="77724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56616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所以事長 — 윗사람을 섬기는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2336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가정에서의 悌 → 사회의 공경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79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663440"/>
            <a:ext cx="1828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93775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303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자애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663440"/>
            <a:ext cx="77724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480060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所以使衆 — 무리를 부리는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5780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가정에서의 慈 → 사회의 사랑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齊家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一家仁 一國興仁 — 한 집의 인이 한 나라의 인을 일으킨다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2004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一 家 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일가인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286000"/>
            <a:ext cx="7772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53288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一國興仁 — 한 나라가 어짊을 일으킨다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32004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一 家 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일가양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291840"/>
            <a:ext cx="7772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53872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一國興讓 — 한 나라가 사양을 일으킨다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2004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一 人 貪 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일인탐려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4297680"/>
            <a:ext cx="7772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54456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一國作亂 — 한 나라에 난이 일어난다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"한 사람·한 집의 행위가 한 나라의 운명을 결정한다"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요·순(仁)을 따랐고, 걸·주(暴)를 따랐다 — 조직 문화는 최상위 리더의 사적 행동에서 결정된다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治國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治國 — 제가(齊家)의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"所謂治國必先齊其家者…"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"나라를 다스리려면 반드시 먼저 집을 가지런히 하라"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"자기 집도 가르치지 못하면서 남을 가르칠 수 있는 자가 없기 때문이다"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"君子不出家而成敎於國"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"군자는 집 밖으로 나가지 않고도 나라에 교화를 이룬다"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治國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"교화는 언어가 아니라 삶으로 전해진다"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교화(敎化)는 말이 아니라 삶 자체로 이루어진다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정치 리더가 집안을 가지런히 하는 것이</a:t>
            </a:r>
          </a:p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이미 가장 강력한 정치 행위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리더십의 발견과 일치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변혁적 리더십(Transformational Leadership) — 행동으로의 모범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"Walk the talk" — 말한 대로 살아라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조직 문화는 CEO의 사적 행동에서 결정된다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平天下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平天下 — 혈구지도(絜矩之道)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絜 矩 之 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혈구지도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전 10장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605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"목수의 곱자(矩)로 재는 것처럼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자기를 기준 삼아 타인을 헤아리는 도(道)"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역지사지(易地思之)의 가장 정밀한 정식 — 6방향의 원칙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平天下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혈구지도의 6방향 — "내가 싫었던 것은 남에게 하지 말라"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011680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윗사람에게서 싫었던 것을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011680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488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아랫사람에게 시키지 말라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670048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8072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아랫사람에게서 싫었던 것으로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670048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80720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윗사람을 섬기지 말라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28415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7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328415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465575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앞사람에게서 싫었던 것으로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328415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465575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뒷사람을 인도하지 말라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86783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05655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3986783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1239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뒷사람에게서 싫었던 것으로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3986783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1239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앞사람을 따르지 말라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45151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64023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645151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47823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오른쪽에서 싫었던 것으로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4645151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7823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왼쪽에 건네지 말라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03519"/>
            <a:ext cx="77724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22391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5303519"/>
            <a:ext cx="512064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544067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왼쪽에서 싫었던 것으로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5303519"/>
            <a:ext cx="50749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440679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오른쪽에 건네지 말라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칸트의 정언명령 · 예수의 황금률 · 공자의 기소불욕(己所不欲)과 본질이 같다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平天下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德本財末 — 덕은 근본, 재물은 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德 者 本 也   財 者 末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덕자본야 · 재자말야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5661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"덕(德)은 근본이요, 재물(財)은 말단이다"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"仁者以財發身 不仁者以身發財"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"어진 자는 재물로 몸(사람)을 일으키고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어질지 못한 자는 몸(사람)을 희생해 재물을 일으킨다"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平天下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財聚則民散 — 재물을 모으면 백성이 흩어진다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財 聚 則 民 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財 散 則 民 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재취즉민산 · 재산즉민취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5262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"재물을 모으면 백성이 흩어지고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재물을 흩으면 백성이 모인다"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부의 재분배와 사회 안정의 2,400년 전 통찰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平天下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國不以利爲利 — 의(義)를 이(利)로 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國 不 以 利 爲 利   以 義 爲 利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국불이리위리 이의위리야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1F2A44"/>
                </a:solidFill>
                <a:latin typeface="맑은 고딕"/>
              </a:rPr>
              <a:t>"나라는 이(利)로써 이(利)를 삼지 않고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 의(義)로써 이(利)를 삼는다"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"장기 신뢰 자본이 단기 이익을 이긴다"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엔론·위워크·페이스북의 사례가 모두 "재물을 먼저 구하고 덕을 말단으로 본" 결과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大 學 之 道
在 明 明 德   在 親 民   在 止 於 至 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대학지도 · 재명명덕 재친민 재지어지선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대학의 도는 밝은 덕을 밝히고, 백성을 새롭게 하고, 지극한 선에 머무는 데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경 1장 (삼강령 선언)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8B1A1A"/>
                </a:solidFill>
                <a:latin typeface="맑은 고딕"/>
              </a:rPr>
              <a:t>知 止 而 后 有 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지지이후유정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머무를 곳을 안 뒤에 정해짐(定)이 있다 — 5단계 내면 심리학의 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경 1장 (지의 효능)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物 有 本 末   事 有 終 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물유본말 · 사유종시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사물에는 근본과 말단이, 일에는 시작과 끝이 있다 — 본말의 선언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경 1장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自 天 子 以 至 於 庶 人
壹 是 皆 以 修 身 爲 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자천자이지어서인 · 일시개이수신위본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천자로부터 서민에 이르기까지 모두 한결같이 수신을 근본으로 삼는다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경 1장 (결론)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苟 日 新   日 日 新   又 日 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구일신 일일신 우일신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진실로 하루가 새롭거든, 날로 새롭고, 또 날로 새로워라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전 2장 (탕왕의 반명)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所 謂 誠 其 意 者
毋 自 欺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소위성기의자 · 무자기야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뜻을 성실히 한다는 것은 스스로를 속이지 않는 것이다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전 6장 (성의)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8B1A1A"/>
                </a:solidFill>
                <a:latin typeface="맑은 고딕"/>
              </a:rPr>
              <a:t>絜 矩 之 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혈구지도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자기를 기준 삼아 타인을 헤아리는 도 — 6방향의 역지사지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전 10장 (평천하)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德 者 本 也   財 者 末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덕자본야 · 재자말야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덕은 근본이요, 재물은 말단이다 — 삶의 우선순위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전 10장 (평천하)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① ~ 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2860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4871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사람은 본래 빛나는 존재다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명명덕의 전제 — 교육은 빈 그릇 채움이 아니라 가려진 빛의 드러냄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6576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8587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지행(知行)은 하나의 과정이다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격물·치지(知) + 성의·정심·수신(行) = 끊을 수 없는 연속체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50292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2303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수신(修身)이 모든 것의 축이다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"自天子以至於庶人 壹是皆以修身爲本" — 대학의 결론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④ ~ 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46888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변화는 안에서 밖으로 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팔조목 순서는 예외 없음 — 내면 정돈 없이 외적 성과 추구는 "근본 버리고 말단 구하기"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02336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역지사지가 정치의 기본이다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혈구지도는 경영·정치·교육·가정 모든 영역의 기본값 — 6방향 원칙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⑥ ~ 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46888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재물은 말단이다 (德本財末)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재물을 목적으로 삼으면 사람을 잃는다 — 덕이 있어야 재물이 따른다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02336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"머물러야(止)" 얻는다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"知止 → 定 → 靜 → 安 → 慮 → 得" — 멈춤이 얻음의 어머니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통합된 삶의 지도 (Work-Life Integration)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현대인의 조각난 삶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직장의 자아 · 가정의 자아 · SNS의 자아 · 친구들 사이의 자아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서로 연결되지 않은 여러 자아를 돌아가며 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대학이 제시하는 반대의 그림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격물 → 치지 → 성의 → 정심 → 수신 → 제가 → 치국 → 평천하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내면과 외면, 공과 사, 일과 가정이 하나의 연속체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Work-Life Balance → Work-Life Integration의 동양적 원형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진정성(Authenticity)의 회복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현대사회의 가장 큰 병폐 — 자기기만(自欺)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SNS의 필터링된 이미지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성공의 대본을 따르는 행동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본심을 숨긴 사회생활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대학의 처방 — 성의(誠意)와 신독(愼獨)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"악을 싫어하되 나쁜 냄새처럼 하라"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"감정과 행동이 일치하는 삶"의 선언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진정성(authenticity)은 현대 리더십의 핵심 가치로 재발견되고 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혈구지도(絜矩) · 공감 능력의 정밀화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혈구지도는 단순한 "착하게 살자"가 아니다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구체적으로 "내가 윗사람에게 싫었던 것을 아랫사람에게 하지 말라"는 식으로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방향과 대상을 명시 — 가장 정밀한 공감의 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오늘의 적용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면접관은 자기가 면접자였을 때 싫었던 질문을 기억해야 한다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부모는 자기가 자식이었을 때 싫었던 말투를 기억해야 한다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리더는 자기가 부하였을 때 싫었던 지시 방식을 기억해야 한다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지지(知止) · 멈춤의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"어디에서 멈출 것인가"를 모르는 채 질주하는 시대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스마트폰의 무한 스크롤 → 눈의 "지(止)" 없음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24시간 접속 문화 → 마음의 "지(止)" 없음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끝없는 성장 신화 → 삶의 "지(止)"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지지(知止)는 무기력한 포기가 아니다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"지극한 선"이라는 목표를 알기에 가능한 능동적 머묾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= 현대 마음챙김(Mindfulness)·Flow 이론의 동양적 원형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덕본재말(德本財末)과 ESG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"덕은 근본, 재물은 말단"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덕이 있는 사람에게 재물이 따를 수는 있으나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재물을 뒤쫓다가 덕을 잃으면 결국 재물까지 잃는다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경영 — 덕본재말의 재발견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"장기 신뢰 자본이 단기 이익을 이긴다"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ESG(환경·사회·지배구조) 경영의 동양적 원조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페이스북·엔론·위워크의 실패 = "재물을 먼저 구하고 덕을 말단으로"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사서(四書) 비교 — 대학의 위치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서명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주희의 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03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분량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011680"/>
            <a:ext cx="4297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103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특징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157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대학(大學)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51460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715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規模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51460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715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약 1,700자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514600"/>
            <a:ext cx="42976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715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1A1A"/>
                </a:solidFill>
                <a:latin typeface="맑은 고딕"/>
              </a:rPr>
              <a:t>체계의 뼈대 — 입덕지문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930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논어(論語)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29184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4930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根本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29184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4930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약 16,000자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3291840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4930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인(仁)의 단편적 가르침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69080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702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맹자(孟子)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069080"/>
            <a:ext cx="2286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2702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發揮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069080"/>
            <a:ext cx="2286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2702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약 35,000자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4069080"/>
            <a:ext cx="42976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2702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왕성한 논변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46320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47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중용(中庸)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484632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5047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微妙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4846320"/>
            <a:ext cx="2286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047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약 3,500자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4846320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50474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형이상학·중도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대학이 사서 중 가장 짧지만 전체의 틀(規模)을 잡는 입문서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대학과 현대 자기계발 도서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스티븐 코비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성공하는 사람들의 7가지 습관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03120"/>
            <a:ext cx="87782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12848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사적 영역(1~3) → 공적 영역(4~6) → 쇄신(7)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39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= 팔조목의 안→밖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82111"/>
            <a:ext cx="228600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3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짐 콜린스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좋은 기업을 넘어 위대한 기업으로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182111"/>
            <a:ext cx="87782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291839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"5단계 리더십" — 겸손(謙) + 직업적 의지(志)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685031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= 성의·정심·수신의 현대판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61103"/>
            <a:ext cx="228600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다니엘 골먼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1830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감성지능(EQ)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261103"/>
            <a:ext cx="87782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370831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자기 인식·자기 관리·공감·관계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764023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= 정심·수신·혈구·제가의 재명명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0095"/>
            <a:ext cx="228600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9823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칼 로저스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97295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인간중심 상담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340095"/>
            <a:ext cx="87782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5449823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"진정성(congruence)·무조건적 긍정"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43015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= 성의·명명덕의 심리학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77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장으로 보는 대학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삼강령 (三綱領) =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明明德 → 親民(新民) → 止於至善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팔조목 (八條目) =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格物 → 致知 → 誠意 → 正心 → 修身 → 齊家 → 治國 → 平天下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결론 한 문장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2000" b="1">
                <a:solidFill>
                  <a:srgbClr val="1F2A44"/>
                </a:solidFill>
                <a:latin typeface="맑은 고딕"/>
              </a:rPr>
              <a:t>"自天子以至於庶人 壹是皆以修身爲本"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"천자로부터 서민까지 모두 수신이 근본"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78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대학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"당신의 덕은 이미 당신 안에 있다(明明德)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 그것을 가린 먼지를 매일 닦고(修身)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 당신이 선 자리에서 지극한 선에 머물러라(止於至善)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 그러면 당신의 변화가 가족과 조직과 세상을 새롭게 할 것이다(新民)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100" b="1">
                <a:solidFill>
                  <a:srgbClr val="1F2A44"/>
                </a:solidFill>
                <a:latin typeface="맑은 고딕"/>
              </a:rPr>
              <a:t> 그 순서를 거스르지 말라"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— 2,400년 전의 책이지만 항상 현재형으로 답한다 —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79 / 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대학이 당신에게 건네는 한 문장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4206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대학은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"지금 내가 어디에 서 있는가"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를 물을 때마다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900" b="1">
                <a:solidFill>
                  <a:srgbClr val="1F2A44"/>
                </a:solidFill>
                <a:latin typeface="맑은 고딕"/>
              </a:rPr>
              <a:t>항상 현재형으로 답한다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어디로 가는지가 아니라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지금 어디에 머무를지를 묻는 책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400"/>
              </a:spcBef>
            </a:pPr>
            <a:r>
              <a:rPr sz="1800" b="1">
                <a:solidFill>
                  <a:srgbClr val="556070"/>
                </a:solidFill>
                <a:latin typeface="맑은 고딕"/>
              </a:rPr>
              <a:t>— 멈춤(止)이 곧 얻음(得)의 어머니 —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止 於 至 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지 어 지 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"지극한 선에 머물러라"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당신이 선 자리에서 — 군주는 仁에, 부모는 慈에, 벗은 信에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경 1장 · 대학의 첫 선언과 마지막 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