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동아시아 가훈서의 시조 · 4왕조를 살아낸 안지추의 절실한 증언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1F2A44"/>
                </a:solidFill>
                <a:latin typeface="Batang"/>
              </a:rPr>
              <a:t>顔 氏 家 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0">
                <a:solidFill>
                  <a:srgbClr val="8B1A1A"/>
                </a:solidFill>
                <a:latin typeface="맑은 고딕"/>
              </a:rPr>
              <a:t>안 씨 가 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466344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Batang"/>
              </a:rPr>
              <a:t>不 教 而 愛   非 愛 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사랑한다고 해서 가르치지 않는 것은 — 사랑이 아니다 — 교자편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안지추(顔之推, 531~591경) · 수(隋) 개황 연간 · 7권 20편 · 1,400년 가훈서의 모범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안씨가훈은 어떤 책인가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저자 안지추 — 격동기의 산증인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편찬 동기와 시대 배경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7권 20편의 5단계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핵심 편 12 깊이 읽기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책 전체를 관통하는 5대 사상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Ⅶ.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명구 12선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Ⅷ.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한국과 동아시아 수용사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오늘 다시 펼치는 이유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한눈에 보는 안씨가훈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동아시아 가훈서의 시조 — 古今家訓之祖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서명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顔氏家訓 — 안씨 가문의 가르침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8892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저자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78892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안지추(顔之推, 531~591경) — 4왕조를 섬긴 학자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4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편찬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29184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수(隋) 개황 연간(581~600년경), 6세기 말 완성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9476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분량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79476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7권 20편 — 가정·교육·학문·처세·종교·죽음까지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9768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성격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29768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체험에서 우러난 절실한 증언 — 추상이 아닌 사례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0060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0060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위상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80060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古今家訓之祖 — 1,400년 가훈서의 시조이자 정점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03520"/>
            <a:ext cx="16459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정신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303520"/>
            <a:ext cx="9418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실용 합리주의 + 유·불·도 균형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「가훈(家訓)」이라는 단어 자체의 출처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안씨가훈이 만든 보통명사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오늘 우리가 쓰는 「**가훈**」이라는 단어 — 이 책에서 시작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이 책 이전에도 자식에게 남긴 글은 있었으나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20편 7권으로 체계화된 본격 가훈서는 — 이 책이 처음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명·청대 학자들의 일치된 평가 — 「**古今家訓之祖**」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고금 가훈의 비조(鼻祖) — 모든 후대 가훈서의 모범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한국 율곡의 「**격몽요결**」, 정약용의 「**가계(家誡)**」도 영향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1,400년 동안 — 동아시아 가훈서의 표준 형식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안씨가훈의 정수 — 한 마디로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천하를 가르치려는 책이 아니라 — 내 자손에게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내가 이 책을 짓는 것은 세상을 바로잡기 위함이 아니다.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다만 내 집안을 가지런히 하고,</a:t>
            </a:r>
          </a:p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자손들을 이끌고자 함이다.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— 서치편(序致篇)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● 천하를 가르치는 거대한 책이 아니라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내 자손에게 절실하게 말하는 책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이 절실함이 — 1,400년 사랑받은 비결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「**진정한 보편은 — 절실한 개별에서 나온다**」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저자 안지추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안지추(顔之推, 531~591경)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4왕조를 섬긴 격동기의 산증인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13716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531년경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286000"/>
            <a:ext cx="9601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남조 양(梁) 강릉(江陵, 호북성)에서 출생 — 명문 안씨 가문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61488"/>
            <a:ext cx="13716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6148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552년경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761488"/>
            <a:ext cx="9601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양 원제(元帝)의 막료로 출사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36976"/>
            <a:ext cx="13716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3697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554년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236976"/>
            <a:ext cx="9601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서위(西魏)가 강릉 함락 — 양 원제 살해 — 망국 체험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12464"/>
            <a:ext cx="13716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12464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555년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712464"/>
            <a:ext cx="9601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북주(北周)에 포로처럼 끌려감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87952"/>
            <a:ext cx="13716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87952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556년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187952"/>
            <a:ext cx="9601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북제(北齊)로 망명 — 황문시랑 등 요직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63440"/>
            <a:ext cx="13716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6344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577년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663440"/>
            <a:ext cx="9601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북제 멸망 — 북주에 귀속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138928"/>
            <a:ext cx="13716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38928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581년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138928"/>
            <a:ext cx="9601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수(隋) 건국 — 4번째 왕조를 섬김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614416"/>
            <a:ext cx="1371600" cy="38404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614416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591년경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614416"/>
            <a:ext cx="9601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수에서 학사(學士)로 활동하다 사망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저자 안지추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4왕조를 섬긴 한 인간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양 → 북제 → 북주 → 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자기 의지가 아닌 — 격동의 시대의 운명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직접 겪은 일들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고향 강릉의 함락과 약탈(554)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포로로 북방에 끌려가는 굴욕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남방 한족과 북방 호족 문화 충돌을 양쪽에서 모두 경험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남조 귀족 사회의 타락과 북조의 거친 풍토를 비교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이 모든 격동의 체험이 안씨가훈의 모든 줄에 배어 있음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600" b="0">
                <a:solidFill>
                  <a:srgbClr val="8B1A1A"/>
                </a:solidFill>
                <a:latin typeface="맑은 고딕"/>
              </a:rPr>
              <a:t>● 추상이 아니라 — 살아 있는 증언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저자 안지추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안지추의 사상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유가 토대 + 불교 신앙 + 도가 비판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유가(儒家)를 근본으로 — 가정 윤리·정치·교육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불교(佛敎)를 깊이 신앙 — 「귀심편(歸心篇)」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6조시대 사대부의 전형 — 「유교는 살아 있는 동안의 도리, 불교는 영혼의 평안」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도가의 현묘한 청담(淸談)·황로술 비판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양생은 받아들이되 — 신선술에 빠지지는 말라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「**실용적 합리주의**」 — 빈말이 아닌 실제로 도움 되는 가르침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편찬 동기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왜 이 책을 썼는가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서치편(序致篇)이 밝히는 동기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격동기에 가문이 흩어지면 가르침이 끊긴다 — 입에서 입으로 전하기 어렵다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자기 평생의 시행착오를 — 자손이 반복하지 않도록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양 귀족 사회의 타락을 직접 보았기에 — 자손이 같은 길을 안 가게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사대부의 가풍이 흔들리는 시대에 — 전통의 핵심을 압축해 남김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「**천하를 가르치는 책이 아니라, 내 자손에게 절실히 말하는 책**」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20편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7권 20편의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요람에서 무덤까지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2560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1단계 (1~5)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8412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가정 윤리 — 서치·교자·형제·후취·치가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17520"/>
            <a:ext cx="2560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2단계 (6~7)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017520"/>
            <a:ext cx="8412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사회 진출 — 풍조·모현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57600"/>
            <a:ext cx="2560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3단계 (8~11)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657600"/>
            <a:ext cx="8412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학문과 직업 — 면학·문장·명실·섭무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97679"/>
            <a:ext cx="2560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97679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4단계 (12~16)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297679"/>
            <a:ext cx="8412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처세와 양생 — 성사·지족·계병·양생·귀심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937760"/>
            <a:ext cx="256032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5단계 (17~20)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937760"/>
            <a:ext cx="8412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학문 심화와 죽음 — 서증·음사·잡예·종제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한 인간의 전 생애를 망라하는 구조 — from cradle to grave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20편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20편 한 폭으로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각 편의 핵심 주제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1. 서치(序致) — 저술 동기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786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2. 교자(敎子) — 자식 교육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6265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3. 형제(兄弟) — 형제 우애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4670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4. 후취(後娶) — 재혼·계모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307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5. 치가(治家) — 가정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6. 풍조(風操) — 예절·관습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9884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7. 모현(慕賢) — 어진 이를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828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8. 면학(勉學) — 학문 (백미)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6694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9. 문장(文章) — 글쓰기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5099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10. 명실(名實) — 명성과 실질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11. 섭무(涉務) — 실무 능력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786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12. 성사(省事) — 일을 줄임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6265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13. 지족(止足) — 만족할 줄 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4670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14. 계병(誡兵) — 무력 경계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307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15. 양생(養生) — 건강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114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16. 귀심(歸心) — 불교 신앙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9884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17. 서증(書證) — 고증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828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18. 음사(音辭) — 음운학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26694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19. 잡예(雜藝) — 다양한 기예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65099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20. 종제(終制) — 죽음·장례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편 12 깊이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1/12 — 교자편(敎子篇) — 자식 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안지추의 절실한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不 教 而 愛   非 愛 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사랑한다고 해서 가르치지 않는 것은 — 사랑이 아니다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교육은 태어날 때부터(태교) — 어렸을 때 사랑하면서도 위엄을 잃지 말 것. 친애(親愛)와 엄숙(嚴肅)의 균형. 너무 사랑해서 잘못을 못 보고 넘기면 자식을 망친다.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편 12 깊이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2/12 — 형제편(兄弟篇) — 형제 우애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안지추의 절실한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兄 弟 者   父 母 之 遺 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형제는 — 부모가 남긴 같은 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부모는 한 분, 형제는 부모가 남긴 같은 핏줄. 부모 사후에는 형제가 곧 부모의 연장. 형제 사이가 무너지면 가문이 무너진다.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편 12 깊이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3/12 — 치가편(治家篇) — 가정 운영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안지추의 절실한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儉 而 不 嗇   而 亦 不 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검소하되 인색하지 않고, 그렇다고 사치하지도 않는다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가정의 근본은 검소(儉素). 너무 인색해도 안 되고 사치해도 안 됨 — 중도(中道). 노복(奴僕)을 다루는 법 — 인간적 존엄을 잊지 말 것.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편 12 깊이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4/12 — 풍조편(風操篇) — 예절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안지추의 절실한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禮 之 大 體   出 入 應 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예의 큰 체(體)는 — 들고 남과 응대에 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남북의 다른 풍습 비교 — 안지추가 양쪽을 다 살았기에 가능. 휘(諱)의 예법, 결혼·상장의 예절. 「예절은 작은 것 같지만 인격의 외피」.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편 12 깊이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5/12 — 모현편(慕賢篇) — 어진 이를 본받음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안지추의 절실한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見 賢 而 慕   人 之 大 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어진 이를 보고 흠모하는 것이 사람의 큰 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가까이 있는 사람은 평범해 보여도 — 시간이 지나면 그 가치가 드러남. 어진 이를 만나면 반드시 본받으라. 비방하는 말을 함부로 듣지 말라 — 시기심에서 나오는 경우가 많다.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편 12 깊이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6/12 — 면학편(勉學篇) — 학문 (이 책의 백미)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안지추의 절실한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人 生 在 世   會 當 有 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사람이 세상에 났다면 — 마땅히 학업이 있어야 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학문하지 않은 자의 비참한 말로(末路). 격동기에 학문은 유일하게 빼앗기지 않는 자산. 「**늙어서라도 학문을 시작하라 — 어두운 밤에 등불을 든 것 같다**」. 학문은 위인지학(爲人之學)이 아닌 위기지학(爲己之學).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편 12 깊이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7/12 — 문장편(文章篇) — 글쓰기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안지추의 절실한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文 章 當 以 理 致 為 心 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글은 — 이치의 도달을 심장과 콩팥으로 삼아야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화려한 수사보다 내실(內實)이 중요. 옛사람의 좋은 문장을 익혀 자기 것으로. 「**글은 그 사람이다 — 글쓰기는 인격 수양의 일부**」.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편 12 깊이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8/12 — 명실편(名實篇) — 명성과 실질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안지추의 절실한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名 之 與 實   猶 形 之 與 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명성과 실질은 — 형체와 그림자와 같다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명성을 좇지 말라 — 명성은 결과로 따라오는 것. 헛된 평판에 휘둘리는 자의 어리석음. 진짜 실력을 갖춘 자는 명성을 따라가지 않아도 따라온다. 「**명(名)은 실(實)의 그림자**」.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편 12 깊이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9/12 — 섭무편(涉務篇) — 실무 능력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안지추의 절실한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士 君 子   不 可 不 涉 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사군자(士君子)는 — 실무에 관여하지 않을 수 없다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책상물림 학자가 아니라 실제 일을 처리할 줄 아는 사람이 되라. 6조 사대부들이 청담에 빠져 실무를 모른다고 비판. 농사·의술·법률·산수 등 실용 학문의 가치. 「**고담만 하고 일을 못하면 위기 때 한 치도 못 움직인다**」.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편 12 깊이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10/12 — 지족편(止足篇) — 만족할 줄 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안지추의 절실한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少 欲 知 足   是 名 富 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욕심을 적게 하고 만족할 줄 앎 — 이것이 부귀의 이름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욕심에는 끝이 없다 — 욕심이 곧 화의 근원. 자기 분수를 알고 만족하면 위태롭지 않다. 노자의 「**지족불욕(知足不辱)**」과 공명. 「**만족은 가장 큰 부유함**」.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편 12 깊이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11/12 — 귀심편(歸心篇) — 불교 신앙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안지추의 절실한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佛 家 之 教   亦 是 善 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불가의 가르침도 — 선한 도이다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안지추 자신의 불교 신앙 고백. 인과응보·윤회의 가르침. 유교만으로 설명되지 않는 인생의 깊은 차원에 대한 답을 불교에서. 6조 사대부의 종교 의식의 전형. 「**유교는 살아 있는 동안의 도리, 불교는 영혼의 평안**」.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핵심 편 12 깊이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12/12 — 종제편(終制篇) — 죽음과 장례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안지추의 절실한 한 마디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吾 死 之 後   葬 以 葦 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내가 죽은 후에 — 갈자리로 장사 지내라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자신의 유언과 장례 지침 — 검소한 장례를 명시. 화려한 묘·후한 부장품 거부. 죽음을 자연스럽게 받아들이는 자세. 「**죽음 또한 가르침이다 — 검소하고 담담하게**」.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5대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1 — 체험에서 우러난 절실함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추상이 아닌 사례의 가르침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모든 가르침이 — 안지추 자신이 직접 보고 겪고 깨달은 것에서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추상적 도덕 강의가 아니라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「**내가 이런 사람을 보았는데 그 결과는 이러했다**」 — 구체적 사례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8B1A1A"/>
                </a:solidFill>
                <a:latin typeface="맑은 고딕"/>
              </a:rPr>
              <a:t>● 1,400년 동안 사랑받은 비결 — 절실함의 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5대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2 — 유·불·도의 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6세기 사대부 정신의 종합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유교를 근본으로 — 윤리·정치·교육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불교의 인과응보·내세관으로 — 죽음과 영혼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도가의 양생술은 부분적 수용하되 — 황로술·신선술은 비판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「**유교는 살아 있는 동안, 불교는 영혼의 평안, 도가는 신체 보양**」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5대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3 — 가정에서 시작해 가정으로 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인생은 결국 한 가정의 이야기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첫 편(서치) — 자기 가문의 내력으로 시작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마지막 편(종제) — 자기 장례를 명시하며 끝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모든 인생이 — 한 가정에서 출발해 한 가정으로 돌아간다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책의 형식 자체가 — 그 진리를 보여준다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5대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4 — 격동기의 생존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4왕조의 격변에서 살아남는 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표면은 가훈서 — 본질은 격동기 생존 매뉴얼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무엇을 배우고(면학)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무엇을 줄이고(성사)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무엇에 만족하고(지족)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무엇을 피하라(계병)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안지추가 격변 속에서 살아남으며 깨달은 모든 것의 압축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5대 사상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사상 5 — 중도(中道)와 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모든 분야에서 양극단을 피하라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너무 사랑하지도, 너무 엄하지도 말라 (교자)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너무 인색하지도, 사치하지도 말라 (치가)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양생을 하되 신선술에 빠지지 말라 (양생)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학문을 하되 청담에 빠지지 말라 (섭무)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「**모든 분야에서 — 양극단의 어느 쪽으로도 기울지 말라**」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1/12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안씨가훈 — 한 마디의 절실함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不 教 而 愛   非 愛 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가르치지 않고 사랑하는 것 — 사랑이 아니다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교자편. 자식을 망치는 사랑 — 잘못을 못 보고 넘기는 것은 자식을 죽이는 것.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2/12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안씨가훈 — 한 마디의 절실함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幼 而 學 者   如 日 出 之 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어려서 배운 자는 — 해 뜨는 빛과 같다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면학편. 어린 시절의 학문이 — 평생을 비추는 빛.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3/12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안씨가훈 — 한 마디의 절실함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老 而 學 者   如 秉 燭 夜 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늙어서 배운 자도 — 어두운 밤에 등불을 들고 가는 것과 같다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면학편. 학문에 늦은 때는 없다 — 평생 학습의 정수.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4/12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안씨가훈 — 한 마디의 절실함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少 欲 知 足   是 名 富 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욕심을 적게 하고 만족할 줄 앎 — 이것이 부귀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지족편. 노자 「지족불욕」과 공명. 만족이 곧 부유함.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5/12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안씨가훈 — 한 마디의 절실함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名 之 與 實   猶 形 之 與 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명성과 실질은 — 형체와 그림자와 같다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명실편. 명성은 결과로 따라온다 — 그림자를 좇지 말라.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6/12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안씨가훈 — 한 마디의 절실함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兄 弟 者   父 母 之 遺 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형제는 — 부모가 남긴 같은 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형제편. 부모 사후 형제는 곧 부모의 연장 — 우애의 정수.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7/12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안씨가훈 — 한 마디의 절실함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一 家 之 親   生 於 父 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한 집안의 친애 — 부모에게서 생긴다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서치편. 모든 친애의 출발은 부모.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8/12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안씨가훈 — 한 마디의 절실함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婚 姻 之 道   合 二 姓 之 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혼인의 도 — 두 성씨의 우호를 합한다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풍조편. 혼인은 개인이 아닌 가문의 결합.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9/12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안씨가훈 — 한 마디의 절실함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人 生 在 世   會 當 有 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사람이 세상에 났다면 — 마땅히 학업이 있어야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면학편. 격동기에 학문은 유일하게 빼앗기지 않는 자산.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10/12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안씨가훈 — 한 마디의 절실함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安 危 在 出 令   存 亡 在 所 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안위는 명령을 내림에 있고, 존망은 맡기는 데 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치가편·섭무편 통합 정신. 위정자의 책임.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11/12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안씨가훈 — 한 마디의 절실함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禮 為 教 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예(禮)는 교육의 근본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풍조편. 예가 작아 보여도 인격의 외피 — 작은 예의에서 큰 도리.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12선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명구 12/12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안씨가훈 — 한 마디의 절실함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吾 死 之 後   葬 以 葦 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내가 죽은 후에 — 갈자리로 장사 지내라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607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종제편. 검소한 장례 — 죽음 또한 가르침이다.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한국·동아시아 수용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한국에서의 수용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율곡 격몽요결·정약용 가계의 모범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고려·조선 사대부의 가훈 작성 모범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율곡 이이의 『**격몽요결(擊蒙要訣)**』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어린이 교육서 — 안씨가훈의 정신을 한국적으로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정약용의 『**가계(家誡)**』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유배지에서 자식들에게 보낸 편지 — 가훈서의 한국적 정점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조선 사대부 가문의 가훈·가법(家法) 문화의 원천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한국·동아시아 수용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학술적 가치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단순한 가훈서를 넘어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6조시대의 거의 유일한 1차 사료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정사(正史)로 보충 불가능한 사대부 일상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음운학·문헌학의 초기 보고 (서증·음사편)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중국 음운학의 초기 자료로 학술적 가치 큼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6조 불교의 사대부 수용 양상 자료 (귀심편)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일본·베트남에서도 사대부 교양서로 정착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오늘 다시 펼치는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 — 학문이 가장 마지막에 남는다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면학편의 영원한 가르침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부귀·권력·재산은 — 한순간에 사라질 수 있다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그러나 자기 안에 쌓은 학문과 인격은 — 누구도 빼앗아 갈 수 없다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격동기일수록 — 이 진실은 더 분명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8B1A1A"/>
                </a:solidFill>
                <a:latin typeface="맑은 고딕"/>
              </a:rPr>
              <a:t>● 오늘 — 「**평생 학습**」이 가장 깊은 보험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오늘 다시 펼치는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2 — 평범한 가르침이 가장 깊다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거창함 없이 정직한 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안씨가훈에는 거창한 형이상학이 없다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자식 잘 가르치는 법 · 형제 사이 잘 지내는 법 · 글 잘 쓰는 법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누구나 평생 부딪히는 일들에 대한 — 정직한 답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8B1A1A"/>
                </a:solidFill>
                <a:latin typeface="맑은 고딕"/>
              </a:rPr>
              <a:t>● 그래서 어떤 시대 어떤 사람에게도 — 살아 있다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오늘 다시 펼치는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3 — 내 오늘 하루가 가문의 운명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책임감의 정수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서치편(인생 시작)에서 종제편(죽음)까지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한 사람의 인생이 — 결국 자기가 속한 가문의 한 챕터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나의 행위는 — 내 자손에게 이어진다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「**나의 오늘 하루가 — 가문의 운명을 결정한다**」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가장 깊은 책임감 — 4왕조를 살아낸 안지추의 깊은 자각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46 / 47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안씨가훈이 일러주는 7가지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폭으로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가르치지 않고 사랑하는 것은 사랑이 아니다 — 不教而愛 非愛也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346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늙어서라도 학문을 시작하라 — 老而學者 如秉燭夜行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832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욕심을 적게 하고 만족하라 — 少欲知足 是名富貴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319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명성을 좇지 말고 실질을 닦으라 — 名實之分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4805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실무 능력을 갖춰라 — 청담만 하지 말라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292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029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모든 분야에서 중도(中道) — 양극단을 피하라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7784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577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F2A44"/>
                </a:solidFill>
                <a:latin typeface="맑은 고딕"/>
              </a:rPr>
              <a:t>검소함은 죽음에도 — 葬以葦席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안씨가훈 — 4왕조를 살아낸 자가 자손에게 절실히 남긴 20편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0" b="1">
                <a:solidFill>
                  <a:srgbClr val="1F2A44"/>
                </a:solidFill>
                <a:latin typeface="Batang"/>
              </a:rPr>
              <a:t>不 教 而 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8B1A1A"/>
                </a:solidFill>
                <a:latin typeface="맑은 고딕"/>
              </a:rPr>
              <a:t>가르치지 않고 사랑하는 것은 — 사랑이 아니다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530352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체험에서 우러난 절실한 가르침 — 1,400년 가훈서의 시조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