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200" b="1">
                <a:solidFill>
                  <a:srgbClr val="1F2A44"/>
                </a:solidFill>
                <a:latin typeface="맑은 고딕"/>
              </a:rPr>
              <a:t>貞 觀 政 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8B1A1A"/>
                </a:solidFill>
                <a:latin typeface="맑은 고딕"/>
              </a:rPr>
              <a:t>Essentials of Government in the Zhenguan Era · 정관정요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393192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오긍(吳兢) 편 — 당 태종 정관 23년의 정치 문답집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8세기 초 편찬 · 10권 40편 약 460장 · 동아시아 제왕학(帝王學)의 절대 표준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"君者舟也, 庶人者水也. 水則載舟, 水則覆舟"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— 임금은 배요, 백성은 물 · 물은 배를 띄우기도 뒤집기도 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71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개요 — 정관정요란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시대 배경 — 수의 멸망과 현무문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인물 — 당 태종과 정관의 군신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43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구성 — 10권 40편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004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군도(君道) — 군주의 도리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657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정체(政體) — 정치의 근본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14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간쟁(諫諍) — 간언의 정치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72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三鏡 — 세 거울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292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029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군신(君臣)의 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864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임현(任賢) — 인재 등용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436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943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민본(民本) — 백성이 근본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3716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1371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권5 — 5대 핵심 덕목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828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1828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권6 — 9대 자기 점검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2860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2286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문화·민생 정책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7432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743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군사·외교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2004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2004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신종(愼終) — 끝을 삼가라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6576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657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명구절 10선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114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114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후대의 수용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5720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572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다른 고전과의 비교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0292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5029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정관정요(貞觀政要)란 무엇인가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당 태종(唐太宗) 이세민의 정관(貞觀) 연간 정치를 정리한 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"정관(貞觀)"은 태종의 연호 (627~649) — 곧 "정관 시대의 정치 요체"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>
                <a:solidFill>
                  <a:srgbClr val="8B1A1A"/>
                </a:solidFill>
                <a:latin typeface="맑은 고딕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권(卷)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>
                <a:solidFill>
                  <a:srgbClr val="8B1A1A"/>
                </a:solidFill>
                <a:latin typeface="맑은 고딕"/>
              </a:rPr>
              <a:t>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47091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편(篇)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>
                <a:solidFill>
                  <a:srgbClr val="8B1A1A"/>
                </a:solidFill>
                <a:latin typeface="맑은 고딕"/>
              </a:rPr>
              <a:t>약 460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47091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장(章)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399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>
                <a:solidFill>
                  <a:srgbClr val="8B1A1A"/>
                </a:solidFill>
                <a:latin typeface="맑은 고딕"/>
              </a:rPr>
              <a:t>1,300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399" y="47091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년 영향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동아시아 제왕학(帝王學)의 절대 표준 — 한국·중국·일본·베트남 군주의 필독서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편년체(編年體)가 아니라 주제별 — 현대 경영 핸드북의 원조 구조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책의 위상 — 핵심 정보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6040" y="196596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3055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서명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011679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정관정요(貞觀政要)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391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"정관 시대의 정치 요체"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39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2606039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706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정관(貞觀)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51759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당 태종 이세민의 연호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79191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627~649년, 23년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4612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40" y="324612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1071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편자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291839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오긍(吳兢, 670?~749)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1927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당 현종(玄宗) 때의 사관(史官)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06040" y="3886200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050791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편찬 시기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9319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8세기 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5935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태종 사후 약 60~70년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2628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06040" y="452628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690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분량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5720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10권 40편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59943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약 460장의 일화·문답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6636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06040" y="5166360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33095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성격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52120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동아시아 제왕학의 절대 표준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395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주제별 편찬 → 사례집 형식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80644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06040" y="580644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9710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영향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58521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1,300년 군주의 필독서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87959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한국·중국·일본·베트남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왜 동양 제왕학의 최고봉인가 — 네 가지 독특성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82296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011680"/>
            <a:ext cx="246888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2860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실재 명군의 기록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011680"/>
            <a:ext cx="7498079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130552"/>
            <a:ext cx="7315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요·순·우 같은 신화적 성왕이 아니라
실제로 재위한 당 태종(627~649)의 통치 그대로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82296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3108960"/>
            <a:ext cx="246888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3832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실패도 함께 기록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108960"/>
            <a:ext cx="7498079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227832"/>
            <a:ext cx="7315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고구려 원정 실패·태자 폐위·후반 흔들림까지
숨기지 않는 "흔들리며 배운 군주"의 드라마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82296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805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4206240"/>
            <a:ext cx="246888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48056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쿠데타 군주의 속죄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4206240"/>
            <a:ext cx="7498079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4325112"/>
            <a:ext cx="7315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현무문의 변으로 형제를 죽이고 즉위 →
수 양제의 멸망을 반면교사로 삼은 자기 교정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03520"/>
            <a:ext cx="82296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5778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5303520"/>
            <a:ext cx="246888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55778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주제별 사례집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5303520"/>
            <a:ext cx="7498079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5422392"/>
            <a:ext cx="7315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편년이 아닌 덕목·정책·병폐별 분류 →
오늘의 경영 핸드북과 같은 실용 구조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편자 오긍(吳兢, 670?~749)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— 당 현종 때의 사관(史官)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신분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측천무후 시기부터 활동한 사관 — 황실 일거수일투족의 기록자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작업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정관 23년의 실록·기거주(起居注)·군신 대화록을 오랜 세월에 걸쳐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  편년이 아닌 "주제별"로 재분류·편집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편찬 목적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당 현종(재위 712~756)을 위시한 후대 군주가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"정관의 치세"를 본받게 하려는 진헌(進獻)의 책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역사적 평가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사관으로서의 정직 — 태종의 실패까지 그대로 기록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편찬 목적과 역설(逆說)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088136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3055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오긍의 의도 — "후대 군주에게 정관의 모범을 본받게 하자"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1088136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1F2A44"/>
                </a:solidFill>
                <a:latin typeface="맑은 고딕"/>
              </a:rPr>
              <a:t>그러나 이 책을 가장 먼저 받은 현종(玄宗) 자신이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후반기에 초심을 잃고 안사(安史)의 난(755~763)을 부르는 비극을 자초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0" y="466344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"끝을 삼가라(愼終如始)"는 책의 가장 큰 교훈을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책을 가장 먼저 받은 군주가 가장 먼저 어긴 역사의 아이러니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→ 이 역설이 오히려 "신종여시(愼終如始)" 메시지의 설득력을 강화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시대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수(隋)의 멸망 — 태종의 평생 반면교사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정관정요에서 가장 자주 언급되는 역사적 교훈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88136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581~604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4688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맑은 고딕"/>
              </a:rPr>
              <a:t>문제(文帝) 양견(楊堅)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• 검소·근면, 명군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01752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→ 중국 통일, 30년 안정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10881360" cy="14630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604~618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1148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맑은 고딕"/>
              </a:rPr>
              <a:t>양제(煬帝) 양광(楊廣)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• 사치·방종, 토목광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6634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→ 14년 만에 멸망 — 호위군에게 살해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정관정요의 숨은 구조 — "수서(隋書)에 대한 반서(反書)"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정관 시대의 안정은 수 양제의 반대를 모든 면에서 실행한 결과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시대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수 양제의 4대 악정(惡政)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— 태종이 반복적으로 환기한 반면교사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139" y="2103120"/>
            <a:ext cx="27432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139" y="2221991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1. 토목 광기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139" y="2788920"/>
            <a:ext cx="2743200" cy="2743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299" y="2971800"/>
            <a:ext cx="24688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낙양 동도 건설(5년·수십만 명)
대운하 건설(수백만 명·기아·사망)
강도(江都) 호화 행궁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3211" y="2103120"/>
            <a:ext cx="27432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3211" y="2221991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2. 고구려 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3211" y="2788920"/>
            <a:ext cx="2743200" cy="2743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0371" y="2971800"/>
            <a:ext cx="24688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612·613·614 세 차례
113만 대군 동원(당시 세계 최대)
모두 실패, 막대한 인명 손실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5283" y="2103120"/>
            <a:ext cx="27432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5283" y="2221991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3. 간언 무시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5283" y="2788920"/>
            <a:ext cx="2743200" cy="2743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2443" y="2971800"/>
            <a:ext cx="24688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충신 유의(劉毅) 처형
간신 우세기(虞世基)만 곁에 둠
비위 맞춤의 정치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17355" y="2103120"/>
            <a:ext cx="27432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7355" y="2221991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4. 멸망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17355" y="2788920"/>
            <a:ext cx="2743200" cy="2743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4515" y="2971800"/>
            <a:ext cx="24688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백성의 기근·전쟁 피해 폭발
전국 반란 발발
618년 강도에서 호위군에 살해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→ 정관정요의 검약·구간·정벌·안변 편이 모두 이 4가지에 대한 응답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시대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현무문의 변(玄武門之變, 626년)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— 태종 즉위의 원죄(原罪)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권력 투쟁의 구도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당 고조 이연(李淵)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743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건국자, 결단력 약함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9" y="2743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태자 이건성(李建成)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743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첫째 — 위징을 모사로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이세민(李世民)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2461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둘째 — 방현령·두여회를 모사로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9" y="32461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제왕 이원길(李元吉)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2461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셋째 — 이건성 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106984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626년 7월 2일 새벽 — 현무문(玄武門)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이세민이 선제 공격하여 형 이건성과 동생 이원길을 살해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형제 2명의 자녀 10명도 모두 처형 — 후환 방지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고조는 압박에 못 이겨 양위 → 626년 8월 즉위, 정관 원년 시작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태종의 평생 죄의식 — "나는 형을 죽이고 즉위한 자다</a:t>
            </a:r>
          </a:p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그러니 나는 반드시 최고의 치세를 만들어야 한다"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시대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정관의 치(貞觀之治, 627~649)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— 역사상 가장 완성된 23년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164592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48840" y="2057400"/>
            <a:ext cx="960120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1284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민생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212848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"도불습유·야불폐호" — 길에 떨어진 물건을 줍지 않고 문을 잠그지 않는다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70048"/>
            <a:ext cx="164592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8840" y="2670048"/>
            <a:ext cx="96012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2549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법제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825496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당률(唐律) 편찬 — 이후 1,000년 동아시아 법제의 표준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82696"/>
            <a:ext cx="164592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48840" y="3282696"/>
            <a:ext cx="960120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38144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외교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438144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돌궐 평정(630), 서역 확대, 문성공주의 토번 화친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95344"/>
            <a:ext cx="164592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48840" y="3895344"/>
            <a:ext cx="96012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050791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문화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050791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『오경정의』·『진서』·『수서』 등 국가 편찬 사업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07992"/>
            <a:ext cx="164592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48840" y="4507992"/>
            <a:ext cx="960120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6634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제도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663440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삼성육부제 완성, 과거제 확대, 조·용·조 세제 정비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164592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48840" y="5120640"/>
            <a:ext cx="96012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27608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영토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276088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동쪽 고구려부터 서쪽 페르시아 국경까지 — "천가한(天可汗)" 칭호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33288"/>
            <a:ext cx="164592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48840" y="5733288"/>
            <a:ext cx="960120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88873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인구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888736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수말 1,000만 이하 → 정관 말 약 3,000만 회복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시대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정관 후반의 흔들림 — "신종(愼終)"의 배경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301752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585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정관 11년경 (637)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103120"/>
            <a:ext cx="80467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2258568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점차 사치 경향 시작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61487"/>
            <a:ext cx="301752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16935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정관 13년 (639)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2761487"/>
            <a:ext cx="80467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916935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궁궐 증축·대규모 행차 증가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19855"/>
            <a:ext cx="301752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75303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정관 13년경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419855"/>
            <a:ext cx="80467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3575303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위징의 「신종소(愼終疏)」 진언 — 십점불극종(十漸不克終)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78223"/>
            <a:ext cx="301752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33671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정관 17년 (643)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4078223"/>
            <a:ext cx="80467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4233671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위징 사망 → 직간자(直諫者) 부재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36591"/>
            <a:ext cx="301752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92039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정관 19년 (645)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4736591"/>
            <a:ext cx="80467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4892039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고구려 원정 실패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94959"/>
            <a:ext cx="301752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50407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정관 23년 (649)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5394959"/>
            <a:ext cx="80467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5550407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태종 붕어, 향년 52세 — 만년에 「제범(帝範)」 12편 친저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"명군도 후반에 흔들린다" — 정관정요의 마지막 장이 신종편인 까닭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인물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당 태종 이세민(唐太宗 李世民, 598~649)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— 정관 정치의 주인공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太
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연보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598년 출생 — 618년 당 건국 참여 (20세 대장군)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626년 현무문의 변 → 28세 즉위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627~649년 정관 23년 → 649년 붕어, 향년 52세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성격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문무겸비 — 초원의 전사이면서 한학에 밝음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자기 인식이 강함 — 약점을 알고 끊임없이 점검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감정 기복 있음 — 위징에게 분노, 그러나 결국 수용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실패에 솔직 — 고구려 원정 실패·후반 흔들림 인정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인재 발굴의 천재 — 적도 쓰고, 능력자를 과감히 기용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인물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위징(魏徵, 580~643)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— 직간(直諫)의 대명사, 태종의 거울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魏
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연보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수말 혼란기 여러 세력 전전 → 태자 이건성의 모사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626년 현무문 후 포로 → 태종이 등용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정관 17년간 간의대부·비서감·시중 역임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643년 사망, 태종이 친히 묘지명을 씀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업적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  평생 200여 차례 직간(直諫)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「간태종십사소」·「신종소」 등 명문 상소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『정관예(貞觀禮)』·『수서(隋書)』 편찬 주도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리더십 자질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강직·냉정·지혜·헌신 — 군주를 위해 목숨 걸고 간언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인물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황후 장손씨(長孫皇后, 601~636)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— 정관 정치의 숨은 기둥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8B1A1A"/>
                </a:solidFill>
                <a:latin typeface="맑은 고딕"/>
              </a:rPr>
              <a:t>長孫
皇后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역할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총명·인자·겸손 — 태종의 감정 조절자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직접 정치 개입은 피하되, 결정적 순간에 개입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대표 일화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① 위징 보호 — "임금이 현명해야 신하가 곧다(君明臣直)"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② 사치 거절 — "한 나라의 어머니가 사치하면 모든 부녀자가 따른다"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③ 임종 유언 — "제 친정(장손씨 가문)을 결코 요직에 들이지 마소서"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의의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한(漢)대 외척 정치의 비극을 반면교사 삼은 자기 절제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636년 36세에 별세 — 태종의 후반 흔들림이 시작된 분기점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인물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방현령(房玄齡, 579~648)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— 행정·기획의 달인 · 정관 조정의 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역할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  "꾀(謀)"의 대가 — 여러 선택지를 능숙하게 제시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  창업기부터 태종과 함께한 최고 행정가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  재상 자리에 20여 년 — 정관 조정의 축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2000" b="1">
                <a:solidFill>
                  <a:srgbClr val="8B1A1A"/>
                </a:solidFill>
                <a:latin typeface="맑은 고딕"/>
              </a:rPr>
              <a:t>창업 논의 발언 (정체편)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"창업이 어렵습니다. 천하가 어지러울 때 여러 영웅이 다투니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 이를 제압하는 일이 쉽지 않습니다."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→ 창업 경험자의 현실적 증언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인물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두여회(杜如晦, 585~630)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— 결단(斷)의 달인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특징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  방현령이 짠 꾀(謀) 중 최선을 즉시 선택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  결단력의 화신 — 우유부단함의 정반대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  태종이 가장 의지한 참모 중 하나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2000" b="1">
                <a:solidFill>
                  <a:srgbClr val="8B1A1A"/>
                </a:solidFill>
                <a:latin typeface="맑은 고딕"/>
              </a:rPr>
              <a:t>비극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  정관 4년(630) 젊은 나이로 요절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  태종이 매우 아쉬워함 — 만년에도 자주 그를 회상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2000" b="1">
                <a:solidFill>
                  <a:srgbClr val="8B1A1A"/>
                </a:solidFill>
                <a:latin typeface="맑은 고딕"/>
              </a:rPr>
              <a:t>태종의 인물평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  "방(房)은 꾀를 짜고, 두(杜)는 결단한다 — 房謀杜斷"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인물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방모두단(房謀杜斷) — 강점의 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房 謀 杜 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방모두단 — "방은 꾀를 짜고, 두는 결단한다"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3749039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40080" y="4023360"/>
            <a:ext cx="539496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房玄齡 — 謀 (꾀)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"문제 해결 5가지 방법"을 제시
선택지를 풍부하게 만들어내는 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023360"/>
            <a:ext cx="539496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16052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杜如晦 — 斷 (결단)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75488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"그 중 최선 1가지"를 골라 즉시 실행
결단하여 실행하는 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강점이 다른 두 사람의 조합 — 현대 팀빌딩 이론의 원형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인물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왕규(王珪) — 인물 평가의 대가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간의대부(諫議大夫) — 자기 인식이 인재 안목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088136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3055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태종: "신하들의 장단(長短)을 평해 보라"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26080"/>
            <a:ext cx="22860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방현령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926080"/>
            <a:ext cx="868680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3108960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큰일을 맡길 만함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03320"/>
            <a:ext cx="22860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두여회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703320"/>
            <a:ext cx="868680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886200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결단을 맡길 만함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480559"/>
            <a:ext cx="22860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위 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4480559"/>
            <a:ext cx="868680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4663440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잘못을 바로잡아 드릴 만함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57799"/>
            <a:ext cx="2286000" cy="6400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4067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자기 자신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5257799"/>
            <a:ext cx="868680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5440679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옳고 그름을 가려 말하는 데 약간의 재주가 있을 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자기 자리를 정확히 아는 자만이 남의 자리도 정확히 본다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인물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이정(李靖) · 우세남(虞世南) — 군사와 문예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이정(李靖, 571~649)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— 최고의 군사 전략가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돌궐 평정(630) — 힐리가한 생포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돌궐 와해 → 태종 "천가한" 칭호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토욕혼 정벌(635)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토번(吐蕃) 외교의 군사적 기반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• 말수 적고 권력 다툼에 무관여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• 정관 후기 조용히 은퇴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우세남(虞世南, 558~638)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7432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— 학자·서예가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9184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태종의 문학·예악 자문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당대 최고 서예가 중 하나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태종의 "오절(五絶)" 칭송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덕행 · 충직 · 박학 · 문장 · 서한(書翰)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• 사후 태종이 직접 추도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인물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정관의 핵심 군신 — 한눈에 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476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당 태종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4767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598~649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9476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군주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94767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문무겸비 · 자기 점검의 화신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59152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7802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위징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478024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580~643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47802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간의대부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478024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200여 회 직간 · "거울 같은 신하"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89504"/>
            <a:ext cx="112471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0837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장손황후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00837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601~636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00837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황후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00837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감정 조절 동반자 · 외척 절제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19856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5387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방현령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5387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579~648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5387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재상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53872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꾀(謀)의 대가 · 20여 년 행정 총괄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50208"/>
            <a:ext cx="112471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69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두여회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06908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585~630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069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재상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0690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결단(斷)의 대가 · 정관 4년 요절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48056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5994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왕규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459943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?~639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5994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간의대부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459943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인물 평가의 대가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010912"/>
            <a:ext cx="112471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12978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이정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5129784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571~649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12978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명장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5129784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돌궐 평정 · 천가한의 군사 기반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541264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66013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우세남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566013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558~638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566013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학자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566013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"오절(五絶)" · 문예 자문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071616"/>
            <a:ext cx="112471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19048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장손무기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619048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594?~659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619048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재상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619048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황후의 오빠 · 태종 처남이자 동지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10권 40편 개관 — 주제별 편찬의 완성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0972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권1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82880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9202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1~2편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920240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군주의 근본 (군도·정체)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10972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권2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233172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24231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3~5편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423160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인재와 간언 (임현·구간·납간)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34639"/>
            <a:ext cx="10972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26079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권3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2834639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292607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6~8편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926079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군신·관제 (군신감계·택관·봉건)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337559"/>
            <a:ext cx="10972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28999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권4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3337559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342899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9~12편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428999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후계자 교육 4편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40479"/>
            <a:ext cx="10972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931919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권5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3840479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0" y="393191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13~17편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3931919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5대 핵심 덕목 (인의·충의·효우·공평·성신)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343399"/>
            <a:ext cx="10972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434839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권6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37360" y="4343399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37360" y="443483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18~26편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4434839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9대 자기 점검 병폐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46319"/>
            <a:ext cx="10972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937759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권7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37360" y="4846319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37360" y="493775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27~29편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4937759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문화 정책 (숭유학·문사·예악)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349239"/>
            <a:ext cx="10972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440679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권8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37360" y="5349239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37360" y="544067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30~34편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5440679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민생·법·경제 (무농·형법·사령·공부·변흥망)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852159"/>
            <a:ext cx="10972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943599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권9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37360" y="5852159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37360" y="594359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35~36편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5943599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군사·외교 (정벌·안변)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6355079"/>
            <a:ext cx="10972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6446519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권10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37360" y="6355079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37360" y="644651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37~40편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6446519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군주의 일상과 마무리 (행행·전렵·재상·신종)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동심원 구조 — "자기"에서 출발해 "자기"로 귀결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486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[1~2]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96596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군주의 근본 — 자기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74519"/>
            <a:ext cx="5486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[3~5]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196596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인재와 간언 — 사람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5486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68879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[6~8]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468879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군신·관제 — 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377439"/>
            <a:ext cx="5486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468879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[9~12]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468879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후계 — 계승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80360"/>
            <a:ext cx="5486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97180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[13~17]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9718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5대 덕목 — 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880360"/>
            <a:ext cx="5486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97180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[18~26]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29718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9대 병폐 — 자기 점검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4747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[27~29]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34747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문화 — 장기 정당성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383280"/>
            <a:ext cx="5486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4747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[30~34]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4747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민생·법·경제 — 제도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886200"/>
            <a:ext cx="5486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977639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[35~36]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977639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군사·외교 — 외부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886200"/>
            <a:ext cx="5486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977639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[37~39]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3977639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일상 — 절제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389120"/>
            <a:ext cx="5486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480559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[40]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4480559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신종 — 자기의 마무리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자기(1·2) → 사람·구조·계승·덕·점검·문화·제도·외부·일상 → 자기 마무리(40)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권1~5 — 주요 편의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군도(君道)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군주의 도리 — 십사소 10항목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1284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1284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정체(政體)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12848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창업과 수성·군주민수·겸청즉명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96896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임현(任賢)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596896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현자 임용 — 인물 평가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944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98094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구간(求諫)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980944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간언을 구하라 — 얼굴빛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64991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364991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납간(納諫)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364991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간언을 받아들이라 — 매·"이 촌놈" 일화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49039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6~8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749039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군신·택관·봉건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749039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군신은 한 몸·소수정예·구조적 지속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33087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9~12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133087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후계 교육 4편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133087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태자제왕·존경사부·교계태자·규간태자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17136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517136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인의(仁義)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517136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덕으로 품으면 복종 — 사형수 390명 일화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901183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901183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충의(忠義)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901183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충은 복종이 아니라 바로잡기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285231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285231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효우(孝友)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285231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"후대 군주는 결코 나를 본받지 말라"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669279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669279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공평(公平)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669279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삼복주(三覆奏) 제도화 — 친인척 절제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053327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6053327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성신(誠信)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6053327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"民無信不立" — 신용 자산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권6~10 — 주요 편의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288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검약(儉約)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"사치는 모든 악정의 출발"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128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128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겸양(謙讓)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128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"가득 참을 경계하고 비어 있음을 기뻐하라"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9689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인측(仁惻)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9689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재해·기근 때 직접 살피고 구호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944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98094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신소호(愼所好)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98094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"임금이 좋아하면 천하가 따른다" — 매 일화의 사상적 근거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64991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36499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신언어(愼言語)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364991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"천자의 말은 사관이 기록한다" — 영구 기록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49039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74903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두참사(杜讒邪)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74903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"비밀 정보는 1/3로 깎아서 듣는다"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33087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13308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회과(悔過)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133087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"내가 틀렸다"고 공개 인정하는 위엄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17136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25/26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51713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사종/탐비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51713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사치와 방종·탐욕과 비루함 경계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901183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27~29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901183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문화 3편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901183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숭유학·문사(史官 직필)·예악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285231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30~34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28523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민생·법·경제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285231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무농·형법(당률)·사령·공부·변흥망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669279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35~36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66927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군사·외교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66927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정벌·안변 — 兵者凶器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053327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37~40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605332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일상과 마무리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6053327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행행·전렵·재상·신종 — 신종여시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군도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군주의 근본 — 先正其身, 然後能正人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8B1A1A"/>
                </a:solidFill>
                <a:latin typeface="맑은 고딕"/>
              </a:rPr>
              <a:t>先 正 其 身   然 後 能 正 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선정기신 연후능정인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군도편 제1 (위징의 답)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1148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0080" y="4389120"/>
            <a:ext cx="108813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327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태종: "군주의 도(道)는 무엇이 가장 먼저인가?"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위징: "먼저 제 몸을 바르게 한 뒤에야 남을 바르게 할 수 있습니다"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→ 修己治人(수기치인)의 원조 — 군주의 가장 큰 적은 외부가 아니라 자기 욕망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군도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할고담복(割股啖腹) — 자기파괴적 착취의 경계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맑은 고딕"/>
              </a:rPr>
              <a:t>割 股 啖 腹   腹 飽 而 身 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할고담복 복포이신폐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군도편 제1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1148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"임금이 백성을 수탈하여 자기 몸을 받드는 것은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자기 허벅지 살을 베어 자기 배를 채우는 것과 같다"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"배는 부를지언정 몸은 죽는다"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→ 착취 경제의 자기 파괴성 — 2,000년 전의 통찰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군도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간태종십사소(諫太宗十思疏) ① — 1~5항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위징이 올린 상소 — 태종이 병풍에 써 붙여 매일 본 체크리스트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0428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2103120"/>
            <a:ext cx="50292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48839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見可欲, 則思知足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420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견가욕 즉사지족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103120"/>
            <a:ext cx="53035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30428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보고 싶은 것이 있으면 만족할 줄 앎을 생각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72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2971800"/>
            <a:ext cx="50292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0175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將有作, 則思知止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1071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장유작 즉사지지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971800"/>
            <a:ext cx="53035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17296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토목을 일으키려 하면 그칠 줄을 생각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41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160" y="3840480"/>
            <a:ext cx="50292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38862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念高危, 則思謙沖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7939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염고위 즉사겸충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840480"/>
            <a:ext cx="53035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04164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높은 자리를 생각하면 겸허히 낮춤을 생각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70916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1032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0160" y="4709160"/>
            <a:ext cx="50292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7548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懼滿盈, 則思江海下百川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14807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구만영 즉사강해하백천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709160"/>
            <a:ext cx="53035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91032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가득 참이 무서우면 강이 낮은 곳으로 흐르는 것을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57784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77900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0" y="5577840"/>
            <a:ext cx="50292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56235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盤遊, 則思三驅以爲度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60167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반유 즉사삼구이위도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577840"/>
            <a:ext cx="53035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577900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사냥의 즐거움이 있으면 삼면 몰이의 옛 법을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군도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간태종십사소 ② — 6~10항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103120"/>
            <a:ext cx="50292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148839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B1A1A"/>
                </a:solidFill>
                <a:latin typeface="맑은 고딕"/>
              </a:rPr>
              <a:t>憂懈怠, 則思愼始而敬終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420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우해태 즉사신시이경종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3035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30428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게으름이 두려우면 처음을 삼가고 끝을 공경함을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72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2971800"/>
            <a:ext cx="50292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0175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B1A1A"/>
                </a:solidFill>
                <a:latin typeface="맑은 고딕"/>
              </a:rPr>
              <a:t>慮壅蔽, 則思虛心以納下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1071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여옹폐 즉사허심이납하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971800"/>
            <a:ext cx="53035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17296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막힌 말이 두려우면 허심탄회하게 아랫사람을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41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3840480"/>
            <a:ext cx="50292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38862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B1A1A"/>
                </a:solidFill>
                <a:latin typeface="맑은 고딕"/>
              </a:rPr>
              <a:t>想讒邪, 則思正身以黜惡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7939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상참사 즉사정신이출악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840480"/>
            <a:ext cx="53035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04164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참소가 두려우면 제 몸을 바르게 하여 악을 물리침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0916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91032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4709160"/>
            <a:ext cx="50292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47548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B1A1A"/>
                </a:solidFill>
                <a:latin typeface="맑은 고딕"/>
              </a:rPr>
              <a:t>恩所加, 則思無因喜以謬賞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14807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은소가 즉사무인희이류상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09160"/>
            <a:ext cx="53035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91032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은혜를 베풀려면 사사로운 기쁨으로 잘못된 상을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57784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77900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0160" y="5577840"/>
            <a:ext cx="50292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6235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B1A1A"/>
                </a:solidFill>
                <a:latin typeface="맑은 고딕"/>
              </a:rPr>
              <a:t>罰所及, 則思無以怒而濫刑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60167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벌소급 즉사무이노이남형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577840"/>
            <a:ext cx="53035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577900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벌을 내리려면 노여움으로 형을 남용하지 않을 것을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군도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십사소의 3층 구조 — 자기·조직·타자의 점검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286000" cy="10972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7860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1~5번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2194560"/>
            <a:ext cx="27432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57860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자기 욕망의 제어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194560"/>
            <a:ext cx="5760720" cy="10972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359152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소유욕·확장욕·자만·포만감·여가까지
다섯 가지 개인의 욕망을 한 번씩 점검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2286000" cy="1097280"/>
          </a:xfrm>
          <a:prstGeom prst="rect">
            <a:avLst/>
          </a:prstGeom>
          <a:solidFill>
            <a:srgbClr val="A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587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6~7번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474720"/>
            <a:ext cx="27432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385876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리더십의 유지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474720"/>
            <a:ext cx="5760720" cy="10972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639312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게으름의 위험·정보 차단의 위험
초심 유지와 개방성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54879"/>
            <a:ext cx="2286000" cy="109728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38927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8~10번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4754879"/>
            <a:ext cx="27432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5138927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공정한 상벌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4754879"/>
            <a:ext cx="5760720" cy="10972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919471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참소·편향된 보상·감정적 처벌
관계를 다루는 공정의 3원칙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리더가 자기 → 조직 → 타자 세 차원에서 검토해야 할 열 가지 순간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정체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창업과 수성(創業守成) — 어느 것이 더 어려운가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태종: "제왕의 사업에서 창업(創業)이 어려운가, 수성(守成)이 어려운가?"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5394960" cy="3200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방현령 — 創業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48463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"창업이 어렵습니다"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"천하가 어지러울 때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여러 영웅이 다투니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이를 제압하는 일이 쉽지 않습니다"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— 창업 경험자의 증언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926080"/>
            <a:ext cx="5394960" cy="3200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06324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위징 — 守成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11880"/>
            <a:ext cx="48463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"수성이 더 어렵습니다"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"제왕은 간난(艱難) 속에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천하를 얻고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편안함 속에 잃습니다"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— 안정기의 통찰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태종: "창업의 어려움은 이미 지나갔다. 수성의 어려움은 여러분과 함께 삼가겠다"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정체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"수성기의 적은 교만·안일·사치" — 성공의 역설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3327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>
                <a:solidFill>
                  <a:srgbClr val="8B1A1A"/>
                </a:solidFill>
                <a:latin typeface="맑은 고딕"/>
              </a:rPr>
              <a:t>創 業 難   守 成 亦 難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창업도 어렵지만 수성도 어렵다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현대 경영학의 같은 발견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"성공한 기업의 혁신 실패" — Innovator's Dilemma (크리스텐슨)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빌 게이츠 — "성공은 나쁜 교사다(Success is a lousy teacher)"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스타트업 성공 후 안주 단계가 가장 위험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• "성공한 순간이 가장 위험한 순간"이라는 통찰의 동양적 원형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정체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군주민수(君舟民水) — 배와 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8B1A1A"/>
                </a:solidFill>
                <a:latin typeface="맑은 고딕"/>
              </a:rPr>
              <a:t>君 者 舟 也   庶 人 者 水 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8B1A1A"/>
                </a:solidFill>
                <a:latin typeface="맑은 고딕"/>
              </a:rPr>
              <a:t>水 則 載 舟   水 則 覆 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군자주야 서인자수야 · 수즉재주 수즉복주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정체편 제2 (순자의 말을 태종이 자주 인용)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0" y="50292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"임금은 배, 백성은 물 — 물은 배를 띄우기도 하고 뒤집기도 한다"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태종이 태자에게 배를 타며 반복 훈계 — 민본의 절대 원칙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정체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兼聽則明 偏信則暗 — 두루 들으면 밝다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>
                <a:solidFill>
                  <a:srgbClr val="8B1A1A"/>
                </a:solidFill>
                <a:latin typeface="맑은 고딕"/>
              </a:rPr>
              <a:t>兼 聽 則 明   偏 信 則 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겸청즉명 편신즉암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정체편 제2 (위징의 답)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2976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두루 들으면 밝고, 한쪽만 믿으면 어둡다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394960"/>
            <a:ext cx="1088136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현대의 다양성 경영(Diversity Management)의 원조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한쪽 정보에만 의존하지 않는 의사결정 시스템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간쟁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간쟁(諫諍) — 정관 정치의 심장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"사람이 제 얼굴을 보려면 거울이 반드시 있어야 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8775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임금이 자기의 허물을 알려면 충신이 반드시 있어야 한다"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5394960" cy="3200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구간(求諫) — 간언을 구하라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48463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"임금이 간언을 구할 때는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 반드시 너그러운 낯을 지어야 한다"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"엄한 얼굴로 '말하라' 해봐야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누가 바른말을 하겠는가?"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108960"/>
            <a:ext cx="5394960" cy="3200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24612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납간(納諫) — 간언을 받아들이라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840480"/>
            <a:ext cx="48463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"화가 나도 참는 근육"을 기르는 일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황후 · 위징 · 자기 자신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— 세 겹의 장치로 참아낸다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"참는 제도"가 아니라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"참는 습관"이 명군을 만든다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간쟁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구간(求諫) — 얼굴빛부터 관리하라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3327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"간언은 제도보다 분위기의 문제"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리더의 미간·말투·눈빛이 조직의 정보 흐름을 결정한다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현대 응용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CEO가 회의에서 먼저 웃는 얼굴로 질문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"내가 틀렸을 수 있다"는 자기 오류 인정 문화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아마존 6-pager·침묵의 독서 — 감정 개입 전 문서 검토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구글 "심리적 안전감(psychological safety)" — Aristotle 연구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간쟁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위징의 200여 회 직간(直諫)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0" b="1">
                <a:solidFill>
                  <a:srgbClr val="8B1A1A"/>
                </a:solidFill>
                <a:latin typeface="맑은 고딕"/>
              </a:rPr>
              <a:t>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여 회의 직간 — 정관 17년 동안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47548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50292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일부는 목숨을 걸고 — 다른 신하라면 처형되었을 발언도 서슴지 않음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8B1A1A"/>
                </a:solidFill>
                <a:latin typeface="맑은 고딕"/>
              </a:rPr>
              <a:t>가장 유명한 두 상소 — 「간태종십사소」·「신종소」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태종이 병풍에 써 붙여 매일 점검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간쟁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일화 ① 첫 대면 (626년) — "왜 우리 형제를 이간했는가"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56070"/>
                </a:solidFill>
                <a:latin typeface="맑은 고딕"/>
              </a:rPr>
              <a:t>현무문의 변 직후 — 태종이 포로 위징을 심문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700" b="1">
                <a:solidFill>
                  <a:srgbClr val="1F2A44"/>
                </a:solidFill>
                <a:latin typeface="맑은 고딕"/>
              </a:rPr>
              <a:t>태종: "너는 왜 우리 형제 사이를 이간질했는가?"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위징: "만약 태자(이건성)가 일찍 내 말을 들었다면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       오늘 같은 화는 없었을 것입니다"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1945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6984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56070"/>
                </a:solidFill>
                <a:latin typeface="맑은 고딕"/>
              </a:rPr>
              <a:t>좌우 신하들: "저놈을 죽이라"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태종은 오히려 그를 간의대부(諫議大夫)로 임명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→ "적이었던 자도 재능이 있으면 쓴다"의 전형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이 한 장면이 정관 23년의 군신 관계를 결정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간쟁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일화 ② "이 촌놈을 죽이겠다" — 황후의 개입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어느 날 위징의 신랄한 간언 후, 태종이 내실에서 분통: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2000" b="1">
                <a:solidFill>
                  <a:srgbClr val="8B1A1A"/>
                </a:solidFill>
                <a:latin typeface="맑은 고딕"/>
              </a:rPr>
              <a:t>"이 촌놈(위징)을 내가 반드시 죽여야겠다!"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1124712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6984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56070"/>
                </a:solidFill>
                <a:latin typeface="맑은 고딕"/>
              </a:rPr>
              <a:t>황후 장손씨가 정장(正裝)으로 나와 절을 올림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"임금이 현명해야 신하가 곧은 말을 합니다(君明臣直)"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700" b="1">
                <a:solidFill>
                  <a:srgbClr val="1F2A44"/>
                </a:solidFill>
                <a:latin typeface="맑은 고딕"/>
              </a:rPr>
              <a:t>"위징이 곧은 말을 할 수 있는 것은 폐하가 현명하기 때문이니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   제가 어찌 축하하지 않겠습니까"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태종의 분노가 풀림 — 황후의 지혜가 위징과 태종 사이의 가교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간쟁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일화 ③ 매를 품에 숨긴 일화 — 자기 절제의 극치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3327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태종이 희귀한 매(鷹)를 팔뚝에 앉혀 놀고 있는데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멀리서 위징이 오는 것이 보임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태종은 급히 매를 품 안에 숨김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위징은 의도적으로 긴 보고를 올림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보고가 끝날 무렵 — 태종의 품에서 매가 질식해 죽어 있었다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태종은 아무 말 없이 웃기만 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"군주의 마음이 취미에 기우는 것"을 스스로 경계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위징은 그 미묘한 심리를 알고 행동으로 제어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→ 정관 정치의 "자기 절제"의 극치를 보여주는 일화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간쟁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위징 사망 후 — "세 거울" 추도 (643년)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2926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698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556070"/>
                </a:solidFill>
                <a:latin typeface="맑은 고딕"/>
              </a:rPr>
              <a:t>643년 위징이 죽자, 태종은 통곡하며: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2000" b="1">
                <a:solidFill>
                  <a:srgbClr val="8B1A1A"/>
                </a:solidFill>
                <a:latin typeface="맑은 고딕"/>
              </a:rPr>
              <a:t>"以銅爲鑒, 可以正衣冠;</a:t>
            </a:r>
          </a:p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 以古爲鑒, 可以知興替;</a:t>
            </a:r>
          </a:p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 以人爲鑒, 可以明得失."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800"/>
              </a:spcBef>
            </a:pPr>
            <a:r>
              <a:rPr sz="2200" b="1">
                <a:solidFill>
                  <a:srgbClr val="1F2A44"/>
                </a:solidFill>
                <a:latin typeface="맑은 고딕"/>
              </a:rPr>
              <a:t>"今魏徵沒, 朕亡一鑒矣."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512064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"이제 위징이 죽으니, 짐이 거울 하나를 잃었다"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정관정요 전체에서 가장 유명한 한 구절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三鏡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三鏡 — 세 개의 거울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749039" cy="4297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3749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구리(銅) 거울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33832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正衣冠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834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의관(衣冠)을 바로 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4068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일상의 자기 점검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3749039" cy="4297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240280"/>
            <a:ext cx="3749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9476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옛일의 거울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434840"/>
            <a:ext cx="33832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5262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知興替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9834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흥망(興替)을 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44068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역사의 거시적 패턴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103120"/>
            <a:ext cx="3749039" cy="4297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240280"/>
            <a:ext cx="3749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79476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사람의 거울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19" y="4434840"/>
            <a:ext cx="33832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19" y="45262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明得失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49834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득실(得失)을 밝힘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544068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실시간 직언자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三鏡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세 거울의 의미 — 현대 리더십에의 적용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32004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銅鑒 — 일상 점검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2103120"/>
            <a:ext cx="77724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221284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분기별 성과 리뷰 · 자기 평가 · KPI · OKR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74320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눈에 보이는 자기 모습 — 즉각적 피드백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74720"/>
            <a:ext cx="32004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古鑒 — 역사 패턴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474720"/>
            <a:ext cx="77724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358444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업계 역사 · 선례 분석 · 케이스 스터디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11480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같은 실수를 반복하지 않기 위한 거시적 시야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46320"/>
            <a:ext cx="32004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2578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人鑒 — 실시간 직언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4846320"/>
            <a:ext cx="77724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495604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솔직히 직언하는 멘토 · 사외이사 · 코치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48640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가장 희귀하고 가장 중요한 거울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三鏡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人鏡 — 가장 희귀한 거울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0" b="1">
                <a:solidFill>
                  <a:srgbClr val="8B1A1A"/>
                </a:solidFill>
                <a:latin typeface="맑은 고딕"/>
              </a:rPr>
              <a:t>人 鑒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2976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103327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"위징 같은 사람 한 명"의 가치가 조직의 운명을 좌우한다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태종은 위징 사후 흔들리기 시작했다 — 인경 부재의 대가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고구려 원정 실패 후 "위징이 있었다면…" 한탄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군신의 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군신은 한 몸 — 머리와 팔다리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3327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군주와 신하는 한 몸의 머리와 팔다리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머리가 밝아야 팔다리가 건실하고</a:t>
            </a:r>
          </a:p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팔다리가 건실해야 머리가 안전하다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— 군신감계편 제6의 핵심 사상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754880"/>
            <a:ext cx="10881360" cy="1554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현대 적용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조직의 부패는 "말하지 않는 신하"에서 시작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리더는 나쁜 소식을 가져오는 자를 먼저 보호해야 정보가 흐른다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군신의 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진정한 충(忠) — 복종이 아니라 바로잡기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56070"/>
                </a:solidFill>
                <a:latin typeface="맑은 고딕"/>
              </a:rPr>
              <a:t>잘못된 충(忠)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2A44"/>
                </a:solidFill>
                <a:latin typeface="맑은 고딕"/>
              </a:rPr>
              <a:t>"맹목적 복종"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임금이 옳건 그르건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일단 "예"라고 답한다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8B1A1A"/>
                </a:solidFill>
                <a:latin typeface="맑은 고딕"/>
              </a:rPr>
              <a:t>수 양제의 우세기(虞世基)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— 비위만 맞추다 나라를 망쳤다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진정한 충(忠)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92608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"바로잡기(正君)"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임금이 잘못하면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목숨 걸고 직언한다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8B1A1A"/>
                </a:solidFill>
                <a:latin typeface="맑은 고딕"/>
              </a:rPr>
              <a:t>위징의 200여 회 직간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— 정관정요가 정의하는 진짜 충신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군신의 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47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양제와 우세기 — 정관의 반면교사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5603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56070"/>
                </a:solidFill>
                <a:latin typeface="맑은 고딕"/>
              </a:rPr>
              <a:t>태종이 되짚는다 — 군신감계편: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"양제(煬帝)는 스스로 성군이라 자처하고 간언을 싫어했다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우세기(虞世基)는 양제의 비위만 맞췄다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그래서 도적이 성 아래 몰려왔는데도 양제는 알지 못했다"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"임금이 혼미하면 신하가 아첨한다 — 두렵다(可懼也)"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현대 응용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"예스맨"으로만 채워진 임원진은 조직 멸망의 신호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다양한 목소리가 사라진 순간이 가장 위험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임현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48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為政之要 唯在得人 — 정치의 요체는 사람을 얻는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為 政 之 要   唯 在 得 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위정지요 유재득인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택관편 제7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1148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"정치의 요체는 오직 사람을 얻는 데 있다"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212080"/>
            <a:ext cx="108813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"官在得人, 不在員多"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관리는 사람을 얻는 데 있지 수가 많은 데 있지 않다 — 소수정예의 원조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임현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49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"적이었던 자도 재능이 있으면 쓴다"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3327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대표 사례 — 위징(魏徵)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형 이건성의 모사였다가 → 태종의 최고 간관(諫官)으로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"적의 책사라도 재능이 있으면 등용"의 가장 극적인 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현대 사례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디즈니의 픽사 인수(2006) 후 존 래시터 중용 — 적대적 M&amp;A 후 상대 회사 임원 기용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창업 경쟁자 출신을 CTO로 영입하는 글로벌 IT 기업 사례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"능력 vs 충성"의 갈등에서 능력을 택하는 결단력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임현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50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강점의 조합 — 정관 핵심팀의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671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위 징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2011680"/>
            <a:ext cx="32004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6712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직간(直諫)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011680"/>
            <a:ext cx="566928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16712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잘못을 바로잡는 거울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0720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방현령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651760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80720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꾀(謀)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651760"/>
            <a:ext cx="56692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80720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큰일을 맡기는 기획자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472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두여회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3291840"/>
            <a:ext cx="32004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344728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결단(斷)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291840"/>
            <a:ext cx="566928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44728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결정을 내리는 실행자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873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왕 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931920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40873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시비 판별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931920"/>
            <a:ext cx="56692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08736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옳고 그름을 가리는 평가자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7200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7274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이 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572000"/>
            <a:ext cx="32004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472744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군사(軍事)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572000"/>
            <a:ext cx="566928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72744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돌궐을 평정한 명장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21208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675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우세남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5212080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536752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문예(文藝)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5212080"/>
            <a:ext cx="56692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536752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문학·서예의 조언자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서로 다른 강점을 가진 6인의 조합 → 정관의 안정 23년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임현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51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왕규의 자기 인식 — "자기를 아는 자가 남도 안다"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3200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56070"/>
                </a:solidFill>
                <a:latin typeface="맑은 고딕"/>
              </a:rPr>
              <a:t>태종: "신하들의 장단을 평해 보라. 그리고 자네 자신은 어떤가?"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왕규(王珪): "방현령은 큰일을 맡길 만하고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             두여회는 결단을 맡길 만하고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             위징은 잘못을 바로잡아 드릴 만합니다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             저는 그저 옳고 그름을 가려 말하는 데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             약간의 재주가 있을 뿐입니다"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"자기 인식이 곧 인재 안목"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자기 자리를 정확히 아는 자만이 남의 자리도 정확히 본다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민본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52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民惟邦本 — 백성이 나라의 근본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民 惟 邦 本   本 固 邦 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민유방본 본고방녕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정관정요 곳곳, 태종이 자주 인용 (서경 출전)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20624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4348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백성이 오직 나라의 근본이니, 근본이 굳으면 나라가 편안하다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212080"/>
            <a:ext cx="108813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세금·형벌·전쟁·토목 모든 결정에서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"백성의 물이 거칠어지는가"를 본다 — 민본의 절대 원칙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민본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53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태자에게 배를 타며 — 군주민수의 산교육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332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556070"/>
                </a:solidFill>
                <a:latin typeface="맑은 고딕"/>
              </a:rPr>
              <a:t>태종이 태자와 함께 배를 타며: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800" b="1">
                <a:solidFill>
                  <a:srgbClr val="1F2A44"/>
                </a:solidFill>
                <a:latin typeface="맑은 고딕"/>
              </a:rPr>
              <a:t>"물이 배를 띄우지만 뒤집기도 한다</a:t>
            </a:r>
          </a:p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1F2A44"/>
                </a:solidFill>
                <a:latin typeface="맑은 고딕"/>
              </a:rPr>
              <a:t> 백성이 곧 물이니 두려워해야 한다"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754880"/>
            <a:ext cx="10881360" cy="1645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밥그릇 앞에서 (또 다른 일화):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"네가 이 밥이 어디서 나왔는지 아느냐?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 농부가 봄·여름·가을 땀 흘려 지은 것이다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 그 수고를 알아야 이 밥을 먹을 자격이 있다"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민본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54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戰戰兢兢 如履薄冰 — 살얼음 위를 걷듯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戰 戰 兢 兢   如 履 薄 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전전긍긍 여리박빙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시경 출전 · 태종이 자기 마음가짐을 표현할 때 자주 인용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1148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"두렵고 조심하기를 마치 살얼음을 밟듯이"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212080"/>
            <a:ext cx="108813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천하의 군주가 가질 마음 — 자만이 아니라 조심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최고의 자리일수록 가장 두려워해야 한다는 통찰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5대 덕목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55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인의(仁義) — 사형수 390명의 귀가 일화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태종이 전국의 사형수 390명을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임시 귀가시켜 설을 쇠게 하고, 이듬해 다시 돌아와 형을 받게 함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— 모두 약속대로 돌아왔고, 태종이 이들을 특사(特赦)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맑은 고딕"/>
              </a:rPr>
              <a:t>懷 之 以 德   則 無 不 服 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회지이덕 즉무불복자 — "덕으로 품으면 복종하지 않는 자가 없다"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인의편 제13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신뢰받은 사람은 신뢰로 응답한다 — 경영학 연구와 일치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5대 덕목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56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충의(忠義) — 충(忠)의 재정의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"충(忠)은 복종이 아니라 바로잡기다"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17520"/>
            <a:ext cx="1088136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위징 같은 직간자(直諫者)가 진정한 충신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비위 맞춤은 아첨일 뿐, 진짜 충은 임금을 바른 길로 이끄는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현대 응용 — "충성의 정의 전환"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• 복종하는 자보다 바른말을 하는 자가 조직을 위한다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"좋은 직원"의 정의 — Yes-man이 아니라 무엇이 잘못되었는지 알리는 사람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5대 덕목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57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효우(孝友) — 태종의 자기 고백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"임금이 효·우를 갖추지 못하면</a:t>
            </a:r>
          </a:p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 어찌 천하에 덕화(德化)를 베풀겠는가"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그러나 태종 자신은 형 이건성, 동생 이원길을 살해한 자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이 모순이 효우편에 묘한 긴장을 만든다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태종의 공개 선언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2200" b="1">
                <a:solidFill>
                  <a:srgbClr val="1F2A44"/>
                </a:solidFill>
                <a:latin typeface="맑은 고딕"/>
              </a:rPr>
              <a:t>"후대 군주는 결코 나를 본받지 말라"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→ 리더가 자기 과오를 인정·공표할 때 조직 전체에 정직의 문화가 퍼진다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5대 덕목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58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공평(公平) — 삼복주(三覆奏) 제도화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3327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일화 — 장온고(張蘊古) 처형의 후회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총애하던 장온고가 중죄 → 태종이 분노하여 즉시 처형</a:t>
            </a:r>
          </a:p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뒤에 깊이 후회: "내가 너무 성급히 처형했다"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1088136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→ 三 覆 奏 제도 제정 — 사형 판결의 3중 재심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① 1차 법관 판결 → ② 2차 중앙 심리 재심 → ③ 3차 황제 직속 재심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+ 집행 당일 마지막 확인 → 한 번이라도 이의 있으면 즉시 중단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이 제도는 당률에 편입 → 이후 천 년 동아시아 법제의 표준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5대 덕목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59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성신(誠信) — 民無信不立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8B1A1A"/>
                </a:solidFill>
                <a:latin typeface="맑은 고딕"/>
              </a:rPr>
              <a:t>民 無 信 不 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민무신불립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성신편 제17 (논어 인용)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20624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"백성에게 신의(信)가 없으면 나라가 서지 않는다"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303520"/>
            <a:ext cx="108813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현대 적용 — 리더의 말 한마디가 조직의 신용 자산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약속과 어긋나면 반드시 공개 정정 — 일관성의 정치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XⅢ. 9대 병폐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60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권6 — 9대 병폐 자기 점검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군주가 빠지기 쉬운 개인적 함정 9가지 — 현대 리더의 일일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749039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21991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18. 검약(儉約)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3749039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사치 경계 — 모든 악정의 출발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03120"/>
            <a:ext cx="3749039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221991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19. 겸양(謙讓)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651760"/>
            <a:ext cx="3749039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74320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가득 참을 경계하라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103120"/>
            <a:ext cx="3749039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221991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20. 인측(仁惻)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651760"/>
            <a:ext cx="3749039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74320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재난 시 직접 살핀다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29000"/>
            <a:ext cx="3749039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47872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21. 신소호(愼所好)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3749039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06908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좋아하는 것을 삼가라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3429000"/>
            <a:ext cx="3749039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547872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22. 신언어(愼言語)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977639"/>
            <a:ext cx="3749039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06908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말은 영구 기록이다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3429000"/>
            <a:ext cx="3749039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547872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23. 두참사(杜讒邪)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3977639"/>
            <a:ext cx="3749039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406908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참소를 1/3로 깎아 듣는다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54879"/>
            <a:ext cx="3749039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873751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24. 회과(悔過)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03519"/>
            <a:ext cx="3749039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394959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잘못을 공개 인정한다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4754879"/>
            <a:ext cx="3749039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4873751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25. 사종(奢縱)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5303519"/>
            <a:ext cx="3749039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5394959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사치와 방종을 경계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4754879"/>
            <a:ext cx="3749039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873751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26. 탐비(貪鄙)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5303519"/>
            <a:ext cx="3749039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5394959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작은 이익을 탐하지 말라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XⅢ. 9대 병폐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61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검약(儉約) — 사치는 모든 악정의 출발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5544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"수 양제는 낙양·강도 궁전을 짓다 나라를 잃었다"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— 정관정요가 반복적으로 환기하는 반면교사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698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정관정요의 통찰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사치는 단순한 재정 낭비가 아니라</a:t>
            </a:r>
          </a:p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1F2A44"/>
                </a:solidFill>
                <a:latin typeface="맑은 고딕"/>
              </a:rPr>
              <a:t>"군주의 마음이 기울어지는 표지"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황후 장손씨도 보석·장식을 거절하며 솔선수범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"한 나라의 어머니가 사치하면 모든 부녀자가 따라 합니다"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XⅢ. 9대 병폐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62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신소호(愼所好) — "좋아하는 것을 삼가라"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"임금이 매(鷹)를 좋아하면 천하가 매를 바치고</a:t>
            </a:r>
          </a:p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 임금이 글씨를 좋아하면 천하가 글씨를 바친다"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리더의 취향 = 조직 자원 배분의 암묵적 신호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좋아하는 것일수록 공개하지 말라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현대 사례 — 잡스가 커피를 좋아한다고 알려지자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모든 회의에 다양한 커피가 등장하고 정작 의제는 뒤로 밀림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XⅢ. 9대 병폐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63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신언어(愼言語) — "말을 삼가라"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"천자(天子)의 말 한마디는 사관(史官)이 기록한다</a:t>
            </a:r>
          </a:p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 후대가 보는 것이니 어찌 삼가지 않겠는가"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97680"/>
            <a:ext cx="11247120" cy="2103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6984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리더의 말은 영구 기록 — 무심코 한 농담도 정책이 된다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현대 사례 — SNS 시대의 CEO 트윗 하나가 주가를 움직인다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일론 머스크의 트윗 사건 — 2,000년 전의 통찰이 그대로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XⅢ. 9대 병폐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64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두참사(杜讒邪) — "참소를 막아라"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103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"참소(讒訴)는 원래 교묘해서 처음에는 알아채기 어렵다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그러므로 간언이 오면 공개된 자리에서 검증하고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 비밀리에 올라온 고자질은 삼분의 일로 깎아서 듣는다"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"비밀 정보는 과대평가되기 쉽다"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투명한 검증 프로세스가 조직을 살린다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익명 제보·비밀 보고의 신뢰성 검증 절차 필수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XⅢ. 9대 병폐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65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회과(悔過) — "잘못을 뉘우쳐라"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103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태종은 여러 차례 공개적으로 자기 실책을 인정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2200" b="1">
                <a:solidFill>
                  <a:srgbClr val="8B1A1A"/>
                </a:solidFill>
                <a:latin typeface="맑은 고딕"/>
              </a:rPr>
              <a:t>"내가 틀렸다"고 말할 수 있는 것이 임금의 위엄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현대 사례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워런 버핏의 연례 주주서한 — "올해 내 실수" 코너 상시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제프 베조스 — "Disagree and commit" 후 실패하면 공개 인정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→ 리더의 자기 오류 인정이 조직의 학습 문화를 만든다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XⅣ. 문화·민생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66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숭유학(崇儒學) — 홍문관과 18학사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문화는 장식이 아니라 통치의 기반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32004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414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홍문관(弘文館)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286000"/>
            <a:ext cx="77724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441448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태종이 설치한 학술 기관 — 정관 정치의 두뇌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32004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7296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18학사(十八學士)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017520"/>
            <a:ext cx="77724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3172968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당대 최고 학자 18명을 궁에 두고 — 태종이 직접 강론에 참여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49039"/>
            <a:ext cx="32004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04487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공자 배향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3749039"/>
            <a:ext cx="77724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3904487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공자를 국가 제사의 정식 대상으로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80559"/>
            <a:ext cx="32004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36007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『오경정의(五經正義)』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4480559"/>
            <a:ext cx="77724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4636007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경전 표준 주석서 — 후대 1,000년의 교과서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12079"/>
            <a:ext cx="32004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367527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국가 편찬 사업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5212079"/>
            <a:ext cx="77724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5367527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『진서(晉書)』·『수서(隋書)』 등 정사 편찬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CEO의 "학습하는 조직" 구축 — 베조스 매일 독서, 게이츠 Think Week의 원형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XⅣ. 문화·민생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67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사관(史官)의 직필(直筆) — "임금도 자기 기록을 보지 말라"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1031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태종이 자기 즉위 과정(현무문의 변)을 기록한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실록을 보자고 청함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사관: "군주가 사서(史書)를 보면 직필(直筆)이 어려워집니다"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태종은 처음엔 불쾌했으나 결국 받아들임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기록의 독립성 — 리더도 자기 기록을 손대지 않는 원칙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"권력이 기록을 마음대로 고치면 역사는 거짓이 된다"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현대의 회계 감사·외부 이사·언론 자유의 원형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XⅣ. 문화·민생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68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무농(務農) — "농업은 나라의 근본(國之本)"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農 — 國 之 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329184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356616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태종의 친경(親耕) — 매년 봄 황제가 직접 밭을 갈고 씨를 뿌림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농번기에는 요역(徭役) 동원을 피함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— 백성의 일정에 국가가 맞춘다 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균전제(均田制) — 모든 농민에게 일정 면적의 땅을 지급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조용조(租·庸·調) — 곡식·노동·옷감을 정해진 비율로 거둠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XⅣ. 문화·민생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69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형법(刑法) — 당률(唐律)과 관대한 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2199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寬 簡 之 法 — 관대하고 평이한 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5467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5형(五刑) 체계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3017520"/>
            <a:ext cx="77724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3154679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笞(태)·杖(장)·徒(도)·流(유)·死(사)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39312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7647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정상참작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3639312"/>
            <a:ext cx="77724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3776472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나이·신분·환경 고려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61104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9826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약자 보호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4261104"/>
            <a:ext cx="77724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4398264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노인·어린이·여성·장애인 특별 조항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82896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2005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삼복주(三覆奏)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4882896"/>
            <a:ext cx="77724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5020056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사형은 3중 재심 + 집행 당일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04688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418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수의 가혹한 법 폐지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5504688"/>
            <a:ext cx="77724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5641848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엄벌주의를 인정주의로 전환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→ 당률은 이후 1,000년 동아시아(한국·일본·베트남) 법제의 뼈대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XⅤ. 군사·외교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70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兵者凶器 — "병은 흉기라 부득이할 때만 쓴다"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兵 者 凶 器   不 得 已 用 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병자흉기 부득이용지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정벌편 제35 (노자·손자병법과 통하는 사상)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1148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"전쟁(兵)은 흉기(凶器)이니 부득이할 때만 쓴다"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212080"/>
            <a:ext cx="108813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손자병법의 "不戰而屈人之兵"과 같은 정신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정관의 외교는 "정복보다 회유·교역·혼인 동맹"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XⅤ. 군사·외교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71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돌궐 평정(630) — 천가한(天可汗) 칭호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이정(李靖) 장군의 기습 작전 → 힐리가한(頡利可汗) 생포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600" b="0">
                <a:solidFill>
                  <a:srgbClr val="8B1A1A"/>
                </a:solidFill>
                <a:latin typeface="맑은 고딕"/>
              </a:rPr>
              <a:t>항복자 포용 — 힐리가한을 죽이지 않고 황궁 근처에 거주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다른 추장들은 당의 장군으로 받아들임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天   可   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83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천가한 — "하늘의 가한(可汗·황제)"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321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북방·서역의 여러 부족이 태종에게 바친 존칭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— "정복 후 포용"이 만든 동아시아 최초의 다민족 평화 체제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XⅤ. 군사·외교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72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문성공주(文成公主)의 토번 화친 (641년)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— 전쟁 없는 외교의 모범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토번(吐蕃·티베트)의 송첸감포(松贊干布)가 결혼 요청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태종이 종실의 딸 문성공주를 파견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2000" b="1">
                <a:solidFill>
                  <a:srgbClr val="8B1A1A"/>
                </a:solidFill>
                <a:latin typeface="맑은 고딕"/>
              </a:rPr>
              <a:t>→ 전쟁 없이 수백 년 평화 —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당 문화가 토번으로 전파되는 계기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현대 적용 — 소프트 파워(Soft Power)의 원조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무력이 아니라 문화·교류·동맹으로 영향력을 확장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전쟁 비용보다 외교 비용이 훨씬 싸다는 통찰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XⅤ. 군사·외교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73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고구려 원정 실패(645) — "위징이 있었다면…"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정관 19년(645) — 태종이 직접 고구려 원정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안시성(安市城) 공략 실패 → 철군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직간자 위징은 이미 2년 전에 사망 (643년)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철군하며 태종이 한탄: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2000" b="1">
                <a:solidFill>
                  <a:srgbClr val="8B1A1A"/>
                </a:solidFill>
                <a:latin typeface="맑은 고딕"/>
              </a:rPr>
              <a:t>"위징이 살아 있었다면</a:t>
            </a:r>
          </a:p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 나를 이런 원정으로 보내지 않았을 것이다"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→ 명군도 자만에 빠진다. 직간자 부재의 위험을 자기 경험으로 입증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XⅥ. 신종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74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권10 — 군주의 일상 절제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56032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39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37 행행(行幸)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103120"/>
            <a:ext cx="841248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194560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"임금 한 번 움직이면 10만 가구가 고달프다"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606039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행차·순행 최소화 — 통치자의 발걸음 자체가 사회적 비용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256032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38 전렵(畋獵)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3200400"/>
            <a:ext cx="841248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3291840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취미는 재앙의 시작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703320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사냥도 삼면 몰이(三驅)의 옛 예를 지켜 과하지 않게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256032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39 재상(災祥)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4297680"/>
            <a:ext cx="841248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4389120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"상서를 좋아하는 임금은 재이가 온다"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800600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가뭄·홍수를 하늘의 경고로 받아 자기 반성의 계기로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94960"/>
            <a:ext cx="256032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66928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40 신종(愼終)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5394960"/>
            <a:ext cx="841248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5486400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정관정요의 대미(大尾)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897880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위징의 「신종소」 — 십점불극종(十漸不克終)의 경고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XⅥ. 신종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75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「신종소(愼終疏)」 ① — 십점불극종 1~5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정관 13년경 위징이 올린 가장 강력한 상소 — 열 가지 점진적 흔들림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6400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5059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2286000"/>
            <a:ext cx="438912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45059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검소 → 사치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286000"/>
            <a:ext cx="594360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450592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궁궐 증축·토목 욕망 — 사치의 시작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63240"/>
            <a:ext cx="6400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2783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3063240"/>
            <a:ext cx="438912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간언 환영 → 회피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3063240"/>
            <a:ext cx="594360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3227832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귀에 거슬리는 말을 피함 — 정보 차단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6400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050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3840480"/>
            <a:ext cx="438912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00507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근면 → 게으름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3840480"/>
            <a:ext cx="594360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4005072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새벽 조회 → 사냥장에서 시간 소비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17720"/>
            <a:ext cx="6400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78231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160" y="4617720"/>
            <a:ext cx="438912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478231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신뢰 → 의심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4617720"/>
            <a:ext cx="594360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4782312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신하에게 권한 위임 → 작은 일까지 개입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394959"/>
            <a:ext cx="6400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559551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5394959"/>
            <a:ext cx="438912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559551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인의 → 처벌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5394959"/>
            <a:ext cx="594360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5559551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인의로 다스림 → 처벌을 즐기는 경향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XⅥ. 신종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76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「신종소」 ② — 십점불극종 6~10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6400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194560"/>
            <a:ext cx="438912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욕망 제어 → 합리화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194560"/>
            <a:ext cx="594360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359152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"이 정도는 괜찮다" — 자기 기준 완화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71800"/>
            <a:ext cx="6400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3639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2971800"/>
            <a:ext cx="438912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13639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능력 판단 → 편애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2971800"/>
            <a:ext cx="594360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136392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좋아하는 사람을 편애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49039"/>
            <a:ext cx="6400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13631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3749039"/>
            <a:ext cx="438912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913631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공사 분리 → 혼동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3749039"/>
            <a:ext cx="594360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913631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개인적 호오가 정책에 영향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26279"/>
            <a:ext cx="6400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690871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4526279"/>
            <a:ext cx="438912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4690871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신하 수고 감사 → 당연시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4526279"/>
            <a:ext cx="594360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690871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겸양 상실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03519"/>
            <a:ext cx="6400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468111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5303519"/>
            <a:ext cx="438912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468111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백성 두려움 → 자만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5303519"/>
            <a:ext cx="594360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5468111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"나의 덕으로 다스려진다"의 자만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태종의 반응: "위징이 없었다면 나는 이 변화를 보지 못했을 것이다"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XⅥ. 신종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77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愼終如始 — 정관정요의 최종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0" b="1">
                <a:solidFill>
                  <a:srgbClr val="8B1A1A"/>
                </a:solidFill>
                <a:latin typeface="맑은 고딕"/>
              </a:rPr>
              <a:t>愼 終 如 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556070"/>
                </a:solidFill>
                <a:latin typeface="맑은 고딕"/>
              </a:rPr>
              <a:t>신종여시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416052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4348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"처음처럼 끝까지 삼가면, 실패할 일이 없다(則無敗事)"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49240"/>
            <a:ext cx="108813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태종은 이 상소를 받고 "매일 보며 자신의 흔들림을 점검하겠다"고 공개 다짐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40편 460여 일화가 결국 이 한 줄로 수렴 — 정관정요의 압축된 결론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명구절 (1/10)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78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맑은 고딕"/>
              </a:rPr>
              <a:t>先 正 其 身   然 後 能 正 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선정기신 연후능정인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먼저 제 몸을 바르게 한 뒤에야 남을 바르게 할 수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군도편 제1 (위징의 답)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명구절 (2/10)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79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맑은 고딕"/>
              </a:rPr>
              <a:t>君 者 舟 也   庶 人 者 水 也
水 則 載 舟   水 則 覆 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군자주야 서인자수야 · 수즉재주 수즉복주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임금은 배요 백성은 물 — 물은 배를 띄우기도 뒤집기도 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정체편 제2 (순자 인용)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명구절 (3/10)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80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8B1A1A"/>
                </a:solidFill>
                <a:latin typeface="맑은 고딕"/>
              </a:rPr>
              <a:t>兼 聽 則 明   偏 信 則 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겸청즉명 편신즉암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두루 들으면 밝고, 한쪽만 믿으면 어둡다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정체편 제2 (위징의 답)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명구절 (4/10)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81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以 銅 爲 鑒   可 以 正 衣 冠
以 古 爲 鑒   可 以 知 興 替
以 人 爲 鑒   可 以 明 得 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이동위감 가이정의관 · 이고위감 가이지흥체 · 이인위감 가이명득실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구리로 거울 삼으면 의관, 옛일로 거울 삼으면 흥망, 사람으로 거울 삼으면 득실을 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구간편 — 위징 추도 (643년)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명구절 (5/10)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82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為 政 之 要   唯 在 得 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위정지요 유재득인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정치의 요체는 오직 사람을 얻는 데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택관편 제7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명구절 (6/10)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83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0" b="1">
                <a:solidFill>
                  <a:srgbClr val="8B1A1A"/>
                </a:solidFill>
                <a:latin typeface="맑은 고딕"/>
              </a:rPr>
              <a:t>民 無 信 不 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민무신불립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백성에게 신의(信)가 없으면 나라가 서지 않는다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성신편 제17 (논어 인용)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명구절 (7/10)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84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8B1A1A"/>
                </a:solidFill>
                <a:latin typeface="맑은 고딕"/>
              </a:rPr>
              <a:t>兵 者 凶 器   不 得 已 用 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병자흉기 부득이용지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병(兵)은 흉기(凶器)라 부득이할 때만 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정벌편 제35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명구절 (8/10)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85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愼 終 如 始   則 無 敗 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신종여시 즉무패사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처음처럼 끝까지 삼가면 실패할 일이 없다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신종편 제40 (위징 「신종소」)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명구절 (9/10)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86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魏 徵 沒   朕 亡 一 鑒 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위징몰 짐망일감의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위징이 죽으니, 짐이 거울 하나를 잃었다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구간편 — 태종의 추도 (643년)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명구절 (10/10)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87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1">
                <a:solidFill>
                  <a:srgbClr val="8B1A1A"/>
                </a:solidFill>
                <a:latin typeface="맑은 고딕"/>
              </a:rPr>
              <a:t>創 業 難   守 成 亦 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창업난 수성역난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창업도 어렵지만, 수성(守成)도 어렵다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정체편 제2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XⅧ. 후대 수용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88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한국 — 세종과 정조의 정관정요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세종(1397~1450)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— "조선의 정관"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484632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정관정요를 통치의 기본 텍스트로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경연(經筵) 1,898회 중 핵심 교재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집현전·한글·과학·음악·법전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황희·맹사성·신숙주 등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— 위징·방현령·두여회 구도의 재현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정관의 치를 능가하는 성과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정조(1752~1800)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7432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— 정관정요의 학문적 재해석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91840"/>
            <a:ext cx="484632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정관정요 연구에 깊이 투자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『홍재전서(弘齋全書)』에 분석 수록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군신감계 정신으로 당쟁 조율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— 노론·소론·남인 다당제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초계문신제(抄啟文臣制) 운영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— 홍문관 18학사의 조선판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XⅧ. 후대 수용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89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일본 — 도쿠가와 이에야스의 수용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"치도(治道)의 스승"으로 숭배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2199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도쿠가와 이에야스(徳川家康, 1543~1616)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• 정관정요를 "치도(治道)의 스승"으로 숭배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• 에도 시대 300년 평화(1603~1867)의 사상적 기초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• 임제종 선사(臨濟禪師) 고젠(狐禪)에게 강론을 청함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• 막부 관료 교육에 정관정요를 정식 편입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• "창업수성" 개념을 도쿠가와 가문 승계의 핵심 원칙으로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XⅧ. 후대 수용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90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베트남·동아시아 한자 문화권 전체로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365760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0487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베트남 리(李) 왕조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1009~1225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286000"/>
            <a:ext cx="731520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532888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궁정 필독서로 정관정요 채택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365760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64991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베트남 쩐(陳) 왕조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1225~1400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246120"/>
            <a:ext cx="731520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493008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왕세자 교육 교과서로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06240"/>
            <a:ext cx="365760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251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류큐(琉球) 왕국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14~19세기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4206240"/>
            <a:ext cx="731520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453127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책봉 외교와 함께 정관정요 수용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66359"/>
            <a:ext cx="365760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85231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동아시아 한자 문화권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23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8세기 이후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5166359"/>
            <a:ext cx="731520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5413248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한국·중국·일본·베트남 공통 경전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1,300년 동안 동아시아 군주들이 공유한 단 하나의 정치 교과서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XⅧ. 후대 수용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91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기업 경영과의 접점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17720" y="1828800"/>
            <a:ext cx="713232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수성(守成)의 어려움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92024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Innovator's Dilemma — 성공한 기업의 혁신 실패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4114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2331720"/>
            <a:ext cx="71323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세 거울(三鏡)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2316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360도 피드백 — 다각도 평가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39"/>
            <a:ext cx="4114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834639"/>
            <a:ext cx="713232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26079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임현(任賢)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926079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강점 기반 팀 빌딩 (Gallup)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37559"/>
            <a:ext cx="4114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337559"/>
            <a:ext cx="71323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28999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구간·납간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428999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심리적 안전감 — Google Aristotle 연구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40479"/>
            <a:ext cx="4114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3840479"/>
            <a:ext cx="713232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31919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창업수성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931919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블리츠스케일링 vs 장기 경영의 균형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43399"/>
            <a:ext cx="4114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4343399"/>
            <a:ext cx="71323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434839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권6 9병폐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434839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CEO 성과 평가 체크리스트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46319"/>
            <a:ext cx="4114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4846319"/>
            <a:ext cx="713232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937759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삼복주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937759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다중 검증 시스템 (Checks &amp; Balances)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349239"/>
            <a:ext cx="4114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17720" y="5349239"/>
            <a:ext cx="71323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440679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겸청즉명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5440679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다양성 경영(Diversity Management)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852159"/>
            <a:ext cx="4114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17720" y="5852159"/>
            <a:ext cx="713232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943599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신종여시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5943599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아마존 베조스 "Day 1" 정신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XⅨ.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92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정관정요 · 한비자 · 군주론(마키아벨리)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18288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783080"/>
            <a:ext cx="32918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87451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정관정요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79" y="1783080"/>
            <a:ext cx="329184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79" y="187451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한비자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1783080"/>
            <a:ext cx="292608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군주론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18288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231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인간관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2286000"/>
            <a:ext cx="329184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24231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덕 + 이기심의 혼재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79" y="2286000"/>
            <a:ext cx="329184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19" y="24231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이기심 중심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2286000"/>
            <a:ext cx="292608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2423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이기적 본성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80360"/>
            <a:ext cx="18288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0175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통치 기반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2880360"/>
            <a:ext cx="32918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3160" y="30175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덕치(德治) + 제도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79" y="2880360"/>
            <a:ext cx="32918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19" y="30175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법(法)·술(術)·세(勢)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2880360"/>
            <a:ext cx="29260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30175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권력·공포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74720"/>
            <a:ext cx="18288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611879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군주상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1720" y="3474720"/>
            <a:ext cx="329184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23160" y="36118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덕 있는 조율자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79" y="3474720"/>
            <a:ext cx="329184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19" y="36118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엄밀한 시스템 설계자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3474720"/>
            <a:ext cx="292608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361187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결단의 권력자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069080"/>
            <a:ext cx="18288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2062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신하상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31720" y="4069080"/>
            <a:ext cx="32918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23160" y="4206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거울 같은 동반자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79" y="4069080"/>
            <a:ext cx="32918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19" y="4206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경계 대상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6840" y="4069080"/>
            <a:ext cx="29260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98280" y="4206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도구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663440"/>
            <a:ext cx="18288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8006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변화관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31720" y="4663440"/>
            <a:ext cx="329184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23160" y="48006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초심 유지(愼終)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79" y="4663440"/>
            <a:ext cx="329184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19" y="48006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현실 적응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06840" y="4663440"/>
            <a:ext cx="292608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98280" y="4800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단기 실용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257800"/>
            <a:ext cx="18288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3949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시점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31720" y="5257800"/>
            <a:ext cx="32918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23160" y="53949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안정기 치세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79" y="5257800"/>
            <a:ext cx="32918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19" y="53949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혼란기 통제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06840" y="5257800"/>
            <a:ext cx="29260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98280" y="53949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혼란기 권력 획득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852160"/>
            <a:ext cx="18288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59893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대표 덕목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31720" y="5852160"/>
            <a:ext cx="329184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423160" y="59893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신종여시(愼終如始)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79" y="5852160"/>
            <a:ext cx="329184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60719" y="59893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엄밀한 법치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06840" y="5852160"/>
            <a:ext cx="292608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98280" y="59893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virtù(역량)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XX.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93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 문장으로 정리하는 정관정요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881360" cy="44805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현무문의 변으로 형을 죽이고 즉위한 당 태종이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수 양제의 멸망을 반면교사 삼아</a:t>
            </a:r>
          </a:p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위징·방현령·두여회·장손황후와 함께</a:t>
            </a:r>
          </a:p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정관 23년간 만들어 낸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"정관의 치(治)"의 모든 비결을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사관 오긍이 10권 40편으로 정리한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2400" b="1">
                <a:solidFill>
                  <a:srgbClr val="1F2A44"/>
                </a:solidFill>
                <a:latin typeface="맑은 고딕"/>
              </a:rPr>
              <a:t>동아시아 제왕학의 절대 표준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— 자기 욕망을 다스리는 리더, 반대 의견을 받아내는 조직 —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"끝을 삼가는 용기"의 23년 기록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XX.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94 / 95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태종의 임종 유언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— 제왕의 어려움은 시작이 아니라 끝에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698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"제왕의 어려움은 시작이 아니라 끝에 있다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 나는 후반에 이르러 많은 실수를 했다"</a:t>
            </a:r>
          </a:p>
          <a:p>
            <a:pPr algn="l">
              <a:lnSpc>
                <a:spcPct val="125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1F2A44"/>
                </a:solidFill>
                <a:latin typeface="맑은 고딕"/>
              </a:rPr>
              <a:t>"너는 내 전반기를 본받고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 후반기는 거울로 삼으라"</a:t>
            </a:r>
          </a:p>
          <a:p>
            <a:pPr algn="l">
              <a:lnSpc>
                <a:spcPct val="125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12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— 태종의 마지막 가르침 (649년, 향년 52세)</a:t>
            </a:r>
          </a:p>
          <a:p>
            <a:pPr algn="l">
              <a:lnSpc>
                <a:spcPct val="125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8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자기 실패까지 정직하게 물려준 명군의 마지막 말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8B1A1A"/>
                </a:solidFill>
                <a:latin typeface="맑은 고딕"/>
              </a:rPr>
              <a:t>愼 終 如 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556070"/>
                </a:solidFill>
                <a:latin typeface="맑은 고딕"/>
              </a:rPr>
              <a:t>신종여시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38404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"처음처럼 끝까지 삼가면, 실패할 일이 없다"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— 신종편 제40, 위징 「신종소」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정관 23년의 비결, 그리고 1,300년 동안 이어진 한 줄의 가르침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2A44"/>
                </a:solidFill>
                <a:latin typeface="맑은 고딕"/>
              </a:rPr>
              <a:t>감사합니다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