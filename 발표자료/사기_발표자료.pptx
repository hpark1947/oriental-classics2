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0" b="1">
                <a:solidFill>
                  <a:srgbClr val="1F2A44"/>
                </a:solidFill>
                <a:latin typeface="맑은 고딕"/>
              </a:rPr>
              <a:t>史 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8B1A1A"/>
                </a:solidFill>
                <a:latin typeface="맑은 고딕"/>
              </a:rPr>
              <a:t>Records of the Grand Historian · 사기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251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사마천(司馬遷) · 130편 · 황제(黃帝)~한 무제 3,000년의 통사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본기 12 + 표 10 + 서 8 + 세가 30 + 열전 70 = 130편 · 52만 6,500자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"史家之絕唱 無韻之離騷"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사가의 절창, 운율 없는 이소 — 노신(魯迅)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4630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사기란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사마천의 생애 — 궁형과 발분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432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오체(五體) 구조 — 130편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383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다섯 파격 — 격식을 깨다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0233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10대 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6634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핵심 인물 16인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4630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4630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7대 명장면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031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명구 10선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43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7432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사마천의 사상 — 삼구(三句)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832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383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후대 영향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233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0233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현대적 의의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6634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6634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사기(史記)란 무엇인가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중국 최초의 기전체(紀傳體) 통사 · 24사(史)의 머리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"인물"을 축으로 역사를 구성한 동양 역사 서술의 원형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편(篇)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약 52만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4663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6,500자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약 3,000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4663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년 통사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399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14~15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399" y="4663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년 편찬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황제(黃帝)에서 한 무제 태초(太初) 연간까지 — 사실상 동양 문명사의 출발점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"역사서이자 문학의 걸작" — 인물·일화·고사가 모두 여기서 시작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책의 위상 — 핵심 정보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21031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6040" y="1783080"/>
            <a:ext cx="91440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정식 명칭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8288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태사공서(太史公書)·태사공기(太史公記)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74519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위진(魏晉) 이후 "사기(史記)"로 통칭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21031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2386584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2374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편자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432303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사마천(司馬遷, BC 145?~86?)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478024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한(漢) 무제 시대 태사령(太史令)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90088"/>
            <a:ext cx="21031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40" y="2990088"/>
            <a:ext cx="91440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2724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편찬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03580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BC 108 착수 → BC 91경 완성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08152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약 14~15년 · 궁형(BC 99) 전후 작업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93592"/>
            <a:ext cx="21031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06040" y="3593592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3075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분량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63931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130편 · 52만 6,500자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685032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본기 12 + 표 10 + 서 8 + 세가 30 + 열전 70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97096"/>
            <a:ext cx="21031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06040" y="4197096"/>
            <a:ext cx="91440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33425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수록 기간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242816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약 3,000년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28853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전설의 황제(黃帝)~한 무제 태초 연간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00600"/>
            <a:ext cx="21031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06040" y="480060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9377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형식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48463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기전체(紀傳體)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89204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인물 중심 — 사마천이 발명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04104"/>
            <a:ext cx="21031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06040" y="5404104"/>
            <a:ext cx="91440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54126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성격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544982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24사(史)의 머리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495544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이후 모든 정사가 이 체제를 계승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007608"/>
            <a:ext cx="210312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06040" y="6007608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14476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평가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97480" y="605332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"史家之絕唱, 無韻之離騷"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09904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— 노신(魯迅) — "역사이자 문학의 절정"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기전체(紀傳體) — 사마천의 발명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56070"/>
                </a:solidFill>
                <a:latin typeface="맑은 고딕"/>
              </a:rPr>
              <a:t>이전의 사서 — 편년체·국별체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연대순(편년체)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춘추 · 좌전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국가별(국별체)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국어(國語) · 전국책(戰國策)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8B1A1A"/>
                </a:solidFill>
                <a:latin typeface="맑은 고딕"/>
              </a:rPr>
              <a:t>한계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"개인의 삶이 드러나지 않는다"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사기 — 기전체(紀傳體)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"인물"을 축으로 역사를 구성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본기(紀) — 제왕의 일생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열전(傳) — 신하·인물의 일생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"한 사람의 삶"이 역사의 단위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"왕조의 흥망"이 아니라 "인간이 어떻게 살고 죽었는가"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한서·후한서·24사 모두 이 체제를 계승 — 동양 역사 서술의 표준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노신(魯迅)의 한 마디 — 사기의 본질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8B1A1A"/>
                </a:solidFill>
                <a:latin typeface="맑은 고딕"/>
              </a:rPr>
              <a:t>史 家 之 絕 唱   無 韻 之 離 騷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사가지절창 · 무운지이소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700" b="1">
                <a:solidFill>
                  <a:srgbClr val="1F2A44"/>
                </a:solidFill>
                <a:latin typeface="맑은 고딕"/>
              </a:rPr>
              <a:t>"사가(史家)의 절창(絕唱)이요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 운율 없는 이소(離騷)"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"역사이자 동시에 문학의 절정"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사가로서는 가장 높은 노래(絕唱)이고</a:t>
            </a:r>
          </a:p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운율은 없으나 굴원의 이소(離騷)에 견줄 만큼 문학적이다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동아시아 한문 교양의 공통 기반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"한·중·일 지식인이 공유하는 인물·고사·명구가 모두 사기에서 나왔다"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2860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4144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중국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194560"/>
            <a:ext cx="877824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286000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24사(史)의 머리 · 모든 정사의 표준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651760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당송팔대가의 고문 전범 · 삼국지연의·수호전의 인물 작법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22860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1985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한국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172968"/>
            <a:ext cx="877824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3264408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김부식 『삼국사기』(1145) — 본기·연표·지·열전 4체 계승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630168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조선왕조실록 · 정조의 사기 강독 · 김원중 역(현대)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51376"/>
            <a:ext cx="22860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9826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일본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4151376"/>
            <a:ext cx="877824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4242816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헤이안 시대 귀족 교양 · 에도 무사의 필독서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608576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시바 료타로(司馬遼太郎) 필명 · 라이 산요 『일본외사』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29784"/>
            <a:ext cx="22860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7667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동아시아 공통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129784"/>
            <a:ext cx="877824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3240" y="5221224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인물 일화 · 고사성어 · 명구의 공통 기반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5586984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"한문 교양 = 사기를 읽었다는 뜻"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사마천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사마씨 — 주(周) 왕실부터 이어온 사관(史官) 가문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8B1A1A"/>
                </a:solidFill>
                <a:latin typeface="맑은 고딕"/>
              </a:rPr>
              <a:t>司
馬
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0312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사마천(BC 145?~86?)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자(字) 자장(子長) · 한(漢) 무제 시대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가문 — 사관(史官)의 세습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주(周) 왕실 사관을 이어온 세습 가문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아버지 — 사마담(司馬談)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한 무제 때 태사령(太史令)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천문·역법·국가 제사·문서 기록 관장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1F2A44"/>
                </a:solidFill>
                <a:latin typeface="맑은 고딕"/>
              </a:rPr>
              <a:t>  사기 편찬의 첫 불씨를 사마천에게 남김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사마천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아버지 사마담의 유언 (BC 110) — 사기의 첫 불씨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한 무제의 태산 봉선(封禪)에 참여 못 하고 낙양에서 임종 직전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"내가 죽거든 너는 반드시 태사가 되어라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 태사가 되거든 내가 논저(論著)하려 했던 바를 잊지 말라"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"공자가 춘추를 지은 뒤 400여 년이 지났고 역사의 기록이 끊어졌다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한이 흥한 이래 명주·현군·충신·의사들의 일을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 내가 논평하지 못한다면 천하의 문헌이 사라질까 두렵다"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300" b="1">
                <a:solidFill>
                  <a:srgbClr val="1F2A44"/>
                </a:solidFill>
                <a:latin typeface="맑은 고딕"/>
              </a:rPr>
              <a:t>→ 사기의 동기 ① — 아버지의 유언을 잇는 효(孝)와 사관의 책임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사마천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20세의 천하 순력(巡歷) — 사기의 동기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"문헌과 현장을 결합한 실증(實證)의 역사"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7432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2199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회계(會稽)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103120"/>
            <a:ext cx="832104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221991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우(禹) 임금의 무덤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24912"/>
            <a:ext cx="27432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4378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구의(九疑)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724912"/>
            <a:ext cx="832104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843784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순(舜) 임금의 전설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46704"/>
            <a:ext cx="27432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6557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장강·회수·제노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346704"/>
            <a:ext cx="832104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465576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광활한 답사 — 풍토와 인심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68496"/>
            <a:ext cx="27432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873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곡부(曲阜)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968496"/>
            <a:ext cx="832104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4087368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공자의 고향 — "高山仰止" 체험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90288"/>
            <a:ext cx="27432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70915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설(薛)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590288"/>
            <a:ext cx="832104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4709159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맹상군의 옛 자취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212079"/>
            <a:ext cx="27432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33095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오강(烏江)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5212079"/>
            <a:ext cx="832104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5330951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항우가 자결한 자리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"후일 열전의 생생한 현장감은 이때의 답사에서 나왔다"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사마천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이릉(李陵)의 화(BC 99) — 궁형(宮刑)의 비극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BC 99년 — 명장 이광(李廣)의 손자 이릉이 흉노에 항복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조정의 모두가 이릉을 역적으로 매도</a:t>
            </a:r>
          </a:p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오직 사마천만이 무제 앞에서 이릉을 변호 — "중과부적이었습니다"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무제의 격노 — 사형 선고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한대 사형수의 두 길 — ① 돈 50만 전 또는 ② 궁형(宮刑, 거세형)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돈이 없었고 가족·친구 누구도 나서지 않음 → 궁형을 선택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사마천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『보임안서(報任安書)』 — 발분저서(發憤著書)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"문왕이 갇혀 주역을, 중니가 곤하여 춘추를…"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"人 固 有 一 死  或 重 於 泰 山  或 輕 於 鴻 毛"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인고유일사 혹중어태산 혹경어홍모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1124712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"사람은 누구나 한 번 죽는다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 그 죽음이 태산보다 무거울 수도 있고, 기러기 털보다 가벼울 수도 있다"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"문왕이 갇혀 주역을 펼치고, 중니가 곤하여 춘추를 짓고,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굴원이 쫓겨나 이소를 짓고, 좌구명이 실명하여 국어를 남기고,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손자가 다리 잘리고 병법을, 한비자가 갇혀 세난·고분을 지었다"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→ 발분저서(發憤著書) — 고난이 기록을 낳는다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사마천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"명산에 감춘 책" — 사후의 전승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완성 직후 사마천의 선언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2200" b="1">
                <a:solidFill>
                  <a:srgbClr val="8B1A1A"/>
                </a:solidFill>
                <a:latin typeface="맑은 고딕"/>
              </a:rPr>
              <a:t>"藏 諸 名 山  傳 之 其 人"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"이 책을 명산(名山)에 감추고, 부본을 경사(京師)에 남겨 후세의 군자를 기다린다"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전승의 연쇄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사마천 사후 — 외손자 양운(楊惲)이 부본 보관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선제(宣帝, BC 74~49) 시기 — 양운이 사기 공개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반고 『한서』(1세기) — 사기의 무제 이전 부분을 흡수, 함께 보존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송대 — 사기집해·색은·정의 "삼가주(三家注)" 합본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오체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오체(五體) — 130편의 다섯 기둥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4630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부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828800"/>
            <a:ext cx="10972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92024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편수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828800"/>
            <a:ext cx="36576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9202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주인공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1828800"/>
            <a:ext cx="24688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9202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형식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1828800"/>
            <a:ext cx="30175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9202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시간 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31720"/>
            <a:ext cx="146304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68879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본기(本紀)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2331720"/>
            <a:ext cx="109728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246887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12편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2331720"/>
            <a:ext cx="36576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246887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제왕·실질 최고 권력자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2331720"/>
            <a:ext cx="246888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46887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연대기(紀)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2331720"/>
            <a:ext cx="301752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468879"/>
            <a:ext cx="2834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황제~한 무제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926079"/>
            <a:ext cx="14630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063239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표(表)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2926079"/>
            <a:ext cx="10972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306323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10편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2926079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30632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시대 전체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80" y="2926079"/>
            <a:ext cx="24688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306323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연표·세계표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2926079"/>
            <a:ext cx="30175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19" y="3063239"/>
            <a:ext cx="2834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BC 2700~BC 100경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520439"/>
            <a:ext cx="146304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657599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서(書)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65960" y="3520439"/>
            <a:ext cx="109728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365759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8편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3520439"/>
            <a:ext cx="36576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365759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제도·문물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12280" y="3520439"/>
            <a:ext cx="246888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365759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분야사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3520439"/>
            <a:ext cx="301752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19" y="3657599"/>
            <a:ext cx="2834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고대~한대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14800"/>
            <a:ext cx="14630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25196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세가(世家)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65960" y="4114800"/>
            <a:ext cx="10972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42519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30편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08960" y="411480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0" y="42519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제후국·공신·특수 인물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12280" y="4114800"/>
            <a:ext cx="24688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03720" y="42519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가계 열전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6880" y="4114800"/>
            <a:ext cx="30175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18319" y="4251960"/>
            <a:ext cx="2834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주초~한 무제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709160"/>
            <a:ext cx="146304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8463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열전(列傳)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65960" y="4709160"/>
            <a:ext cx="109728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48463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70편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08960" y="4709160"/>
            <a:ext cx="36576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0" y="48463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개인·집단·이민족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12280" y="4709160"/>
            <a:ext cx="246888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03720" y="48463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인물 열전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26880" y="4709160"/>
            <a:ext cx="301752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18319" y="4846320"/>
            <a:ext cx="2834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은말~한 무제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합계 130편 · 52만 6,500자 — 한 사건을 다섯 각도에서 비추는 입체 구조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오체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본기(本紀) 12편 — 제왕의 연대기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9144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5623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783080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85623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오제본기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783080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856231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황제·전욱·제곡·요·순 — 문명의 기원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9144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5915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2286000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3591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하본기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286000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359152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우 임금 — 치수와 선양→세습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9144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6207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2788920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28620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은본기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788920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2862072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탕~주왕 — 천명(天命)의 이동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39"/>
            <a:ext cx="9144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6499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3291839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36499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주본기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3291839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3364991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문왕·무왕~동주 — 봉건의 흥망 800년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94759"/>
            <a:ext cx="9144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86791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3794759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386791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진본기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3794759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0" y="3867911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 목공~장양왕 — 변방의 강국화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297679"/>
            <a:ext cx="9144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37083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40" y="4297679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437083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진시황본기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4297679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4370831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진시황·2세·자영 — 통일과 15년 멸망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800599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87375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63040" y="4800599"/>
            <a:ext cx="3200400" cy="4572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54480" y="487375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항우본기 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4800599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4873751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서초패왕 — 제왕이 아닌데도 본기 (파격)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303519"/>
            <a:ext cx="9144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37667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63040" y="5303519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54480" y="537667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고조본기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5303519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37760" y="5376671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한 태조 유방 — 정장(亭長)에서 황제로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806439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87959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63040" y="5806439"/>
            <a:ext cx="3200400" cy="4572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54480" y="587959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여태후본기 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0" y="5806439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37760" y="5879591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여후의 수렴청정 — 여성을 본기에 (파격)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6309359"/>
            <a:ext cx="9144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638251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10-12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463040" y="6309359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54480" y="638251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효문·효경·효무본기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54880" y="6309359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37760" y="6382511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문제·경제·무제 — 문경의 치와 한 무제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오체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표(表) 10편 — 시대의 골격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"오늘날의 타임라인 차트"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표(表)는 사기의 가장 독창적 발명 중 하나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편년체 서사에서 놓치기 쉬운</a:t>
            </a:r>
          </a:p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"동시대 여러 국가·인물의 병렬 관계"를 도표로 정리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대표 표 — 한흥이래장상명신연표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한나라 역대 재상의 재임 기간과 사유를 한눈에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"왜 왔다가 어떻게 떠났는가" — 한 도표로 1세기 정치사 파노라마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현대의 인포그래픽·타임라인의 동양 원형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오체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서(書) 8편 — 문명의 제도 (분야사)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7432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예서(禮書)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41148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94767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예제의 역사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828800"/>
            <a:ext cx="420624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94767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의전·사회 규범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95728"/>
            <a:ext cx="27432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악서(樂書)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395728"/>
            <a:ext cx="41148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5146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음악과 교화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2395728"/>
            <a:ext cx="420624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5146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문화 정책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62656"/>
            <a:ext cx="27432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8152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율서(律書)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962656"/>
            <a:ext cx="41148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308152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병법과 음률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2962656"/>
            <a:ext cx="420624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308152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국방·기준 체계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529584"/>
            <a:ext cx="27432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64845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역서(曆書)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529584"/>
            <a:ext cx="41148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3648456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역법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3529584"/>
            <a:ext cx="420624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36484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달력·시간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96512"/>
            <a:ext cx="27432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21538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천관서(天官書)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4096512"/>
            <a:ext cx="41148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421538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천문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4096512"/>
            <a:ext cx="420624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421538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기상·천체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663440"/>
            <a:ext cx="27432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7823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봉선서(封禪書)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4663440"/>
            <a:ext cx="41148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478231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제왕의 태산 제사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4663440"/>
            <a:ext cx="420624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5240" y="478231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종교 정책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230368"/>
            <a:ext cx="27432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349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하거서(河渠書)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5230368"/>
            <a:ext cx="41148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29000" y="53492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치수·운하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5230368"/>
            <a:ext cx="420624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35240" y="53492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국토 개발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797296"/>
            <a:ext cx="2743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9161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평준서(平準書) 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5797296"/>
            <a:ext cx="4114800" cy="502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29000" y="591616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화폐·물가·재정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98079" y="5797296"/>
            <a:ext cx="420624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35240" y="591616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경제 정책 — 사기의 현대성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"평준서 — 국가 경제를 역사서 본문으로 다룬 최초의 시도"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오체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세가(世家) 30편 — 제후국과 특별한 인물들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춘추전국의 주요 제후국 + 한 초 제후왕·공신의 전기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오·제·노·연·진·초·월·정·조·위·한 등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539496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파격 ① — 공자세가(孔子世家)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48463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포의(布衣)의 선비를 세가에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"높은 산을 우러러본다(高山仰止)"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1">
                <a:solidFill>
                  <a:srgbClr val="8B1A1A"/>
                </a:solidFill>
                <a:latin typeface="맑은 고딕"/>
              </a:rPr>
              <a:t>사상가를 제후 반열에 — 전무후무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4114800"/>
            <a:ext cx="539496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파격 ② — 진섭세가(陳涉世家)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709160"/>
            <a:ext cx="48463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진(秦)에 반기 든 빈농 진승(陳勝)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"왕후장상에 어찌 씨가 있으랴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8B1A1A"/>
                </a:solidFill>
                <a:latin typeface="맑은 고딕"/>
              </a:rPr>
              <a:t>(王侯將相寧有種乎)"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역사를 바꾼 평민 봉기를 인정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오체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열전(列傳) 70편 — 인간 군상의 파노라마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"사기의 백미 — 개인·집단·이민족을 아우른다"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의리·지조형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828800"/>
            <a:ext cx="78638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190195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백이·오자서·굴원·염파·인상여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3200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591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책략가·유세가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286000"/>
            <a:ext cx="78638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35915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소진·장의·범저·채택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43200"/>
            <a:ext cx="3200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163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전국 사공자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2743200"/>
            <a:ext cx="78638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281635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맹상군·평원군·신릉군·춘신군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3200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735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명장·병법가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200400"/>
            <a:ext cx="78638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327355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손자·오기·백기·왕전·이광·위청·곽거병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657600"/>
            <a:ext cx="3200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307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한 초 공신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3657600"/>
            <a:ext cx="78638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373075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소하·조참·장량·한신·경포·팽월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114800"/>
            <a:ext cx="3200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1879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사상가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4114800"/>
            <a:ext cx="78638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0" y="418795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노자·한비·맹자·순경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572000"/>
            <a:ext cx="3200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6451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자객 5인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4572000"/>
            <a:ext cx="78638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0" y="464515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조말·전제·예양·섭정·형가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029200"/>
            <a:ext cx="3200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1023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이민족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5029200"/>
            <a:ext cx="78638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0" y="510235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흉노·남월·동월·조선·서남이·대원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486400"/>
            <a:ext cx="3200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5595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서민 유형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5486400"/>
            <a:ext cx="78638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0" y="555955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순리·혹리·유협·골계·편작·화식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943600"/>
            <a:ext cx="3200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0167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총결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5943600"/>
            <a:ext cx="78638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0" y="601675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태사공자서(太史公自序) — 사마천의 자전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다섯 파격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다섯 파격 — 사마천이 격식을 깨뜨린 다섯 지점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9572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194560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39572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제왕 아닌 자를 본기에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194560"/>
            <a:ext cx="2286000" cy="7772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39572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7 항우본기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194560"/>
            <a:ext cx="338328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39572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실질 권력 인정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63239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6440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3063239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6440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여성을 본기에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063239"/>
            <a:ext cx="2286000" cy="7772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326440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9 여태후본기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3063239"/>
            <a:ext cx="338328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26440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명분 아닌 실질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33087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3931920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133087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포의 학자를 세가에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931920"/>
            <a:ext cx="2286000" cy="7772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4133087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17 공자세가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931920"/>
            <a:ext cx="338328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4133087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사상 권력 인정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0060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0017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4800600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00176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평민 봉기 지도자를 세가에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800600"/>
            <a:ext cx="2286000" cy="7772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50017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18 진섭세가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4800600"/>
            <a:ext cx="338328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500176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역사 전환점 인정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66928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8704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0160" y="5669280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587044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상인·협객·점쟁이·해학가까지 열전에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5669280"/>
            <a:ext cx="2286000" cy="7772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0" y="587044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59~69 열전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5669280"/>
            <a:ext cx="338328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58200" y="58704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인간 군상 전면화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다섯 파격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파격의 공통 원리 — "신분(分)이 아니라 영향력(實)"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사마천의 편제 원리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800" b="1">
                <a:solidFill>
                  <a:srgbClr val="1F2A44"/>
                </a:solidFill>
                <a:latin typeface="맑은 고딕"/>
              </a:rPr>
              <a:t>명분(名)이 아니라 실질(實)이 역사의 척도다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"한 사람의 영향력이 역사에 남긴 자국을 본다"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"成 一 家 之 言" — 성일가지언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700" b="1">
                <a:solidFill>
                  <a:srgbClr val="1F2A44"/>
                </a:solidFill>
                <a:latin typeface="맑은 고딕"/>
              </a:rPr>
              <a:t>"한 집안(가문·학파)의 말을 이룬다"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단순 자료 편찬이 아니라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사마천 자신의 역사철학을 담은 저작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다섯 파격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입체 구조의 예 — 장평대전(BC 260) 하나를 보면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"한 사건이 다섯 차원에서 동시에 기록된다"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64592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0487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본기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28600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4048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진본기·조세가 일부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2286000"/>
            <a:ext cx="612648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240487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국가 간 전쟁의 배경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26080"/>
            <a:ext cx="164592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449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92608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3044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육국연표(六國年表)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926080"/>
            <a:ext cx="612648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304495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그 해 여섯 나라가 무엇을 했나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164592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8503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세가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356616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368503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조세가(趙世家)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3566160"/>
            <a:ext cx="612648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368503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조나라의 오판과 결과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06240"/>
            <a:ext cx="164592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32511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열전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420624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43251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백기왕전·염파인상여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4206240"/>
            <a:ext cx="612648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432511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장수들의 선택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46320"/>
            <a:ext cx="164592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96519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484632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40" y="49651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평준서(平準書)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4846320"/>
            <a:ext cx="612648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496519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40만을 묻은 뒤의 재정 파탄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국가·연표·분야·제후·개인 — 다섯 시선이 한 사건에 모인다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주제 (1/10)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주제 1 — 천도시비(天道是非)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"천도(天道)는 선인을 돕는가 — 그러나 백이는 굶어 죽었다"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선악과 운명의 불일치 — 사기 전체의 화두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4712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백이·숙제 수양산 아사 (1 백이열전)
도척의 천수 · 굴원의 멱라 · 이광의 자결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사기의 메시지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"답을 주는 책이 아니라 질문을 던지는 책"
그들의 이름을 기록함으로써 천도를 대신한다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주제 (2/10)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주제 2 — 창업(創業) vs 수성(守成)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"공수지세이야(攻守之勢異也)" — 가의 「과진론」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얻는 덕과 지키는 덕은 다르다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4712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진시황 통일 → 15년 멸망 (6 진시황본기)
한 고조 건국 → 여후의 전횡 (8·9)
문경의 치 → 무제의 팽창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사기의 메시지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"힘으로 얻고 덕으로 지킨다"
정관정요의 창업수성론과 동일한 주제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주제 (3/10)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주제 3 — 용인(用人)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"장량·소하·한신을 쓸 줄 알았기에 천하를 얻었다"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사람을 쓸 줄 아는 자가 이긴다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4712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유방 vs 항우 — 삼걸 활용 vs 범증조차 못 씀
진 목공·제 환공·진 효공·연 소왕의 인재 경영
연 소왕의 "천금매골(千金買骨)" 일화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사기의 메시지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"혼자 잘난 자가 아니라 남을 쓸 줄 아는 자"
사기가 제시하는 리더십의 최종 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주제 (4/10)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주제 4 — 공성신퇴(功成身退)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"토사구팽(兔死狗烹)·조진궁장(鳥盡弓藏)"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공을 이루고 물러설 줄 아는 자만이 살아남는다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4712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산 자 — 범려(월)·장량(한)·조참·장창
죽은 자 — 문종(월)·백기(진)·상앙·오기·이사·한신·팽월·경포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사기의 메시지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"공을 세우는 능력보다 공을 세운 후 처신이 더 어렵다"
한신의 유언이 사기 전편을 흐르는 경고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주제 (5/10)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주제 5 — 법가의 이중주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"법으로 세운 자는 법으로 망한다"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법가는 강국을 만드나 자신을 보호하지 못한다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4712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상앙(위→진) · 오기(위→초) · 이사(초→진)
한비(한→진) · 조조(한)
개혁가 5인 모두 비참한 최후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사기의 메시지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"법가의 효능을 인정하되 — 덕 없이 법만으로는
자기도 보호 못 한다"는 아이러니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주제 (6/10)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주제 6 — 사위지기자사(士爲知己者死)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"선비는 자기를 알아준 이를 위해 죽는다" — 예양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한 번의 은혜에 목숨을 바치는 의리의 극단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4712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자객 5인 — 조말·전제·예양·섭정·형가
평원군의 모수자천 · 위공자의 후영·주해
한신의 표모(漂母) 일식천금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사기의 메시지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사마천 자신이 이릉(자신을 몰랐던 자)을 변호하다
궁형을 받은 체험의 문학적 승화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주제 (7/10)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주제 7 — 발분저서(發憤著書)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"문왕이 갇혀 주역을, 중니가 곤하여 춘추를…"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고난이 기록을 낳는다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4712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문왕(주역) · 중니(춘추) · 굴원(이소)
좌구명(국어) · 손자(병법) · 여불위(여람)
한비자(세난·고분) · 그리고 사마천(사기)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사기의 메시지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"역사는 성공한 자가 아니라
실패와 고난에서 펴 올린다"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주제 (8/10)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주제 8 — 현실주의 경제관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"창고가 차야 예절을 안다(倉廩實則知禮節)" — 관중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인간의 이(利) 추구를 인정하라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4712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관중 — "창고가 차야 예절"
화식열전 — "천하가 오는 것은 모두 이익 때문"
범려(도주공)·자공·백규·의돈·오씨나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사기의 메시지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2,100년 전에 "경제가 역사의 엔진"임을 선언
사기의 가장 현대적인 면모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주제 (9/10)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주제 9 — 이민족 서술의 객관성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"흉노·조선·서남이도 한 사람의 역사"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이민족을 야만이 아니라 자기 질서를 가진 사회로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4712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흉노열전 — 묵돌선우·평성 포위·화친·정벌
조선열전 — 위만조선의 흥망 (한국 고대사 1차 사료)
남월·동월·서남이·대원 — 장건의 서역 탐사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사기의 메시지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이후 24사 이민족 서술 전통의 출발점
중국 외부도 역사의 주체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주제 (10/10)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주제 10 — 자기 시대의 반(反)서사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"승리자의 시대"인 무제의 공식 서사에 대한 행간의 비판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사기는 무제 시대의 가장 집요한 반(反) 서사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4712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효무본기 — 봉선 의례의 허황됨
봉선서 — 진시황·무제가 신선 쫓은 어리석음
평준서 — 흉노 원정의 재정 파탄
혹리열전 — 공포정치의 민낯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사기의 메시지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698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"명산에 감춘 책" — 무제가 노할 수 있는 내용
현대 중국사학자들의 공통 평가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인물 (1/16)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백이·숙제(伯夷·叔齊) — 의(義)의 화두 — 사기 전체의 시작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은말주초 · 고죽국 두 왕자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인생·일화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왕위를 사양 → 주 무왕이 은 주왕 치려는 것을 만류
"신하로 임금을 치는 것은 의가 아니다"
수양산에 들어가 고사리를 캐 먹다 굶어 죽음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사마천의 평·교훈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"천도시야비야 — 천도는 옳은가 그른가"
사기 전체를 관통하는 첫 화두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인물 (2/16)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관중·안영(管仲·晏嬰) — 명재상의 두 전형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제(齊) 환공·경공 시대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인생·일화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관중 — 환공을 도와 춘추 최초의 패업
"관포지교(管鮑之交)" · "창고가 차야 예절을 안다"
안영 — "남귤북지(南橘北枳)" · 키 작은 명재상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사마천의 평·교훈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"이런 재상을 만나는 것은 임금의 복"
경제가 예의 토대임을 선언한 정치학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인물 (3/16)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오자서(伍子胥) — 복수의 화신, 충신의 비극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춘추 말 · 초→오→월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인생·일화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초 평왕이 아버지·형 처형 → 오로 망명
수도 영(郢) 함락 후 평왕 시신을 300번 매질
오왕 부차의 자결 명령 — "내 눈을 동문에 걸어라"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사마천의 평·교훈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"日暮途遠 倒行逆施" — 해는 저물고 길은 멀어
사마천 자신(궁형)과 깊이 공명하는 인물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인물 (4/16)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공자(孔子) — 세가에 오른 유일한 사상가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BC 551~479 · 노(魯)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인생·일화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포의(布衣)임에도 세가(世家)에 배치 — 전무후무한 파격
사마천이 곡부에 가서 공자의 묘당·수레·의복을 보고
"머물러 차마 떠나지 못하였다"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사마천의 평·교훈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"高山仰止 景行行止 — 높은 산을 우러러"
권력이 아니라 사상의 영향력이 역사의 척도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인물 (5/16)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진시황(秦始皇) — 통일 제국의 설계자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BC 259~210 · 진(秦)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인생·일화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6국 통일(BC 221) — 황제 칭호 창제
군현제·문자·도량형·수레 궤간 통일
분서갱유·아방궁·여산릉 → 사후 15년 멸망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사마천의 평·교훈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가의 「과진론」 — "인의를 베풀지 않았으니
공수의 형세가 달라진 것이다"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인물 (6/16)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항우(項羽) — 본기에 오른 비극의 영웅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BC 232~202 · 초(楚)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인생·일화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진을 멸하고 천하 제패 → 해하(垓下)에서 사면초가
우희와 이별 — "力拔山兮氣蓋世"
오강(烏江)에서 자결 (31세)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사마천의 평·교훈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"왜 본기에 넣었는가" — 실질 권력자였기에
"근고 이래 미증유한 인물"의 비극미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인물 (7/16)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 고조 유방(漢高祖 劉邦) — 정장(亭長)에서 황제로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BC 256~195 · 한(漢) 태조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인생·일화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패현의 건달 출신 · 60세에 황제
낙양 잔치의 자기 평가 — "장량·소하·한신은 인걸
내가 그들을 쓸 수 있었기에 천하를 얻었다"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사마천의 평·교훈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"혼자 잘난 자가 아니라 남을 쓸 줄 아는 자"
사기가 제시하는 리더십의 최종 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인물 (8/16)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한초삼걸(漢初三傑) — 책략·내정·전쟁의 세 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장량·소하·한신 — 유방의 세 인걸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인생·일화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장량 — 박랑사 진시황 암살 시도 · 황석공의 태공병법
소하 — 진의 관부에서 도서·율령·지도를 챙김
한신 — 배수진·정형·해하 — 백전백승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사마천의 평·교훈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"세 인걸"의 협력이 한 천하를 만들었다
그러나 한신은 처세를 몰랐다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인물 (9/16)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한신의 토사구팽(韓信) — "鳥盡弓藏 兔死狗烹" — 사기 전편의 경고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회음후(淮陰侯) · BC ?~196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인생·일화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빨래터 노파의 밥(一飯千金) · 가랑이 밑(胯下之辱)
소하월하추한신 → 대장군 임명
배수진 · 정형 · 해하 → 모반의 누명 → 처형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사마천의 평·교훈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"교활한 토끼가 죽으면 사냥개도 삶긴다"
전장의 천재가 정치의 생리를 모를 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인물 (10/16)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여불위(呂不韋) — "奇貨可居" — 상인에서 승상으로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진(秦) · BC ?~235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인생·일화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조나라에서 진 인질 자초(子楚)에게 투자
조희(趙姬)를 자초에게 바침 → 그 아들이 진시황
승상 · 문신후 · 『여씨춘추』 — 일자천금(一字千金)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사마천의 평·교훈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"최대의 투자는 사람에게 한다"
그러나 권력 본체가 되는 순간 제거된다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인물 (11/16)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굴원(屈原) — 충신의 비극, 문학의 시조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BC 343?~278? · 초(楚)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인생·일화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회왕에게 합종을 권했으나 추방 → 양왕에게 다시 쫓겨남
「이소」·「천문」·「구가」 — 울분의 문학
"擧世皆濁我獨淸 衆人皆醉我獨醒" → 멱라 자결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사마천의 평·교훈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"진흙에서 매미가 흐린 껍질을 벗듯
그 지조는 해와 달과 빛을 다투어도 좋다"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인물 (12/16)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전국사공자(戰國四公子) — 용인(用人)의 네 전범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맹상군·평원군·신릉군·춘신군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인생·일화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맹상군 — 식객 3,000 · 계명구도(鷄鳴狗盜)
평원군 — 모수자천 · 첩의 목을 베어 식객 회유
신릉군 — 절부구조(竊符救趙) · 백정 주해
춘신군 — 말년에 음모로 암살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사마천의 평·교훈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"용인의 최고 수준은 신분·학벌·외모를 보지 않는 것"
사기가 네 사람의 대비로 입체화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인물 (13/16)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염파·인상여(廉頗·藺相如) — 문경지교(刎頸之交)의 모범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조(趙) · 장상(將相)의 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인생·일화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인상여 — 완벽귀조(完璧歸趙) · 민지지회(澠池之會)
염파의 불만 → 인상여가 피해 다님
"先國家之急而後私讎也" → 염파의 부형청죄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사마천의 평·교훈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"공(公)을 앞에 두고 사(私)를 뒤에 두는 신하"
"자기 잘못을 인정하는 장군"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인물 (14/16)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상앙·이사(商鞅·李斯) — "법으로 세운 자는 법으로 망한다"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법가의 두 거장 — 비극의 계열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인생·일화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상앙 — 진 효공의 변법 · 이목지신 · 거열형
이사 — 진시황 6국 통일 · 분서갱유 건의
2세 호해 옹립 · 조고의 모함으로 요참(腰斬)
"황견지탄 — 너와 함께 토끼 잡으러 가고 싶구나"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사마천의 평·교훈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"법가는 강국을 만드나 자신을 보호하지 못한다"
사마천의 반복되는 아이러니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인물 (15/16)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47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손무·오기·손빈(孫武·吳起·孫臏) — 재능과 비극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병법의 3대 거장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인생·일화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손무 — 손자병법 · 합려 앞에서 궁녀 두 명을 베다
오기 — 살처구장(殺妻求將) · 도왕 사후 암살
손빈 — 방연의 질투로 빈형(臏刑) · 마릉 전투로 복수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사마천의 평·교훈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"병법의 천재는 인간관계의 얕음 때문에 몰락"
"실력보다 시기(猜忌)가 더 무서운 적"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인물 (16/16)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48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형가(荊軻) — "風 蕭 蕭 兮 易 水 寒"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자객열전의 주인공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인생·일화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연 태자 단의 부탁 → 진시황 암살 시도
번오기의 목 + 독이 발린 비수를 지도에 감춤
"圖窮匕見" — 마지막 일격을 놓치고 참수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사마천의 평·교훈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"바람 소슬한데 역수는 차갑구나
장사 한 번 가면 다시 돌아오지 못하리"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7대 명장면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49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명장면 1 — 요·순의 선양(禪讓)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1 오제본기 · 사기 전체의 출발점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장면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요(堯)가 천하를 자식이 아니라 어진 순(舜)에게 물려줌
순도 다시 우(禹)에게 — 권력의 가장 이상적인 이전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11247120" cy="1737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명구·의미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"천하를 사사로이 하지 않는다(天下爲公)"
— 권력의 이상형, 사기 전체가 변주하는 첫 모범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7대 명장면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50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명장면 2 — 백이·숙제의 수양산 아사(餓死)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1 백이열전 · 열전의 첫 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장면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주 무왕이 은 주왕을 치는 것을 만류 → 듣지 않자
수양산에 들어가 고사리를 캐 먹다 굶어 죽음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11247120" cy="1737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명구·의미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"天 道 是 邪 非 邪 — 천도는 옳은가 그른가"
— 사기 전체를 관통하는 화두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7대 명장면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51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명장면 3 — 항우의 사면초가·패왕별희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7 항우본기 · 영웅 비극의 정점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장면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해하(垓下) 포위 · 사방에서 초나라 노래
우희와 이별의 노래 → 우희 자결 → 오강 자결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11247120" cy="1737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명구·의미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"力拔山兮氣蓋世 — 힘은 산을 뽑고 기개는 세상을 덮건만
時不利兮騅不逝 — 때가 이롭지 않으니 명마도 가지 않는구나"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7대 명장면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52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명장면 4 — 유방의 자기 평가 — 삼걸을 썼기에 이겼다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8 고조본기 · 리더십의 최종 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장면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낙양 남궁 잔치 — "내가 천하를 얻은 까닭은?"
"장량보다 못하나 그를 썼고
소하·한신을 썼기에 천하를 얻었다"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11247120" cy="1737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명구·의미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"夫運籌帷帳之中 決勝千里之外 吾不如子房…
項羽有一范增而不能用 此其所以爲我擒也"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7대 명장면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53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명장면 5 — 한신의 토사구팽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32 회음후열전 · 공성신퇴 실패의 비극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장면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연·제·조 멸하고 백만 대군의 장수
그러나 유방의 의심을 사 여후에게 목 베임
임종 직전 "교활한 토끼가 죽으면 사냥개가 삶긴다"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11247120" cy="1737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명구·의미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"鳥 盡 弓 藏  兔 死 狗 烹"
— 사기 전편의 가장 강력한 경고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7대 명장면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54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명장면 6 — 형가의 풍소소혜역수한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26 자객열전 · 사위지기자사의 극한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장면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진시황 암살을 떠나는 형가의 이별
역수(易水) 강가에서 부른 노래
진 왕궁의 "圖窮匕見" → 일격 실패 → 참수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11247120" cy="1737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명구·의미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"風 蕭 蕭 兮 易 水 寒
壯 士 一 去 兮 不 復 還"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7대 명장면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55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명장면 7 — 사마천의 궁형과 태사공자서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70 태사공자서 · 사기 전체의 서명(署名)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장면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이릉을 변호하다 궁형 → 죽음을 택하지 않고 사기를 완성
70 태사공자서 — 자기 자신을 130번째 인물로 기록
"명산에 감추고 후세의 군자를 기다린다"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11247120" cy="1737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명구·의미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"究 天 人 之 際   通 古 今 之 變   成 一 家 之 言"
— 사기 최고 이념 · 사마천의 자기 선언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56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究 天 人 之 際   通 古 今 之 變   成 一 家 之 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구천인지제 · 통고금지변 · 성일가지언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천인을 궁구하고 고금에 통달하여 일가의 말을 이룬다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보임안서 · 태사공자서 — 사기 최고 이념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(2/10)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57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맑은 고딕"/>
              </a:rPr>
              <a:t>人 固 有 一 死
或 重 於 泰 山   或 輕 於 鴻 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인고유일사 · 혹중어태산 혹경어홍모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사람은 한 번 죽는다. 태산보다 무거울 수도, 기러기 털보다 가벼울 수도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사마천 「보임안서」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(3/10)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58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天 道 是 邪 非 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천 도 시 야 비 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천도는 옳은가 그른가 — 사기 전체의 화두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1 백이열전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(4/10)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59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맑은 고딕"/>
              </a:rPr>
              <a:t>倉 廩 實 則 知 禮 節
衣 食 足 則 知 榮 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창름실즉지예절 · 의식족즉지영욕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창고가 차야 예절을 알고, 의식이 족해야 영욕을 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관중 → 2 관안열전 · 69 화식열전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60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800" b="1">
                <a:solidFill>
                  <a:srgbClr val="8B1A1A"/>
                </a:solidFill>
                <a:latin typeface="맑은 고딕"/>
              </a:rPr>
              <a:t>士 爲 知 己 者 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사 위 지 기 자 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선비는 자기를 알아준 자를 위해 죽는다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예양 → 26 자객열전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(6/10)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61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王 侯 將 相   寧 有 種 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왕후장상 영유종호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왕후장상이 어찌 씨가 있으랴 — 평민 봉기의 외침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진승 → 18 진섭세가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(7/10)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62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鳥 盡 弓 藏   兔 死 狗 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조진궁장 · 토사구팽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새가 다 잡히면 활을 감추고, 토끼가 죽으면 개를 삶는다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한신 → 32 회음후열전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(8/10)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63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맑은 고딕"/>
              </a:rPr>
              <a:t>力 拔 山 兮 氣 蓋 世
時 不 利 兮 騅 不 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역발산혜기개세 · 시불리혜추불서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힘은 산을 뽑고 기개는 세상을 덮건만, 때가 이롭지 않으니 명마도 가지 않는구나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항우 → 7 항우본기 (해하가)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(9/10)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64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桃 李 不 言   下 自 成 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도리불언 · 하자성혜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복숭아와 오얏은 말이 없어도 그 아래 저절로 길이 난다 — 덕이 있는 자에게는 사람이 모인다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이광 → 49 이장군열전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(10/10)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65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天 下 熙 熙   皆 爲 利 來
天 下 壤 壤   皆 爲 利 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천하희희 개위리래 · 천하양양 개위리왕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천하가 들썩이는 것은 모두 이익 때문 — 인간 경제의 본성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69 화식열전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66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삼구(三句) — 사기의 최고 이념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"보임안서·태사공자서에서 자기 사상을 한 줄로 선언"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13716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</a:rPr>
              <a:t>究 天 人 之 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通 古 今 之 變   成 一 家 之 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8587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究天人之際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3657600"/>
            <a:ext cx="1828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385876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구천인지제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657600"/>
            <a:ext cx="68580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3858768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천(天)과 인(人)의 관계를 궁구한다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2628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2744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通古今之變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4526280"/>
            <a:ext cx="1828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472744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통고금지변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4526280"/>
            <a:ext cx="68580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4727448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옛날과 지금의 변화를 꿰뚫는다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9496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59612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成一家之言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394960"/>
            <a:ext cx="1828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559612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성일가지언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5394960"/>
            <a:ext cx="68580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5596128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한 집안(가문·학파)의 말을 이룬다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67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① 究天人之際 — 하늘과 인간의 관계를 궁구한다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"천도는 정의로운가?"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왜 백이는 굶어 죽고 도척은 장수했는가?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이릉은 분전했는데 사마천은 궁형을 받았는가?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사마천의 응답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"답을 주는 책이 아니라 질문을 던지는 책"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"천도는 선인을 돕는다"는 상투적 답을 거부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대신 그들의 이름을 기록함으로써 천도를 대신한다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68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② 通古今之變 — 옛날과 지금의 변화를 꿰뚫는다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"제도는 끊임없이 변하되, 흥망에는 보편 패턴이 있다"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선양 → 세습 (요·순·우 → 하)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봉건 → 군현 (주 → 진)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무위 → 유술 (문경 → 무제)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표(表) 10편이 이 주제의 구체적 실현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공시적(共時的) 시선으로 변화를 추적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"같은 시대 여러 나라가 무엇을 했는가"의 동시적 파노라마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통감의 1,362년 통사와 일맥상통하는 사관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69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③ 成一家之言 — 한 집안의 말을 이룬다 · 태사공왈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"각 편 끝의 130편의 평(評)이 누적되어 사마천의 사상이 된다"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"太 史 公 曰"  태사공이 말한다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자료 편찬이 아니라 사마천 자신의 역사철학을 담은 저작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포폄(褒貶)과 직필(直筆) — 황제도 거리낌이 없다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실패한 자를 감싸고 성공한 자를 의심한다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황제를 향해서도 무제 봉선·흉노 정책을 비판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자기 자신(궁형)도 비평 대상에 올린다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70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24사(史)의 머리 — 정사의 표준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2199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3474720" cy="502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221991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사마천 · BC 91경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103120"/>
            <a:ext cx="5212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221991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기전체 통사의 시조 — 130편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70048"/>
            <a:ext cx="2286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한서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670048"/>
            <a:ext cx="34747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2788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반고 · AD 82경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670048"/>
            <a:ext cx="5212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788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단대사(斷代史)의 시조 — 100편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2286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558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후한서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236976"/>
            <a:ext cx="34747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335584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범엽 · 5세기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236976"/>
            <a:ext cx="5212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3558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동한 13편 + 열전 80편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2286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92277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삼국지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803904"/>
            <a:ext cx="34747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3922776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진수 · 3세기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803904"/>
            <a:ext cx="5212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92277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위·촉·오 삼국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70832"/>
            <a:ext cx="2286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48970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진서·송서·…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4370832"/>
            <a:ext cx="34747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448970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남북조 정사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4370832"/>
            <a:ext cx="5212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448970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시대마다 같은 체제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60"/>
            <a:ext cx="2286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0566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당서·…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4937760"/>
            <a:ext cx="34747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63240" y="505663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당대 이후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4937760"/>
            <a:ext cx="5212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505663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정사 표준 굳어짐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504688"/>
            <a:ext cx="2286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6235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명사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26080" y="5504688"/>
            <a:ext cx="34747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63240" y="56235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청 장정옥 · 1739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5504688"/>
            <a:ext cx="52120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56235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24사의 마지막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사기 → 한서 → 24사 — 2,000년 동양 정사 체제의 출발점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71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한국 — 김부식 『삼국사기』(1145)의 정면 계승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"사기 5체 → 삼국사기 4체의 직계 후예"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3200400" cy="6858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5059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사기 (BC 91경)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2286000"/>
            <a:ext cx="786384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9" y="245059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본기 12 + 표 10 + 서 8 + 세가 30 + 열전 70 = 130편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63240"/>
            <a:ext cx="3200400" cy="6858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278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한서 (AD 82경)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3063240"/>
            <a:ext cx="786384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322783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본기 12 + 표 8 + 지 10 + 열전 70 = 100편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32004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0507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삼국사기 (1145)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3840480"/>
            <a:ext cx="7863840" cy="685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39" y="400507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본기 28 + 연표 3 + 지 9 + 열전 10 = 50권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"본기·연표·지(志)·열전" 4체 구조 — 사기 5체에서 표·서를 합친 형태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한국 고대사 1차 사료 — 사기의 「조선열전」과 함께 동방 역사의 두 축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72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일본·동아시아 — 사기 한자 교양의 확산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28600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헤이안 시대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94560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377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794~1185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194560"/>
            <a:ext cx="640080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37744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귀족·승려의 한문 교양서 · 일본에 정착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228600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에도 시대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017520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32004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1603~1868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3017520"/>
            <a:ext cx="640080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320040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무사 계급 교양의 핵심 · 막부의 사기 강독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228600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라이 산요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840480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0233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1780~1832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3840480"/>
            <a:ext cx="640080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402336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『일본외사』 — 사기 체제를 모방한 일본 통사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663440"/>
            <a:ext cx="228600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8463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시바 료타로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663440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48463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1923~1996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4663440"/>
            <a:ext cx="640080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484632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필명이 사마천에서 — "司馬(사마)에 미치지 못하는(遼) 太郞"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486400"/>
            <a:ext cx="228600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669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베트남·류큐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486400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5669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한자 문화권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5486400"/>
            <a:ext cx="640080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0" y="566928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동일하게 사기를 정사의 표준으로 학습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73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사기 vs 자치통감 — 동양 통사의 두 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201168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783080"/>
            <a:ext cx="4572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87451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사기(史記)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783080"/>
            <a:ext cx="4572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87451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자치통감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20116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4144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편자·시기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2286000"/>
            <a:ext cx="4572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244144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사마천 · BC 91경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286000"/>
            <a:ext cx="4572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44144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사마광 · 1084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80360"/>
            <a:ext cx="20116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03580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형식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2880360"/>
            <a:ext cx="4572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303580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기전체(紀傳體) — 인물 중심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2880360"/>
            <a:ext cx="4572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303580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편년체(編年體) — 연대 중심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74720"/>
            <a:ext cx="20116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63016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주인공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3474720"/>
            <a:ext cx="4572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36301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한 사람의 일생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3474720"/>
            <a:ext cx="4572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36301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같은 시간의 사건들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69080"/>
            <a:ext cx="20116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22452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분량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4069080"/>
            <a:ext cx="4572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422452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130편 · 약 52만 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4069080"/>
            <a:ext cx="4572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422452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294권 · 약 300만 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663440"/>
            <a:ext cx="20116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81888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수록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14600" y="4663440"/>
            <a:ext cx="4572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81888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약 3,000년 (황제~한 무제)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4663440"/>
            <a:ext cx="4572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481888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1,362년 (BC 403~959)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257800"/>
            <a:ext cx="20116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41324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관점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4600" y="5257800"/>
            <a:ext cx="4572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51760" y="541324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"인간이 어떻게 살았는가"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0" y="5257800"/>
            <a:ext cx="4572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9480" y="541324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"왜 흥하고 망하는가"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852160"/>
            <a:ext cx="20116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00760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특징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14600" y="5852160"/>
            <a:ext cx="4572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51760" y="600760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개인의 입체 조명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0" y="5852160"/>
            <a:ext cx="4572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69480" y="600760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거시적 흐름의 분석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74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문학적 영향 — 인물 묘사의 원형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560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당송팔대가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194560"/>
            <a:ext cx="2743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3317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한유·유종원·소식 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194560"/>
            <a:ext cx="566928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331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사한문장(史漢文章) — 중국 고문의 절정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2560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삼국지연의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926080"/>
            <a:ext cx="2743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063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나관중 · 14세기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926080"/>
            <a:ext cx="566928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063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인물 묘사·고사·일화 작법이 사기에서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2560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947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수호전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657600"/>
            <a:ext cx="2743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3794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시내암 · 14세기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657600"/>
            <a:ext cx="566928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794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108호걸의 입체 조명 — 열전 작법 계승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89120"/>
            <a:ext cx="2560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262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서유기·금병매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4389120"/>
            <a:ext cx="2743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45262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16세기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4389120"/>
            <a:ext cx="566928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526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캐릭터 작법의 토대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20640"/>
            <a:ext cx="2560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2578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현대 전기 문학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5120640"/>
            <a:ext cx="2743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52578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biography 일반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5120640"/>
            <a:ext cx="566928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5257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모든 인물 평전의 원형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"고사(故事)·일화·말 한마디로 인물을 그린다"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— 사기의 캐릭터 작법이 동아시아 모든 인물 서사의 원형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75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① — 인물 중심 사관 · 전기 문학의 원형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"한 사람의 삶이 역사의 단위"라는 사기의 사관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현대의 모든 전기(biography)·평전·인물 서사가 이 사관 위에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현대 응용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Walter Isaacson의 잡스·아인슈타인·다빈치 평전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Robert Caro의 LBJ·로버트 모지스 평전 — "한 사람의 일생으로 시대를 그린다"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시바 료타로의 역사 소설 — 사기의 인물 구도를 직접 차용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1">
                <a:solidFill>
                  <a:srgbClr val="8B1A1A"/>
                </a:solidFill>
                <a:latin typeface="맑은 고딕"/>
              </a:rPr>
              <a:t>• "그 사람의 일화·말 한마디가 모든 것을 보여준다"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76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② — 미시사·사회사의 선구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"황제만이 아니라 자객·유협·점쟁이·해학가까지 역사의 주체"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60대 자객열전 · 64 유협열전 · 66 골계열전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67 일자열전 · 68 귀책열전 · 45 편작창공열전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현대 사회사·미시사와의 일치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Annales 학파의 일상생활사 — 사기의 서민 열전과 통함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카를로 긴즈부르그 『치즈와 구더기』 — 미시사의 선구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사기는 2,100년 전에 이미 "평범한 사람의 역사"를 시도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77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③ — 화식열전 · 평준서 — 경제사의 효시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"天下熙熙 皆爲利來 天下壤壤 皆爲利往"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천하희희 개위리래 · 천하양양 개위리왕 — 화식열전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69 화식열전 — 상인을 역사의 주체로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범려(도주공)·자공·백규·의돈·오씨나 — 상인 전기</a:t>
            </a:r>
          </a:p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평준서 — 한 무제 시대 재정의 날카로운 분석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현대 의의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"2,100년 전에 경제가 역사의 엔진임을 선언" — 사기의 가장 현대적인 면</a:t>
            </a:r>
          </a:p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1F2A44"/>
                </a:solidFill>
                <a:latin typeface="맑은 고딕"/>
              </a:rPr>
              <a:t>근대 경제사의 효시로 재평가 — 막스 베버보다 2,000년 앞선 통찰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78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④ — 이민족 서술의 객관성 · 한국 고대사 1차 사료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"이민족을 야만이 아니라 자기 질서를 가진 사회로"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흉노·조선·남월·동월·서남이·대원 — 6개 이민족 열전</a:t>
            </a:r>
          </a:p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"이후 24사 이민족 서술 전통이 여기서 시작"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한국에 대한 의미 — 「조선열전」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위만조선의 흥망 — 한국 고대사의 가장 오래된 1차 사료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한 무제의 침공과 한사군 설치의 구체적 기록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김부식 『삼국사기』가 사기의 형식을 빌려 우리 역사를 기록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79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⑤ — 발분저서(發憤著書) · 고난과 창조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"고난이 기록을 낳는다" — 사마천의 자기 선언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"문왕이 갇혀 주역을, 중니가 곤하여 춘추를…"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역사는 성공한 자가 아니라 실패와 고난에서 펴 올린다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현대 적용 — Post-traumatic growth(외상 후 성장)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빅터 프랭클 『죽음의 수용소에서』 — 발분저서의 현대 사례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솔제니친 『이반 데니소비치의 하루』 — 굴라크의 발분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"고난이 가장 위대한 창조의 출발점"임을 사기가 증명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80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⑥ — 사기가 우리에게 던지는 질문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1F2A44"/>
                </a:solidFill>
                <a:latin typeface="맑은 고딕"/>
              </a:rPr>
              <a:t>사기를 다 읽고 나면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2000" b="1">
                <a:solidFill>
                  <a:srgbClr val="8B1A1A"/>
                </a:solidFill>
                <a:latin typeface="맑은 고딕"/>
              </a:rPr>
              <a:t>독자는 결국 사마천과 마주 앉는다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그 앞에서 묻게 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"나는 역사에 무엇으로 남을 것인가"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800"/>
              </a:spcBef>
            </a:pPr>
            <a:r>
              <a:rPr sz="1800" b="1">
                <a:solidFill>
                  <a:srgbClr val="1F2A44"/>
                </a:solidFill>
                <a:latin typeface="맑은 고딕"/>
              </a:rPr>
              <a:t>"내 죽음은 태산처럼 무거울 것인가</a:t>
            </a:r>
          </a:p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1F2A44"/>
                </a:solidFill>
                <a:latin typeface="맑은 고딕"/>
              </a:rPr>
              <a:t> 기러기 털처럼 가벼울 것인가"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이 질문을 던지는 순간 — 사기는 2,100년 된 자료가 아니라 오늘의 거울이 된다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81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 문장으로 정리하는 사기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1498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궁형(宮刑)을 당한 사관이 죽음을 택하는 대신</a:t>
            </a:r>
          </a:p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"말을 이어가기" 위해 14~15년에 걸쳐 쓴 책</a:t>
            </a:r>
          </a:p>
          <a:p>
            <a:pPr algn="l">
              <a:lnSpc>
                <a:spcPct val="12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1600" b="0">
                <a:solidFill>
                  <a:srgbClr val="8B1A1A"/>
                </a:solidFill>
                <a:latin typeface="맑은 고딕"/>
              </a:rPr>
              <a:t>황제(黃帝)에서 한 무제까지 3,000년을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본기·표·서·세가·열전 5체의 입체 구조로 재구성</a:t>
            </a:r>
          </a:p>
          <a:p>
            <a:pPr algn="l">
              <a:lnSpc>
                <a:spcPct val="12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1700" b="1">
                <a:solidFill>
                  <a:srgbClr val="1F2A44"/>
                </a:solidFill>
                <a:latin typeface="맑은 고딕"/>
              </a:rPr>
              <a:t>격식이 아닌 실질로 사람을 보고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(항우·여후·공자·진섭의 파격)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700" b="1">
                <a:solidFill>
                  <a:srgbClr val="1F2A44"/>
                </a:solidFill>
                <a:latin typeface="맑은 고딕"/>
              </a:rPr>
              <a:t>성공자가 아닌 실패자에 공감하며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(굴원·이광·한신)</a:t>
            </a:r>
          </a:p>
          <a:p>
            <a:pPr algn="l">
              <a:lnSpc>
                <a:spcPct val="12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"천도시야비야" — 부조리를 인정하면서도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의인의 이름을 남기는 것으로 천도를 대신한다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82 / 83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사마천의 삼구(三句) — 사기의 영원한 이념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44805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8B1A1A"/>
                </a:solidFill>
                <a:latin typeface="맑은 고딕"/>
              </a:rPr>
              <a:t>究 天 人 之 際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하늘과 인간의 관계를 궁구한다</a:t>
            </a:r>
          </a:p>
          <a:p>
            <a:pPr algn="l">
              <a:lnSpc>
                <a:spcPct val="12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sz="3000" b="1">
                <a:solidFill>
                  <a:srgbClr val="8B1A1A"/>
                </a:solidFill>
                <a:latin typeface="맑은 고딕"/>
              </a:rPr>
              <a:t>通 古 今 之 變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옛날과 지금의 변화를 꿰뚫는다</a:t>
            </a:r>
          </a:p>
          <a:p>
            <a:pPr algn="l">
              <a:lnSpc>
                <a:spcPct val="12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sz="3200" b="1">
                <a:solidFill>
                  <a:srgbClr val="8B1A1A"/>
                </a:solidFill>
                <a:latin typeface="맑은 고딕"/>
              </a:rPr>
              <a:t>成 一 家 之 言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한 집안의 말을 이룬다</a:t>
            </a:r>
          </a:p>
          <a:p>
            <a:pPr algn="l">
              <a:lnSpc>
                <a:spcPct val="12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1200"/>
              </a:spcBef>
            </a:pPr>
            <a:r>
              <a:rPr sz="1400" b="1">
                <a:solidFill>
                  <a:srgbClr val="556070"/>
                </a:solidFill>
                <a:latin typeface="맑은 고딕"/>
              </a:rPr>
              <a:t>— 사마천이 보임안서·태사공자서에서 직접 선언한 사기의 최고 이념 —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8B1A1A"/>
                </a:solidFill>
                <a:latin typeface="맑은 고딕"/>
              </a:rPr>
              <a:t>太 史 公 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556070"/>
                </a:solidFill>
                <a:latin typeface="맑은 고딕"/>
              </a:rPr>
              <a:t>태 사 공 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38404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1148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"태사공(太史公)이 말한다"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— 각 편 끝의 130편 사평(史評)이 누적되어 사마천의 사상이 된다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"나는 역사에 무엇으로 남을 것인가"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사기가 2,100년 건너 우리에게 던지는 질문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2A44"/>
                </a:solidFill>
                <a:latin typeface="맑은 고딕"/>
              </a:rPr>
              <a:t>감사합니다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