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마음을 밝혀주는 보배로운 거울 · 800년 동아시아의 인격 교과서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Batang"/>
              </a:rPr>
              <a:t>明 心 寶 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명 심 보 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75488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爲善者 天報之以福 — 선을 행하면 하늘이 복으로 갚는다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추적(秋適, 고려) · 범립본(范立本, 명) — 유·불·도 삼교 융합 격언집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명심보감은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편찬 — 추적과 범립본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삼교합일 — 유·불·도의 융합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20편의 구조 — 다섯 군(群)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20편 한 폭으로 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편 깊이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18선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조선과 동아시아의 명심보감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명심보감(明心寶鑑) — 이름이 곧 교육 철학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마음을 밝혀 주는 보배로운 거울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9418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明 心  =  마음을 밝히다     寶 鑑  =  보배로운 거울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사람의 마음은 본래 거울 — 욕망·편견·분노의 먼지로 가려지기 쉽다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매일 선현의 한 구절을 읽어 그 먼지를 닦아내는 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즉석 깨달음이 아닌 「축적된 거울」 — 외워두면 어느 순간 나를 비추는 한 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이름이 곧 독서법 — 「매일의 한 구절」 습관을 만드는 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명심보감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명심보감(明心寶鑑) — 「마음을 밝혀 주는 보배로운 거울」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원편자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추적(秋適, 1246~1317) — 고려 충렬왕 때 예문관제학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증보자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범립본(范立本) — 명 홍무 26년(1393)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편수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현행 상·하 2권 20편 (증보판 최대 24~25편)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처세·수양 격언집 · 유·불·도 삼교 융합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교육 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조선 서당 — 천자문 다음, 소학 앞에 놓인 기초 교재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국제 영향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한·중·일·베트남, 1592년 스페인어 번역(마닐라)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현존 최고본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1454년 「신간대자명심보감」 — 청주고인쇄박물관 소장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서당 교육에서의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천자문 다음, 소학 앞 — 「짧은 금언으로 한문과 인격을 동시에」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3716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5~6세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286000"/>
            <a:ext cx="27432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2860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千 字 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317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천자문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3172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한자 1,000자와 기본 세계관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3716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7~8세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200400"/>
            <a:ext cx="274320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2004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明 心 寶 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461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명심보감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금언 모음으로 한문 문리와 생활 윤리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13716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9~15세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114800"/>
            <a:ext cx="27432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41148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小 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605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소학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6052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일상 예절과 인격의 체계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29200"/>
            <a:ext cx="13716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56070"/>
                </a:solidFill>
                <a:latin typeface="맑은 고딕"/>
              </a:rPr>
              <a:t>15세~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5029200"/>
            <a:ext cx="274320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0292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tang"/>
              </a:rPr>
              <a:t>四 書 三 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07492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사서삼경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7492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본격 유학의 세계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네 기둥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三 敎 合 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삼교합일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유·불·도의 융합 — 한 권 안의 「지혜의 뷔페」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勸 善 懲 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권선징악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선에는 복, 악에는 화 — 인과응보의 단순하고 강력한 감각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修 己 治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수기치인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자기 수양에서 가정·사회로 — 동심원적 확장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安 分 知 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안분지족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864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분수를 알고 만족함 — 욕망의 절제와 참된 행복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 — 두 사람의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원편자 — 추적(秋適, 1246~1317)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고려 충렬왕 때 예문관제학 · 노당(露堂)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1305년 전후 — 왕자와 유생들의 기초 교육을 위해 편찬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경전·제자백가·역사서에서 「마음을 닦는 금언」 수백 구절을 가려 뽑아 19편으로 엮음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시대 배경 — 고려 말 원(元) 간섭기, 몽골풍 성행, 가치관 붕괴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불교의 세속화·신유학의 도입 초기 — 「무엇을 기준으로 살 것인가」의 공백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추적의 선택 — 「무거운 경전을 늘어놓기 전에, 짧고 깊은 격언으로 마음의 방향부터」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편찬 철학 — 「이론 이전에 태도, 사상 이전에 감각, 체계 이전에 습관」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 — 두 사람의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증보자 — 범립본(范立本, 1393)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명 홍무 26년 — 대중 교화의 격언집으로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명 태조 주원장의 「육유(六諭)」 반포 시기 — 대중 교화가 시대적 과제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추적본을 저본으로 증보 — 상·하 2권 20편(혹은 24~25편)으로 확장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추적본이 「왕실·유생용 정선본」이라면, 범립본은 「민간·아동용 대중본」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조선에서는 범립본 계통의 20편본이 주로 유통됨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한·중·일·베트남·필리핀 — 동아시아 한문 문화권의 대중 교육 베스트셀러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1592년 마닐라 — 스페인어 번역 「Beng Sim Po Cam」 — 동양 고전 유럽어 번역의 효시 중 하나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편찬 — 두 사람의 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주요 판본 — 700년의 책의 물리적 역사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1454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240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신간대자명심보감(新刊大字明心寶鑑)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현존 최고(最古) 간본 · 청주고인쇄박물관 소장 · 큰 글자(大字)로 아동 학습용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조선 전·중기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20040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조선 목판본 10여 종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국립중앙도서관·규장각·각 대학 도서관 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조선 후기~일제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1605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중간본(重刊本)·석판본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편의 수가 20·23·24·25편으로 달라지며 다양한 증보판이 유통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1828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1592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51206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스페인어 번역본 (마닐라)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예수회 선교사가 화교를 통해 번역 — 「Beng Sim Po Cam」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「정본(正本)이 없는 책」 — 지역·시대·대상에 따라 자유롭게 변용된 「살아 있는 책」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삼교합일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명심보감의 가장 큰 특징 — 삼교합일(三敎合一)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유·불·도의 가르침이 한 책에 자연스럽게 섞이다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儒 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사회의 윤리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효(孝) · 오륜 · 수기치인
출전 — 논어·맹자·예기·시경·
서경·주역·주돈이·정명도·주희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5661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道 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자연과 분수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순명(順命) · 안분(安分)
무위(無爲)의 지혜
출전 — 장자·열자·태상감응편·
문창제군 등 도교 경전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566160" cy="91440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tang"/>
              </a:rPr>
              <a:t>佛 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8A25B"/>
                </a:solidFill>
                <a:latin typeface="맑은 고딕"/>
              </a:rPr>
              <a:t>인과와 자비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29184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F2A44"/>
                </a:solidFill>
                <a:latin typeface="맑은 고딕"/>
              </a:rPr>
              <a:t>인과응보 · 겸손 · 용서
참음의 덕
출전 — 여러 불경의 경구,
선종 조사의 말씀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삼교합일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한 권 안에 섞였는가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삼교 융합의 의미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대중 교육의 현실주의 — 어린이와 서민에게 학파 논쟁은 사치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실생활에 도움이 되는 가르침이면 어느 학파든 가져다 쓴다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동아시아의 「3중 구조 사회」의 반영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· 유학 — 국가 체제 · 불교 — 개인 구원 · 도교 — 자연·운명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편찬자의 개방성 — 「사람에게 좋은 말이면 어디서 왔든 다 좋다」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하나의 이데올로기로 훈육하지 않는 책 — 「이념 교육」이 아닌 「지혜 축적」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「지혜의 뷔페」 — 아이는 자기에게 맞는 구절을 고르고, 자라며 새 의미를 발견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20편 — 다섯 군(群)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20편을 다섯 군으로 묶다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세계관 → 관계 → 자기 수양 → 사회 → 실천 매뉴얼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군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0312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031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세계관의 뼈대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4884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계선 · 천명 · 순명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선악과 천명 — 인과의 질서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972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군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97180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97180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관계의 시작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효행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부모-자식 — 모든 관계의 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79"/>
            <a:ext cx="10972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79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군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840479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7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내면의 다스림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86199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정기·안분·존심·계성·근학·훈자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자기 수양 — 명심보감의 심장부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09159"/>
            <a:ext cx="10972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59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군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4709159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709159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세상을 사는 지혜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754879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성심 상·하·입교·치정·치가·안의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성찰에서 가정·사회·국가로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10972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097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군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577840"/>
            <a:ext cx="27432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5778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실천 매뉴얼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5623560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준례 · 언어 · 교우 · 부행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예·말·친구·가정의 구체 처방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20편 — 다섯 군(群)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교육의 흐름 — 「세계관 → 사람 → 나 → 세상 → 일상」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왜 이 순서인가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먼저 「세상에 질서가 있다」는 감각을 심는다 (1~3편)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선이 복을 부르고 악이 화를 부른다 — 우연이 아닌 인과의 세계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모든 관계의 시작인 「부모와 자식」 (4편)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이 관계에서 예의·감사를 배워야 다른 관계를 맺을 수 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어떤 상황에서도 변하지 않는 「자기 자신을 다스리는 능력」 (5~10편)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명심보감의 심장부 — 여섯 편이 모두 내면의 관리에 집중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「수신 → 제가 → 치국」으로 확장된 사회의 지혜 (11~16편)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『대학』의 수신제가치국평천하가 짧은 금언으로 구현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마지막 — 「예·말·친구·가정」의 실천 매뉴얼 (17~20편)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20편 한 폭으로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20편 전체 (1) — 1~10편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세계관 · 관계 · 자기 수양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6888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繼善篇 계선편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68880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선을 이어가라 — 선행을 끊임없이 실천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529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天命篇 천명편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52928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천명을 두려워하라 — 선과 천도의 관계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36976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369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36976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順命篇 순명편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36976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운명에 순응하되 선은 쌓는다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2102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210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62102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孝行篇 효행편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21024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부모에 대한 효도의 도리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05072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00507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正己篇 정기편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005072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자기를 바르게 — 청렴과 자기반성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38912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安分篇 안분편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89120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분수를 알고 만족하라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73168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7316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77316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存心篇 존심편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773168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마음을 보존하라 — 겸손과 용서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5721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572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157216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戒性篇 계성편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157216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성질을 경계하라 — 분노를 참는 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41264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412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54126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勤學篇 근학편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541264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부지런히 배워라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92531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25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92531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訓子篇 훈자편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5925312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자녀를 잘 가르쳐라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20편 한 폭으로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20편 전체 (2) — 11~20편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성찰 · 사회 · 실천 매뉴얼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1168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핵심 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6888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省心篇 上 성심편 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68880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마음의 성찰 (일반) — 인간 본성과 처세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5292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529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省心篇 下 성심편 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852928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마음의 성찰 (사회) — 사람 사귐과 분별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36976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369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36976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立敎篇 입교편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236976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가르침을 세움 — 삼강오륜의 정립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2102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2102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62102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治政篇 치정편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621024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정치의 도 — 애민(愛民)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05072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00507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治家篇 치가편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4005072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집을 다스림 — 근검과 화목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389120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安義篇 안의편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389120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인륜의 의리 — 부부·형제·붕우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73168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7316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77316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遵禮篇 준례편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4773168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예의를 지켜라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5721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572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5157216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言語篇 언어편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157216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말을 삼가라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541264"/>
            <a:ext cx="109728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5412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541264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交友篇 교우편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5541264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벗을 가려라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592531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2531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592531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婦行篇 부행편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5925312"/>
            <a:ext cx="6126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부인의 네 가지 덕(사덕 四德)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계선편(繼善篇)  (계선편)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— 선을 이어가라 · 명심보감 전체의 서두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爲善者 天報之以福  爲不善者 天報之以禍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선을 행하면 하늘이 복으로 갚고, 악을 행하면 화로 갚는다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명심보감의 첫 구절. 선악의 인과응보라는 전체 기조를 단번에 세운다.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복잡한 논증 없이 「선=복, 악=화」의 단순한 등식 — 아이의 마음에 박는 「생활의 디폴트 설정」.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효행편(孝行篇)  (효행편)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제4편 — 부모 은혜의 무한함과 효의 실천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父兮生我 母兮鞠我  欲報之德 昊天罔極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아버지는 나를 낳으시고 어머니는 나를 기르시니, 그 은덕을 갚고자 하나 하늘처럼 끝이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『시경·소아·요아』에서 가져온 구절. 부모의 은혜는 갚을 길 없을 만큼 깊다.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효는 「의무」이전에 「감사의 자연스러운 표현」. 모든 인간관계의 시작이 여기에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(3/12)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정기편(正己篇)  (정기편)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— 자기를 바르게 하라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見人之善而尋己之善  見人之惡而尋己之惡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남의 선을 보면 자기의 선을 찾고, 남의 악을 보면 자기의 악을 찾는다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남을 거울 삼아 자기를 본다 — 정기(正己)의 핵심 자세.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비판은 거울처럼 자기에게 돌리고, 칭찬은 자기를 점검하는 자료로 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(4/12)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안분편(安分篇)  (안분편)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제6편 — 분수를 알고 만족하라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知足者 貧賤亦樂  不知足者 富貴亦憂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만족할 줄 아는 자는 빈천해도 즐겁고, 만족할 줄 모르는 자는 부귀해도 근심한다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행복은 가진 것의 크기가 아니라 만족할 줄 아는 마음에서 온다.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도교적 무위·유교적 절제·불교적 욕망 비움이 한 줄에 녹은 「안분지족」의 정수.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(5/12)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계성편(戒性篇)  (계성편)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제8편 — 성질을 경계하라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忍一時之忿  免百日之憂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한순간의 분을 참으면 백일의 근심을 면한다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분노의 격발 한 번이 백일의 후회를 부른다 — 감정 관리의 동양적 격언.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「인(忍)」 한 글자가 명심보감 전체의 키워드 중 하나. 어른의 자제력은 한순간에 결정된다.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(6/12)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근학편(勤學篇)  (근학편)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제9편 — 부지런히 배워라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玉不琢 不成器  人不學 不知道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옥은 다듬지 않으면 그릇이 되지 않고, 사람은 배우지 않으면 도를 모른다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재능이 아무리 좋아도 갈고 닦지 않으면 쓰임을 얻지 못한다 — 『예기·학기』 인용.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명심보감이 학습을 가르치는 방식 — 「공부하라」 명령이 아닌 「옥이 다듬어지듯」의 비유.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(7/12)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훈자편(訓子篇)  (훈자편)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제10편 — 자녀를 잘 가르쳐라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黃金滿籯  不如敎子一經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황금이 한 광주리에 가득해도 자식에게 경전 한 권을 가르치는 것만 못하다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재산이 아니라 가르침이 진정한 유산 — 자녀 교육의 가치.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돈을 물려준 부모와 책을 읽힌 부모 — 그 차이가 자녀의 평생을 가른다.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(8/12)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성심편(省心篇)  (성심편)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제11~12편 — 마음의 성찰 · 명심보감의 분량의 절반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路遙知馬力  日久見人心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길이 멀어야 말의 힘을 알고, 날이 오래되어야 사람의 마음을 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사람을 판단하기에 가장 좋은 도구는 시간이다.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성심편 상·하는 처세·인간관계·세상 보는 눈의 백과 — 어른의 매뉴얼.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(9/12)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치정편(治政篇)  (치정편)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제14편 — 정치의 도 · 애민(愛民)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愛民如子  如子視父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백성을 자식처럼 사랑하면 백성이 (다스리는 자를) 아비처럼 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정치의 요체 — 한쪽이 자식처럼 사랑할 때 다른 쪽이 아비처럼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「公則生明 廉則生威」 — 공정함에서 밝음이, 청렴함에서 위엄이 나온다. 공직자의 두 기둥.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(10/12)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치가편(治家篇)  (치가편)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제15편 — 집을 다스리는 근본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勤儉  治家之本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부지런함과 검소함이 집안 다스림의 근본이다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집안의 흥망은 거창한 일이 아닌 「부지런함과 검소함」 두 마디로 정해진다.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근(勤)과 검(儉) — 동양 가정 경영의 두 키워드. 사치와 게으름이 들어오면 가문은 무너진다.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(11/12)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언어편(言語篇)  (언어편)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제18편 — 말을 삼가라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口是傷人斧  言是割舌刀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입은 사람을 상하게 하는 도끼요, 말은 혀를 베는 칼이다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말은 도끼이자 칼 — 함부로 휘두르면 남도 다치고 결국 자기도 다친다.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「一言半句, 重値千金」 — 짧은 말 한마디가 천금. 말의 무게는 말한 사람의 무게다.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편 깊이 읽기 (12/12)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맑은 고딕"/>
              </a:rPr>
              <a:t>교우편(交友篇)  (교우편)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제19편 — 벗을 가려라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相識滿天下  知心能幾人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아는 이는 천하에 가득해도 마음을 아는 이는 몇이나 되겠는가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편 전체의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「아는 사람」과 「마음을 아는 사람」의 큰 차이 — 진정한 우정의 희소함.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음미할 지점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「오래 사귀어야 그 사람의 마음을 안다」 — 빠른 친밀과 진짜 우정의 구별.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계선편 — 공자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爲 善 者 天 報 之 以 福  爲 不 善 者 天 報 之 以 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선을 행하는 자에게 하늘은 복으로 갚고, 악을 행하는 자에게 화로 갚는다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명심보감의 첫 구절. 「선=복, 악=화」 — 단순하지만 가장 강력한 동양 윤리의 디폴트.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(2/18)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계선편 — 유비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勿 以 善 小 而 不 爲  勿 以 惡 小 而 爲 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선이 작다 하여 하지 않으면 안 되고, 악이 작다 하여 행해서는 안 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유비가 아들 유선에게 남긴 유훈. 도덕에는 크고 작음이 없다 — 작은 행동이 인격을 만든다.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(3/18)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계선편 — 주역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積 善 之 家  必 有 餘 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선을 쌓은 집안에는 반드시 남는 경사가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『주역·곤괘 문언전』의 명구. 선행의 효과는 개인을 넘어 가문 전체에 미치며 후대까지 이어진다.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(4/18)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계선편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一 日 不 念 善  諸 惡 皆 自 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하루라도 선을 생각하지 않으면 온갖 악이 저절로 일어난다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선한 마음은 의식적으로 유지해야 한다 — 방심하면 악이 저절로 자라난다는 경고. 불교의 「염(念)의 철학」.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(5/18)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순명편 — 논어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死 生 有 命  富 貴 在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삶과 죽음은 명이요, 부귀는 하늘에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『논어』 인용. 운명의 영역과 노력의 영역을 구별하는 동양적 지혜 — 인사를 다하고 천명을 기다린다.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(6/18)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효행편 — 시경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父 兮 生 我  母 兮 鞠 我  欲 報 之 德  昊 天 罔 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아버지는 나를 낳으시고 어머니는 나를 기르시니, 그 은덕은 갚고자 해도 하늘처럼 끝이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『시경·소아·요아』 인용. 효의 출발은 「의무」가 아닌 「갚을 길 없는 은혜에 대한 자각」.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(7/18)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정기편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見 人 之 善 而 尋 己 之 善  見 人 之 惡 而 尋 己 之 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남의 선을 보면 자기의 선을 찾고, 남의 악을 보면 자기의 악을 찾는다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비판도 칭찬도 거울처럼 자기에게 돌린다 — 자기 점검의 핵심 자세.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(8/18)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안분편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知 足 者 貧 賤 亦 樂  不 知 足 者 富 貴 亦 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만족할 줄 아는 자는 빈천해도 즐겁고, 만족할 줄 모르는 자는 부귀해도 근심한다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행복은 가진 것의 크기가 아니라 만족할 줄 아는 마음의 크기에서 온다.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(9/18)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안분편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知 足 常 足  終 身 不 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만족할 줄 알면 늘 만족하고, 평생 욕을 당하지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욕망을 채우려는 사람은 욕을 당하고, 만족할 줄 아는 사람은 평생 자유롭다.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(10/18)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계성편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忍 一 時 之 忿  免 百 日 之 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한순간의 분을 참으면 백일의 근심을 면한다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「忍(인)」 한 글자가 백일의 인생을 결정한다. 분노 관리의 가장 짧고 강력한 격언.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(11/18)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근학편 — 예기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玉 不 琢 不 成 器  人 不 學 不 知 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옥은 다듬지 않으면 그릇이 되지 않고, 사람은 배우지 않으면 도를 모른다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재능은 다듬어야 빛난다 — 학문이 사람을 사람답게 만든다는 『예기·학기』의 명제.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(12/18)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근학편 — 주자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少 年 易 老 學 難 成  一 寸 光 陰 不 可 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소년은 쉽게 늙고 학문은 이루기 어렵다, 한 치의 시간이라도 가벼이 하지 말라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주자(주희)의 「권학문(勸學文)」 — 시간의 한정성과 학문의 무한성 사이의 긴장.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(13/18)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훈자편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黃 金 滿 籯  不 如 敎 子 一 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황금이 한 광주리에 가득해도 자식에게 경전 한 권을 가르치는 것만 못하다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재산은 무너지지만 가르침은 평생 — 자녀에게 무엇을 남길지에 대한 명심보감의 답.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(14/18)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성심편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水 至 淸 則 無 魚  人 至 察 則 無 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물이 너무 맑으면 물고기가 살지 않고, 사람이 너무 살피면 친구가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엄격함의 한계 — 완벽주의는 관계를 끊는다. 어른의 관용에 대한 동양적 통찰.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(15/18)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성심편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路 遙 知 馬 力  日 久 見 人 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길이 멀어야 말의 힘을 알고, 날이 오래되어야 사람의 마음을 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사람을 판단하는 가장 정확한 도구는 시간 — 빠른 친밀과 진짜 우정의 구별.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(16/18)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성심편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疑 人 莫 用  用 人 勿 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의심스러우면 쓰지 말고, 쓴 사람은 의심하지 말라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용인(用人)의 가장 짧은 원칙. 한 번 결정했으면 끝까지 — 의심하며 부리는 일은 양쪽 모두를 망친다.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(17/18)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준례편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若 要 人 重 我  無 過 我 重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남이 나를 존중하기를 바라거든, 내가 남을 존중하는 것만 한 것이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존중의 원리 — 자기가 받고 싶은 대접을 먼저 남에게 행하라. 「황금률」의 동양적 표현.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18선 (18/18)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언어편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Batang"/>
              </a:rPr>
              <a:t>口 是 傷 人 斧  言 是 割 舌 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1F2A44"/>
                </a:solidFill>
                <a:latin typeface="맑은 고딕"/>
              </a:rPr>
              <a:t>입은 사람을 상하게 하는 도끼요, 말은 혀를 베는 칼이다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말의 무서움 — 함부로 휘두른 말은 남도 베고 결국 자기 혀도 벤다. 언어편 한 권의 정수.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조선과 동아시아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조선 — 「천자문 다음, 소학 앞」 자리의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서당 교육의 표준 교재 · 500년 민족 정신의 토양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초부터 서당 표준 교재 — 천자문을 마친 7~8세 아동이 처음 만나는 「뜻 있는 글」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1454년 「신간대자명심보감(新刊大字明心寶鑑)」 — 큰 글자로 인쇄된 아동 학습용 판본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사대부·서민·여성까지 — 신분을 가리지 않은 전 계층의 교양서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임진왜란 후 — 일본 출판인들이 가져가 무로마치 후기·에도 초기 교육서로 활용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일제 강점기에도 서당의 마지막 교재로 살아남음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「사상의 책」보다 「감각의 책」 — 한 줄 한 줄이 평생의 판단 순간마다 떠오르는 나침반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조선과 동아시아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동아시아와 세계로 — 1592년 마닐라의 기적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동양 고전이 처음으로 유럽 언어로 옮겨지다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1592년 — 스페인 도미니코회 선교사 후안 코보(Juan Cobo)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필리핀 마닐라에서 화교 사회를 통해 명심보감을 접함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「Beng Sim Po Cam (寶鑑)」 — 명심보감을 스페인어·중국어로 대역 번역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500" b="0">
                <a:solidFill>
                  <a:srgbClr val="556070"/>
                </a:solidFill>
                <a:latin typeface="맑은 고딕"/>
              </a:rPr>
              <a:t>     동양 고전이 유럽어로 번역된 최초의 사례 중 하나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1595년 — 펠리페 2세에게 헌상 — 마드리드 국립도서관 소장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일본·베트남·필리핀까지 — 동아시아 한자 문화권 전체의 「민중 교과서」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추적이 고려에서 엮은 책이 4세기를 건너 스페인 왕실에 도달한 여정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조선과 동아시아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오늘 명심보감의 존재감은 약해졌는가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근대 교육이 잃어버린 「매일의 한 구절」 습관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근대 학제의 도입 — 한문 교재가 교과서에서 밀려남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「사상의 체계」 중심 교육 — 「격언의 축적」이라는 옛 방식이 낯설어짐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일부 구절의 보수성(부행편의 사덕 등)이 시대와 맞지 않는다는 평가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그러나 — 「매일의 한 구절」이라는 독서법 자체는 여전히 유효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자기계발서·명상 앱·morning quote — 모두 명심보감 독서법의 현대적 변주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「머리로 배우는 책」이 아닌 「마음에 담는 책」 — 그 방식이 오늘 다시 필요해진 이유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오늘의 결핍 지도 — 명심보감이 채울 수 있는 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정보 과잉, 지혜 결핍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4028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하루 수천 개의 짧은 글을 보지만 마음에 남는 한 줄은 드물다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감정 제어의 어려움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80359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계성편이 가르치는 「忍一時之忿」 — 한순간의 분이 인생을 흔든다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비교 경쟁의 피로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2044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안분편 「知足者貧賤亦樂」 — 비교에서 자기 자신으로 시선을 돌리기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말의 가벼움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6052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언어편 「口是傷人斧」 — 디지털 시대에 가장 위험해진 영역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54879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7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우정과 신뢰의 모호함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00599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교우편 「日久見人心」 — 시간이 진짜 친구를 가려준다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94960"/>
            <a:ext cx="347472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자녀 교육의 혼란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440680"/>
            <a:ext cx="74980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훈자편 「黃金滿籯 不如敎子一經」 — 무엇을 물려줄 것인가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명심보감 오늘 읽는 법 — 「매일의 한 구절」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책의 이름이 곧 독서법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처음부터 끝까지 읽지 않는다 — 처음 펼친 자리부터 한 구절씩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마음에 닿는 구절은 메모 — 직접 손으로 적어두면 더 오래 남는다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하루의 시작 또는 끝에 한 구절 — 책상 위·휴대폰 잠금화면도 좋다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자녀와 함께 — 일주일에 한 구절씩 외우고 그 의미를 이야기 나눈다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시간이 지나며 같은 구절의 새로운 의미가 보인다 — 「축적되는 거울」의 효과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800년 전 추적의 의도 그대로 — 「이론이 아닌 감각, 체계가 아닌 습관」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명심보감이 오늘 우리에게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1. 선과 악은 결국 갚아진다 — 큰 시야로 보라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79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2. 작은 선도 외면하지 말고, 작은 악도 가볍게 보지 말라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39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3. 만족은 가진 것이 아니라 마음의 결에서 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4. 한순간의 분이 백일의 후회 — 「忍」 한 글자가 어른을 만든다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5. 남을 보고 자기를 돌아보라 — 비판도 칭찬도 거울이다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6. 말은 도끼와 칼 — 짧은 말 한마디가 천금이자 흉기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7. 진짜 친구는 시간만이 가려준다 — 빨리 친해진 사람을 빨리 믿지 말라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53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명심보감,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명심보감은 고려 추적이 1305년 엮고, 명 범립본이 1393년 증보한 격언집.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20편 — 세계관 → 관계 → 자기 수양 → 사회 → 실천 매뉴얼.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유·불·도 삼교가 자연스럽게 녹은 「지혜의 뷔페」.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조선 500년 — 천자문 다음, 소학 앞 — 서당의 표준 교재.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1592년 — 마닐라에서 스페인어로 번역, 동양 고전의 첫 유럽어 번역.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「마음을 매일 닦는 거울」 — 800년의 인격 교과서.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Batang"/>
              </a:rPr>
              <a:t>明 心 寶 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329184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8B1A1A"/>
                </a:solidFill>
                <a:latin typeface="맑은 고딕"/>
              </a:rPr>
              <a:t>마 음 을  밝 혀 주 는  보 배 로 운  거 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F2A44"/>
                </a:solidFill>
                <a:latin typeface="Batang"/>
              </a:rPr>
              <a:t>爲 善 者 天 報 之 以 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선을 행하는 자에게 하늘은 복으로 갚는다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명심보감 계선편 첫 구절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