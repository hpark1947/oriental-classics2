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신유학(性理學)의 종합 입문서 · 동아시아 800년 사대부 정신 교육의 정수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Batang"/>
              </a:rPr>
              <a:t>近 思 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근 사 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切 問 而 近 思  仁 在 其 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절실하게 묻고 가까이 생각하면, 인(仁)은 그 가운데 있다  — 『논어』 자장편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주희(朱熹) · 여조겸(呂祖謙) 공편 · 1175 한천정사 · 14편 622조 · 북송 4자(四子)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근사록이란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편찬 — 1175년 한천정사의 10일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인용된 북송 4자(四子)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14편의 동심원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14편 각 편 깊이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근사(近思)의 5가지 학습 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12선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한국에서의 수용 — 800년의 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다시 펼치는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서명의 뜻 — 「가까이서 생각함」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『논어』 자장편에서 따온 학문의 정신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博 學 而 篤 志   切 問 而 近 思   仁 在 其 中 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자하(子夏)의 말 — 『논어』 「자장(子張)」편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「널리 배우고(博學) · 뜻을 돈독히 하며(篤志) · 절실하게 묻고(切問) · 가까이 생각하라(近思)」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「인(仁)이 그 가운데 있다」 — 인격의 완성은 바로 이 네 가지에 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「近思」 — 「내 몸 가까이 있는 일부터 생각하라」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고원하고 현묘한 이론에 매달리지 말고, 자기 몸·가정·일상에 절실한 문제부터 성찰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책 이름 자체가 「실천 가능하고 절실한 학문」의 선언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근사록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주희(朱熹, 1130~1200) · 여조겸(呂祖謙, 1137~1181, 호 동래東萊)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편찬 시기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1175년 한천정사(寒泉精舍) 회동 · 1178년 최종 간행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14권(편) · 622조의 어록·문장 발췌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인용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북송 4자 — 주돈이(염계)·정호(명도)·정이(이천)·장재(횡거)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정주학(程朱學) = 성리학(性理學)의 종합 입문서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교육 위상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사서삼경 학습 전 단계의 「입문 정본」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한국 수용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고려 말 도입(1370 진주 초간) · 조선 사림의 필독서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정조 어제서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1794년 정조가 직접 어제서(御製序)를 지어 그 중요성을 강조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교육 체계 속 근사록의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소학 다음, 사서삼경 앞 — 성리학으로 들어가는 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6459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8~14세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286000"/>
            <a:ext cx="2560320" cy="685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28600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소학(小學)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31720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일상 예절과 인격의 체계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16459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108960"/>
            <a:ext cx="256032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10896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근사록(近思錄)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154680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정주학(성리학)의 종합 입문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6459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931920"/>
            <a:ext cx="2560320" cy="685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393192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사서(四書)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77640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대학 → 논어 → 맹자 → 중용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16459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754880"/>
            <a:ext cx="2560320" cy="685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7548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삼경(三經)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800600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시경·서경·역경 — 본격 유학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77840"/>
            <a:ext cx="16459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577840"/>
            <a:ext cx="2560320" cy="685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5778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북송 4자 본 저술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623560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태극도설·정몽·이정전서 등 원전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여조겸의 발문 — 「이 책은 초학자(初學者)를 위한 입문서이지 도학의 완성이 아니다」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편찬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1175년 한천정사(寒泉精舍)의 10일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두 거장이 머리를 맞대고 신유학의 입문서를 짓다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1175년 4월(남송 효종 순희 2년) — 여조겸이 주희가 있던 한천정사(복건성 건양) 방문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약 10일간 함께 머무르며 북송 4자의 방대한 저술을 함께 읽음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편찬 동기 — 정주학을 공부하려는 학자들이 마주한 세 가지 어려움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북송 4자의 저술이 너무 방대 — 어디서부터 읽어야 할지 막막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어록과 문장이 흩어져 있어 체계적 학습이 어려움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입문자가 본질적이고 핵심적인 가르침에 빨리 도달할 길이 필요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두 사람의 분담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주희 — 전체 기획, 사상적 골격, 분류 체계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여조겸 — 자료 정리, 편집 협조, 발문 작성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편찬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편자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朱 熹 주희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1130~1200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남송 대유학자
성리학의 집대성자
사서집주(四書集注)·
중용장구·시집전·서집전
동아시아 성리학의 표준
— 「주자(朱子)」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呂 祖 謙 여조겸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1137~1181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호 동래(東萊)
금화학파(金華學派)
역사학·문헌학에 정통
『동래박의』·『대사기』
주희·장식과 「동남삼현(東南三賢)」
— 향년 45세 요절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북송 4자(四子)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북송 4자 — 정주학의 네 뿌리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주희가 종합·체계화한 성리학의 원천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학자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생몰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핵심 사상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031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대표 저술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周敦頤 주돈이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6032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濂溪 염계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6032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1017~1073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51760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태극(太極)·무극(無極) · 우주생성론의 창시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6032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『태극도설』·『통서』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程顥 정호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42900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明道 명도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1032~1085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520440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인(仁)·천리(天理) · 만물 일체의 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어록(이정전서)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79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79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程頤 정이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97679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伊川 이천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97679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1033~1107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89119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이기(理氣)·격물치지·경(敬) — 정주학의 뼈대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297679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『역전(易傳)』·어록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66359"/>
            <a:ext cx="109728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59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張載 장재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66359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橫渠 횡거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166359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1020~1077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257799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기(氣) 일원론 · 민포물여(民胞物與)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166359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70"/>
                </a:solidFill>
                <a:latin typeface="맑은 고딕"/>
              </a:rPr>
              <a:t>『정몽』·『서명(西銘)』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북송 4자(四子)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4자가 남긴 4가지 핵심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太 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주돈이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우주 만물이 펼쳐지는 근원
「無極而太極」 — 무극이 곧 태극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仁 / 萬 物 一 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정호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만물이 한 몸 — 「一草一木 皆有春意」
인(仁)이 곧 천리(天理)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格 物 致 知 / 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정이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사물에 나아가 이치를 궁구함
경(敬) = 「主一無適」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民 胞 物 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장재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백성은 내 동포, 만물은 내 짝
「爲生民立命 為萬世開太平」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14편의 동심원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안에서 밖으로 · 작은 데서 큰 데로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대학(大學)의 수신·제가·치국·평천하와 정확히 대응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1887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103120"/>
            <a:ext cx="10972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권1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도체(道體)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5669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형이상학적 토대 — 「세상에는 일관된 원리가 있다」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16352"/>
            <a:ext cx="11887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816352"/>
            <a:ext cx="10972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816352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권2~5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16352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위학·치지·존양·극기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16352"/>
            <a:ext cx="5669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수양 — 학문 동기·인식·마음·자기 통제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11887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29584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529584"/>
            <a:ext cx="10972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529584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권6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29584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가도(家道)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29584"/>
            <a:ext cx="5669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가정 윤리 — 「집 안의 모습이 진짜 인격」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42816"/>
            <a:ext cx="11887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42816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242816"/>
            <a:ext cx="10972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242816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권7~10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42816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출처·치체·치법·정사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42816"/>
            <a:ext cx="5669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사회·정치 — 진퇴·정치 본체·제도·실무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56048"/>
            <a:ext cx="11887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56048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4956048"/>
            <a:ext cx="10972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956048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권11~12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956048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교학·경계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956048"/>
            <a:ext cx="5669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교육과 자기 점검 — 적용과 반성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669280"/>
            <a:ext cx="11887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69280"/>
            <a:ext cx="1188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5669280"/>
            <a:ext cx="10972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5669280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권13~14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66928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변이단·관성현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669280"/>
            <a:ext cx="5669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분별과 모범 — 무엇을 거를까 / 누구를 본받을까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(1/14)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권1  道體 도체  (도체)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51조조 · 형이상학 — 세상과 나는 어떻게 생겼는가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우주 만물은 「태극(太極)」에서 음양·오행·만물로 펼쳐진다
· 천(天)의 도는 음양, 지(地)의 도는 강유, 인(人)의 도는 인의(仁義)
· 이(理)와 기(氣) — 모든 존재는 이(원리)와 기(질료)의 결합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「내가 사는 세상에는 일관된 원리가 있다」는 사고 방식.
작은 일을 처리할 때도 「이 일의 근본 원리는 무엇인가」를 묻는 습관.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(2/14)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권2  爲學 위학  (위학)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111조조 · 학문 동기 — 14편 중 가장 분량이 많은 실질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학문의 목적은 「성인(聖人)이 되는 것」 — 단순한 지식 축적이 아니다
· 「입지(立志)」 — 뜻을 세움이 모든 학문의 시작
· 「위기지학(爲己之學) — 위인지학(爲人之學)이 아니다」 — 자기를 위한 공부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「공부의 목적은 자기 변화이지 스펙·인정이 아니다」.
시험·취업·인정을 위한 공부는 자기를 소진시키고, 자기 변화를 위한 공부는 평생의 동력이 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(3/14)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권3  致知 치지  (치지)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78조조 · 인식론 — 어떻게 진짜 앎에 도달하는가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격물(格物) — 사물 하나하나의 이치를 궁구함
· 궁리(窮理) — 그 이치의 끝까지 탐구함
· 활연관통(豁然貫通) — 누적된 격물이 어느 순간 전체 깨달음으로 통합됨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「앎은 누적과 도약의 결합」.
자료 검색·요약에 만족하지 말고 「왜 그런가」를 끝까지 묻는 자세.
한 분야를 깊이 파면 다른 분야가 보이는 통섭(通涉)의 경험.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(4/14)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권4  存養 존양  (존양)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70조조 · 마음 수양 — 마음을 어떻게 지키는가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주일무적(主一無適) — 마음이 한 곳에 집중, 흐트러지지 않음 = 경(敬)
· 정중유동 동중유정(靜中有動 動中有靜) — 고요함 속 깨어 있음, 분주함 속 고요함
· 정좌(靜坐) — 마음을 가라앉혀 본성을 자각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「바쁠수록 마음의 중심을 잃지 말라」.
스마트폰·SNS의 시대 — 「경(敬, 하나에 깨어 있음)」이 가장 절박한 능력.
명상·집중력 훈련·디지털 디톡스의 동양적 원형.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(5/14)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권5  克己 극기  (극기)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41조조 · 자기 통제 — 사욕을 어떻게 다스리는가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천리(天理)와 인욕(人慾)의 대립 — 도덕의 결정적 갈림길
· 분노·욕심·태만 등 인심의 병통(病痛) 분석
· 「한 번 끊으면 평생 자유로워지는 결단」의 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「자기 약점에 대한 정직한 인식과 결단」.
게으름·욕심·분노·자존심 — 외면하지 말고 정면으로 보고 한 번에 끊어내는 결단.
중독·게으름·분노 조절 — 모든 자기 통제의 원리.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(6/14)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권6  家道 가도  (가도)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22조조 · 가정 윤리 — 가정은 어떻게 다스리는가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가정은 사회 윤리의 출발점이자 모범
· 부모의 솔선수범이 가장 강력한 가정 교육
· 부부 간 「상경여빈(相敬如賓)」 — 서로 손님처럼 공경
· 형제의 우애가 효(孝)의 자연스러운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「바깥의 인격은 집 안 모습이 진짜다」.
사회에서 아무리 훌륭해도 가정에서 무너지면 그 인격은 가짜.
「가족이라서 막대해도 된다」는 사고를 버리는 것.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(7/14)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권7  出處 출처  (출처)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39조조 · 진퇴 의리 — 나아갈 때와 물러설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「의(義)에 맞으면 나아가고, 의에 맞지 않으면 물러난다」
· 시류에 영합하기 위해 나아가지 않는다
· 시중(時中) — 때에 맞는 처신
· 받을 것과 안 받을 것의 분명한 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「기회 앞에서 본질을 묻는 안목」.
모든 기회를 다 잡으려는 사람은 결국 큰 기회를 놓친다.
이직·창업·승진 — 「내 가치와 맞는가」를 묻는 자세. 거절할 줄 아는 용기.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(8/14)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권8  治體 치체  (치체)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25조조 · 정치 본체 — 정치의 근본은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다스리는 자는 먼저 자기 자신을 다스려야 한다 (수신 = 치국의 근본)
· 정치의 근본은 민심이다
· 「올바름(正)으로 다스리는 것」이 모든 정치 기술에 우선
· 인재를 알아보고 등용하는 안목이 군주의 첫째 자질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「리더십의 본질은 기교가 아니라 자기 정립(正)」.
회사 CEO든 작은 팀장이든 — 자기 자신부터 바르게 서지 않으면 사람을 움직일 수 없다.
부하에게 요구하기 전에 자기에게 먼저 묻는 습관.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(9/14)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권9  治法 치법  (치법)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27조조 · 제도·법 — 어떤 제도로 다스리는가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정치는 「사람(治人)」이 먼저고, 「법(治法)」이 그 다음
· 그러나 좋은 법·제도가 없으면 좋은 사람도 효과를 내지 못한다
· 「예(禮)는 부드러운 다스림, 형(刑)은 마지못한 보충」
· 학교 제도·인재 선발·토지 제도의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「사람을 바꾸는 것은 결국 시스템이고, 시스템을 만드는 것은 결국 사람이다」.
조직 운영에서 「사람을 갈아 넣지 말고 시스템을 바꿔라」 + 「시스템도 결국 사람이 만든다」 — 양면을 함께 보는 안목.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(10/14)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권10  政事 정사  (정사)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64조조 · 실무 — 실제로 어떻게 일을 처리하는가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사세(事勢)를 정확히 보라 — 명분만으로 일이 되지 않는다
· 작은 일을 소홀히 하지 말라
· 백성의 처지를 먼저 헤아려라
· 결정과 책임을 회피하지 말라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「이상은 높게, 실무는 정확하게」.
도덕적 이상만 외치는 사람은 일을 망치고, 실무 기교만 따지는 사람은 방향을 잃는다.
큰 그림을 잃지 않으면서 작은 디테일까지 챙기는 균형.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(11/14)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권11  敎學 교학  (교학)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21조조 · 교육 — 어떻게 가르치고 어떻게 배우게 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솔선수범이 모든 가르침의 근본
· 학생의 수준에 맞춰 가르쳐야 한다 (수기隨機 교육)
· 교학상장(敎學相長) — 가르치는 일은 자기 공부의 연장
· 잘못을 꾸짖되 기를 꺾지 말라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「가장 잘 가르치는 사람은 자기가 가장 잘 배우고 있는 사람」.
부모로서 자식을, 선배로서 후배를, 상사로서 부하를 이끌 때 — 「말로 가르치지 말고 모습으로 보여라」.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(12/14)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권12  警戒 경계  (경계)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33조조 · 자기 점검 — 어떤 함정을 피해야 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자만(自滿) — 조금 알았다고 다 안 줄 알고 멈춘다
· 태만(怠慢) — 작심삼일, 지속의 부재
· 편견(偏見) — 자기 생각에 갇힘
· 명리(名利)에 휘둘림 — 본래 목적을 잊음
· 외적 평판에의 집착 — 위인지학으로의 타락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「공부와 수양이 망가지는 것은 외부 적이 아니라 자기 안의 함정」.
위학편이 길을 제시했다면, 경계편은 그 길에서 빠지기 쉬운 함정들을 짚어 준다 — 자기 점검의 체크리스트.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(13/14)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권13  辨異端 변이단  (변이단)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14조조 · 비판적 사고 — 그릇된 학설과 어떻게 구별하는가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이단의 비판은 그 사상가 개인의 비방이 아니라 학설의 오류 분석
· 외형이 비슷해도 근본 전제와 실천 방향이 다르면 다른 학문
· 인의(仁義)·인륜(人倫)을 부정하면 결국 사회를 해친다
· 「가짜 같음」이 가장 위험하다 — 진리에 가까울수록 분별이 어렵다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단순한 종교 비판이 아닌 「비판적 사고력」.
표면만 보지 말고 근본 전제를 묻고, 결과적 방향을 보는 안목.
정보·이념·자기계발서 홍수 속 — 「이 주장의 전제는, 받아들이면 어디로 가는가」.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14편 각 편 깊이 읽기 (14/14)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권14  觀聖賢 관성현  (관성현)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26조조 · 모범 — 어떤 모습을 본받아야 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명제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· 성인은 추상적 이상이 아니라 구체적 사람이었다
· 그들의 언행·처세·교육·정치가 모두 모범
· 공자의 온화함, 맹자의 호연지기, 안연의 고요함 — 성인도 다양한 인격
· 성현의 모습을 마음에 새기면 자기 행동의 척도가 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 우리가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「모방할 수 있는 구체적 모범 없이는 변화도 없다」.
추상적 이상은 동기 부여가 약하지만, 구체적 인격의 살아 있는 모습은 사람을 바꾼다.
누구를 마음의 스승으로 삼느냐가 그 사람의 미래를 결정.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5가지 학습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근사(近思)의 정신 — 다섯 글자에 압축된 학습관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논어 자장편 + 정주학의 14편을 관통하는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博 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0312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널리 배우라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556070"/>
                </a:solidFill>
                <a:latin typeface="맑은 고딕"/>
              </a:rPr>
              <a:t>박학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14편이 우주론에서 정치·교육·이단 비판까지 망라하듯, 학문은 좁아서는 안 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8288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篤 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97180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0632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뜻을 돈독히 하라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556070"/>
                </a:solidFill>
                <a:latin typeface="맑은 고딕"/>
              </a:rPr>
              <a:t>독지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063240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위학편이 강조하듯, 모든 학문의 시작은 「왜 공부하는가」에 대한 분명한 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79"/>
            <a:ext cx="18288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79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切 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840479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931919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절실하게 물으라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556070"/>
                </a:solidFill>
                <a:latin typeface="맑은 고딕"/>
              </a:rPr>
              <a:t>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931919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치지편의 격물치지가 가르치듯, 표면에 만족하지 말고 끝까지 묻는 태도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09159"/>
            <a:ext cx="18288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59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近 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709159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800599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가까이 생각하라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556070"/>
                </a:solidFill>
                <a:latin typeface="맑은 고딕"/>
              </a:rPr>
              <a:t>근사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00599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책 이름 자체 — 거창한 이론이 아닌, 자기 몸·가정·일상의 절실한 문제부터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77840"/>
            <a:ext cx="18288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atang"/>
              </a:rPr>
              <a:t>力 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57784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5669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힘써 실천하라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556070"/>
                </a:solidFill>
                <a:latin typeface="맑은 고딕"/>
              </a:rPr>
              <a:t>역행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669280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극기·존양·정사편이 강조하듯, 앎은 행함으로 완성된다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논어 자장편 / 근사록 서명의 출전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博 學 而 篤 志  切 問 而 近 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널리 배우고 뜻을 돈독히 하며, 절실하게 묻고 가까이 생각하라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자하(子夏)의 말. 「근사(近思)」가 곧 책 이름이 되었다. 「인(仁)이 그 가운데 있다」 — 인격 완성의 사대 명제.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도체 · 주돈이 태극도설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無 極 而 太 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무극이 곧 태극이다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주돈이가 우주생성론의 첫 명제로 던진 한 줄. 태극의 펼쳐짐이 곧 음양·오행·만물. 「세상에 일관된 원리가 있다」는 사고의 출발.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도체 · 정호의 명제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一 草 一 木  皆 有 春 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한 포기 풀, 한 그루 나무에도 모두 봄의 뜻이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정호(명도)의 인(仁) 사상 — 만물 일체. 우주 만물이 같은 생명력으로 통한다는 생명 감수성의 명제.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도체 · 장재 서명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民 吾 同 胞  物 吾 與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백성은 내 동포요, 만물은 내 짝이다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장재(횡거)의 『서명(西銘)』 — 「민포물여(民胞物與)」의 원전. 동아시아 인본주의·자연관의 최고 표현.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위학 · 정주학의 학문관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爲 己 之 學  非 爲 人 之 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자기를 위한 공부지 남에게 보이기 위한 공부가 아니다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학문의 본질은 인정·평가·스펙이 아니라 자기 변화. 「위기지학(爲己之學)」 — 정주학의 학습 윤리 핵심.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치지 · 정이의 인식론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今 日 格 一 物  明 日 格 一 物  豁 然 貫 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오늘 한 사물을 격(格)하고 내일 또 한 사물을 격하면, 어느 순간 활연히 관통한다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격물치지(格物致知)의 누적과 도약. 한 분야를 깊이 파면 어느 순간 전체가 보이는 통섭의 원리.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존양 · 경(敬)의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主 一 無 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하나에 집중하여 다른 데로 가지 않음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경(敬)의 가장 짧은 정의. 마음 챙김(mindfulness)의 동양 원형 — 디지털 시대에 가장 절실한 능력.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극기 · 논어 안연편 인용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克 己 復 禮  天 下 歸 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자기를 이기고 예로 돌아가면 천하가 인(仁)으로 돌아온다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극기복례(克己復禮) — 공자의 인(仁) 정의. 정주학 자기 통제의 출발점 — 「한 번 끊는 결단」.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가도 · 부부의 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相 敬 如 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서로 손님처럼 공경한다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부부의 도 — 가장 가까운 사람에게 가장 정중할 때 인격이 완성된다. 가족이라서 막대해도 된다는 사고의 정면 부정.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치체 · 군주의 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其 身 正  不 令 而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자기 몸이 바르면, 명령하지 않아도 행해진다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논어 자로편 인용 — 리더십의 본질은 기교가 아닌 자기 정립. 부하에게 요구하기 전에 자기에게 먼저 묻는 습관.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교학 · 예기 학기 인용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敎 學 相 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가르치고 배움이 서로 자라게 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가르치는 일은 자기 공부의 연장. 「가장 잘 가르치는 사람은 자기가 가장 잘 배우는 사람」.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장재 · 횡거 사구(四句)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為 天 地 立 心  為 生 民 立 命  為 往 聖 繼 絕 學  為 萬 世 開 太 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천지를 위해 마음을 세우고, 백성을 위해 명을 세우며, 옛 성인의 끊긴 학문을 잇고, 만세를 위해 태평을 연다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장재의 횡거사구(橫渠四句) — 조선 선비의 정신적 좌우명. 입지(立志)의 가장 웅장한 표현.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고려 말에서 조선까지 — 800년의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신유학 도입의 첫 번째 텍스트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고려 말 — 안향 등 신유학 도입자들이 원나라에서 수입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1370년 — 진주에서 첫 간행 (이인민이 진주목사로 부임할 때)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조선 초 — 사서집주·주자가례와 함께 「신유학 핵심 3권」 중 하나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사서삼경 학습 전 단계의 「성리학 입문 정본」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퇴계 이황·율곡 이이를 비롯한 모든 성리학자의 필수 학습서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향약·서원·교육 제도 — 조선 사회 시스템의 사상적 기반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조선의 주요 주석본 — 한국 학자들의 깊이 있는 독해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퇴계 이황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退溪 李滉 (1501~1570)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『근사록석의(近思錄釋疑)』
어려운 부분에 대한 해석.
조선 성리학의 표준 주석으로 자리잡음.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성호 이익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星湖 李瀷 (1681~1763)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『근사록질서(近思錄疾書)』
실학적 관점의 재해석.
전통 주석에서 한 걸음 나간 비판적 독해.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한주 정엽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寒洲 鄭曄 (1563~1625)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근사록에 대한 강설·주해.
조선 중기 성리학 깊이의 한 단면.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기타 학자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00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권벌·이덕홍·송시열·정조 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경연(經筵)에서 왕에게 진강.
중종·영조·정조가 모두 깊이 중시.
정조는 1794년 어제서(御製序) 직접 작성.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경연(經筵)의 책 — 왕이 읽은 근사록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중종·영조·정조가 모두 깊이 중시한 텍스트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중종 시기 — 권벌(權橃)의 진강(進講)이 유명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영조 — 권벌 후손 권만(權萬)을 불러 직접 열람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정조 — 1794년 어제서(御製序)를 지어 그 중요성을 강조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「학문에 들어가는 첫 걸음의 진정한 길잡이」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사대부 — 신유학 입문, 사서삼경의 토대로 학습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향약·서원·과거(科擧) — 모든 교육·정치 제도의 사상적 토대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조선 5백 년 도덕 교육의 이론적 토대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오늘의 결핍 지도 — 근사록이 채울 수 있는 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이론 과잉, 실천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4028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추상적 사상은 많지만 「내 일상에 어떻게 적용할 것인가」가 약하다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정보 폭발, 집중력 붕괴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80359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존양편의 「主一無適」 — 한 가지에 집중하는 시간이 사라지고 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비교 경쟁의 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2044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위학편의 「위기지학」 — 남에게 보이기 위한 공부가 아니라 자기 변화의 공부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관계의 형식주의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16052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가도편 「相敬如賓」 — 가장 가까운 사람에게 가장 정중하기를 잊어버렸다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79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79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롤모델의 부재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800599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관성현편 「구체적 모범」 — 추상적 이상이 아닌 구체적 인격이 사람을 바꾼다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비판적 사고력 약화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44068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변이단편 — 표면이 아닌 전제와 결과를 묻는 분별의 안목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근사록을 오늘 어떻게 읽을까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여조겸·주희의 당부 그대로 — 「가까이서, 절실하게」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전체를 통독하지 말고, 권 단위로 한 편씩 천천히 읽는다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입문에 좋은 권 — 권2 위학(왜 공부하는가) → 권5 극기(자기 통제) → 권6 가도(가정)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「14편을 다 읽기」가 아닌 「한 구절을 마음에 새기기」가 목표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책 이름 그대로 — 「가까이서 생각」: 내 삶에 적용 가능한 한 구절씩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자녀와 함께 — 일주일에 한 조(條)씩 읽고 「오늘 우리 가족엔?」 이야기 나눔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주희·여조겸의 당부 — 「입문서이지 결론이 아니다, 갇히지 말라」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근사록,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주희와 여조겸이 1175년 한천정사에서 10일간 함께 엮은 신유학 종합 입문서.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북송 4자(주돈이·정호·정이·장재) 어록 622조를 14편으로 분류.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동심원 구조 — 도체 → 자기 수양 → 가도 → 사회·정치 → 교육·반성 → 분별·모범.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다섯 학습 원리 — 박학·독지·절문·근사·역행.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조선 800년 — 입문 정본·경연의 책·과거의 토대.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「학문을 가까이서 시작해 멀리까지 도달하게 하는」 책.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1F2A44"/>
                </a:solidFill>
                <a:latin typeface="Batang"/>
              </a:rPr>
              <a:t>切 問 而 近 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Batang"/>
              </a:rPr>
              <a:t>仁 在 其 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749039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절 실 하 게  묻 고  가 까 이  생 각 하 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인 (仁) 은  그  가 운 데  있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『논어』 자장(子張)편 · 자하(子夏)의 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Batang"/>
              </a:rPr>
              <a:t>近  思  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