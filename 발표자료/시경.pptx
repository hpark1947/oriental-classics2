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오경(五經)의 으뜸 · 동아시아 시가의 원류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맑은 고딕"/>
              </a:rPr>
              <a:t>詩 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시 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75488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思無邪 — 생각에 사악함이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풍(風) 160 · 아(雅) 105 · 송(頌) 40 — 총 305편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시경이란 무엇인가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육의(六義) — 풍·아·송과 부·비·흥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국풍(國風) — 15국의 민요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아(雅) — 소아·대아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송(頌) — 종묘의 노래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명편 깊이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시경의 사상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공자의 시교(詩敎)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모음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해석 학파와 후대 영향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시경(詩經) — 중국 최초의 시가 총집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약 500년의 노래, 305편으로 모이다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중국에서 가장 오래된 시가 모음집, 동아시아 시가 문학의 원류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서주(西周) 초기 ~ 춘추(春秋) 중기의 노래 305편을 수록 (약 500년)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원래 「시(詩)」, 「시삼백(詩三百)」이라 부르다 한대(漢代)에 경전(經)이 되어 「시경」으로 격상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공자가 3,000여 편에서 305편을 가려 정리했다는 전승 — 「산시(刪詩)」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백성의 노래 · 궁중의 음악 · 종묘의 찬가까지 — 사회 전 영역의 정서를 수렴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사실주의 문학의 시조이자, 인격 수양·언어 교육의 핵심 교재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명칭의 변천 — 詩에서 經으로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1945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시(詩)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48840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원래의 이름. 단지 「노래·시가」를 뜻함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1945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시삼백(詩三百)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공자가 「시 삼백 편(詩三百)」으로 부른 데서 통칭이 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79"/>
            <a:ext cx="21945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모시(毛詩)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886199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한대(漢代) 모형(毛亨)·모장(毛萇)의 전수본이 표준이 되어 붙은 이름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59"/>
            <a:ext cx="21945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59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시경(詩經)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754879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한대에 오경(五經)으로 격상되면서 정식 경전의 지위를 얻음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편찬 — 누가, 언제, 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채시(采詩) — 천자의 사신이 각지를 돌며 민요를 수집했다는 제도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     「왕이 풍속을 살피고 정치의 득실을 알기 위해 사방의 시를 모았다」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헌시(獻詩) — 대부·공경이 풍자·풍간을 위해 시를 지어 임금에게 바침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     아(雅)·송(頌)의 일부가 이 경로로 형성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산시(刪詩) — 공자가 3,000여 편에서 305편을 가렸다는 전승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     『사기·공자세가』의 기록 — 다만 학계 내 논쟁은 있음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「예의에 합당하지 않은 것을 빼고 305편을 남겼다」 — 공자 평어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시대와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시대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BC 11세기 ~ BC 6세기경 (서주 초기 ~ 춘추 중기)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규모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총 305편 (시삼백) — 가사만 남고 곡조는 실전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79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79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풍(風) 160편 + 아(雅) 105편 + 송(頌) 40편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59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59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편명만 남은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23359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소아 6편 — 가사를 잃고 제목만 전해짐 (생시笙詩)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형식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주로 4언(四言)을 기본으로, 1~9자가 섞임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0352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연애·노동·전쟁·제사·풍자·송축까지 — 삶의 전 영역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사상 — 한 폭으로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詩 言 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시언지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시는 마음에 품은 뜻을 노래한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思 無 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사무사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시 305편을 한 마디로 — 생각에 사악함이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溫 柔 敦 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온유돈후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시교의 풍모 — 부드럽고 두터운 인격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興 觀 群 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흥관군원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86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시의 네 가지 효용 — 일으키고·살피고·모으고·풀어내다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육의(六義)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육의(六義) — 시경을 이해하는 여섯 가지 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내용 분류 셋(풍·아·송) + 표현 기법 셋(부·비·흥)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「대서(大序)」 — 시에는 육의가 있으니, 풍(風)·부(賦)·비(比)·흥(興)·아(雅)·송(頌)이다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내용에 따른 세 분류 — 풍(風) · 아(雅) · 송(頌)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표현 기법의 세 가지 — 부(賦) · 비(比) · 흥(興)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시경 305편은 이 여섯 범주의 조합으로 모두 해명된다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후대 한문 시가 비평의 출발점이자 표준이 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육의(六義)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내용 분류 — 풍(風) · 아(雅) · 송(頌)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661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風 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160편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35661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각 지방의 민요·백성의 노래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15국의 민간 가요. 일상·연애·노동의 정서가 가장 풍부.
시경 중 문학적 가치가 가장 높은 부분.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5661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雅 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42032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105편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26080"/>
            <a:ext cx="35661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궁중 연회·조회의 노래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소아 74편 + 대아 31편.
귀족의 정서와 정치적 송축·풍자가 어우러진다.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103120"/>
            <a:ext cx="35661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頌 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42032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40편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926080"/>
            <a:ext cx="35661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종묘 제사의 노래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576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주송 31편 + 노송 4편 + 상송 5편.
조상의 덕을 찬양하는 엄숙한 제례악.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육의(六義)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표현 기법 — 부(賦) · 비(比) · 흥(興)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37160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賦 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5EEDD"/>
                </a:solidFill>
                <a:latin typeface="맑은 고딕"/>
              </a:rPr>
              <a:t>직접 서술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9456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있는 그대로 펼쳐 말함 (敷陳其事 而直言之)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예) 「부이(芣苢)」 — 질경이를 캐는 동작을 그대로 나열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39"/>
            <a:ext cx="137160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比 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79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5EEDD"/>
                </a:solidFill>
                <a:latin typeface="맑은 고딕"/>
              </a:rPr>
              <a:t>비유 · 대조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611879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다른 사물에 빗대어 말함 (以彼物比此物也)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예) 「종사(螽斯)」 — 메뚜기 떼의 번성으로 자손 번영을 비유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137160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興 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5EEDD"/>
                </a:solidFill>
                <a:latin typeface="맑은 고딕"/>
              </a:rPr>
              <a:t>연상 · 유발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0292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먼저 다른 사물을 들어 시상을 일으킴 (先言他物 以引起所詠之詞)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예) 「관저(關雎)」 — 물수리의 울음에서 군자의 그리움을 일으킴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육의(六義)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육의 한 폭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031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명칭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0972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0604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風 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각 지방의 민요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0896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雅 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궁중의 공식 음악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10972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118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頌 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11880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종묘 제사의 찬가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1480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기법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1148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賦 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14800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직접 서술 — 사실을 그대로 풀어 말함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17720"/>
            <a:ext cx="10972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기법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6177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比 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617720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비유 — 다른 사물에 빗대어 말함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2064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기법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12064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興 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120640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연상 — 다른 사물을 들어 시상을 일으킴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국풍(國風)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국풍(國風) — 15국의 민요 160편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시경의 핵심이자 문학적 가치의 정수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황하 유역 각 제후국의 민간 가요 — 「풍속·정치의 거울」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부역·전쟁의 고통, 연애·이별의 정서, 풍자와 한탄까지 — 백성의 삶을 가장 진솔하게 담음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시경 305편 중 가장 많은 160편, 문학적 가치가 가장 높이 평가되는 영역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「풍자(諷)」, 「풍속(俗)」, 「가곡의 풍격(風)」 세 뜻이 결합된 명칭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정치 풍자의 정신은 후대 「악부(樂府)」 시·당대 신악부 운동의 원천이 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국풍(國風)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남방의 노래 — 주남 · 소남 · 빈풍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주나라 발상지와 문왕 덕화권의 정서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56032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560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1. 주남(周南)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11편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231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주나라 남쪽(남양) · 문왕의 덕화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부부의 도리, 가정의 화목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6032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560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2. 소남(召南)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14편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033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소공의 봉지(남방)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여성의 덕, 교화의 풍속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256032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2560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15. 빈풍(豳風)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7편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9834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빈(豳) 지역 · 주족의 발상지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농사·세시풍속의 백과사전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국풍(國風)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중원의 노래 — 패·용·위·왕·정·제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구은(舊殷) 유민과 왕실 변천의 음성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3. 패풍(邶風)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19편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이별과 그리움, 사회 비판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4. 용풍(鄘風)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14884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풍속과 남녀 사랑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91839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5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5. 위풍(衛風)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37559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사랑과 이별, 정치 풍자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91839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5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6. 왕풍(王風)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337559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947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동주(東周) 왕실 쇠락의 비애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8056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7. 정풍(鄭風)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52628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21편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남녀 사랑의 노래가 가장 풍부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48056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5262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8. 제풍(齊風)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52628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11편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호방한 기풍, 사냥의 노래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국풍(國風)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변경과 소국의 노래 — 위·당·진·진·회·조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변경의 무용(武勇)과 약소국의 비애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9. 위풍(魏風)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7편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백성의 고단한 삶, 정치 비판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10. 당풍(唐風)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14884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12편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우국지정, 계절의 정서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91839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5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11. 진풍(秦風)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37559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상무 정신, 전쟁의 노래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91839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5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12. 진풍(陳風)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337559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947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남녀 사랑, 제사와 풍속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8056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13. 회풍(檜風)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52628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4편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소국의 비애와 망국의 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480560"/>
            <a:ext cx="53949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5262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14. 조풍(曹風)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52628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556070"/>
                </a:solidFill>
                <a:latin typeface="맑은 고딕"/>
              </a:rPr>
              <a:t>4편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현실 비판과 풍자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아(雅)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소아(小雅) — 궁중 연회의 노래 74편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귀족과 관리의 정서, 민간가요의 일부까지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시대 — 서주(西周) 중기 ~ 동주(東周) 초기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성격 — 작은 연회(잔치)의 음악, 일부 정치 풍자·사회 비판도 포함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대표작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녹명(鹿鳴) — 군신 화합의 연회시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사모(四牡) — 공무에 지친 사신의 향수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채미(采薇) — 변경 수자리 병사의 귀향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학명(鶴鳴) — 「他山之石 可以攻玉」의 출전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사간(斯干) — 왕궁 신축과 후사 축원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6편은 가사를 잃고 제목만 전함 — 「생시(笙詩)」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아(雅)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대아(大雅) — 조회와 제사의 노래 31편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주나라 건국 서사시와 정치적 훈계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시대 — 서주 초기·중기가 중심 — 가장 격조 높은 영역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성격 — 조회·대제(大祭) 등 큰 행사의 정악(正樂)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대표작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생민(生民) — 주의 시조 후직(后稷) 탄생 신화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공류(公劉) — 빈(豳) 정착의 영웅 서사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면(緜)     — 고공단보의 기산 이주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황의(皇矣) — 문왕의 천명 수임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문왕(文王) — 「周雖舊邦 其命維新」의 출전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탕(蕩)     — 폭정에 대한 격렬한 풍간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다섯 편의 사시(史詩)는 주나라 흥기를 노래한 서사시 연작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송(頌)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송(頌) — 종묘 제사의 노래 40편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시경에서 가장 오래되고 가장 엄숙한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「송(頌)」 = 용(容) — 「제사 때의 춤사위·악곡 전체」를 가리키는 옛 글자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종묘에서 조상의 덕을 찬양하는 제례악 — 길이는 짧고 한 장(章)으로 끝나는 시가 많음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시경 중 가장 오래된 층 — 주송(周頌)은 서주 초기 작품으로 추정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운(韻)이 거의 없고, 4언의 정형성을 따르지 않는 자유로운 형식이 특징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문학적 미감보다 의례적 엄숙함 · 신성성 · 정통성의 표현이 우선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송(頌)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주송·노송·상송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周頌 주송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31편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주나라 종묘 제사악
• 시경에서 가장 오래된 시
• 청묘(清廟)·열문(烈文) 등
• 형식 자유, 운 거의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魯頌 노송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4편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노나라 종묘 제사 · 희공 찬양
• 「공자의 고향」 노나라의 송
• 비궁(閟宮) 등 — 길이 가장 김
• 형식은 풍·아에 가까워짐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商頌 상송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5편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은(상)의 후예 송(宋)의 제사악
• 「나(那)」, 「열조(烈祖)」, 「현조(玄鳥)」 등
• 은의 시조 설(契) 탄생 신화
• 가장 신화적·웅혼한 분위기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관저(關雎)  (관저)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국풍·주남 — 시경 첫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關關雎鳩 在河之洲  窈窕淑女 君子好逑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관관 우는 물수리는 강가 모래톱에 있고 / 아리따운 숙녀는 군자의 좋은 배필이로다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강가의 물수리에서 시상을 일으켜, 덕 있는 여인을 사모하는 군자의 마음을 그린다.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공자가 「樂而不淫 哀而不傷」(즐거우되 음란하지 않고, 슬프되 상하지 않는다)이라 평한 시경의 표상.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(2/15)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도요(桃夭)  (도요)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국풍·주남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桃之夭夭 灼灼其華  之子于歸 宜其室家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복숭아 어여뻐 그 꽃이 활짝 빛나네 / 이 아가씨 시집가니 그 집안에 어울리리라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활짝 핀 복숭아꽃에 신부를 빗대어 가정의 번창을 축원하는 혼인의 노래.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「桃之夭夭」는 동아시아 혼인 축가의 원형 — 꽃→열매→무성한 잎으로 점층 전개.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(3/15)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부이(芣苢)  (부이)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국풍·주남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采采芣苢 薄言采之  采采芣苢 薄言有之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질경이를 캐세 질경이를 캐세 / 질경이를 캐세 질경이를 따세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동사만 바꾸는 순수 반복 — 여인들이 함께 나물 캐는 노동의 리듬과 즐거움.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시경에서 가장 단순하고도 완벽한 형식미. 「부(賦)」의 극치이자 노동요의 원형.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(4/15)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한광(漢廣)  (한광)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국풍·주남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南有喬木 不可休息  漢有游女 不可求思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남쪽 높은 나무엔 쉴 수 없고 / 한수의 그녀를 구할 수 없네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한수(漢水)를 사이에 둔 이루지 못한 사랑의 안타까움.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「不可」의 반복으로 좌절감을 강조하면서도 끝내 희망을 놓지 못하는 깊은 서정.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(5/15)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권이(卷耳)  (권이)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국풍·주남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采采卷耳 不盈頃筐  嗟我懷人 寘彼周行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도꼬마리 캐고 캐도 광주리에 차지 않네 / 그리운 이를 두고 길가에 광주리 놓네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시점을 교차하며 떨어져 있는 부부의 상호 그리움을 노래.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여인 → 남편으로 시점이 전환되는 독특한 구성. 「不盈頃筐」으로 그리움을 간접화.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(6/15)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갈담(葛覃)  (갈담)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국풍·주남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葛之覃兮 施于中谷  維葉萋萋 黃鳥于飛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칡넝쿨이 골짜기에 뻗고 / 잎이 무성한데 꾀꼬리가 날아오네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칡을 베어 옷감을 짜고 친정으로 가는 효성스러운 여인의 덕행.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봄 풍경에서 노동·효성으로 시상이 흘러가는 흥(興)의 모범 사례.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(7/15)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칠월(七月)  (칠월)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국풍·빈풍 — 시경 최장편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七月流火 九月授衣  一之日觱發 二之日栗烈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칠월에 큰불별 서쪽으로 흐르고 구월에 옷감 나눠준다 / 십일월 삭풍, 십이월 매서운 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농민의 한 해 노동을 월별로 그린 시경의 백과사전 — 농사·양잠·사냥·세시풍속 망라.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8장의 대편. 하력과 주력을 혼용. 사료 가치·민속학적 보고로 그 자체가 한 권의 책.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(8/15)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치효(鴟鴞)  (치효)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국풍·빈풍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迨天之未陰雨 徹彼桑土  綢繆牖戶 今女下民 或敢侮予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비 오기 전에 뽕뿌리 캐어 / 창과 문 단단히 동여매니 아랫것들이 감히 업신여기랴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주공이 둥지를 지키는 새에 자신을 비유 — 위기 앞의 결의와 사전 대비.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「未雨綢繆(미우주무)」 — 「비 오기 전에 대비한다」 고사성어의 출전.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(9/15)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동산(東山)  (동산)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국풍·빈풍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我徂東山 慆慆不歸  我來自東 零雨其濛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동산으로 갔다가 오래 돌아오지 못했네 / 동쪽에서 돌아오니 가랑비가 부슬부슬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주공의 동정에서 돌아오는 병사의 귀향길 — 황량한 빈집과 평화의 갈망.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동아시아 반전시(反戰詩)의 원형. 가랑비·거미줄·빈집의 이미지가 깊은 여운을 남김.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(10/15)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녹명(鹿鳴)  (녹명)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소아 첫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呦呦鹿鳴 食野之苹  我有嘉賓 鼓瑟吹笙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어여삐 우는 사슴은 들판의 마름을 먹고 / 내게 귀한 손님 있어 비파 타고 생황 부네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군신이 연회에서 화합하며 정치의 도리를 나누는 모습.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소아의 첫 시이자 가장 격조 높은 연회시. 후대 향응시(饗宴詩)의 표준이 됨.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(11/15)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채미(采薇)  (채미)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소아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昔我往矣 楊柳依依  今我來思 雨雪霏霏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내가 떠날 때엔 버드나무 늘어졌더니 / 지금 돌아오니 진눈깨비 흩날리네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변경에서 돌아오는 수자리 병사의 깊은 비애와 향수.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「楊柳依依」·「雨雪霏霏」 — 시경에서 가장 자주 인용되는 시구. 시간과 정서의 대비가 절묘.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(12/15)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학명(鶴鳴)  (학명)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소아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它山之石 可以攻玉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다른 산의 돌이라도 옥을 다듬을 수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겉으론 보잘것없어 보이는 사물도 큰 쓸모를 가질 수 있음.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「他山之石(타산지석)」의 출전 — 자기 발전·인재 등용의 비유로 2,500년간 인용.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(13/15)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생민(生民)  (생민)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대아 — 주나라 시조 신화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厥初生民 時維姜嫄  生民如何 克禋克祀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백성의 시초는 강원이라 / 백성이 어떻게 났는가, 정성껏 제사를 올리고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주나라 시조 후직(后稷)의 탄생과 농경의 시작을 노래한 서사시.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주의 천명관과 농경 문화의 신화적 표상 — 대아 5편의 「주민족 서사시」 중 하나.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(14/15)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문왕(文王)  (문왕)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대아 — 주의 천명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周雖舊邦 其命維新  侯文王 於昭于天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주는 비록 옛 나라이나 그 명은 새로워라 / 문왕이여, 하늘에 빛나도다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문왕의 덕과 주나라의 천명을 노래.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「周雖舊邦 其命維新」 — 『대학』과 후대 개혁 사상에서 끊임없이 인용되는 구절.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명편 깊이 읽기 (15/15)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청묘(清廟)  (청묘)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주송 첫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於穆清廟 肅雝顯相  濟濟多士 秉文之德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아, 깊고 맑은 종묘여, 엄숙하고 화락한 보필이여 / 많은 선비가 문왕의 덕을 받드네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종묘 제사의 엄숙한 의식 — 문왕의 덕을 기리는 송의 표상.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주송의 첫 시이자 송의 전형. 운(韻) 없는 자유로운 형식, 의례의 깊이가 압도적.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시경의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시언지(詩言志) — 시는 뜻을 말한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동아시아 문학론의 출발점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詩 言 志, 歌 永 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시는 뜻을 말한 것이요, 노래는 그 말을 길게 펼친 것이다 — 『서경·요전(舜典)』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시의 본질은 「뜻(志)」의 표현 — 외부 묘사가 아니라 내심의 토로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「志」는 마음에 머문 것 — 그것이 말로 나오면 시가 되고, 길게 펼쳐지면 노래가 된다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· 「대서(大序)」 — 「情動於中而形於言, 言之不足故嗟嘆之」 (마음이 움직이매 말로 형성되고, 말이 부족하매 탄식한다)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후대 중국·한국·일본 시론(詩論)의 출발점 — 정(情)과 지(志)를 토대로 한 시 이해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시경의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사무사(思無邪) — 생각에 사악함이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공자의 시경 한 줄 평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詩 三 百, 一 言 以 蔽 之, 曰 思 無 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시 삼백 편을 한마디로 줄이면, 생각에 사악함이 없다 — 『논어·위정』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「思無邪」 자체는 노송 「경(駉)」편의 한 구절을 빌려온 것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305편 모두가 인간 정서의 정직한 표현 — 거짓된 마음이 없다는 평어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사랑·이별·분노·풍자도 「邪」가 아니라 본래 마음의 결을 따른 진실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시경을 도덕 교과서가 아니라 「진실의 노래책」으로 자리매김한 공자의 핵심 명제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시경의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온유돈후(溫柔敦厚) — 시교의 풍모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시가 빚어내는 인격의 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溫 柔 敦 厚, 詩 教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온화하고 부드러우며 도탑고 두터운 것이 시의 가르침이다 — 『예기·경해』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溫(온) — 따뜻함 · 柔(유) — 부드러움 · 敦(돈) — 도타움 · 厚(후) — 두터움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시는 격렬함보다 절제 — 풍자도 곧장 찌르지 않고 빗대어 일러줌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「怨而不怒, 哀而不傷」 — 원망하되 노하지 않고, 슬프되 상하지 않는다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시를 익힌 사람의 인격적 결 — 격정에 휩쓸리지 않는 절제와 두터움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시경의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흥관군원(興觀群怨) — 시의 네 가지 효용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공자의 시 효용론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Batang"/>
              </a:rPr>
              <a:t>『논어·양화』 — 「詩 可以興 可以觀 可以群 可以怨」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394960" cy="1691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맑은 고딕"/>
              </a:rPr>
              <a:t>興 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일으키다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시는 사람의 마음을 일깨우고 시상을 일으킨다.
정서를 자극하고 감수성을 깨움.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468880"/>
            <a:ext cx="5394960" cy="1691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맑은 고딕"/>
              </a:rPr>
              <a:t>觀 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살피다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시는 풍속과 정치의 득실을 살피게 한다.
사회 현실을 비추는 거울.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5394960" cy="1691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맑은 고딕"/>
              </a:rPr>
              <a:t>群 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2628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시는 사람들이 함께 모여 어울리게 한다.
공동체적 정서의 결속.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389120"/>
            <a:ext cx="5394960" cy="1691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맑은 고딕"/>
              </a:rPr>
              <a:t>怨 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52628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풀어내다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206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시는 원망과 비판을 표현할 수 있게 한다.
억눌린 정서의 정당한 출구.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시경의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미자(美刺) — 찬미와 풍자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시의 정치적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Batang"/>
              </a:rPr>
              <a:t>● 「대서(大序)」 — 「上以風化下, 下以風刺上」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위로는 시로써 아래를 교화하고, 아래로는 시로써 위를 풍자한다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「美」 — 임금과 신하의 덕을 찬미함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송(頌)이 그 전형 — 종묘의 찬가, 조상 덕업의 송축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「刺」 — 정치·풍속의 잘못을 풍자·풍간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국풍·아의 다수 — 폭정·부역·실정에 대한 백성과 사대부의 항의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풍자도 직설이 아닌 빗대어 — 「主文而譎諫」 (문(文)을 주로 하고 완곡히 간언함)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후대 한대 악부 · 당대 신악부 운동의 정신적 원천이 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공자의 시교(詩敎)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공자는 시를 가르쳤는가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인격 수양과 언어 교육의 핵심 교재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시는 감정을 일깨우는 가장 빠른 길 — 「흥(興)」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시는 풍속을 살피는 가장 정확한 거울 — 「관(觀)」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시는 외교의 언어 — 사신은 시구로 뜻을 전했다 (賦詩言志)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시는 박물(博物)의 교과서 — 새·짐승·초목의 이름을 다 알게 됨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시는 효(孝)와 충(忠)의 가르침 — 가까이는 어버이를, 멀리는 임금을 섬김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시는 인격의 결을 빚는 가장 부드러운 길 — 「溫柔敦厚」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공자의 시교(詩敎)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不學詩 無以言 — 시를 배우지 않으면 말할 수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아들 백어(伯魚)에게 — 『논어·계씨』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不 學 詩, 無 以 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공자가 아들에게 — 「시를 배우지 않으면 더불어 말할 수 없다」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시경의 구절은 당시 외교·정치의 공통 언어 — 시를 모르면 말의 무게가 없다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시를 익혀야 말이 점잖아지고, 비유가 풍부해지고, 정서가 깊어진다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0">
                <a:solidFill>
                  <a:srgbClr val="556070"/>
                </a:solidFill>
                <a:latin typeface="Batang"/>
              </a:rPr>
              <a:t>● 「興於詩, 立於禮, 成於樂」 — 시에서 일으키고, 예에서 서고, 악에서 완성한다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공자의 시교(詩敎)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공자의 시 평론 — 세 구절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011680" cy="13258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關雎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EEDD"/>
                </a:solidFill>
                <a:latin typeface="맑은 고딕"/>
              </a:rPr>
              <a:t>관저편에 대하여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4028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Batang"/>
              </a:rPr>
              <a:t>「樂而不淫, 哀而不傷」
즐거우되 음란하지 않고, 슬프되 상하지 않는다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79"/>
            <a:ext cx="2011680" cy="13258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詩三百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19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EEDD"/>
                </a:solidFill>
                <a:latin typeface="맑은 고딕"/>
              </a:rPr>
              <a:t>시 전체에 대하여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49039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Batang"/>
              </a:rPr>
              <a:t>「一言以蔽之, 曰: 思無邪」
한마디로 줄이면 — 생각에 사악함이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20640"/>
            <a:ext cx="2011680" cy="13258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興觀群怨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EEDD"/>
                </a:solidFill>
                <a:latin typeface="맑은 고딕"/>
              </a:rPr>
              <a:t>시의 효용에 대하여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25780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Batang"/>
              </a:rPr>
              <a:t>「詩可以興, 可以觀, 可以群, 可以怨」
시는 흥을 일으키고, 살피고, 모으고, 풀어낸다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주남·관저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窈 窕 淑 女, 君 子 好 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아리따운 숙녀는 군자의 좋은 배필이로다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시경의 첫 구절. 후대의 모든 동아시아 연애시·혼인시가 그 그늘에서 자라났다고 해도 과언이 아니다.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주남·관저(공자 평)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樂 而 不 淫, 哀 而 不 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즐거우되 음란하지 않고, 슬프되 상하지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공자가 관저편을 평한 말이자, 동아시아 미학의 절제(中和) 원칙. 격정도 절제 안에서 빛난다.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주남·도요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桃 之 夭 夭, 灼 灼 其 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복숭아 어여뻐 그 꽃이 활짝 빛나도다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혼인 축가의 원형. 「夭夭」, 「灼灼」 같은 첩어가 자아내는 음악성이 한자 시가의 한 출발점이 됨.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위풍·목과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投 我 以 木 桃, 報 之 以 瓊 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내게 모과를 던지매, 나는 옥으로 갚노라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받은 작은 정을 큰 마음으로 되갚는다 — 동아시아 의리·예물 교환 윤리의 시구적 원형.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소아·학명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它 山 之 石, 可 以 攻 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다른 산의 돌이라도 옥을 다듬을 수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타산지석(他山之石) — 보잘것없는 것에서도 큰 쓸모를 찾는 지혜. 2,500년간 가장 자주 인용된 시구.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소아·차할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高 山 仰 止, 景 行 行 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높은 산은 우러르고, 큰길은 따라 걷는다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사마천이 『사기·공자세가』 끝에서 인용 — 공자에 대한 흠모를 표한 명구. 인격의 표상에 대한 경모.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소아·소민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戰 戰 兢 兢, 如 臨 深 淵, 如 履 薄 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전전긍긍 — 깊은 못 앞에 선 듯, 살얼음을 밟듯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신중함의 극한. 「전전긍긍」, 「여리박빙」 두 사자성어의 출전. 책임자의 자세를 상징.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대아·탕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靡 不 有 初, 鮮 克 有 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시작이 없는 일은 없으나, 끝을 잘 맺는 일은 드물다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성공의 어려움은 시작에 있지 않고 마지막에 있다. 「초심 → 유종의 미」 윤리의 원천.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대아·문왕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周 雖 舊 邦, 其 命 維 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주는 옛 나라이나 그 명은 새로워라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『대학』과 후대 개혁 사상의 단골 인용. 오래된 나라일수록 끊임없는 갱신이 명운을 좌우한다.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모음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빈풍·칠월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Batang"/>
              </a:rPr>
              <a:t>七 月 流 火, 九 月 授 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칠월에 큰불별 서쪽으로 흐르고, 구월에 옷감을 나눠준다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시경에서 가장 자주 인용되는 농가월령. 자연의 순환과 인간의 노동을 잇는 농경 문명의 표지.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해석 학파와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모시(毛詩)와 한대(漢代) 4가시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한대에 오경의 하나가 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한대에 시경은 「제(齊)·노(魯)·한(韓)·모(毛)」 네 학파로 전수됨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제시(齊詩) — 원고생(轅固生) 계열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노시(魯詩) — 신배(申培) 계열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한시(韓詩) — 한영(韓嬰) 계열 — 『한시외전』만 남음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모시(毛詩) — 모형(毛亨)·모장(毛萇) 계열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동한(東漢) 정현(鄭玄)의 「전(箋)」으로 모시가 표준이 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이후 시경 = 모시(毛詩) — 다른 세 가지는 점차 실전(失傳)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「대서(大序)」, 「소서(小序)」 — 각 시의 배경과 주제를 정치적 풍자로 해석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해석 학파와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주희(朱熹)의 『시집전(詩集傳)』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송대 — 시경 해석의 대전환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1177년 — 주희가 모시의 정치적 강독을 비판하며 새로운 주석을 완성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8B1A1A"/>
                </a:solidFill>
                <a:latin typeface="맑은 고딕"/>
              </a:rPr>
              <a:t>● 「국풍은 본디 백성의 노래 — 정치 풍자가 아닌 「민간의 정(情)」으로 읽어야 한다」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「음시(淫詩)」 논쟁 — 정풍·위풍의 연애시를 「음란한 시」로 규정하여 풍자가 아닌 직접 표현으로 봄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「부(賦)·비(比)·흥(興)」 표기를 시마다 명기 — 표현 기법 분석의 정착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이후 조선·일본의 시경 강독은 『시집전』이 표준 — 「모시 → 주자」로 권위 이동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청대 고증학(顧炎武·戴震)은 모시·주자 모두를 비판하며 원전 복원 시도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해석 학파와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중국 시가에 미친 영향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시경 → 초사 → 한부 → 악부 → 당시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초사(楚辭)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488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굴원 — 남방의 무가(巫歌) 전통이 시경의 북방 4언을 잇는 새 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14884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6언·산문조의 서정시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한부(漢賦)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6207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시경의 「부(賦)」 기법이 독자 장르로 발전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86207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대규모 사물 묘사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29584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9584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악부(樂府)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7530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한대 — 시경 채시(采詩) 정신의 재현, 민가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575304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풍자·서사의 부활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42816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42816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건안 5언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288536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조조·조비·조식 — 시경·악부의 정신을 5언으로 계승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288536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서정과 비분(悲憤)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56048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56048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당시(唐詩)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00176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두보의 사회시는 풍의 풍자, 왕유의 자연시는 흥의 정조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5001768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시 황금기의 양 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6928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신악부 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7150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백거이 — 「文章合為時而著, 歌詩合為事而作」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7150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시경 정신의 부활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해석 학파와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한국과 일본에서의 시경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한국 — 삼국시대부터 수용, 조선조에 「사서삼경」의 핵심으로 자리잡음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과거(科擧) 필독 — 사대부의 기본 교양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정약용 『시경강의(詩經講義)』, 이익·박지원 등 실학자들의 새로운 독해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시조·가사 문학에 「온유돈후」·「사무사」의 미학이 깊이 스며듦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일본 — 헤이안 시대부터 한학자들이 강독, 에도 시대 본격 연구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이토 진사이(伊藤仁齋)·오규 소라이(荻生徂徠) — 모시 비판과 원전 회복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『만요슈(萬葉集)』의 서민가요 정신과의 비교 연구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베트남 — 한문 교양의 기초로 「四書三經」 체계에 편입됨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해석 학파와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한문학사에서의 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「오경(五經)」 중 유일한 시가집 — 詩·書·易·禮·春秋 중 문학 영역의 대표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「사가(史家)」가 본 시경 — 사마천 『사기』는 시경 구절을 곳곳에 인용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「논자(論者)」가 본 시경 — 『논어』·『맹자』·『순자』가 끊임없이 시구를 인용해 사상을 받쳐 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「외교의 언어」 — 춘추시대 사신이 시경 구절을 인용해 뜻을 전했다(賦詩)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「언어의 보고」 — 후대 사자성어·고사·어휘의 가장 풍부한 출전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사실주의 문학의 원류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백성의 말로 백성의 삶을 적다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「부역의 고단함」·「전쟁의 참혹함」·「폭정에 대한 항의」를 가감 없이 노래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· 「벌단(伐檀)」 — 「不稼不穡, 胡取禾三百廛兮」 일하지 않는 자가 어찌 곡식을 거두는가 — 사회 비판의 모범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· 「석서(碩鼠)」 — 「큰 쥐야, 큰 쥐야, 내 곡식을 먹지 말라」 — 폭정을 쥐에 비유한 직접 풍자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· 「소민(小民)」의 시선 — 통치자의 기록인 사서(史書)가 채우지 못하는 영역의 보존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· 두보·백거이의 사회시, 정약용 「애절양」 등의 정신적 원조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민속·역사 자료로서의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시경은 곧 BC 11~6세기의 동영상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농경 — 「칠월」 한 편이 농민의 1년 노동·세시풍속의 백과사전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혼인·연애 — 정풍·위풍의 사랑 노래가 고대 남녀 교제의 실상을 보여줌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전쟁 — 진풍·동산·채미 등은 군역의 고통과 향수의 1차 기록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의례 — 송(頌)은 종묘 제사의 절차와 음악을 보존한 유일한 문헌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동식물 — 새·짐승·물고기·풀·나무의 이름이 가장 풍부 — 박물학의 보고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· 사서(『상서』·『춘추』)가 「대인의 기록」이라면, 시경은 「소인의 기록」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미학의 뿌리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절제 · 중화 · 함축 · 흥(興)의 미학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절제 — 「樂而不淫, 哀而不傷」 — 격정도 일정한 결을 따라 흐른다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중화(中和) — 강하지도 약하지도 않은 균형의 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함축 — 직설보다 비유, 비유보다 연상(興)의 깊이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일상의 발견 — 새의 울음·풀의 흔들림·물의 흐름에서 시작되는 시상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한국 시조·일본 와카·중국 절구·율시 — 모두 시경이 마련한 미학의 변주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일상과 노동에 대한 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시경이 우리에게 일러주는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시경의 시인은 영웅이 아니다 — 나물 캐는 여인, 군역 가는 남자, 베 짜는 아내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노동의 리듬이 곧 시의 리듬이 된다 — 「부이(芣苢)」가 보여주듯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「내 일상」을 노래하는 권리 — 시는 권력의 전유물이 아니다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작은 슬픔·작은 기쁨이 그대로 시가 되는 세계 — 현대 서정시의 원형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· 시경은 「큰 것을 말하지 않고도 깊은 것을 말하는 법」을 보여준다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시경,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시경은 BC 11세기~6세기, 약 500년의 노래 305편이다.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풍(160)·아(105)·송(40) — 백성의 노래·궁중의 음악·종묘의 찬가.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부(賦)·비(比)·흥(興) — 직설·비유·연상의 세 갈래.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시언지(詩言志)·사무사(思無邪)·온유돈후(溫柔敦厚)·흥관군원(興觀群怨).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동아시아 시가·미학·언어·외교·교양의 공동 토대.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「사람의 마음을 가장 정직하게 노래한 책」.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1F2A44"/>
                </a:solidFill>
                <a:latin typeface="Batang"/>
              </a:rPr>
              <a:t>思 無 邪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65760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8B1A1A"/>
                </a:solidFill>
                <a:latin typeface="맑은 고딕"/>
              </a:rPr>
              <a:t>생각에  사악함이 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— 공자, 시 삼백을 한 마디로 평하다 (『논어·위정』)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F2A44"/>
                </a:solidFill>
                <a:latin typeface="Batang"/>
              </a:rPr>
              <a:t>詩  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