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동아시아 최초의 어린이 역사·인물 학습서 · 1,300년 동아시아 교양의 원천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1F2A44"/>
                </a:solidFill>
                <a:latin typeface="Batang"/>
              </a:rPr>
              <a:t>蒙 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몽 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匪 我 求 童 蒙  童 蒙 求 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내가 어린아이를 찾아가는 게 아니라, 어린아이가 나를 찾아온다  — 『주역』 몽괘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이한(李翰, 당 천보 5년 746년경) · 596구 2,384자 · 4언 운문 대구의 600여 인물 일화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몽구는 어떤 책인가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서명의 유래 — 주역 몽괘에서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저자 이한과 편찬 배경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8자 1구 4자 대구의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명일화 16선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5대 교육 사상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후세 사자성어의 원전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한국·일본 수용사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다시 펼치는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몽구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동아시아 최초의 본격적 어린이 역사 학습서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蒙求 (몽구) — 「어리석은 어린이가 배움을 구한다」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8892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이한(李翰) — 당 천보 5년(746) 무렵 한림학사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분량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9184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596구 2,384자 · 4자 1구의 대구로 600여 인물 일화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시대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79476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춘추전국 ~ 남북조 (약 1,200년)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9768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어린이용 역사·인물 학습서 · 운문 + 대구 + 일화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위상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80060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천자문 다음, 삼자경 이전 — 동아시아 어린이 교양 원형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30352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童蒙求我 — 자발적 배움 · 인물 중심 역사관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어린이 교재의 가교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천자문 → 몽구 → 삼자경의 흐름에서 인물·역사의 입문서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천자문(6세기) → 몽구(8세기) → 백가성·삼자경(13세기)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천자문 — 한자 1,000자의 입문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글자를 익히는 단계 — 의미보다 문자 자체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몽구 — 한자로 인물·역사·도덕을 학습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600여 인물의 결정적 한 장면을 4자로 압축 — 외우면서 역사 인식 형성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삼자경·백가성 — 도덕 명제·성씨의 정리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몽구가 정착시킨 「운문 + 일화」의 형식이 후대에 계승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몽구의 핵심 — 한 마디로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「사람의 한 행동이 그를 영원히 정의한다」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匡 衡 鑿 壁  孫 敬 閉 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광형은 벽을 뚫어 글을 읽었고, 손경은 문을 닫아걸고 학문에 몰두했다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600여 인물 × 결정적 한 장면 — 4자로 압축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두 인물을 짝지어 한 단위 — 비교와 종합 사고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운율과 대구로 어린이가 외우기 쉽게 — 평생 입에 남음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한 행동이 그 사람을 영원히 정의한다 — 자기 4자에 대한 자각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슬기바다 7권 — 유동환 옮김본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한국에서의 본격 일반 독자용 번역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시리즈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8600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동양고전 슬기바다 7권 (홍익출판사)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옮긴이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3464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유동환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출판일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8328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2005년 4월 18일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형태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3192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양장본 328쪽 · 152×223mm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편집 원칙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48056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원문 · 독음 · 번역 · 해설을 함께 제공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의의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2920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일반 독자가 596구 전체를 따라 읽을 수 있도록 정리한 본격 한국어 번역본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서명의 유래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주역 몽괘에서 따온 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책 이름 자체가 교육 철학의 선언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匪 我 求 童 蒙   童 蒙 求 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내가 어린아이를 찾아가는 게 아니라, 어린아이가 나를 찾아온다 — 『주역』 몽괘 단사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蒙(몽) — 어리석음·어두움·아직 깨어나지 않은 어린이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求(구) — 구하다·청하다·찾다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「몽구」 — 어린이가 스승을 찾아 배움을 청한다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책 이름 자체가 — 자발적 배움의 유가적 교육관 선언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서명의 유래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자발적 배움(童蒙求我)의 정신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강요가 아니라 호기심에서 시작하는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가르침은 일방적 주입이 아니다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배우는 자가 스스로 동기를 갖고 청해야 한다 — 동양 교육관의 정수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운율과 대구라는 형식의 매력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어린이가 스스로 외우고 싶어지도록 — 형식이 곧 동기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인물 일화의 흥미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추상 도덕이 아닌 구체 사람 — 아이의 호기심에 직접 호소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두 인물 짝짓기의 비교 사고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왜 둘이 함께 거론되는가? — 단순 암기를 넘어 종합 사고로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저자와 편찬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저자 이한(李翰) — 당 한림학사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당 대종 시대 최고 문장가의 어린이 교과서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이한(李翰) — 당 천보(天寶) 연간 한림학사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한림학사 = 황제 조서 작성과 학문을 담당한 최고위 문신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일부 문헌은 「이한(李瀚)」 — 청대 고증으로 동일 인물 확인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편찬 시기 — 천보 5년(746) 무렵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학계 일부는 758~765년 사이로 보기도 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황제 헌상 — 요주자사 이량(李良)의 「**천몽구표(薦蒙求表)**」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이로써 천하에 알려짐 — 국가 공인 어린이 교과서로 격상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결과 — 중국 역사상 가장 오래·가장 널리 읽힌 어린이 교재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저자와 편찬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편찬 의도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왜 600여 인물을 8자 한 단위로 묶었는가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흩어진 역사 인물 일화를 효율적으로 암기시키기 위함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운율과 대구의 형식 미학에 기대어 — 어린이가 스스로 외우고 싶게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 단위(8자)에 두 인물 — 비슷하거나 대조되는 행적을 함께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1,200년의 중국사를 600여 인물로 압축 — 「압축된 역사 백과」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추상 도덕이 아닌 구체 사례로 효·근면·충절·지혜를 가르침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8자 1구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경이로운 압축의 형식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8자 한 단위 = 4자 + 4자, 두 인물 일화의 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총 글자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2,384자 (이본은 2,484자 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구절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3464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596구 (4자 1구 기준)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한 단위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8328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8자 = 4자 + 4자 — 두 인물 일화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운율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93192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4언 운문 · 짝수 구절마다 운을 맞춤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압운 변화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4805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8구마다 환운(換韻) — 단조롭지 않게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02920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인물 이름 + 그를 정의하는 결정적 한 장면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8자 1구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첫머리의 8자 한 단위들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몽구가 어떻게 시작되는지 — 두 인물의 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王 戎 簡 要   裴 楷 淸 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왕융은 간결하고 요령 있었으며, 배해는 청아하고 통달하였다 — 몽구 첫 구절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72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孔 明 臥 龍   呂 望 非 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공명(제갈량)은 누워 있는 용, 여망(강태공)은 곰이 아니었다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楊 震 關 西   丁 寬 易 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양진은 관서의 공자라 불렸고, 정관은 동쪽으로 역(易)을 전했다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8자 1구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인물 짝짓기의 깊이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비교 사고를 통한 종합적 역사 인식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비슷한 덕목의 두 인물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광형착벽 + 손경폐호 — 둘 다 「**가난 속의 면학**」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차윤낭형 + 손강영설 — 둘 다 「**빛이 없는 가운데 책 읽기**」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대조되는 두 인물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왕융간요 + 배해청통 — 「**간결**」 vs 「**청아**」 두 미덕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같은 시대의 두 인물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공명와룡 + 여망비웅 — 천하의 두 책사가 발탁된 순간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어린이가 스스로 묻게 한다 — 「왜 둘이 함께인가?」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1/16 — 광형착벽 — 광형이 벽을 뚫다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匡 衡 鑿 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한나라 광형(匡衡)이 어렸을 때 가난해 등잔불이 없었다. 이웃집 등불 빛이 새어 들도록 벽을 뚫어 책을 읽었다.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환경의 한계를 핑계 삼지 않는 학습 의지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2/16 — 손경폐호 — 손경이 문을 닫다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孫 敬 閉 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한나라 손경(孫敬)은 학문에 몰두하기 위해 문을 닫아걸고 외부와 단절하여 글에만 전념했다.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집중을 위한 자기 격리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3/16 — 차윤낭형 — 차윤이 반딧불을 모으다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車 胤 囊 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진(晉)나라 차윤(車胤)은 가난해 등잔 기름을 살 수 없어, 여름밤 반딧불을 모아 그 빛으로 책을 읽었다.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없음을 탓하지 않는 창의적 면학 — 형설지공의 한 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4/16 — 손강영설 — 손강이 눈빛에 비추다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孫 康 映 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진나라 손강(孫康)은 겨울밤 흰 눈에 반사된 달빛으로 책을 읽었다. 차윤과 함께 「**형설지공**」의 원전.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계절의 자연을 학습에 활용하는 지혜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5/16 — 공명와룡 — 공명이 누운 용이다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孔 明 臥 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제갈량(諸葛亮)이 남양 융중에 은거할 때, 사람들이 그를 「잠긴 용(臥龍)」이라 불렀다. 유비가 삼고초려해 모셨다.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진짜 인재는 알아보는 이가 있어야 일어난다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6/16 — 여망비웅 — 여망은 곰이 아니었다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呂 望 非 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주 문왕이 위수(渭水) 강가에서 점을 쳐 「범도 곰도 아닌 것을 얻으리라」 했는데, 만난 자가 강태공(여망)이었다.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인재는 곰처럼 뚜렷한 위세 없이 평범한 모습으로 온다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7/16 — 도모절발 — 도간 어머니의 머리카락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陶 母 截 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진(晉) 도간(陶侃)의 어머니는 손님을 대접할 형편이 안 되자, 자기 머리카락을 잘라 팔아 술과 안주를 마련했다.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자식의 인맥을 위해 자기를 다 내어주는 어머니의 사랑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8/16 — 맹모삼천 — 맹자 어머니의 세 번 이사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孟 母 三 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맹자의 어머니가 처음엔 묘지 근처, 다음엔 시장 근처, 마지막엔 서당 근처로 세 번 이사해 자식의 환경을 가다듬었다.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환경이 곧 교육 — 三遷之敎의 원전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9/16 — 정란각목 — 정란이 나무에 새기다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丁 蘭 刻 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한나라 정란(丁蘭)은 부모가 일찍 돌아가시자, 나무로 부모의 모습을 새겨 살아 계신 듯 봉양했다.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효는 부모의 죽음으로 끝나지 않는다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10/16 — 맹가낙모 — 맹가의 모자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孟 嘉 落 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동진 맹가(孟嘉)가 환온의 연회에서 바람에 모자가 날아갔는데도 알아채지 못했다. 환온이 그를 풍류의 사람이라 칭송했다.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풍류(風流)의 원전 — 작은 일에 흔들리지 않는 자연스러움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11/16 — 진번일실 — 진번의 한 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陳 蕃 一 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후한 진번(陳蕃)이 15세에 한 방을 어지럽혀 두자, 손님이 「**왜 청소하지 않는가**」 물었다. 진번이 「**대장부는 천하를 청소해야지 어찌 한 방을 청소하리오**」 답했다.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큰 뜻을 품은 자의 자존 — 다만 큰 일은 작은 일에서 시작한다는 후세의 반론도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12/16 — 양진사지 — 양진의 네 가지가 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楊 震 四 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후한 양진(楊震)이 밤에 뇌물을 받지 않으며 「**하늘이 알고 신이 알고 그대가 알고 내가 안다(天知 神知 子知 我知)**」고 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아무도 보지 않을 때의 자기 단속 — 慎獨의 원형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13/16 — 왕융관리 — 왕융이 자두를 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王 戎 觀 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왕융이 어렸을 때 길가에 열매가 가득한 자두나무를 보고도 따러 가지 않았다. 「**열매가 많은데 길가에 있다면 분명 쓴 자두**」.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겉만 보고 달려들지 않는 분별력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14/16 — 사안고결 — 사안의 고결함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謝 安 高 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동진 사안(謝安)이 동산(東山)에 20년 은거하다 나라가 위태로워지자 출사했다. 비수대전에서 부견을 격파한 뒤에도 흐트러지지 않았다.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은거의 깊이가 곧 출사의 무게 — 평정한 위기 대응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15/16 — 소무지절 — 소무가 부절을 들다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蘇 武 持 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 무제의 사신 소무(蘇武)가 흉노에 19년 억류되었으나 부절을 한 번도 손에서 놓지 않았다. 결국 돌아왔다.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사명에 대한 끝없는 충성과 인내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명일화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명일화 16/16 — 백아절현 — 백아가 줄을 끊다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한 구절이 만든 사자성어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伯 牙 絶 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거문고의 명인 백아(伯牙)는 자기 음악을 알아주던 종자기(鍾子期)가 죽자, 거문고 줄을 끊고 다시는 연주하지 않았다.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배움 — 나를 알아주는 한 사람의 가치 — 知音의 원전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교육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1 — 자발적 배움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童蒙求我 — 어린이가 스스로 찾아오는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강요가 아닌 호기심에 의한 학습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책 이름 자체가 그 정신을 선언 — 「**어린이가 나를 찾아온다**」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운율과 대구의 매력 — 형식이 동기를 만든다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어린이가 외우고 싶어지도록 — 노래처럼 흘러가는 8자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인물 일화의 흥미 — 추상이 아닌 사람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광형이 벽을 뚫었다, 차윤이 반딧불을 모았다 — 그림이 그려진다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오늘날 — 「**내적 동기 학습**」, 「**게이미피케이션**」의 원조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교육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2 — 인물 중심의 역사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사건이 아니라 사람이 역사를 만든다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1,200년의 중국사를 600여 인물로 — 「**역사 = 사람의 선택**」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각 인물의 결정적 한 행동을 4자로 압축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어린이가 인물의 행적을 따라 살게 됨 — 모범의 내면화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「**한 행동이 그를 영원히 정의한다**」 — 자기 4자의 자각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사기·자치통감의 인물 중심 사관의 어린이판 — 동일 정신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교육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3 — 추상이 아닌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덕목을 구체적 인물 일화로 환원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「**효란 무엇인가**」를 설명하지 않는다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대신 — 정란이 부모의 모습을 나무에 새겨 모셨다고 말한다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「**근면이란 무엇인가**」를 설명하지 않는다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대신 — 광형이 벽을 뚫고, 차윤이 반딧불을 모았다고 말한다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「**충절이란 무엇인가**」를 설명하지 않는다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대신 — 소무가 19년 부절을 들고 돌아왔다고 말한다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「**스토리텔링 학습**」의 가장 오래된 동양적 원형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교육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4 — 비교·종합 사고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두 인물 짝짓기가 만드는 비판적 사고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어린이가 자연스럽게 묻게 된다 — 「왜 둘이 함께인가?」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비슷한가? 대조되는가? 같은 시대인가? — 비교 사고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단순 암기가 아닌 — 종합적 역사 인식으로의 도약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오늘날 「**Compare &amp; Contrast Learning**」의 동양적 원형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교육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5 — 권선징악의 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모범과 반면교사를 모두 보인다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대부분은 본받을 모범 사례 — 면학·효·충절·지혜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그러나 간신·소인의 일화도 포함됨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「**반면교사**」로서의 경계 역할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어린이가 선악 양면을 보고 — 스스로 판단하게 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일방적 교화가 아닌 — 균형 잡힌 도덕 인식의 형성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사자성어 원전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몽구가 만든 사자성어 8선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오늘 한국어에 살아 있는 표현들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螢雪之功 (형설지공)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86000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차윤낭형 + 손강영설 — 가난 속의 면학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鑿壁引光 (착벽인광)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61488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광형착벽 — 환경의 한계를 깨다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36976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臥龍 (와룡)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36976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공명와룡 — 잠겨 있는 큰 인재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12464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12464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三遷之敎 (삼천지교)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12464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맹모삼천 — 환경이 곧 교육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87952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87952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風流 (풍류)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187952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맹가낙모 — 작은 일에 흔들리지 않는 자연스러움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知音 (지음)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663440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백아절현 — 나를 알아주는 한 사람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38928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38928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四知 (사지)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138928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양진사지 — 慎獨의 원형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14416"/>
            <a:ext cx="292608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14416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一室 (일실)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614416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진번일실 — 큰 뜻과 작은 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사자성어 원전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사자성어가 동아시아 공통 교양이 된 비밀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결정적 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한국·중국·일본·베트남이 공유하는 사자성어 — 그 통로가 몽구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어린이가 외운 한 단위 = 평생의 교양 어휘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형설지공·삼천지교·와룡·풍류·지음 — 1,300년 살아남은 4자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「**짧고 강한 압축**」이 가장 오래 살아남는다 — 정보 시대에도 유효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한국·일본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한국에서의 수용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천자문 → 명심보감 → 몽구 → 사서삼경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고려·조선 사대부 자제의 기초 교재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학습 단계 — 천자문 → 명심보감 → **몽구** → 사서삼경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몽구는 역사·인물 지식의 입문서 역할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조선 말기 — 홍익주(洪翼周)의 『**몽구주해**』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「자구는 간략하나 뜻이 깊어, 선비 가문의 매일 학습서로 이용」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속찬(續撰) 전통 — 한국사 인물을 다룬 「**○○몽구**」류 다수 편찬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동국몽구류 — 한국 학자들이 몽구 형식을 모방한 한국판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한국·일본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일본에서의 수용 — 동아시아 최대의 영향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헤이안 귀족 사회의 절대 필독서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헤이안(平安) 시대(794~1185)부터의 필수 학습서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878년 사다야스 친왕(9세)이 처음 학습한 기록이 남아 있음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「**권학원의 참새는 몽구를 지저귄다**」(勸學院の雀は蒙求を囀る)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학교 처마의 참새조차 매일 듣고 따라 지저귈 정도였다는 속담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미요시 다메야스의 『**동몽송운(童蒙頌韻)**』 등 일본판 몽구류 출현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『**겐지모노가타리**』 등 헤이안 문학의 중국 고사 — 대부분 몽구가 매개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한국·일본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송 서자광의 『**몽구보주**』 — 결정적 보충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압축된 4자를 풀어쓴 주석본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원문이 너무 압축적이어서 일화 배경을 모르면 이해 불가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송 서자광(徐子光)이 각 4자마다 출전과 일화 전말을 상세히 주석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오늘날 전해지는 몽구는 사실상 모두 「**보주본**」 계통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압축의 매력 + 주석의 친절 — 두 층의 결합이 1,300년 생명력의 비결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한국·일본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후대 어린이 교재의 원형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몽구가 만든 동몽서의 표준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천자문(6세기) → **몽구(8세기)** → 삼자경·백가성(13세기)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몽구가 정착시킨 「**운문 + 인물 + 대구**」 — 후대 모든 동몽서가 계승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동아시아 어린이 교육의 표준 형식이 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「**한 권의 어린이 책이 동아시아 1,300년 교양을 만들었다**」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 — 「자기 4자」에 대한 자각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나는 어떤 4자로 기억될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광형은 「鑿壁(벽을 뚫음)」으로 영원히 기억된다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차윤은 「囊螢(반딧불 자루)」으로, 손강은 「映雪(눈빛)」으로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평생의 수많은 행위 중 — 후세가 기억하는 것은 결정적 한 장면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「**나는 어떤 4자로 기억될 것인가**」 — 어린이가 평생 묻는 자각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오늘의 행위 하나가 — 나의 4자가 될지 모른다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 — 압축이 가장 강력한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본질만 남기면 가장 오래 기억된다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2,384자 — 600여 인물 — 1,200년 역사가 들어 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오늘날 정보 과잉의 시대에도 — 압축의 원리는 그대로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본질만 남기고 모든 잉여를 제거할 때 — 가장 오래 살아남는다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「**핵심 메시지를 한 줄로**」 — 모든 커뮤니케이션의 정수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 — 학습은 외우는 게 아니라 닮는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몽구의 가장 깊은 교육 철학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운율과 대구로 외우게 만든 것은 — 단순 암기 효율 때문이 아니다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어린이가 평생 입에 올리며 — 인물의 행적이 자기 삶의 척도가 되도록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역사를 「**외운다**」가 아니라 「**닮는다**」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모범의 내면화 — 이게 동양 인격 교육의 정수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몽구가 일러주는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폭으로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어린이가 스스로 찾아오는 학습 — 童蒙求我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인물의 한 장면이 그를 영원히 정의 — 자기 4자에 대한 자각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추상이 아닌 사례 — 구체적 인물 일화로 덕목을 배움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두 인물 짝짓기 — 비교와 종합 사고력 형성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운율과 대구 — 형식의 매력이 학습 동기를 만든다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권선징악의 균형 — 모범과 반면교사를 함께 보인다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압축이 가장 오래 살아남는다 — 본질만 남기는 교육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몽구 — 어린이의 입과 가슴에 1,300년을 살린 600인의 한 장면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1F2A44"/>
                </a:solidFill>
                <a:latin typeface="Batang"/>
              </a:rPr>
              <a:t>童 蒙 求 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B1A1A"/>
                </a:solidFill>
                <a:latin typeface="맑은 고딕"/>
              </a:rPr>
              <a:t>어린이가 나를 찾아온다 — 자발적 배움의 정수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530352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Batang"/>
              </a:rPr>
              <a:t>몽구가 묻는다 — 「당신은 어떤 4자로 기억될 것인가?」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