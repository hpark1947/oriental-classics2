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맑은 고딕"/>
              </a:rPr>
              <a:t>荀 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8B1A1A"/>
                </a:solidFill>
                <a:latin typeface="맑은 고딕"/>
              </a:rPr>
              <a:t>Xunzi · 순자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순황(荀況)의 32편 — 선진 유가의 마지막 거대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전국시대 말기 (BC 313~238경) · 32편 · 성악설·예론·천론의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1554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554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개요 — 순자란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011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32편의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68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핵심 사상 ① — 성악설(性惡說)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926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핵심 사상 ② — 예론(禮論)과 천론(天論)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383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핵심 사상 ③ — 수양론과 정명론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840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명구절 10선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297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순자의 구조적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754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212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다른 사상가와의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69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669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순자(荀子)란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전국시대 말기 유학자 순황의 사상을 담은 유가 철학서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8B1A1A"/>
                </a:solidFill>
                <a:latin typeface="맑은 고딕"/>
              </a:rPr>
              <a:t>논어·맹자가 어록 중심이라면, 순자는 최초의 체계적 논설문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편(篇)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3대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선진 유학 저작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BC 313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~238경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논어·맹자·순자 — 선진 유학의 3대 저작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순황(荀況, BC 313~238경)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— 자(字)는 경(卿), 후세 사람들이 "순경(荀卿)"으로 존칭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출신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  조(趙)나라 출신 — 북방 학풍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활동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  제(齊)나라 직하학궁(稷下學宮)에서 세 차례 제주(祭酒, 학장) 역임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56070"/>
                </a:solidFill>
                <a:latin typeface="맑은 고딕"/>
              </a:rPr>
              <a:t>  당대 최고 학자로 인정받은 사상가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만년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  초(楚)나라 난릉령(蘭陵令) 역임 후 저술에 전념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56070"/>
                </a:solidFill>
                <a:latin typeface="맑은 고딕"/>
              </a:rPr>
              <a:t>  난릉에서 생을 마침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직하학궁과 두 제자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— 유가에서 길러낸 법가의 거장들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088136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직하학궁(稷下學宮)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전국시대 제(齊)나라가 운영한 동아시아 최초의 국립 종합 학술 기관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53035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李斯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이사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진(秦)나라 승상 — 진시황의 천하통일을 보좌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분서(焚書)·문자 통일 등 통치 제도화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3474720"/>
            <a:ext cx="53035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361188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韓非子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4434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한비자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983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법가 사상의 집대성자 — 한비자(韓非子) 저술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4406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법(法)·술(術)·세(勢)의 통합 이론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순자가 법가 사상에 결정적 영향을 미친 까닭 — 그의 사상사적 양면성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사상사적 위치 — 세 가지 혁신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914400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103120"/>
            <a:ext cx="22860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5603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인성론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40279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맑은 고딕"/>
              </a:rPr>
              <a:t>맹자의 성선설에 대해 성악설(性惡說)을 주장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78892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유가 내부 논쟁 촉발 — 인성에 대한 깊은 사유의 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39"/>
            <a:ext cx="914400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520439"/>
            <a:ext cx="22860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97763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예론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657599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맑은 고딕"/>
              </a:rPr>
              <a:t>예(禮)를 사회 질서의 근본 원리로 체계화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20624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추상적 덕(德)이 아닌 제도적 장치로서의 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59"/>
            <a:ext cx="914400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937759"/>
            <a:ext cx="22860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539495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천론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07492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맑은 고딕"/>
              </a:rPr>
              <a:t>하늘(天)을 자연 현상으로 규정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623559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동아시아 합리주의 전통의 수립 — 미신·신비주의에 대한 비판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32편의 구성 개관 — 네 가지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1945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핵심 사상편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39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1~9편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03120"/>
            <a:ext cx="8686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221991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권학·수신·왕제 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06039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학문과 수양·왕제론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54679"/>
            <a:ext cx="2194560" cy="914400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경세 실천편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10~16편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154679"/>
            <a:ext cx="8686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273551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부국·왕패·의병 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65760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경제·정치·군사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2194560" cy="914400"/>
          </a:xfrm>
          <a:prstGeom prst="rect">
            <a:avLst/>
          </a:prstGeom>
          <a:solidFill>
            <a:srgbClr val="70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7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철학 심화편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59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17~23편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206240"/>
            <a:ext cx="8686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325112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천론·예론·정명·성악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709159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천관·예론·인식·언어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57800"/>
            <a:ext cx="2194560" cy="9144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부록·잡편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24~32편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257800"/>
            <a:ext cx="8686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5376672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군자·성상·격언 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76072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운문·일화·잠언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1~16편 — 핵심 사상편 + 경세 실천편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권학(勸學)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학문의 권면 — 순자 사상의 출발점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수신(修身)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인격 수양의 기본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불구(不苟)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77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구차하게 살지 않는 군자의 태도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영욕(榮辱)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명예와 치욕의 분별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비상(非相)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9260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관상술 비판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9260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비십이자(非十二子)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당대 12사상가 비판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74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중니(仲尼)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4747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공자와 중궁의 평가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74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74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유효(儒效)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747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진정한 유학의 효용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23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왕제(王制)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0233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왕도 정치 제도론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23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023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부국(富國)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0233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경제론 — 부국의 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왕패(王覇)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572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왕도와 패도의 분별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72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5720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군도(君道)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572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군주의 도리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1206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206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신도(臣道)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5120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신하의 도리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206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1206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치사(致士)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120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인재 등용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6692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6692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의병(議兵)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56692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군사론 — 손자병법과 다른 관점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6692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6692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강국(彊國)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6692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강국이 되는 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17~32편 — 철학 심화편 + 부록·잡편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천론(天論)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하늘은 자연 — 순자 철학의 정점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정론(正論)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잘못된 통설의 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예론(禮論)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77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예의 기원과 의미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악론(樂論)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음악의 도덕적·사회적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해폐(解蔽)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9260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인식의 폐단을 푸는 인식론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9260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정명(正名)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이름과 실재 — 언어 철학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74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성악(性惡)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4747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성악설의 본 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74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74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군자(君子)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747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군자에 대한 잠언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23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성상(成相)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0233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리듬을 가진 운문체 격언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23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023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부(賦)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0233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부 형식의 다섯 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대략(大略)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572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여러 짧은 잠언 모음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72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5720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유좌(宥坐)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572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공자의 일화 모음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1206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206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자도(子道)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5120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효(孝)와 도(道)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206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1206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법행(法行)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120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본받아 행할 일들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6692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6692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애공(哀公)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56692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애공과 공자의 문답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6692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6692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요문(堯問)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6692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요(堯)의 물음 — 마무리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성악설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성악설(性惡說) — 본성은 악하다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人 之 性 惡   其 善 者 僞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인지성악 기선자위야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성악편 제23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사람의 본성은 악하다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선한 것은 인위(僞)다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※ 맹자의 성선설(性善說)에 대한 정면 반박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성악설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성(性) vs 위(僞) — 두 개념의 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性 — 성(性)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1F2A44"/>
                </a:solidFill>
                <a:latin typeface="맑은 고딕"/>
              </a:rPr>
              <a:t>타고난 본성 — 자연적·본능적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이기적 욕망, 감각적 욕구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556070"/>
                </a:solidFill>
                <a:latin typeface="맑은 고딕"/>
              </a:rPr>
              <a:t>배고프면 먹고 싶고, 추우면 따뜻하고 싶다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僞 — 위(僞)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38912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1F2A44"/>
                </a:solidFill>
                <a:latin typeface="맑은 고딕"/>
              </a:rPr>
              <a:t>인위적 노력 — 의식적·후천적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예의(禮義)·사양(辭讓)·문화(文化)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556070"/>
                </a:solidFill>
                <a:latin typeface="맑은 고딕"/>
              </a:rPr>
              <a:t>"거짓"이 아니라 "人 + 爲(사람의 행위)"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인간이 인간다워지는 것은 "성"이 아니라 "위"의 산물이다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성악설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화성기위(化性起僞) — 순자 사상의 핵심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化 性 起 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화성기위 — "본성을 변화시켜 인위를 일으킨다"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0927" y="4206240"/>
            <a:ext cx="21945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0927" y="43434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본성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5487" y="4617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2687" y="4206240"/>
            <a:ext cx="21945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2687" y="43434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687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인위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7247" y="4617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4206240"/>
            <a:ext cx="21945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43434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禮義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예의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9007" y="4617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6207" y="4206240"/>
            <a:ext cx="21945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6207" y="43434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法度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6207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법도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성인이 본성을 변화시켜 인위를 일으키고, 인위가 예의를 낳고, 예의가 법도를 제정한다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성악설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도지인가이위우(塗之人可以爲禹) — 교육 낙관론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塗 之 人   可 以 爲 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도지인 가이위우 — "길가의 사람도 우(禹) 임금이 될 수 있다"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성악편 제23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성악설의 비관 → 교육 낙관론으로 전환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1F2A44"/>
                </a:solidFill>
                <a:latin typeface="맑은 고딕"/>
              </a:rPr>
              <a:t>본성이 악하더라도, 학문과 수양을 거치면</a:t>
            </a:r>
          </a:p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F2A44"/>
                </a:solidFill>
                <a:latin typeface="맑은 고딕"/>
              </a:rPr>
              <a:t>누구나 성왕(聖王)이 될 수 있다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 i="0">
                <a:solidFill>
                  <a:srgbClr val="556070"/>
                </a:solidFill>
                <a:latin typeface="맑은 고딕"/>
              </a:rPr>
              <a:t>맹자의 성선설과 다른 출발점 — 같은 평등적 결론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예·천론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예(禮)의 기원 — 왜 예가 필요한가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禮 起 於 何 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2194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272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욕망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017520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136391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인간에게는 욕망이 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11879"/>
            <a:ext cx="2194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2160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충족 불가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611879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730752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욕망을 다 충족할 수는 없다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2194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15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추구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206240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325112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그래도 사람은 끝없이 추구한다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2194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103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다툼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00600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4919472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한도가 없으면 서로 다투게 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94960"/>
            <a:ext cx="219456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046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禮 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5394960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5513832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그래서 예(禮)가 일어났다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— 예론편 제19 · 욕망 조절의 사회적 필요에서 예가 발생했다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예·천론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예의 세 가지 기능 — 양(養)·별(別)·문(文)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욕망을 적절히 충족시킴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禮者 養也 — 예는 기름(충족)이다.
욕망의 억압이 아니라 절도 있는 만족.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389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사회적 분별을 세움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9377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귀천·노소·친소의 분별이 있어야
사회 질서가 유지된다.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89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문화적 형식을 부여함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49377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단순한 본능적 행위에
인간다운 의미와 형식을 더한다.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禮者 人道之極也 — 예는 인간 도의 극치다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예·천론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천론(天論) — 하늘은 자연이다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天 行 有 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不 爲 堯 存   不 爲 桀 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천행유상 불위요존 불위걸망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천론편 제17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50292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하늘의 운행에는 일정한 법칙이 있어,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요(堯) 때문에 존재하지도, 걸(桀) 때문에 없어지지도 않는다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예·천론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제천명이용지(制天命而用之) — 자연을 활용하라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制 天 命 而 用 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제천명이용지 — "천명(天命)을 제어하여 이용하라"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천론편 제17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605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자연에 대한 수동적 경외 → 적극적 활용으로의 전환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하늘을 신비화하지 않고 자연 법칙으로 인식할 때</a:t>
            </a:r>
          </a:p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1F2A44"/>
                </a:solidFill>
                <a:latin typeface="맑은 고딕"/>
              </a:rPr>
              <a:t>비로소 인간은 자연을 이해하고 활용할 수 있다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 i="0">
                <a:solidFill>
                  <a:srgbClr val="556070"/>
                </a:solidFill>
                <a:latin typeface="맑은 고딕"/>
              </a:rPr>
              <a:t>중국 사상사에서 가장 혁신적인 합리주의적 자연관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수양·정명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적(積)의 사상 — 축적의 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積 土 成 山   風 雨 興 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적토성산 풍우흥언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권학편 제1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흙을 쌓아 산을 이루면 바람과 비가 일어난다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不 積 蹞 步   無 以 至 千 里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부적규보 무이지천리 — "반 걸음을 쌓지 않으면 천 리에 이를 수 없다"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수양·정명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청출어람(靑出於藍) — 학문의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靑 取 之 於 藍   而 靑 於 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청취지어람 이청어람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권학편 제1 (순자가 쓴 원문이 사자성어의 출전)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푸른색은 쪽(藍)에서 취하였으나, 쪽보다 더 푸르다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556070"/>
                </a:solidFill>
                <a:latin typeface="맑은 고딕"/>
              </a:rPr>
              <a:t>학문과 수양을 통해 본래의 자기를 넘어설 수 있다는 통찰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※ 후대에 "제자가 스승을 능가한다"는 의미로 확장 사용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수양·정명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허일이정(虛壹而靜) — 인식론의 세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— 해폐편 제21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749039" cy="3657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마음을 비움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기존 지식·선입견에 얽매이지 않는 개방성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749039" cy="3657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34340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집중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4632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분산되지 않는 전일적(專一的) 주의력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103120"/>
            <a:ext cx="3749039" cy="3657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34340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고요함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484632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감정에 흔들리지 않는 마음의 안정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대청명(大淸明) — 사물을 있는 그대로 파악하는 인식의 경지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수양·정명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정명론(正名論) — 이름은 약속이다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名 無 固 宜   約 之 以 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명무고의 약지이명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정명편 제22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이름에는 본래부터 정해진 적합함이 없으며,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사회적 약속(約)으로 비로소 그 의미가 정해진다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約 定 俗 成  — 약정속성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현대 언어 철학의 규약주의(conventionalism)와 통하는 선구적 통찰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學 不 可 以 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학 불 가 이 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배움은 그만둘 수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권학편 제1 — 순자 32편의 첫 문장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靑 取 之 於 藍   而 靑 於 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청취지어람 이청어람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푸른색은 쪽(藍)에서 취하였으나 쪽보다 푸르다 — 청출어람(靑出於藍)의 출전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권학편 제1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積 土 成 山   風 雨 興 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적토성산 풍우흥언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흙을 쌓아 산을 이루면 바람과 비가 일어난다 — 축적의 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권학편 제1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木 受 繩 則 直   金 就 礪 則 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목수승즉직 금취려즉리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나무는 먹줄을 받으면 곧아지고, 쇠는 숫돌에 갈면 날카로워진다 — 교육의 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권학편 제1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天 行 有 常
不 爲 堯 存   不 爲 桀 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천행유상 · 불위요존 불위걸망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하늘의 운행에는 법칙이 있어 요(堯) 때문에 있지도, 걸(桀) 때문에 없지도 않다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천론편 제17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君 者 舟 也   庶 人 者 水 也
水 則 載 舟   水 則 覆 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군자주야 서인자수야 · 수즉재주 수즉복주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군주는 배요, 백성은 물 — 물은 배를 띄우기도 하고 뒤집기도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왕제편 제9 (재주복주, 載舟覆舟의 출전)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人 之 性 惡   其 善 者 僞 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인지성악 기선자위야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사람의 본성은 악하며, 선한 것은 인위(僞)다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성악편 제23 — 성악설의 본 명제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塗 之 人   可 以 爲 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도지인 가이위우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길가의 사람도 우(禹) 임금이 될 수 있다 — 누구나 성인이 될 수 있다는 평등적 수양론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성악편 제23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禮 起 於 何 也
求 而 無 度 量 分 界   則 不 能 不 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예기어하야 · 구이무도량분계 즉불능부쟁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예는 어디서 일어났는가 — 욕망 추구에 한도가 없으면 다툼을 피할 수 없기에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예론편 제19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虛 壹 而 靜   謂 之 大 淸 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허일이정 위지대청명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비우고 집중하며 고요하면 대청명(大淸明)의 경지에 이른다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해폐편 제21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유가 최초의 체계적 논설문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21208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6070"/>
                </a:solidFill>
                <a:latin typeface="맑은 고딕"/>
              </a:rPr>
              <a:t>논어 · 맹자의 형식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1F2A44"/>
                </a:solidFill>
                <a:latin typeface="맑은 고딕"/>
              </a:rPr>
              <a:t>어록 · 대화 중심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단편적 발언과 일화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체계적 논증 없이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주제별로 흩어진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21208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순자의 형식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8B1A1A"/>
                </a:solidFill>
                <a:latin typeface="맑은 고딕"/>
              </a:rPr>
              <a:t>비유 → 논증 → 결론의 논설문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하나의 주제를 끝까지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논리적으로 전개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각 편이 독립된 논문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중국 산문 발전사의 결정적 전환점 — 후대 사상 논변의 표준 형식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비유의 풍부함 — 네 가지 대표 비유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37744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7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積土成山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적토성산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103120"/>
            <a:ext cx="237744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395727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축적의 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103120"/>
            <a:ext cx="59436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395727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흙을 쌓아 산이 되면 비바람이 인다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36391"/>
            <a:ext cx="237744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靑出於藍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청출어람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136391"/>
            <a:ext cx="237744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42899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학문의 발전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3136391"/>
            <a:ext cx="59436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3428999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쪽보다 푸른 청 — 본래를 넘어섬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9663"/>
            <a:ext cx="237744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068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蓬生麻中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365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봉생마중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169663"/>
            <a:ext cx="237744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환경의 영향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4169663"/>
            <a:ext cx="59436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446227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쑥도 삼밭에서 자라면 곧아진다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02936"/>
            <a:ext cx="237744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4009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載舟覆舟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698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재주복주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5202936"/>
            <a:ext cx="237744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5495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민심의 결정적 중요성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5202936"/>
            <a:ext cx="59436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549554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물(백성)은 배(군주)를 띄우기도 뒤집기도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32편의 논리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학문론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945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945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권학 — 모든 것의 출발은 배움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3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79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수양론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2~4편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889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수신·불구·영욕 — 인격 형성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91839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832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비판론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38327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5~6편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383279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비상·비십이자 — 사이비 학설의 비판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9475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유학론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97763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7~8편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977639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중니·유효 — 진정한 유학의 효용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891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056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정치론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5720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9~16편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7200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왕제·부국·왕패·의병 — 경세 실천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7492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철학론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166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17~23편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1663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천론·예론·정명·성악 — 사상의 정점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5778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6928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760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부록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7607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24~32편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7607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군자·성상·격언 — 보충 자료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① — 현실주의적 인간관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성악설이 현대 사회과학의 출발 가설과 통한다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성악설(性惡說)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인간을 이상화하지 않고 욕망과 이기심을 인정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현대적 연결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경제학의 합리적 행위자(rational agent) 전제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정치학의 견제와 균형 원리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제도 설계의 출발점이 되는 인간관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② — 제도주의(Institutionalism)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예론(禮論) — 개인의 덕성이 아닌 제도의 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예(禮) = 사회 제도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개인의 도덕적 결심이 아니라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사회적 장치로 질서를 유지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현대적 연결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신제도주의 경제학(New Institutional Economics)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"사람을 바꾸기보다 룰을 바꿔라"는 조직 설계의 원칙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③ — 과학적 세계관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천론(天論) — 자연을 신비화하지 않는 합리주의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하늘 = 자연 법칙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미신·재이설(災異說)에 대한 비판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자연에 대한 능동적·실용적 태도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현대적 연결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과학적 세계관의 동아시아적 원형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環境工學·應用科學의 사상적 기반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④ — 인지심리학과 비판적 사고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해폐(解蔽) — 인지 편향을 깨는 지혜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해폐(解蔽)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한쪽 측면에 가려져 큰 이치에 어두워지는 것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  마음을 비우고 집중하여 고요할 때 바로 본다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현대적 연결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인지편향(cognitive bias) 연구와 직결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비판적 사고(critical thinking) 교육의 동양적 원형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⑤ — 성장 마인드셋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적(積)의 사상 — 작은 축적이 위대한 성취로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적토성산(積土成山)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반 걸음이 쌓여 천 리에 이른다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점진적 발전론 — 노력과 시간의 누적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현대적 연결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Carol Dweck의 성장 마인드셋(Growth Mindset)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습관 형성·복리(複利) 효과의 동양적 원형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⑥ — 언어 철학과 기호학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정명론(正名論) — 이름은 사회적 약속이다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약정속성(約定俗成)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이름과 사물의 관계는 본질이 아니라 규약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  사회적 합의로 의미가 정해진다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현대적 연결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소쉬르의 기호의 자의성(arbitrariness of sign)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• 분석철학의 규약주의(conventionalism)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공자 · 맹자 · 순자 — 유가 삼대 사상가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011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783080"/>
            <a:ext cx="3154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74519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공자(논어)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783080"/>
            <a:ext cx="3154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874519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맹자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3154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874519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순자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인성론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286000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성상근(性相近)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286000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성선설(性善說)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286000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성악설(性惡說)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2928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6265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핵심 덕목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852928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96265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인(仁)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852928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296265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인의(仁義)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852928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296265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예(禮)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19856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52958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수양 방법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419856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5295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학·극기복례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419856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35295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확충(擴充)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419856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5295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화성기위·적(積)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986783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9651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천(天)관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986783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409651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도덕적 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3986783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409651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의지적 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986783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409651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자연적 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53712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6634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정치론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4553712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4663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덕치·정명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553712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0" y="4663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왕도·역성혁명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4553712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4663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왕도·예법 병용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120640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23036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문체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5120640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52303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간결한 어록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5120640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0" y="52303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웅변적 논변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5120640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23960" y="52303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체계적 논설문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687568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579729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후대 영향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80" y="5687568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14600" y="57972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유가 정통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23560" y="5687568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0" y="57972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성리학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40" y="5687568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23960" y="57972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법가·예학(禮學)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한 문장으로 정리하는 순자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8813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인간의 본성이 악하다고 진단하면서도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학문과 수양을 통해 누구나 성인이 될 수 있다고 확신한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— 합리주의적 사상가 —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하늘을 자연 법칙으로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예를 문명의 근본으로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이름을 사회적 약정으로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2000" b="1" i="0">
                <a:solidFill>
                  <a:srgbClr val="556070"/>
                </a:solidFill>
                <a:latin typeface="맑은 고딕"/>
              </a:rPr>
              <a:t>— 합리주의와 제도주의의 선구자 —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塗 之 人   可 以 爲 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도지인 가이위우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"길가의 보통 사람도 우(禹) 임금이 될 수 있다"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성악편 제23 · 본성이 악해도 누구나 성인에 이를 수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