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34.xml" ContentType="application/vnd.openxmlformats-officedocument.presentationml.slide+xml"/>
  <Override PartName="/ppt/slides/slide35.xml" ContentType="application/vnd.openxmlformats-officedocument.presentationml.slide+xml"/>
  <Override PartName="/ppt/slides/slide36.xml" ContentType="application/vnd.openxmlformats-officedocument.presentationml.slide+xml"/>
  <Override PartName="/ppt/slides/slide37.xml" ContentType="application/vnd.openxmlformats-officedocument.presentationml.slide+xml"/>
  <Override PartName="/ppt/slides/slide38.xml" ContentType="application/vnd.openxmlformats-officedocument.presentationml.slide+xml"/>
  <Override PartName="/ppt/slides/slide39.xml" ContentType="application/vnd.openxmlformats-officedocument.presentationml.slide+xml"/>
  <Override PartName="/ppt/slides/slide4.xml" ContentType="application/vnd.openxmlformats-officedocument.presentationml.slide+xml"/>
  <Override PartName="/ppt/slides/slide40.xml" ContentType="application/vnd.openxmlformats-officedocument.presentationml.slide+xml"/>
  <Override PartName="/ppt/slides/slide41.xml" ContentType="application/vnd.openxmlformats-officedocument.presentationml.slide+xml"/>
  <Override PartName="/ppt/slides/slide42.xml" ContentType="application/vnd.openxmlformats-officedocument.presentationml.slide+xml"/>
  <Override PartName="/ppt/slides/slide43.xml" ContentType="application/vnd.openxmlformats-officedocument.presentationml.slide+xml"/>
  <Override PartName="/ppt/slides/slide44.xml" ContentType="application/vnd.openxmlformats-officedocument.presentationml.slide+xml"/>
  <Override PartName="/ppt/slides/slide45.xml" ContentType="application/vnd.openxmlformats-officedocument.presentationml.slide+xml"/>
  <Override PartName="/ppt/slides/slide46.xml" ContentType="application/vnd.openxmlformats-officedocument.presentationml.slide+xml"/>
  <Override PartName="/ppt/slides/slide47.xml" ContentType="application/vnd.openxmlformats-officedocument.presentationml.slide+xml"/>
  <Override PartName="/ppt/slides/slide48.xml" ContentType="application/vnd.openxmlformats-officedocument.presentationml.slide+xml"/>
  <Override PartName="/ppt/slides/slide49.xml" ContentType="application/vnd.openxmlformats-officedocument.presentationml.slide+xml"/>
  <Override PartName="/ppt/slides/slide5.xml" ContentType="application/vnd.openxmlformats-officedocument.presentationml.slide+xml"/>
  <Override PartName="/ppt/slides/slide50.xml" ContentType="application/vnd.openxmlformats-officedocument.presentationml.slide+xml"/>
  <Override PartName="/ppt/slides/slide51.xml" ContentType="application/vnd.openxmlformats-officedocument.presentationml.slide+xml"/>
  <Override PartName="/ppt/slides/slide52.xml" ContentType="application/vnd.openxmlformats-officedocument.presentationml.slide+xml"/>
  <Override PartName="/ppt/slides/slide53.xml" ContentType="application/vnd.openxmlformats-officedocument.presentationml.slide+xml"/>
  <Override PartName="/ppt/slides/slide54.xml" ContentType="application/vnd.openxmlformats-officedocument.presentationml.slide+xml"/>
  <Override PartName="/ppt/slides/slide55.xml" ContentType="application/vnd.openxmlformats-officedocument.presentationml.slide+xml"/>
  <Override PartName="/ppt/slides/slide56.xml" ContentType="application/vnd.openxmlformats-officedocument.presentationml.slide+xml"/>
  <Override PartName="/ppt/slides/slide57.xml" ContentType="application/vnd.openxmlformats-officedocument.presentationml.slide+xml"/>
  <Override PartName="/ppt/slides/slide58.xml" ContentType="application/vnd.openxmlformats-officedocument.presentationml.slide+xml"/>
  <Override PartName="/ppt/slides/slide59.xml" ContentType="application/vnd.openxmlformats-officedocument.presentationml.slide+xml"/>
  <Override PartName="/ppt/slides/slide6.xml" ContentType="application/vnd.openxmlformats-officedocument.presentationml.slide+xml"/>
  <Override PartName="/ppt/slides/slide60.xml" ContentType="application/vnd.openxmlformats-officedocument.presentationml.slide+xml"/>
  <Override PartName="/ppt/slides/slide61.xml" ContentType="application/vnd.openxmlformats-officedocument.presentationml.slide+xml"/>
  <Override PartName="/ppt/slides/slide62.xml" ContentType="application/vnd.openxmlformats-officedocument.presentationml.slide+xml"/>
  <Override PartName="/ppt/slides/slide63.xml" ContentType="application/vnd.openxmlformats-officedocument.presentationml.slide+xml"/>
  <Override PartName="/ppt/slides/slide64.xml" ContentType="application/vnd.openxmlformats-officedocument.presentationml.slide+xml"/>
  <Override PartName="/ppt/slides/slide65.xml" ContentType="application/vnd.openxmlformats-officedocument.presentationml.slide+xml"/>
  <Override PartName="/ppt/slides/slide66.xml" ContentType="application/vnd.openxmlformats-officedocument.presentationml.slide+xml"/>
  <Override PartName="/ppt/slides/slide67.xml" ContentType="application/vnd.openxmlformats-officedocument.presentationml.slide+xml"/>
  <Override PartName="/ppt/slides/slide68.xml" ContentType="application/vnd.openxmlformats-officedocument.presentationml.slide+xml"/>
  <Override PartName="/ppt/slides/slide69.xml" ContentType="application/vnd.openxmlformats-officedocument.presentationml.slide+xml"/>
  <Override PartName="/ppt/slides/slide7.xml" ContentType="application/vnd.openxmlformats-officedocument.presentationml.slide+xml"/>
  <Override PartName="/ppt/slides/slide70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  <p:sldId id="268" r:id="rId19"/>
    <p:sldId id="269" r:id="rId20"/>
    <p:sldId id="270" r:id="rId21"/>
    <p:sldId id="271" r:id="rId22"/>
    <p:sldId id="272" r:id="rId23"/>
    <p:sldId id="273" r:id="rId24"/>
    <p:sldId id="274" r:id="rId25"/>
    <p:sldId id="275" r:id="rId26"/>
    <p:sldId id="276" r:id="rId27"/>
    <p:sldId id="277" r:id="rId28"/>
    <p:sldId id="278" r:id="rId29"/>
    <p:sldId id="279" r:id="rId30"/>
    <p:sldId id="280" r:id="rId31"/>
    <p:sldId id="281" r:id="rId32"/>
    <p:sldId id="282" r:id="rId33"/>
    <p:sldId id="283" r:id="rId34"/>
    <p:sldId id="284" r:id="rId35"/>
    <p:sldId id="285" r:id="rId36"/>
    <p:sldId id="286" r:id="rId37"/>
    <p:sldId id="287" r:id="rId38"/>
    <p:sldId id="288" r:id="rId39"/>
    <p:sldId id="289" r:id="rId40"/>
    <p:sldId id="290" r:id="rId41"/>
    <p:sldId id="291" r:id="rId42"/>
    <p:sldId id="292" r:id="rId43"/>
    <p:sldId id="293" r:id="rId44"/>
    <p:sldId id="294" r:id="rId45"/>
    <p:sldId id="295" r:id="rId46"/>
    <p:sldId id="296" r:id="rId47"/>
    <p:sldId id="297" r:id="rId48"/>
    <p:sldId id="298" r:id="rId49"/>
    <p:sldId id="299" r:id="rId50"/>
    <p:sldId id="300" r:id="rId51"/>
    <p:sldId id="301" r:id="rId52"/>
    <p:sldId id="302" r:id="rId53"/>
    <p:sldId id="303" r:id="rId54"/>
    <p:sldId id="304" r:id="rId55"/>
    <p:sldId id="305" r:id="rId56"/>
    <p:sldId id="306" r:id="rId57"/>
    <p:sldId id="307" r:id="rId58"/>
    <p:sldId id="308" r:id="rId59"/>
    <p:sldId id="309" r:id="rId60"/>
    <p:sldId id="310" r:id="rId61"/>
    <p:sldId id="311" r:id="rId62"/>
    <p:sldId id="312" r:id="rId63"/>
    <p:sldId id="313" r:id="rId64"/>
    <p:sldId id="314" r:id="rId65"/>
    <p:sldId id="315" r:id="rId66"/>
    <p:sldId id="316" r:id="rId67"/>
    <p:sldId id="317" r:id="rId68"/>
    <p:sldId id="318" r:id="rId69"/>
    <p:sldId id="319" r:id="rId70"/>
    <p:sldId id="320" r:id="rId71"/>
    <p:sldId id="321" r:id="rId72"/>
    <p:sldId id="322" r:id="rId73"/>
    <p:sldId id="323" r:id="rId74"/>
    <p:sldId id="324" r:id="rId75"/>
    <p:sldId id="325" r:id="rId76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<Relationship Id="rId19" Type="http://schemas.openxmlformats.org/officeDocument/2006/relationships/slide" Target="slides/slide13.xml"/><Relationship Id="rId20" Type="http://schemas.openxmlformats.org/officeDocument/2006/relationships/slide" Target="slides/slide14.xml"/><Relationship Id="rId21" Type="http://schemas.openxmlformats.org/officeDocument/2006/relationships/slide" Target="slides/slide15.xml"/><Relationship Id="rId22" Type="http://schemas.openxmlformats.org/officeDocument/2006/relationships/slide" Target="slides/slide16.xml"/><Relationship Id="rId23" Type="http://schemas.openxmlformats.org/officeDocument/2006/relationships/slide" Target="slides/slide17.xml"/><Relationship Id="rId24" Type="http://schemas.openxmlformats.org/officeDocument/2006/relationships/slide" Target="slides/slide18.xml"/><Relationship Id="rId25" Type="http://schemas.openxmlformats.org/officeDocument/2006/relationships/slide" Target="slides/slide19.xml"/><Relationship Id="rId26" Type="http://schemas.openxmlformats.org/officeDocument/2006/relationships/slide" Target="slides/slide20.xml"/><Relationship Id="rId27" Type="http://schemas.openxmlformats.org/officeDocument/2006/relationships/slide" Target="slides/slide21.xml"/><Relationship Id="rId28" Type="http://schemas.openxmlformats.org/officeDocument/2006/relationships/slide" Target="slides/slide22.xml"/><Relationship Id="rId29" Type="http://schemas.openxmlformats.org/officeDocument/2006/relationships/slide" Target="slides/slide23.xml"/><Relationship Id="rId30" Type="http://schemas.openxmlformats.org/officeDocument/2006/relationships/slide" Target="slides/slide24.xml"/><Relationship Id="rId31" Type="http://schemas.openxmlformats.org/officeDocument/2006/relationships/slide" Target="slides/slide25.xml"/><Relationship Id="rId32" Type="http://schemas.openxmlformats.org/officeDocument/2006/relationships/slide" Target="slides/slide26.xml"/><Relationship Id="rId33" Type="http://schemas.openxmlformats.org/officeDocument/2006/relationships/slide" Target="slides/slide27.xml"/><Relationship Id="rId34" Type="http://schemas.openxmlformats.org/officeDocument/2006/relationships/slide" Target="slides/slide28.xml"/><Relationship Id="rId35" Type="http://schemas.openxmlformats.org/officeDocument/2006/relationships/slide" Target="slides/slide29.xml"/><Relationship Id="rId36" Type="http://schemas.openxmlformats.org/officeDocument/2006/relationships/slide" Target="slides/slide30.xml"/><Relationship Id="rId37" Type="http://schemas.openxmlformats.org/officeDocument/2006/relationships/slide" Target="slides/slide31.xml"/><Relationship Id="rId38" Type="http://schemas.openxmlformats.org/officeDocument/2006/relationships/slide" Target="slides/slide32.xml"/><Relationship Id="rId39" Type="http://schemas.openxmlformats.org/officeDocument/2006/relationships/slide" Target="slides/slide33.xml"/><Relationship Id="rId40" Type="http://schemas.openxmlformats.org/officeDocument/2006/relationships/slide" Target="slides/slide34.xml"/><Relationship Id="rId41" Type="http://schemas.openxmlformats.org/officeDocument/2006/relationships/slide" Target="slides/slide35.xml"/><Relationship Id="rId42" Type="http://schemas.openxmlformats.org/officeDocument/2006/relationships/slide" Target="slides/slide36.xml"/><Relationship Id="rId43" Type="http://schemas.openxmlformats.org/officeDocument/2006/relationships/slide" Target="slides/slide37.xml"/><Relationship Id="rId44" Type="http://schemas.openxmlformats.org/officeDocument/2006/relationships/slide" Target="slides/slide38.xml"/><Relationship Id="rId45" Type="http://schemas.openxmlformats.org/officeDocument/2006/relationships/slide" Target="slides/slide39.xml"/><Relationship Id="rId46" Type="http://schemas.openxmlformats.org/officeDocument/2006/relationships/slide" Target="slides/slide40.xml"/><Relationship Id="rId47" Type="http://schemas.openxmlformats.org/officeDocument/2006/relationships/slide" Target="slides/slide41.xml"/><Relationship Id="rId48" Type="http://schemas.openxmlformats.org/officeDocument/2006/relationships/slide" Target="slides/slide42.xml"/><Relationship Id="rId49" Type="http://schemas.openxmlformats.org/officeDocument/2006/relationships/slide" Target="slides/slide43.xml"/><Relationship Id="rId50" Type="http://schemas.openxmlformats.org/officeDocument/2006/relationships/slide" Target="slides/slide44.xml"/><Relationship Id="rId51" Type="http://schemas.openxmlformats.org/officeDocument/2006/relationships/slide" Target="slides/slide45.xml"/><Relationship Id="rId52" Type="http://schemas.openxmlformats.org/officeDocument/2006/relationships/slide" Target="slides/slide46.xml"/><Relationship Id="rId53" Type="http://schemas.openxmlformats.org/officeDocument/2006/relationships/slide" Target="slides/slide47.xml"/><Relationship Id="rId54" Type="http://schemas.openxmlformats.org/officeDocument/2006/relationships/slide" Target="slides/slide48.xml"/><Relationship Id="rId55" Type="http://schemas.openxmlformats.org/officeDocument/2006/relationships/slide" Target="slides/slide49.xml"/><Relationship Id="rId56" Type="http://schemas.openxmlformats.org/officeDocument/2006/relationships/slide" Target="slides/slide50.xml"/><Relationship Id="rId57" Type="http://schemas.openxmlformats.org/officeDocument/2006/relationships/slide" Target="slides/slide51.xml"/><Relationship Id="rId58" Type="http://schemas.openxmlformats.org/officeDocument/2006/relationships/slide" Target="slides/slide52.xml"/><Relationship Id="rId59" Type="http://schemas.openxmlformats.org/officeDocument/2006/relationships/slide" Target="slides/slide53.xml"/><Relationship Id="rId60" Type="http://schemas.openxmlformats.org/officeDocument/2006/relationships/slide" Target="slides/slide54.xml"/><Relationship Id="rId61" Type="http://schemas.openxmlformats.org/officeDocument/2006/relationships/slide" Target="slides/slide55.xml"/><Relationship Id="rId62" Type="http://schemas.openxmlformats.org/officeDocument/2006/relationships/slide" Target="slides/slide56.xml"/><Relationship Id="rId63" Type="http://schemas.openxmlformats.org/officeDocument/2006/relationships/slide" Target="slides/slide57.xml"/><Relationship Id="rId64" Type="http://schemas.openxmlformats.org/officeDocument/2006/relationships/slide" Target="slides/slide58.xml"/><Relationship Id="rId65" Type="http://schemas.openxmlformats.org/officeDocument/2006/relationships/slide" Target="slides/slide59.xml"/><Relationship Id="rId66" Type="http://schemas.openxmlformats.org/officeDocument/2006/relationships/slide" Target="slides/slide60.xml"/><Relationship Id="rId67" Type="http://schemas.openxmlformats.org/officeDocument/2006/relationships/slide" Target="slides/slide61.xml"/><Relationship Id="rId68" Type="http://schemas.openxmlformats.org/officeDocument/2006/relationships/slide" Target="slides/slide62.xml"/><Relationship Id="rId69" Type="http://schemas.openxmlformats.org/officeDocument/2006/relationships/slide" Target="slides/slide63.xml"/><Relationship Id="rId70" Type="http://schemas.openxmlformats.org/officeDocument/2006/relationships/slide" Target="slides/slide64.xml"/><Relationship Id="rId71" Type="http://schemas.openxmlformats.org/officeDocument/2006/relationships/slide" Target="slides/slide65.xml"/><Relationship Id="rId72" Type="http://schemas.openxmlformats.org/officeDocument/2006/relationships/slide" Target="slides/slide66.xml"/><Relationship Id="rId73" Type="http://schemas.openxmlformats.org/officeDocument/2006/relationships/slide" Target="slides/slide67.xml"/><Relationship Id="rId74" Type="http://schemas.openxmlformats.org/officeDocument/2006/relationships/slide" Target="slides/slide68.xml"/><Relationship Id="rId75" Type="http://schemas.openxmlformats.org/officeDocument/2006/relationships/slide" Target="slides/slide69.xml"/><Relationship Id="rId76" Type="http://schemas.openxmlformats.org/officeDocument/2006/relationships/slide" Target="slides/slide70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365760"/>
          </a:xfrm>
          <a:prstGeom prst="rect">
            <a:avLst/>
          </a:prstGeom>
          <a:solidFill>
            <a:srgbClr val="C8A25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1371600"/>
            <a:ext cx="11247120" cy="16459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/>
            <a:r>
              <a:rPr sz="10000" b="1">
                <a:solidFill>
                  <a:srgbClr val="1F2A44"/>
                </a:solidFill>
                <a:latin typeface="맑은 고딕"/>
              </a:rPr>
              <a:t>資 治 通 鑑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3291840"/>
            <a:ext cx="1124712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/>
            <a:r>
              <a:rPr sz="2000" b="0">
                <a:solidFill>
                  <a:srgbClr val="8B1A1A"/>
                </a:solidFill>
                <a:latin typeface="맑은 고딕"/>
              </a:rPr>
              <a:t>Comprehensive Mirror to Aid in Government · 자치통감</a:t>
            </a:r>
          </a:p>
        </p:txBody>
      </p:sp>
      <p:cxnSp>
        <p:nvCxnSpPr>
          <p:cNvPr id="5" name="Connector 4"/>
          <p:cNvCxnSpPr/>
          <p:nvPr/>
        </p:nvCxnSpPr>
        <p:spPr>
          <a:xfrm>
            <a:off x="5029200" y="4023360"/>
            <a:ext cx="2103120" cy="0"/>
          </a:xfrm>
          <a:prstGeom prst="line">
            <a:avLst/>
          </a:prstGeom>
          <a:ln w="19050">
            <a:solidFill>
              <a:srgbClr val="C8A25B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6" name="TextBox 5"/>
          <p:cNvSpPr txBox="1"/>
          <p:nvPr/>
        </p:nvSpPr>
        <p:spPr>
          <a:xfrm>
            <a:off x="457200" y="4251960"/>
            <a:ext cx="1124712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/>
            <a:r>
              <a:rPr sz="2000" b="0">
                <a:solidFill>
                  <a:srgbClr val="1F2A44"/>
                </a:solidFill>
                <a:latin typeface="맑은 고딕"/>
              </a:rPr>
              <a:t>사마광(司馬光) 편 — 19년의 사학 · 1,362년의 통사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57200" y="4754880"/>
            <a:ext cx="1124712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/>
            <a:r>
              <a:rPr sz="1500" b="0">
                <a:solidFill>
                  <a:srgbClr val="556070"/>
                </a:solidFill>
                <a:latin typeface="맑은 고딕"/>
              </a:rPr>
              <a:t>16기(紀) 294권 · 약 300만 자 · 1084년 헌상 · 동양 통사의 최고봉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57200" y="5303520"/>
            <a:ext cx="1124712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/>
            <a:r>
              <a:rPr sz="1800" b="1">
                <a:solidFill>
                  <a:srgbClr val="8B1A1A"/>
                </a:solidFill>
                <a:latin typeface="맑은 고딕"/>
              </a:rPr>
              <a:t>"鑑前世之興衰, 考當今之得失"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57200" y="5760720"/>
            <a:ext cx="1124712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/>
            <a:r>
              <a:rPr sz="1400" b="0">
                <a:solidFill>
                  <a:srgbClr val="556070"/>
                </a:solidFill>
                <a:latin typeface="맑은 고딕"/>
              </a:rPr>
              <a:t>— 지난 시대의 흥망을 거울 삼아 지금의 득실을 살핀다 (사마광)</a:t>
            </a:r>
          </a:p>
        </p:txBody>
      </p:sp>
      <p:sp>
        <p:nvSpPr>
          <p:cNvPr id="10" name="Rectangle 9"/>
          <p:cNvSpPr/>
          <p:nvPr/>
        </p:nvSpPr>
        <p:spPr>
          <a:xfrm>
            <a:off x="0" y="6492240"/>
            <a:ext cx="12191695" cy="365760"/>
          </a:xfrm>
          <a:prstGeom prst="rect">
            <a:avLst/>
          </a:prstGeom>
          <a:solidFill>
            <a:srgbClr val="C8A25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365760"/>
            <a:ext cx="11704320" cy="6400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3200" b="1">
                <a:solidFill>
                  <a:srgbClr val="1F2A44"/>
                </a:solidFill>
                <a:latin typeface="맑은 고딕"/>
              </a:rPr>
              <a:t>목 차</a:t>
            </a:r>
          </a:p>
        </p:txBody>
      </p:sp>
      <p:cxnSp>
        <p:nvCxnSpPr>
          <p:cNvPr id="3" name="Connector 2"/>
          <p:cNvCxnSpPr/>
          <p:nvPr/>
        </p:nvCxnSpPr>
        <p:spPr>
          <a:xfrm>
            <a:off x="457200" y="1051560"/>
            <a:ext cx="11704320" cy="0"/>
          </a:xfrm>
          <a:prstGeom prst="line">
            <a:avLst/>
          </a:prstGeom>
          <a:ln w="25400">
            <a:solidFill>
              <a:srgbClr val="C8A25B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4" name="TextBox 3"/>
          <p:cNvSpPr txBox="1"/>
          <p:nvPr/>
        </p:nvSpPr>
        <p:spPr>
          <a:xfrm>
            <a:off x="640080" y="1463040"/>
            <a:ext cx="91440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700" b="1">
                <a:solidFill>
                  <a:srgbClr val="8B1A1A"/>
                </a:solidFill>
                <a:latin typeface="맑은 고딕"/>
              </a:rPr>
              <a:t>Ⅰ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554480" y="1463040"/>
            <a:ext cx="484632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700" b="0">
                <a:solidFill>
                  <a:srgbClr val="1F2A44"/>
                </a:solidFill>
                <a:latin typeface="맑은 고딕"/>
              </a:rPr>
              <a:t>개요 — 자치통감이란 무엇인가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" y="2103120"/>
            <a:ext cx="91440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700" b="1">
                <a:solidFill>
                  <a:srgbClr val="8B1A1A"/>
                </a:solidFill>
                <a:latin typeface="맑은 고딕"/>
              </a:rPr>
              <a:t>Ⅱ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554480" y="2103120"/>
            <a:ext cx="484632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700" b="0">
                <a:solidFill>
                  <a:srgbClr val="1F2A44"/>
                </a:solidFill>
                <a:latin typeface="맑은 고딕"/>
              </a:rPr>
              <a:t>사마광 — 19년의 사학(史學)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40080" y="2743200"/>
            <a:ext cx="91440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700" b="1">
                <a:solidFill>
                  <a:srgbClr val="8B1A1A"/>
                </a:solidFill>
                <a:latin typeface="맑은 고딕"/>
              </a:rPr>
              <a:t>Ⅲ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554480" y="2743200"/>
            <a:ext cx="484632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700" b="0">
                <a:solidFill>
                  <a:srgbClr val="1F2A44"/>
                </a:solidFill>
                <a:latin typeface="맑은 고딕"/>
              </a:rPr>
              <a:t>책의 구조 — 16기 294권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40080" y="3383280"/>
            <a:ext cx="91440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700" b="1">
                <a:solidFill>
                  <a:srgbClr val="8B1A1A"/>
                </a:solidFill>
                <a:latin typeface="맑은 고딕"/>
              </a:rPr>
              <a:t>Ⅳ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554480" y="3383280"/>
            <a:ext cx="484632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700" b="0">
                <a:solidFill>
                  <a:srgbClr val="1F2A44"/>
                </a:solidFill>
                <a:latin typeface="맑은 고딕"/>
              </a:rPr>
              <a:t>시작·끝·사관(史觀)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40080" y="4023360"/>
            <a:ext cx="91440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700" b="1">
                <a:solidFill>
                  <a:srgbClr val="8B1A1A"/>
                </a:solidFill>
                <a:latin typeface="맑은 고딕"/>
              </a:rPr>
              <a:t>Ⅴ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554480" y="4023360"/>
            <a:ext cx="484632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700" b="0">
                <a:solidFill>
                  <a:srgbClr val="1F2A44"/>
                </a:solidFill>
                <a:latin typeface="맑은 고딕"/>
              </a:rPr>
              <a:t>16기 시대별 흐름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640080" y="4663440"/>
            <a:ext cx="91440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700" b="1">
                <a:solidFill>
                  <a:srgbClr val="8B1A1A"/>
                </a:solidFill>
                <a:latin typeface="맑은 고딕"/>
              </a:rPr>
              <a:t>Ⅵ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554480" y="4663440"/>
            <a:ext cx="484632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700" b="0">
                <a:solidFill>
                  <a:srgbClr val="1F2A44"/>
                </a:solidFill>
                <a:latin typeface="맑은 고딕"/>
              </a:rPr>
              <a:t>핵심 사평 — 신광왈(臣光曰)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6492240" y="1463040"/>
            <a:ext cx="91440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700" b="1">
                <a:solidFill>
                  <a:srgbClr val="8B1A1A"/>
                </a:solidFill>
                <a:latin typeface="맑은 고딕"/>
              </a:rPr>
              <a:t>Ⅶ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7406640" y="1463040"/>
            <a:ext cx="484632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700" b="0">
                <a:solidFill>
                  <a:srgbClr val="1F2A44"/>
                </a:solidFill>
                <a:latin typeface="맑은 고딕"/>
              </a:rPr>
              <a:t>주요 사건·인물 10선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6492240" y="2103120"/>
            <a:ext cx="91440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700" b="1">
                <a:solidFill>
                  <a:srgbClr val="8B1A1A"/>
                </a:solidFill>
                <a:latin typeface="맑은 고딕"/>
              </a:rPr>
              <a:t>Ⅷ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7406640" y="2103120"/>
            <a:ext cx="484632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700" b="0">
                <a:solidFill>
                  <a:srgbClr val="1F2A44"/>
                </a:solidFill>
                <a:latin typeface="맑은 고딕"/>
              </a:rPr>
              <a:t>명구절 8선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6492240" y="2743200"/>
            <a:ext cx="91440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700" b="1">
                <a:solidFill>
                  <a:srgbClr val="8B1A1A"/>
                </a:solidFill>
                <a:latin typeface="맑은 고딕"/>
              </a:rPr>
              <a:t>Ⅸ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7406640" y="2743200"/>
            <a:ext cx="484632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700" b="0">
                <a:solidFill>
                  <a:srgbClr val="1F2A44"/>
                </a:solidFill>
                <a:latin typeface="맑은 고딕"/>
              </a:rPr>
              <a:t>정관정요와의 비교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6492240" y="3383280"/>
            <a:ext cx="91440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700" b="1">
                <a:solidFill>
                  <a:srgbClr val="8B1A1A"/>
                </a:solidFill>
                <a:latin typeface="맑은 고딕"/>
              </a:rPr>
              <a:t>Ⅹ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7406640" y="3383280"/>
            <a:ext cx="484632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700" b="0">
                <a:solidFill>
                  <a:srgbClr val="1F2A44"/>
                </a:solidFill>
                <a:latin typeface="맑은 고딕"/>
              </a:rPr>
              <a:t>후대 영향 — 동아시아 1,000년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6492240" y="4023360"/>
            <a:ext cx="91440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700" b="1">
                <a:solidFill>
                  <a:srgbClr val="8B1A1A"/>
                </a:solidFill>
                <a:latin typeface="맑은 고딕"/>
              </a:rPr>
              <a:t>Ⅺ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7406640" y="4023360"/>
            <a:ext cx="484632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700" b="0">
                <a:solidFill>
                  <a:srgbClr val="1F2A44"/>
                </a:solidFill>
                <a:latin typeface="맑은 고딕"/>
              </a:rPr>
              <a:t>현대적 의의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6492240" y="4663440"/>
            <a:ext cx="91440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700" b="1">
                <a:solidFill>
                  <a:srgbClr val="8B1A1A"/>
                </a:solidFill>
                <a:latin typeface="맑은 고딕"/>
              </a:rPr>
              <a:t>Ⅻ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7406640" y="4663440"/>
            <a:ext cx="484632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700" b="0">
                <a:solidFill>
                  <a:srgbClr val="1F2A44"/>
                </a:solidFill>
                <a:latin typeface="맑은 고딕"/>
              </a:rPr>
              <a:t>마무리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91440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100" b="1">
                <a:solidFill>
                  <a:srgbClr val="556070"/>
                </a:solidFill>
                <a:latin typeface="맑은 고딕"/>
              </a:rPr>
              <a:t>Ⅰ. 개요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10972800" y="274320"/>
            <a:ext cx="118872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/>
            <a:r>
              <a:rPr sz="1000" b="0">
                <a:solidFill>
                  <a:srgbClr val="556070"/>
                </a:solidFill>
                <a:latin typeface="맑은 고딕"/>
              </a:rPr>
              <a:t>3 / 70</a:t>
            </a:r>
          </a:p>
        </p:txBody>
      </p:sp>
      <p:cxnSp>
        <p:nvCxnSpPr>
          <p:cNvPr id="4" name="Connector 3"/>
          <p:cNvCxnSpPr/>
          <p:nvPr/>
        </p:nvCxnSpPr>
        <p:spPr>
          <a:xfrm>
            <a:off x="457200" y="594360"/>
            <a:ext cx="11704320" cy="0"/>
          </a:xfrm>
          <a:prstGeom prst="line">
            <a:avLst/>
          </a:prstGeom>
          <a:ln w="25400">
            <a:solidFill>
              <a:srgbClr val="C8A25B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5" name="TextBox 4"/>
          <p:cNvSpPr txBox="1"/>
          <p:nvPr/>
        </p:nvSpPr>
        <p:spPr>
          <a:xfrm>
            <a:off x="457200" y="777240"/>
            <a:ext cx="11704320" cy="6400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3000" b="1">
                <a:solidFill>
                  <a:srgbClr val="1F2A44"/>
                </a:solidFill>
                <a:latin typeface="맑은 고딕"/>
              </a:rPr>
              <a:t>자치통감(資治通鑑)이란 무엇인가</a:t>
            </a:r>
          </a:p>
        </p:txBody>
      </p:sp>
      <p:sp>
        <p:nvSpPr>
          <p:cNvPr id="6" name="Rectangle 5"/>
          <p:cNvSpPr/>
          <p:nvPr/>
        </p:nvSpPr>
        <p:spPr>
          <a:xfrm>
            <a:off x="457200" y="2011680"/>
            <a:ext cx="11247120" cy="1280160"/>
          </a:xfrm>
          <a:prstGeom prst="rect">
            <a:avLst/>
          </a:prstGeom>
          <a:solidFill>
            <a:srgbClr val="F5EED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822960" y="2194560"/>
            <a:ext cx="1051560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/>
            <a:r>
              <a:rPr sz="2200" b="1">
                <a:solidFill>
                  <a:srgbClr val="1F2A44"/>
                </a:solidFill>
                <a:latin typeface="맑은 고딕"/>
              </a:rPr>
              <a:t>"다스림에 도움이 되고 역대에 통하여 거울이 되는 책"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822960" y="2697480"/>
            <a:ext cx="1051560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/>
            <a:r>
              <a:rPr sz="1500" b="0">
                <a:solidFill>
                  <a:srgbClr val="8B1A1A"/>
                </a:solidFill>
                <a:latin typeface="맑은 고딕"/>
              </a:rPr>
              <a:t>주(周) 위열왕 BC 403 — 후주(後周) 세종 959 · 1,362년의 통사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48640" y="3657600"/>
            <a:ext cx="2651760" cy="9144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/>
            <a:r>
              <a:rPr sz="4400" b="1">
                <a:solidFill>
                  <a:srgbClr val="8B1A1A"/>
                </a:solidFill>
                <a:latin typeface="맑은 고딕"/>
              </a:rPr>
              <a:t>16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548640" y="4663440"/>
            <a:ext cx="265176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/>
            <a:r>
              <a:rPr sz="1500" b="0">
                <a:solidFill>
                  <a:srgbClr val="556070"/>
                </a:solidFill>
                <a:latin typeface="맑은 고딕"/>
              </a:rPr>
              <a:t>기(紀)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3337560" y="3657600"/>
            <a:ext cx="2651760" cy="9144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/>
            <a:r>
              <a:rPr sz="4400" b="1">
                <a:solidFill>
                  <a:srgbClr val="8B1A1A"/>
                </a:solidFill>
                <a:latin typeface="맑은 고딕"/>
              </a:rPr>
              <a:t>294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3337560" y="4663440"/>
            <a:ext cx="265176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/>
            <a:r>
              <a:rPr sz="1500" b="0">
                <a:solidFill>
                  <a:srgbClr val="556070"/>
                </a:solidFill>
                <a:latin typeface="맑은 고딕"/>
              </a:rPr>
              <a:t>권(卷)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6126479" y="3657600"/>
            <a:ext cx="2651760" cy="9144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/>
            <a:r>
              <a:rPr sz="4400" b="1">
                <a:solidFill>
                  <a:srgbClr val="8B1A1A"/>
                </a:solidFill>
                <a:latin typeface="맑은 고딕"/>
              </a:rPr>
              <a:t>약 300만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6126479" y="4663440"/>
            <a:ext cx="265176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/>
            <a:r>
              <a:rPr sz="1500" b="0">
                <a:solidFill>
                  <a:srgbClr val="556070"/>
                </a:solidFill>
                <a:latin typeface="맑은 고딕"/>
              </a:rPr>
              <a:t>자(字)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8915399" y="3657600"/>
            <a:ext cx="2651760" cy="9144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/>
            <a:r>
              <a:rPr sz="4400" b="1">
                <a:solidFill>
                  <a:srgbClr val="8B1A1A"/>
                </a:solidFill>
                <a:latin typeface="맑은 고딕"/>
              </a:rPr>
              <a:t>19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8915399" y="4663440"/>
            <a:ext cx="265176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/>
            <a:r>
              <a:rPr sz="1500" b="0">
                <a:solidFill>
                  <a:srgbClr val="556070"/>
                </a:solidFill>
                <a:latin typeface="맑은 고딕"/>
              </a:rPr>
              <a:t>년 편찬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457200" y="5577840"/>
            <a:ext cx="1124712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/>
            <a:r>
              <a:rPr sz="1500" b="1">
                <a:solidFill>
                  <a:srgbClr val="1F2A44"/>
                </a:solidFill>
                <a:latin typeface="맑은 고딕"/>
              </a:rPr>
              <a:t>동양 통사(通史)의 최고봉 · 편년체(編年體)의 정점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457200" y="6035040"/>
            <a:ext cx="1124712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/>
            <a:r>
              <a:rPr sz="1300" b="0">
                <a:solidFill>
                  <a:srgbClr val="556070"/>
                </a:solidFill>
                <a:latin typeface="맑은 고딕"/>
              </a:rPr>
              <a:t>정관정요와 함께 동양 제왕학의 양대 기둥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91440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100" b="1">
                <a:solidFill>
                  <a:srgbClr val="556070"/>
                </a:solidFill>
                <a:latin typeface="맑은 고딕"/>
              </a:rPr>
              <a:t>Ⅰ. 개요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10972800" y="274320"/>
            <a:ext cx="118872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/>
            <a:r>
              <a:rPr sz="1000" b="0">
                <a:solidFill>
                  <a:srgbClr val="556070"/>
                </a:solidFill>
                <a:latin typeface="맑은 고딕"/>
              </a:rPr>
              <a:t>4 / 70</a:t>
            </a:r>
          </a:p>
        </p:txBody>
      </p:sp>
      <p:cxnSp>
        <p:nvCxnSpPr>
          <p:cNvPr id="4" name="Connector 3"/>
          <p:cNvCxnSpPr/>
          <p:nvPr/>
        </p:nvCxnSpPr>
        <p:spPr>
          <a:xfrm>
            <a:off x="457200" y="594360"/>
            <a:ext cx="11704320" cy="0"/>
          </a:xfrm>
          <a:prstGeom prst="line">
            <a:avLst/>
          </a:prstGeom>
          <a:ln w="25400">
            <a:solidFill>
              <a:srgbClr val="C8A25B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5" name="TextBox 4"/>
          <p:cNvSpPr txBox="1"/>
          <p:nvPr/>
        </p:nvSpPr>
        <p:spPr>
          <a:xfrm>
            <a:off x="457200" y="777240"/>
            <a:ext cx="11704320" cy="6400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3000" b="1">
                <a:solidFill>
                  <a:srgbClr val="1F2A44"/>
                </a:solidFill>
                <a:latin typeface="맑은 고딕"/>
              </a:rPr>
              <a:t>책의 위상 — 핵심 정보</a:t>
            </a:r>
          </a:p>
        </p:txBody>
      </p:sp>
      <p:sp>
        <p:nvSpPr>
          <p:cNvPr id="6" name="Rectangle 5"/>
          <p:cNvSpPr/>
          <p:nvPr/>
        </p:nvSpPr>
        <p:spPr>
          <a:xfrm>
            <a:off x="457200" y="1783080"/>
            <a:ext cx="2103120" cy="548640"/>
          </a:xfrm>
          <a:prstGeom prst="rect">
            <a:avLst/>
          </a:prstGeom>
          <a:solidFill>
            <a:srgbClr val="F5EED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2606040" y="1783080"/>
            <a:ext cx="9144000" cy="548640"/>
          </a:xfrm>
          <a:prstGeom prst="rect">
            <a:avLst/>
          </a:prstGeom>
          <a:solidFill>
            <a:srgbClr val="FAFA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502920" y="1920240"/>
            <a:ext cx="201168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/>
            <a:r>
              <a:rPr sz="1400" b="1">
                <a:solidFill>
                  <a:srgbClr val="1F2A44"/>
                </a:solidFill>
                <a:latin typeface="맑은 고딕"/>
              </a:rPr>
              <a:t>서명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2697480" y="1828800"/>
            <a:ext cx="411480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500" b="1">
                <a:solidFill>
                  <a:srgbClr val="8B1A1A"/>
                </a:solidFill>
                <a:latin typeface="맑은 고딕"/>
              </a:rPr>
              <a:t>자치통감(資治通鑑)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858000" y="1856231"/>
            <a:ext cx="484632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300" b="0">
                <a:solidFill>
                  <a:srgbClr val="556070"/>
                </a:solidFill>
                <a:latin typeface="맑은 고딕"/>
              </a:rPr>
              <a:t>"다스림에 도움 되는 통시(通時)의 거울"</a:t>
            </a:r>
          </a:p>
        </p:txBody>
      </p:sp>
      <p:sp>
        <p:nvSpPr>
          <p:cNvPr id="11" name="Rectangle 10"/>
          <p:cNvSpPr/>
          <p:nvPr/>
        </p:nvSpPr>
        <p:spPr>
          <a:xfrm>
            <a:off x="457200" y="2386584"/>
            <a:ext cx="2103120" cy="548640"/>
          </a:xfrm>
          <a:prstGeom prst="rect">
            <a:avLst/>
          </a:prstGeom>
          <a:solidFill>
            <a:srgbClr val="F5EED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ectangle 11"/>
          <p:cNvSpPr/>
          <p:nvPr/>
        </p:nvSpPr>
        <p:spPr>
          <a:xfrm>
            <a:off x="2606040" y="2386584"/>
            <a:ext cx="9144000" cy="54864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502920" y="2523744"/>
            <a:ext cx="201168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/>
            <a:r>
              <a:rPr sz="1400" b="1">
                <a:solidFill>
                  <a:srgbClr val="1F2A44"/>
                </a:solidFill>
                <a:latin typeface="맑은 고딕"/>
              </a:rPr>
              <a:t>편자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2697480" y="2432303"/>
            <a:ext cx="411480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500" b="1">
                <a:solidFill>
                  <a:srgbClr val="8B1A1A"/>
                </a:solidFill>
                <a:latin typeface="맑은 고딕"/>
              </a:rPr>
              <a:t>사마광(司馬光, 1019~1086)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6858000" y="2459736"/>
            <a:ext cx="484632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300" b="0">
                <a:solidFill>
                  <a:srgbClr val="556070"/>
                </a:solidFill>
                <a:latin typeface="맑은 고딕"/>
              </a:rPr>
              <a:t>북송(北宋)의 학자·재상</a:t>
            </a:r>
          </a:p>
        </p:txBody>
      </p:sp>
      <p:sp>
        <p:nvSpPr>
          <p:cNvPr id="16" name="Rectangle 15"/>
          <p:cNvSpPr/>
          <p:nvPr/>
        </p:nvSpPr>
        <p:spPr>
          <a:xfrm>
            <a:off x="457200" y="2990088"/>
            <a:ext cx="2103120" cy="548640"/>
          </a:xfrm>
          <a:prstGeom prst="rect">
            <a:avLst/>
          </a:prstGeom>
          <a:solidFill>
            <a:srgbClr val="F5EED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Rectangle 16"/>
          <p:cNvSpPr/>
          <p:nvPr/>
        </p:nvSpPr>
        <p:spPr>
          <a:xfrm>
            <a:off x="2606040" y="2990088"/>
            <a:ext cx="9144000" cy="548640"/>
          </a:xfrm>
          <a:prstGeom prst="rect">
            <a:avLst/>
          </a:prstGeom>
          <a:solidFill>
            <a:srgbClr val="FAFA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502920" y="3127248"/>
            <a:ext cx="201168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/>
            <a:r>
              <a:rPr sz="1400" b="1">
                <a:solidFill>
                  <a:srgbClr val="1F2A44"/>
                </a:solidFill>
                <a:latin typeface="맑은 고딕"/>
              </a:rPr>
              <a:t>편찬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2697480" y="3035808"/>
            <a:ext cx="411480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500" b="1">
                <a:solidFill>
                  <a:srgbClr val="8B1A1A"/>
                </a:solidFill>
                <a:latin typeface="맑은 고딕"/>
              </a:rPr>
              <a:t>1066~1084 · 19년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6858000" y="3063240"/>
            <a:ext cx="484632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300" b="0">
                <a:solidFill>
                  <a:srgbClr val="556070"/>
                </a:solidFill>
                <a:latin typeface="맑은 고딕"/>
              </a:rPr>
              <a:t>낙양에서 사학(史學) 운영</a:t>
            </a:r>
          </a:p>
        </p:txBody>
      </p:sp>
      <p:sp>
        <p:nvSpPr>
          <p:cNvPr id="21" name="Rectangle 20"/>
          <p:cNvSpPr/>
          <p:nvPr/>
        </p:nvSpPr>
        <p:spPr>
          <a:xfrm>
            <a:off x="457200" y="3593592"/>
            <a:ext cx="2103120" cy="548640"/>
          </a:xfrm>
          <a:prstGeom prst="rect">
            <a:avLst/>
          </a:prstGeom>
          <a:solidFill>
            <a:srgbClr val="F5EED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Rectangle 21"/>
          <p:cNvSpPr/>
          <p:nvPr/>
        </p:nvSpPr>
        <p:spPr>
          <a:xfrm>
            <a:off x="2606040" y="3593592"/>
            <a:ext cx="9144000" cy="54864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502920" y="3730752"/>
            <a:ext cx="201168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/>
            <a:r>
              <a:rPr sz="1400" b="1">
                <a:solidFill>
                  <a:srgbClr val="1F2A44"/>
                </a:solidFill>
                <a:latin typeface="맑은 고딕"/>
              </a:rPr>
              <a:t>헌상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2697480" y="3639312"/>
            <a:ext cx="411480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500" b="1">
                <a:solidFill>
                  <a:srgbClr val="8B1A1A"/>
                </a:solidFill>
                <a:latin typeface="맑은 고딕"/>
              </a:rPr>
              <a:t>1084년 송 신종에게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6858000" y="3666744"/>
            <a:ext cx="484632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300" b="0">
                <a:solidFill>
                  <a:srgbClr val="556070"/>
                </a:solidFill>
                <a:latin typeface="맑은 고딕"/>
              </a:rPr>
              <a:t>책 이름은 신종이 명명</a:t>
            </a:r>
          </a:p>
        </p:txBody>
      </p:sp>
      <p:sp>
        <p:nvSpPr>
          <p:cNvPr id="26" name="Rectangle 25"/>
          <p:cNvSpPr/>
          <p:nvPr/>
        </p:nvSpPr>
        <p:spPr>
          <a:xfrm>
            <a:off x="457200" y="4197096"/>
            <a:ext cx="2103120" cy="548640"/>
          </a:xfrm>
          <a:prstGeom prst="rect">
            <a:avLst/>
          </a:prstGeom>
          <a:solidFill>
            <a:srgbClr val="F5EED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Rectangle 26"/>
          <p:cNvSpPr/>
          <p:nvPr/>
        </p:nvSpPr>
        <p:spPr>
          <a:xfrm>
            <a:off x="2606040" y="4197096"/>
            <a:ext cx="9144000" cy="548640"/>
          </a:xfrm>
          <a:prstGeom prst="rect">
            <a:avLst/>
          </a:prstGeom>
          <a:solidFill>
            <a:srgbClr val="FAFA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502920" y="4334256"/>
            <a:ext cx="201168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/>
            <a:r>
              <a:rPr sz="1400" b="1">
                <a:solidFill>
                  <a:srgbClr val="1F2A44"/>
                </a:solidFill>
                <a:latin typeface="맑은 고딕"/>
              </a:rPr>
              <a:t>분량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2697480" y="4242816"/>
            <a:ext cx="411480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500" b="1">
                <a:solidFill>
                  <a:srgbClr val="8B1A1A"/>
                </a:solidFill>
                <a:latin typeface="맑은 고딕"/>
              </a:rPr>
              <a:t>16기 294권 · 약 300만 자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6858000" y="4270248"/>
            <a:ext cx="484632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300" b="0">
                <a:solidFill>
                  <a:srgbClr val="556070"/>
                </a:solidFill>
                <a:latin typeface="맑은 고딕"/>
              </a:rPr>
              <a:t>동양 통사 최대 분량</a:t>
            </a:r>
          </a:p>
        </p:txBody>
      </p:sp>
      <p:sp>
        <p:nvSpPr>
          <p:cNvPr id="31" name="Rectangle 30"/>
          <p:cNvSpPr/>
          <p:nvPr/>
        </p:nvSpPr>
        <p:spPr>
          <a:xfrm>
            <a:off x="457200" y="4800600"/>
            <a:ext cx="2103120" cy="548640"/>
          </a:xfrm>
          <a:prstGeom prst="rect">
            <a:avLst/>
          </a:prstGeom>
          <a:solidFill>
            <a:srgbClr val="F5EED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Rectangle 31"/>
          <p:cNvSpPr/>
          <p:nvPr/>
        </p:nvSpPr>
        <p:spPr>
          <a:xfrm>
            <a:off x="2606040" y="4800600"/>
            <a:ext cx="9144000" cy="54864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TextBox 32"/>
          <p:cNvSpPr txBox="1"/>
          <p:nvPr/>
        </p:nvSpPr>
        <p:spPr>
          <a:xfrm>
            <a:off x="502920" y="4937760"/>
            <a:ext cx="201168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/>
            <a:r>
              <a:rPr sz="1400" b="1">
                <a:solidFill>
                  <a:srgbClr val="1F2A44"/>
                </a:solidFill>
                <a:latin typeface="맑은 고딕"/>
              </a:rPr>
              <a:t>형식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2697480" y="4846320"/>
            <a:ext cx="411480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500" b="1">
                <a:solidFill>
                  <a:srgbClr val="8B1A1A"/>
                </a:solidFill>
                <a:latin typeface="맑은 고딕"/>
              </a:rPr>
              <a:t>편년체(編年體)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6858000" y="4873752"/>
            <a:ext cx="484632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300" b="0">
                <a:solidFill>
                  <a:srgbClr val="556070"/>
                </a:solidFill>
                <a:latin typeface="맑은 고딕"/>
              </a:rPr>
              <a:t>연·월·일 순서로 서술</a:t>
            </a:r>
          </a:p>
        </p:txBody>
      </p:sp>
      <p:sp>
        <p:nvSpPr>
          <p:cNvPr id="36" name="Rectangle 35"/>
          <p:cNvSpPr/>
          <p:nvPr/>
        </p:nvSpPr>
        <p:spPr>
          <a:xfrm>
            <a:off x="457200" y="5404104"/>
            <a:ext cx="2103120" cy="548640"/>
          </a:xfrm>
          <a:prstGeom prst="rect">
            <a:avLst/>
          </a:prstGeom>
          <a:solidFill>
            <a:srgbClr val="F5EED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" name="Rectangle 36"/>
          <p:cNvSpPr/>
          <p:nvPr/>
        </p:nvSpPr>
        <p:spPr>
          <a:xfrm>
            <a:off x="2606040" y="5404104"/>
            <a:ext cx="9144000" cy="548640"/>
          </a:xfrm>
          <a:prstGeom prst="rect">
            <a:avLst/>
          </a:prstGeom>
          <a:solidFill>
            <a:srgbClr val="FAFA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8" name="TextBox 37"/>
          <p:cNvSpPr txBox="1"/>
          <p:nvPr/>
        </p:nvSpPr>
        <p:spPr>
          <a:xfrm>
            <a:off x="502920" y="5541264"/>
            <a:ext cx="201168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/>
            <a:r>
              <a:rPr sz="1400" b="1">
                <a:solidFill>
                  <a:srgbClr val="1F2A44"/>
                </a:solidFill>
                <a:latin typeface="맑은 고딕"/>
              </a:rPr>
              <a:t>수록 기간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2697480" y="5449824"/>
            <a:ext cx="411480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500" b="1">
                <a:solidFill>
                  <a:srgbClr val="8B1A1A"/>
                </a:solidFill>
                <a:latin typeface="맑은 고딕"/>
              </a:rPr>
              <a:t>1,362년</a:t>
            </a:r>
          </a:p>
        </p:txBody>
      </p:sp>
      <p:sp>
        <p:nvSpPr>
          <p:cNvPr id="40" name="TextBox 39"/>
          <p:cNvSpPr txBox="1"/>
          <p:nvPr/>
        </p:nvSpPr>
        <p:spPr>
          <a:xfrm>
            <a:off x="6858000" y="5477256"/>
            <a:ext cx="484632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300" b="0">
                <a:solidFill>
                  <a:srgbClr val="556070"/>
                </a:solidFill>
                <a:latin typeface="맑은 고딕"/>
              </a:rPr>
              <a:t>BC 403 ~ AD 959</a:t>
            </a:r>
          </a:p>
        </p:txBody>
      </p:sp>
      <p:sp>
        <p:nvSpPr>
          <p:cNvPr id="41" name="Rectangle 40"/>
          <p:cNvSpPr/>
          <p:nvPr/>
        </p:nvSpPr>
        <p:spPr>
          <a:xfrm>
            <a:off x="457200" y="6007608"/>
            <a:ext cx="2103120" cy="548640"/>
          </a:xfrm>
          <a:prstGeom prst="rect">
            <a:avLst/>
          </a:prstGeom>
          <a:solidFill>
            <a:srgbClr val="F5EED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2" name="Rectangle 41"/>
          <p:cNvSpPr/>
          <p:nvPr/>
        </p:nvSpPr>
        <p:spPr>
          <a:xfrm>
            <a:off x="2606040" y="6007608"/>
            <a:ext cx="9144000" cy="54864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3" name="TextBox 42"/>
          <p:cNvSpPr txBox="1"/>
          <p:nvPr/>
        </p:nvSpPr>
        <p:spPr>
          <a:xfrm>
            <a:off x="502920" y="6144768"/>
            <a:ext cx="201168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/>
            <a:r>
              <a:rPr sz="1400" b="1">
                <a:solidFill>
                  <a:srgbClr val="1F2A44"/>
                </a:solidFill>
                <a:latin typeface="맑은 고딕"/>
              </a:rPr>
              <a:t>사평</a:t>
            </a:r>
          </a:p>
        </p:txBody>
      </p:sp>
      <p:sp>
        <p:nvSpPr>
          <p:cNvPr id="44" name="TextBox 43"/>
          <p:cNvSpPr txBox="1"/>
          <p:nvPr/>
        </p:nvSpPr>
        <p:spPr>
          <a:xfrm>
            <a:off x="2697480" y="6053328"/>
            <a:ext cx="411480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500" b="1">
                <a:solidFill>
                  <a:srgbClr val="8B1A1A"/>
                </a:solidFill>
                <a:latin typeface="맑은 고딕"/>
              </a:rPr>
              <a:t>"신광왈(臣光曰)" 219편</a:t>
            </a:r>
          </a:p>
        </p:txBody>
      </p:sp>
      <p:sp>
        <p:nvSpPr>
          <p:cNvPr id="45" name="TextBox 44"/>
          <p:cNvSpPr txBox="1"/>
          <p:nvPr/>
        </p:nvSpPr>
        <p:spPr>
          <a:xfrm>
            <a:off x="6858000" y="6080760"/>
            <a:ext cx="484632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300" b="0">
                <a:solidFill>
                  <a:srgbClr val="556070"/>
                </a:solidFill>
                <a:latin typeface="맑은 고딕"/>
              </a:rPr>
              <a:t>사마광의 직접 평론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91440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100" b="1">
                <a:solidFill>
                  <a:srgbClr val="556070"/>
                </a:solidFill>
                <a:latin typeface="맑은 고딕"/>
              </a:rPr>
              <a:t>Ⅰ. 개요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10972800" y="274320"/>
            <a:ext cx="118872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/>
            <a:r>
              <a:rPr sz="1000" b="0">
                <a:solidFill>
                  <a:srgbClr val="556070"/>
                </a:solidFill>
                <a:latin typeface="맑은 고딕"/>
              </a:rPr>
              <a:t>5 / 70</a:t>
            </a:r>
          </a:p>
        </p:txBody>
      </p:sp>
      <p:cxnSp>
        <p:nvCxnSpPr>
          <p:cNvPr id="4" name="Connector 3"/>
          <p:cNvCxnSpPr/>
          <p:nvPr/>
        </p:nvCxnSpPr>
        <p:spPr>
          <a:xfrm>
            <a:off x="457200" y="594360"/>
            <a:ext cx="11704320" cy="0"/>
          </a:xfrm>
          <a:prstGeom prst="line">
            <a:avLst/>
          </a:prstGeom>
          <a:ln w="25400">
            <a:solidFill>
              <a:srgbClr val="C8A25B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5" name="TextBox 4"/>
          <p:cNvSpPr txBox="1"/>
          <p:nvPr/>
        </p:nvSpPr>
        <p:spPr>
          <a:xfrm>
            <a:off x="457200" y="777240"/>
            <a:ext cx="11704320" cy="6400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3000" b="1">
                <a:solidFill>
                  <a:srgbClr val="1F2A44"/>
                </a:solidFill>
                <a:latin typeface="맑은 고딕"/>
              </a:rPr>
              <a:t>사마광(司馬光, 1019~1086) — 통감의 저자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" y="2103120"/>
            <a:ext cx="2926080" cy="320040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/>
            <a:r>
              <a:rPr sz="11000" b="1">
                <a:solidFill>
                  <a:srgbClr val="8B1A1A"/>
                </a:solidFill>
                <a:latin typeface="맑은 고딕"/>
              </a:rPr>
              <a:t>司
馬
光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3840480" y="2103120"/>
            <a:ext cx="7955279" cy="41148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30000"/>
              </a:lnSpc>
            </a:pPr>
            <a:r>
              <a:rPr sz="1700" b="1">
                <a:solidFill>
                  <a:srgbClr val="8B1A1A"/>
                </a:solidFill>
                <a:latin typeface="맑은 고딕"/>
              </a:rPr>
              <a:t>자(字)·호(號)</a:t>
            </a:r>
          </a:p>
          <a:p>
            <a:pPr algn="l">
              <a:lnSpc>
                <a:spcPct val="130000"/>
              </a:lnSpc>
            </a:pPr>
            <a:r>
              <a:rPr sz="1400" b="0">
                <a:solidFill>
                  <a:srgbClr val="1F2A44"/>
                </a:solidFill>
                <a:latin typeface="맑은 고딕"/>
              </a:rPr>
              <a:t>  자 군실(君實) · 호 우수(迂叟)</a:t>
            </a:r>
          </a:p>
          <a:p>
            <a:pPr algn="l">
              <a:lnSpc>
                <a:spcPct val="130000"/>
              </a:lnSpc>
            </a:pPr>
            <a:r>
              <a:rPr sz="1400" b="0">
                <a:solidFill>
                  <a:srgbClr val="556070"/>
                </a:solidFill>
                <a:latin typeface="맑은 고딕"/>
              </a:rPr>
              <a:t>  사후 시호(諡號) 문정(文正) — 송 최고 영예</a:t>
            </a:r>
          </a:p>
          <a:p>
            <a:pPr algn="l">
              <a:lnSpc>
                <a:spcPct val="130000"/>
              </a:lnSpc>
              <a:spcBef>
                <a:spcPts val="800"/>
              </a:spcBef>
            </a:pPr>
            <a:r>
              <a:rPr sz="1700" b="1">
                <a:solidFill>
                  <a:srgbClr val="8B1A1A"/>
                </a:solidFill>
                <a:latin typeface="맑은 고딕"/>
              </a:rPr>
              <a:t>가문·출신</a:t>
            </a:r>
          </a:p>
          <a:p>
            <a:pPr algn="l">
              <a:lnSpc>
                <a:spcPct val="130000"/>
              </a:lnSpc>
            </a:pPr>
            <a:r>
              <a:rPr sz="1400" b="0">
                <a:solidFill>
                  <a:srgbClr val="1F2A44"/>
                </a:solidFill>
                <a:latin typeface="맑은 고딕"/>
              </a:rPr>
              <a:t>  하주(夏州) 협서성 출신 · 명문 출신</a:t>
            </a:r>
          </a:p>
          <a:p>
            <a:pPr algn="l">
              <a:lnSpc>
                <a:spcPct val="130000"/>
              </a:lnSpc>
              <a:spcBef>
                <a:spcPts val="800"/>
              </a:spcBef>
            </a:pPr>
            <a:r>
              <a:rPr sz="1700" b="1">
                <a:solidFill>
                  <a:srgbClr val="8B1A1A"/>
                </a:solidFill>
                <a:latin typeface="맑은 고딕"/>
              </a:rPr>
              <a:t>관직</a:t>
            </a:r>
          </a:p>
          <a:p>
            <a:pPr algn="l">
              <a:lnSpc>
                <a:spcPct val="130000"/>
              </a:lnSpc>
            </a:pPr>
            <a:r>
              <a:rPr sz="1400" b="0">
                <a:solidFill>
                  <a:srgbClr val="1F2A44"/>
                </a:solidFill>
                <a:latin typeface="맑은 고딕"/>
              </a:rPr>
              <a:t>  20세 진사 급제 · 한림학사 · 재상에 오름</a:t>
            </a:r>
          </a:p>
          <a:p>
            <a:pPr algn="l">
              <a:lnSpc>
                <a:spcPct val="130000"/>
              </a:lnSpc>
              <a:spcBef>
                <a:spcPts val="800"/>
              </a:spcBef>
            </a:pPr>
            <a:r>
              <a:rPr sz="1700" b="1">
                <a:solidFill>
                  <a:srgbClr val="8B1A1A"/>
                </a:solidFill>
                <a:latin typeface="맑은 고딕"/>
              </a:rPr>
              <a:t>학문·성격</a:t>
            </a:r>
          </a:p>
          <a:p>
            <a:pPr algn="l">
              <a:lnSpc>
                <a:spcPct val="130000"/>
              </a:lnSpc>
            </a:pPr>
            <a:r>
              <a:rPr sz="1400" b="0">
                <a:solidFill>
                  <a:srgbClr val="1F2A44"/>
                </a:solidFill>
                <a:latin typeface="맑은 고딕"/>
              </a:rPr>
              <a:t>  사학(史學)의 거장 · "성실(誠)"을 평생 강조</a:t>
            </a:r>
          </a:p>
          <a:p>
            <a:pPr algn="l">
              <a:lnSpc>
                <a:spcPct val="130000"/>
              </a:lnSpc>
            </a:pPr>
            <a:r>
              <a:rPr sz="1400" b="1">
                <a:solidFill>
                  <a:srgbClr val="1F2A44"/>
                </a:solidFill>
                <a:latin typeface="맑은 고딕"/>
              </a:rPr>
              <a:t>  검소·엄정 — 송 사대부의 모범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91440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100" b="1">
                <a:solidFill>
                  <a:srgbClr val="556070"/>
                </a:solidFill>
                <a:latin typeface="맑은 고딕"/>
              </a:rPr>
              <a:t>Ⅰ. 개요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10972800" y="274320"/>
            <a:ext cx="118872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/>
            <a:r>
              <a:rPr sz="1000" b="0">
                <a:solidFill>
                  <a:srgbClr val="556070"/>
                </a:solidFill>
                <a:latin typeface="맑은 고딕"/>
              </a:rPr>
              <a:t>6 / 70</a:t>
            </a:r>
          </a:p>
        </p:txBody>
      </p:sp>
      <p:cxnSp>
        <p:nvCxnSpPr>
          <p:cNvPr id="4" name="Connector 3"/>
          <p:cNvCxnSpPr/>
          <p:nvPr/>
        </p:nvCxnSpPr>
        <p:spPr>
          <a:xfrm>
            <a:off x="457200" y="594360"/>
            <a:ext cx="11704320" cy="0"/>
          </a:xfrm>
          <a:prstGeom prst="line">
            <a:avLst/>
          </a:prstGeom>
          <a:ln w="25400">
            <a:solidFill>
              <a:srgbClr val="C8A25B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5" name="TextBox 4"/>
          <p:cNvSpPr txBox="1"/>
          <p:nvPr/>
        </p:nvSpPr>
        <p:spPr>
          <a:xfrm>
            <a:off x="457200" y="777240"/>
            <a:ext cx="11704320" cy="6400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3000" b="1">
                <a:solidFill>
                  <a:srgbClr val="1F2A44"/>
                </a:solidFill>
                <a:latin typeface="맑은 고딕"/>
              </a:rPr>
              <a:t>책 이름의 의미 — "자치통감(資治通鑑)"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57200" y="1417320"/>
            <a:ext cx="1170432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400" b="0">
                <a:solidFill>
                  <a:srgbClr val="556070"/>
                </a:solidFill>
                <a:latin typeface="맑은 고딕"/>
              </a:rPr>
              <a:t>"송 신종이 직접 명명 — 황제가 책 이름을 지어준 사실 자체가 이 책의 위상"</a:t>
            </a:r>
          </a:p>
        </p:txBody>
      </p:sp>
      <p:sp>
        <p:nvSpPr>
          <p:cNvPr id="7" name="Rectangle 6"/>
          <p:cNvSpPr/>
          <p:nvPr/>
        </p:nvSpPr>
        <p:spPr>
          <a:xfrm>
            <a:off x="548640" y="2194560"/>
            <a:ext cx="1188720" cy="777240"/>
          </a:xfrm>
          <a:prstGeom prst="rect">
            <a:avLst/>
          </a:prstGeom>
          <a:solidFill>
            <a:srgbClr val="8B1A1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548640" y="2331720"/>
            <a:ext cx="1188720" cy="5486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/>
            <a:r>
              <a:rPr sz="3600" b="1">
                <a:solidFill>
                  <a:srgbClr val="FFFFFF"/>
                </a:solidFill>
                <a:latin typeface="맑은 고딕"/>
              </a:rPr>
              <a:t>資</a:t>
            </a:r>
          </a:p>
        </p:txBody>
      </p:sp>
      <p:sp>
        <p:nvSpPr>
          <p:cNvPr id="9" name="Rectangle 8"/>
          <p:cNvSpPr/>
          <p:nvPr/>
        </p:nvSpPr>
        <p:spPr>
          <a:xfrm>
            <a:off x="1828800" y="2194560"/>
            <a:ext cx="1371600" cy="777240"/>
          </a:xfrm>
          <a:prstGeom prst="rect">
            <a:avLst/>
          </a:prstGeom>
          <a:solidFill>
            <a:srgbClr val="F5EED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1828800" y="2286000"/>
            <a:ext cx="137160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/>
            <a:r>
              <a:rPr sz="1400" b="0">
                <a:solidFill>
                  <a:srgbClr val="556070"/>
                </a:solidFill>
                <a:latin typeface="맑은 고딕"/>
              </a:rPr>
              <a:t>자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828800" y="2606040"/>
            <a:ext cx="137160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/>
            <a:r>
              <a:rPr sz="1400" b="1">
                <a:solidFill>
                  <a:srgbClr val="8B1A1A"/>
                </a:solidFill>
                <a:latin typeface="맑은 고딕"/>
              </a:rPr>
              <a:t>도움이 되다</a:t>
            </a:r>
          </a:p>
        </p:txBody>
      </p:sp>
      <p:sp>
        <p:nvSpPr>
          <p:cNvPr id="12" name="Rectangle 11"/>
          <p:cNvSpPr/>
          <p:nvPr/>
        </p:nvSpPr>
        <p:spPr>
          <a:xfrm>
            <a:off x="3291840" y="2194560"/>
            <a:ext cx="8412480" cy="777240"/>
          </a:xfrm>
          <a:prstGeom prst="rect">
            <a:avLst/>
          </a:prstGeom>
          <a:solidFill>
            <a:srgbClr val="FAFA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3474720" y="2395728"/>
            <a:ext cx="813816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400" b="0">
                <a:solidFill>
                  <a:srgbClr val="1F2A44"/>
                </a:solidFill>
                <a:latin typeface="맑은 고딕"/>
              </a:rPr>
              <a:t>제왕의 통치(治)에 보탬이 되는</a:t>
            </a:r>
          </a:p>
        </p:txBody>
      </p:sp>
      <p:sp>
        <p:nvSpPr>
          <p:cNvPr id="14" name="Rectangle 13"/>
          <p:cNvSpPr/>
          <p:nvPr/>
        </p:nvSpPr>
        <p:spPr>
          <a:xfrm>
            <a:off x="548640" y="3081528"/>
            <a:ext cx="1188720" cy="777240"/>
          </a:xfrm>
          <a:prstGeom prst="rect">
            <a:avLst/>
          </a:prstGeom>
          <a:solidFill>
            <a:srgbClr val="8B1A1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548640" y="3218688"/>
            <a:ext cx="1188720" cy="5486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/>
            <a:r>
              <a:rPr sz="3600" b="1">
                <a:solidFill>
                  <a:srgbClr val="FFFFFF"/>
                </a:solidFill>
                <a:latin typeface="맑은 고딕"/>
              </a:rPr>
              <a:t>治</a:t>
            </a:r>
          </a:p>
        </p:txBody>
      </p:sp>
      <p:sp>
        <p:nvSpPr>
          <p:cNvPr id="16" name="Rectangle 15"/>
          <p:cNvSpPr/>
          <p:nvPr/>
        </p:nvSpPr>
        <p:spPr>
          <a:xfrm>
            <a:off x="1828800" y="3081528"/>
            <a:ext cx="1371600" cy="777240"/>
          </a:xfrm>
          <a:prstGeom prst="rect">
            <a:avLst/>
          </a:prstGeom>
          <a:solidFill>
            <a:srgbClr val="F5EED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1828800" y="3172968"/>
            <a:ext cx="137160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/>
            <a:r>
              <a:rPr sz="1400" b="0">
                <a:solidFill>
                  <a:srgbClr val="556070"/>
                </a:solidFill>
                <a:latin typeface="맑은 고딕"/>
              </a:rPr>
              <a:t>치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1828800" y="3493008"/>
            <a:ext cx="137160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/>
            <a:r>
              <a:rPr sz="1400" b="1">
                <a:solidFill>
                  <a:srgbClr val="8B1A1A"/>
                </a:solidFill>
                <a:latin typeface="맑은 고딕"/>
              </a:rPr>
              <a:t>다스림</a:t>
            </a:r>
          </a:p>
        </p:txBody>
      </p:sp>
      <p:sp>
        <p:nvSpPr>
          <p:cNvPr id="19" name="Rectangle 18"/>
          <p:cNvSpPr/>
          <p:nvPr/>
        </p:nvSpPr>
        <p:spPr>
          <a:xfrm>
            <a:off x="3291840" y="3081528"/>
            <a:ext cx="8412480" cy="777240"/>
          </a:xfrm>
          <a:prstGeom prst="rect">
            <a:avLst/>
          </a:prstGeom>
          <a:solidFill>
            <a:srgbClr val="FAFA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3474720" y="3282696"/>
            <a:ext cx="813816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400" b="0">
                <a:solidFill>
                  <a:srgbClr val="1F2A44"/>
                </a:solidFill>
                <a:latin typeface="맑은 고딕"/>
              </a:rPr>
              <a:t>국가 경영의 학문 · 정치의 거울</a:t>
            </a:r>
          </a:p>
        </p:txBody>
      </p:sp>
      <p:sp>
        <p:nvSpPr>
          <p:cNvPr id="21" name="Rectangle 20"/>
          <p:cNvSpPr/>
          <p:nvPr/>
        </p:nvSpPr>
        <p:spPr>
          <a:xfrm>
            <a:off x="548640" y="3968496"/>
            <a:ext cx="1188720" cy="777240"/>
          </a:xfrm>
          <a:prstGeom prst="rect">
            <a:avLst/>
          </a:prstGeom>
          <a:solidFill>
            <a:srgbClr val="8B1A1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548640" y="4105656"/>
            <a:ext cx="1188720" cy="5486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/>
            <a:r>
              <a:rPr sz="3600" b="1">
                <a:solidFill>
                  <a:srgbClr val="FFFFFF"/>
                </a:solidFill>
                <a:latin typeface="맑은 고딕"/>
              </a:rPr>
              <a:t>通</a:t>
            </a:r>
          </a:p>
        </p:txBody>
      </p:sp>
      <p:sp>
        <p:nvSpPr>
          <p:cNvPr id="23" name="Rectangle 22"/>
          <p:cNvSpPr/>
          <p:nvPr/>
        </p:nvSpPr>
        <p:spPr>
          <a:xfrm>
            <a:off x="1828800" y="3968496"/>
            <a:ext cx="1371600" cy="777240"/>
          </a:xfrm>
          <a:prstGeom prst="rect">
            <a:avLst/>
          </a:prstGeom>
          <a:solidFill>
            <a:srgbClr val="F5EED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1828800" y="4059935"/>
            <a:ext cx="137160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/>
            <a:r>
              <a:rPr sz="1400" b="0">
                <a:solidFill>
                  <a:srgbClr val="556070"/>
                </a:solidFill>
                <a:latin typeface="맑은 고딕"/>
              </a:rPr>
              <a:t>통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1828800" y="4379976"/>
            <a:ext cx="137160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/>
            <a:r>
              <a:rPr sz="1400" b="1">
                <a:solidFill>
                  <a:srgbClr val="8B1A1A"/>
                </a:solidFill>
                <a:latin typeface="맑은 고딕"/>
              </a:rPr>
              <a:t>통하다</a:t>
            </a:r>
          </a:p>
        </p:txBody>
      </p:sp>
      <p:sp>
        <p:nvSpPr>
          <p:cNvPr id="26" name="Rectangle 25"/>
          <p:cNvSpPr/>
          <p:nvPr/>
        </p:nvSpPr>
        <p:spPr>
          <a:xfrm>
            <a:off x="3291840" y="3968496"/>
            <a:ext cx="8412480" cy="777240"/>
          </a:xfrm>
          <a:prstGeom prst="rect">
            <a:avLst/>
          </a:prstGeom>
          <a:solidFill>
            <a:srgbClr val="FAFA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3474720" y="4169663"/>
            <a:ext cx="813816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400" b="0">
                <a:solidFill>
                  <a:srgbClr val="1F2A44"/>
                </a:solidFill>
                <a:latin typeface="맑은 고딕"/>
              </a:rPr>
              <a:t>역대(歷代)를 관통 · 1,362년</a:t>
            </a:r>
          </a:p>
        </p:txBody>
      </p:sp>
      <p:sp>
        <p:nvSpPr>
          <p:cNvPr id="28" name="Rectangle 27"/>
          <p:cNvSpPr/>
          <p:nvPr/>
        </p:nvSpPr>
        <p:spPr>
          <a:xfrm>
            <a:off x="548640" y="4855464"/>
            <a:ext cx="1188720" cy="777240"/>
          </a:xfrm>
          <a:prstGeom prst="rect">
            <a:avLst/>
          </a:prstGeom>
          <a:solidFill>
            <a:srgbClr val="8B1A1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TextBox 28"/>
          <p:cNvSpPr txBox="1"/>
          <p:nvPr/>
        </p:nvSpPr>
        <p:spPr>
          <a:xfrm>
            <a:off x="548640" y="4992624"/>
            <a:ext cx="1188720" cy="5486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/>
            <a:r>
              <a:rPr sz="3600" b="1">
                <a:solidFill>
                  <a:srgbClr val="FFFFFF"/>
                </a:solidFill>
                <a:latin typeface="맑은 고딕"/>
              </a:rPr>
              <a:t>鑑</a:t>
            </a:r>
          </a:p>
        </p:txBody>
      </p:sp>
      <p:sp>
        <p:nvSpPr>
          <p:cNvPr id="30" name="Rectangle 29"/>
          <p:cNvSpPr/>
          <p:nvPr/>
        </p:nvSpPr>
        <p:spPr>
          <a:xfrm>
            <a:off x="1828800" y="4855464"/>
            <a:ext cx="1371600" cy="777240"/>
          </a:xfrm>
          <a:prstGeom prst="rect">
            <a:avLst/>
          </a:prstGeom>
          <a:solidFill>
            <a:srgbClr val="F5EED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TextBox 30"/>
          <p:cNvSpPr txBox="1"/>
          <p:nvPr/>
        </p:nvSpPr>
        <p:spPr>
          <a:xfrm>
            <a:off x="1828800" y="4946903"/>
            <a:ext cx="137160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/>
            <a:r>
              <a:rPr sz="1400" b="0">
                <a:solidFill>
                  <a:srgbClr val="556070"/>
                </a:solidFill>
                <a:latin typeface="맑은 고딕"/>
              </a:rPr>
              <a:t>감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1828800" y="5266944"/>
            <a:ext cx="137160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/>
            <a:r>
              <a:rPr sz="1400" b="1">
                <a:solidFill>
                  <a:srgbClr val="8B1A1A"/>
                </a:solidFill>
                <a:latin typeface="맑은 고딕"/>
              </a:rPr>
              <a:t>거울</a:t>
            </a:r>
          </a:p>
        </p:txBody>
      </p:sp>
      <p:sp>
        <p:nvSpPr>
          <p:cNvPr id="33" name="Rectangle 32"/>
          <p:cNvSpPr/>
          <p:nvPr/>
        </p:nvSpPr>
        <p:spPr>
          <a:xfrm>
            <a:off x="3291840" y="4855464"/>
            <a:ext cx="8412480" cy="777240"/>
          </a:xfrm>
          <a:prstGeom prst="rect">
            <a:avLst/>
          </a:prstGeom>
          <a:solidFill>
            <a:srgbClr val="FAFA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TextBox 33"/>
          <p:cNvSpPr txBox="1"/>
          <p:nvPr/>
        </p:nvSpPr>
        <p:spPr>
          <a:xfrm>
            <a:off x="3474720" y="5056631"/>
            <a:ext cx="813816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400" b="0">
                <a:solidFill>
                  <a:srgbClr val="1F2A44"/>
                </a:solidFill>
                <a:latin typeface="맑은 고딕"/>
              </a:rPr>
              <a:t>과거를 비추어 현재를 살핌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457200" y="5989320"/>
            <a:ext cx="1124712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/>
            <a:r>
              <a:rPr sz="1700" b="1">
                <a:solidFill>
                  <a:srgbClr val="8B1A1A"/>
                </a:solidFill>
                <a:latin typeface="맑은 고딕"/>
              </a:rPr>
              <a:t>"다스림에 도움이 되고, 역대에 통하여, 거울이 되는 책"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457200" y="6446520"/>
            <a:ext cx="1124712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/>
            <a:r>
              <a:rPr sz="1200" b="0">
                <a:solidFill>
                  <a:srgbClr val="556070"/>
                </a:solidFill>
                <a:latin typeface="맑은 고딕"/>
              </a:rPr>
              <a:t>신종의 명명 — 책의 사명을 한 마디로 압축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91440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100" b="1">
                <a:solidFill>
                  <a:srgbClr val="556070"/>
                </a:solidFill>
                <a:latin typeface="맑은 고딕"/>
              </a:rPr>
              <a:t>Ⅰ. 개요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10972800" y="274320"/>
            <a:ext cx="118872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/>
            <a:r>
              <a:rPr sz="1000" b="0">
                <a:solidFill>
                  <a:srgbClr val="556070"/>
                </a:solidFill>
                <a:latin typeface="맑은 고딕"/>
              </a:rPr>
              <a:t>7 / 70</a:t>
            </a:r>
          </a:p>
        </p:txBody>
      </p:sp>
      <p:cxnSp>
        <p:nvCxnSpPr>
          <p:cNvPr id="4" name="Connector 3"/>
          <p:cNvCxnSpPr/>
          <p:nvPr/>
        </p:nvCxnSpPr>
        <p:spPr>
          <a:xfrm>
            <a:off x="457200" y="594360"/>
            <a:ext cx="11704320" cy="0"/>
          </a:xfrm>
          <a:prstGeom prst="line">
            <a:avLst/>
          </a:prstGeom>
          <a:ln w="25400">
            <a:solidFill>
              <a:srgbClr val="C8A25B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5" name="TextBox 4"/>
          <p:cNvSpPr txBox="1"/>
          <p:nvPr/>
        </p:nvSpPr>
        <p:spPr>
          <a:xfrm>
            <a:off x="457200" y="777240"/>
            <a:ext cx="11704320" cy="6400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3000" b="1">
                <a:solidFill>
                  <a:srgbClr val="1F2A44"/>
                </a:solidFill>
                <a:latin typeface="맑은 고딕"/>
              </a:rPr>
              <a:t>동양 제왕학의 양대 기둥 — 정관정요와 자치통감</a:t>
            </a:r>
          </a:p>
        </p:txBody>
      </p:sp>
      <p:sp>
        <p:nvSpPr>
          <p:cNvPr id="6" name="Rectangle 5"/>
          <p:cNvSpPr/>
          <p:nvPr/>
        </p:nvSpPr>
        <p:spPr>
          <a:xfrm>
            <a:off x="548640" y="2103120"/>
            <a:ext cx="5394960" cy="4114800"/>
          </a:xfrm>
          <a:prstGeom prst="rect">
            <a:avLst/>
          </a:prstGeom>
          <a:solidFill>
            <a:srgbClr val="F5EED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548640" y="2286000"/>
            <a:ext cx="539496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/>
            <a:r>
              <a:rPr sz="2200" b="1">
                <a:solidFill>
                  <a:srgbClr val="8B1A1A"/>
                </a:solidFill>
                <a:latin typeface="맑은 고딕"/>
              </a:rPr>
              <a:t>정관정요(貞觀政要)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822960" y="2880360"/>
            <a:ext cx="4846320" cy="32004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30000"/>
              </a:lnSpc>
            </a:pPr>
            <a:r>
              <a:rPr sz="1500" b="1">
                <a:solidFill>
                  <a:srgbClr val="8B1A1A"/>
                </a:solidFill>
                <a:latin typeface="맑은 고딕"/>
              </a:rPr>
              <a:t>편자</a:t>
            </a:r>
          </a:p>
          <a:p>
            <a:pPr algn="l">
              <a:lnSpc>
                <a:spcPct val="130000"/>
              </a:lnSpc>
            </a:pPr>
            <a:r>
              <a:rPr sz="1300" b="0">
                <a:solidFill>
                  <a:srgbClr val="1F2A44"/>
                </a:solidFill>
                <a:latin typeface="맑은 고딕"/>
              </a:rPr>
              <a:t>  오긍(吳兢) · 8세기 초</a:t>
            </a:r>
          </a:p>
          <a:p>
            <a:pPr algn="l">
              <a:lnSpc>
                <a:spcPct val="130000"/>
              </a:lnSpc>
              <a:spcBef>
                <a:spcPts val="600"/>
              </a:spcBef>
            </a:pPr>
            <a:r>
              <a:rPr sz="1500" b="1">
                <a:solidFill>
                  <a:srgbClr val="8B1A1A"/>
                </a:solidFill>
                <a:latin typeface="맑은 고딕"/>
              </a:rPr>
              <a:t>성격</a:t>
            </a:r>
          </a:p>
          <a:p>
            <a:pPr algn="l">
              <a:lnSpc>
                <a:spcPct val="130000"/>
              </a:lnSpc>
            </a:pPr>
            <a:r>
              <a:rPr sz="1300" b="0">
                <a:solidFill>
                  <a:srgbClr val="1F2A44"/>
                </a:solidFill>
                <a:latin typeface="맑은 고딕"/>
              </a:rPr>
              <a:t>  주제별 사례집 — 40편</a:t>
            </a:r>
          </a:p>
          <a:p>
            <a:pPr algn="l">
              <a:lnSpc>
                <a:spcPct val="130000"/>
              </a:lnSpc>
            </a:pPr>
            <a:r>
              <a:rPr sz="1300" b="0">
                <a:solidFill>
                  <a:srgbClr val="1F2A44"/>
                </a:solidFill>
                <a:latin typeface="맑은 고딕"/>
              </a:rPr>
              <a:t>  당 태종 23년의 정치 문답</a:t>
            </a:r>
          </a:p>
          <a:p>
            <a:pPr algn="l">
              <a:lnSpc>
                <a:spcPct val="130000"/>
              </a:lnSpc>
              <a:spcBef>
                <a:spcPts val="600"/>
              </a:spcBef>
            </a:pPr>
            <a:r>
              <a:rPr sz="1500" b="1">
                <a:solidFill>
                  <a:srgbClr val="8B1A1A"/>
                </a:solidFill>
                <a:latin typeface="맑은 고딕"/>
              </a:rPr>
              <a:t>초점</a:t>
            </a:r>
          </a:p>
          <a:p>
            <a:pPr algn="l">
              <a:lnSpc>
                <a:spcPct val="130000"/>
              </a:lnSpc>
            </a:pPr>
            <a:r>
              <a:rPr sz="1300" b="1">
                <a:solidFill>
                  <a:srgbClr val="1F2A44"/>
                </a:solidFill>
                <a:latin typeface="맑은 고딕"/>
              </a:rPr>
              <a:t>  "What" — 무엇을 할 것인가</a:t>
            </a:r>
          </a:p>
          <a:p>
            <a:pPr algn="l">
              <a:lnSpc>
                <a:spcPct val="130000"/>
              </a:lnSpc>
            </a:pPr>
            <a:r>
              <a:rPr sz="1300" b="0">
                <a:solidFill>
                  <a:srgbClr val="556070"/>
                </a:solidFill>
                <a:latin typeface="맑은 고딕"/>
              </a:rPr>
              <a:t>  구체적 사례·실용 지침</a:t>
            </a:r>
          </a:p>
        </p:txBody>
      </p:sp>
      <p:sp>
        <p:nvSpPr>
          <p:cNvPr id="9" name="Rectangle 8"/>
          <p:cNvSpPr/>
          <p:nvPr/>
        </p:nvSpPr>
        <p:spPr>
          <a:xfrm>
            <a:off x="6217920" y="2103120"/>
            <a:ext cx="5394960" cy="4114800"/>
          </a:xfrm>
          <a:prstGeom prst="rect">
            <a:avLst/>
          </a:prstGeom>
          <a:solidFill>
            <a:srgbClr val="FAE5E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6217920" y="2286000"/>
            <a:ext cx="539496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/>
            <a:r>
              <a:rPr sz="2200" b="1">
                <a:solidFill>
                  <a:srgbClr val="8B1A1A"/>
                </a:solidFill>
                <a:latin typeface="맑은 고딕"/>
              </a:rPr>
              <a:t>자치통감(資治通鑑)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492240" y="2880360"/>
            <a:ext cx="4846320" cy="32004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30000"/>
              </a:lnSpc>
            </a:pPr>
            <a:r>
              <a:rPr sz="1500" b="1">
                <a:solidFill>
                  <a:srgbClr val="8B1A1A"/>
                </a:solidFill>
                <a:latin typeface="맑은 고딕"/>
              </a:rPr>
              <a:t>편자</a:t>
            </a:r>
          </a:p>
          <a:p>
            <a:pPr algn="l">
              <a:lnSpc>
                <a:spcPct val="130000"/>
              </a:lnSpc>
            </a:pPr>
            <a:r>
              <a:rPr sz="1300" b="0">
                <a:solidFill>
                  <a:srgbClr val="1F2A44"/>
                </a:solidFill>
                <a:latin typeface="맑은 고딕"/>
              </a:rPr>
              <a:t>  사마광(司馬光) · 1084</a:t>
            </a:r>
          </a:p>
          <a:p>
            <a:pPr algn="l">
              <a:lnSpc>
                <a:spcPct val="130000"/>
              </a:lnSpc>
              <a:spcBef>
                <a:spcPts val="600"/>
              </a:spcBef>
            </a:pPr>
            <a:r>
              <a:rPr sz="1500" b="1">
                <a:solidFill>
                  <a:srgbClr val="8B1A1A"/>
                </a:solidFill>
                <a:latin typeface="맑은 고딕"/>
              </a:rPr>
              <a:t>성격</a:t>
            </a:r>
          </a:p>
          <a:p>
            <a:pPr algn="l">
              <a:lnSpc>
                <a:spcPct val="130000"/>
              </a:lnSpc>
            </a:pPr>
            <a:r>
              <a:rPr sz="1300" b="0">
                <a:solidFill>
                  <a:srgbClr val="1F2A44"/>
                </a:solidFill>
                <a:latin typeface="맑은 고딕"/>
              </a:rPr>
              <a:t>  편년체 통사 — 16기 294권</a:t>
            </a:r>
          </a:p>
          <a:p>
            <a:pPr algn="l">
              <a:lnSpc>
                <a:spcPct val="130000"/>
              </a:lnSpc>
            </a:pPr>
            <a:r>
              <a:rPr sz="1300" b="0">
                <a:solidFill>
                  <a:srgbClr val="1F2A44"/>
                </a:solidFill>
                <a:latin typeface="맑은 고딕"/>
              </a:rPr>
              <a:t>  1,362년의 흥망 종합</a:t>
            </a:r>
          </a:p>
          <a:p>
            <a:pPr algn="l">
              <a:lnSpc>
                <a:spcPct val="130000"/>
              </a:lnSpc>
              <a:spcBef>
                <a:spcPts val="600"/>
              </a:spcBef>
            </a:pPr>
            <a:r>
              <a:rPr sz="1500" b="1">
                <a:solidFill>
                  <a:srgbClr val="8B1A1A"/>
                </a:solidFill>
                <a:latin typeface="맑은 고딕"/>
              </a:rPr>
              <a:t>초점</a:t>
            </a:r>
          </a:p>
          <a:p>
            <a:pPr algn="l">
              <a:lnSpc>
                <a:spcPct val="130000"/>
              </a:lnSpc>
            </a:pPr>
            <a:r>
              <a:rPr sz="1300" b="1">
                <a:solidFill>
                  <a:srgbClr val="1F2A44"/>
                </a:solidFill>
                <a:latin typeface="맑은 고딕"/>
              </a:rPr>
              <a:t>  "Why" — 왜 흥하고 망하는가</a:t>
            </a:r>
          </a:p>
          <a:p>
            <a:pPr algn="l">
              <a:lnSpc>
                <a:spcPct val="130000"/>
              </a:lnSpc>
            </a:pPr>
            <a:r>
              <a:rPr sz="1300" b="0">
                <a:solidFill>
                  <a:srgbClr val="556070"/>
                </a:solidFill>
                <a:latin typeface="맑은 고딕"/>
              </a:rPr>
              <a:t>  역사의 패턴·구조적 사평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457200" y="6446520"/>
            <a:ext cx="1124712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/>
            <a:r>
              <a:rPr sz="1300" b="1">
                <a:solidFill>
                  <a:srgbClr val="8B1A1A"/>
                </a:solidFill>
                <a:latin typeface="맑은 고딕"/>
              </a:rPr>
              <a:t>"정관정요는 사례, 자치통감은 통사" — 짝을 이루는 양대 텍스트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91440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100" b="1">
                <a:solidFill>
                  <a:srgbClr val="556070"/>
                </a:solidFill>
                <a:latin typeface="맑은 고딕"/>
              </a:rPr>
              <a:t>Ⅱ. 사마광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10972800" y="274320"/>
            <a:ext cx="118872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/>
            <a:r>
              <a:rPr sz="1000" b="0">
                <a:solidFill>
                  <a:srgbClr val="556070"/>
                </a:solidFill>
                <a:latin typeface="맑은 고딕"/>
              </a:rPr>
              <a:t>8 / 70</a:t>
            </a:r>
          </a:p>
        </p:txBody>
      </p:sp>
      <p:cxnSp>
        <p:nvCxnSpPr>
          <p:cNvPr id="4" name="Connector 3"/>
          <p:cNvCxnSpPr/>
          <p:nvPr/>
        </p:nvCxnSpPr>
        <p:spPr>
          <a:xfrm>
            <a:off x="457200" y="594360"/>
            <a:ext cx="11704320" cy="0"/>
          </a:xfrm>
          <a:prstGeom prst="line">
            <a:avLst/>
          </a:prstGeom>
          <a:ln w="25400">
            <a:solidFill>
              <a:srgbClr val="C8A25B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5" name="TextBox 4"/>
          <p:cNvSpPr txBox="1"/>
          <p:nvPr/>
        </p:nvSpPr>
        <p:spPr>
          <a:xfrm>
            <a:off x="457200" y="777240"/>
            <a:ext cx="11704320" cy="6400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3000" b="1">
                <a:solidFill>
                  <a:srgbClr val="1F2A44"/>
                </a:solidFill>
                <a:latin typeface="맑은 고딕"/>
              </a:rPr>
              <a:t>사마광의 일생 — 학자·정치가·역사가</a:t>
            </a:r>
          </a:p>
        </p:txBody>
      </p:sp>
      <p:sp>
        <p:nvSpPr>
          <p:cNvPr id="6" name="Rectangle 5"/>
          <p:cNvSpPr/>
          <p:nvPr/>
        </p:nvSpPr>
        <p:spPr>
          <a:xfrm>
            <a:off x="548640" y="1828800"/>
            <a:ext cx="2286000" cy="502920"/>
          </a:xfrm>
          <a:prstGeom prst="rect">
            <a:avLst/>
          </a:prstGeom>
          <a:solidFill>
            <a:srgbClr val="55607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548640" y="1947672"/>
            <a:ext cx="228600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/>
            <a:r>
              <a:rPr sz="1400" b="1">
                <a:solidFill>
                  <a:srgbClr val="FFFFFF"/>
                </a:solidFill>
                <a:latin typeface="맑은 고딕"/>
              </a:rPr>
              <a:t>1019</a:t>
            </a:r>
          </a:p>
        </p:txBody>
      </p:sp>
      <p:sp>
        <p:nvSpPr>
          <p:cNvPr id="8" name="Rectangle 7"/>
          <p:cNvSpPr/>
          <p:nvPr/>
        </p:nvSpPr>
        <p:spPr>
          <a:xfrm>
            <a:off x="2926080" y="1828800"/>
            <a:ext cx="8778240" cy="502920"/>
          </a:xfrm>
          <a:prstGeom prst="rect">
            <a:avLst/>
          </a:prstGeom>
          <a:solidFill>
            <a:srgbClr val="F5EED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3108960" y="1947672"/>
            <a:ext cx="850392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300" b="0">
                <a:solidFill>
                  <a:srgbClr val="1F2A44"/>
                </a:solidFill>
                <a:latin typeface="맑은 고딕"/>
              </a:rPr>
              <a:t>하주(夏州) 출생</a:t>
            </a:r>
          </a:p>
        </p:txBody>
      </p:sp>
      <p:sp>
        <p:nvSpPr>
          <p:cNvPr id="10" name="Rectangle 9"/>
          <p:cNvSpPr/>
          <p:nvPr/>
        </p:nvSpPr>
        <p:spPr>
          <a:xfrm>
            <a:off x="548640" y="2395728"/>
            <a:ext cx="2286000" cy="502920"/>
          </a:xfrm>
          <a:prstGeom prst="rect">
            <a:avLst/>
          </a:prstGeom>
          <a:solidFill>
            <a:srgbClr val="55607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548640" y="2514600"/>
            <a:ext cx="228600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/>
            <a:r>
              <a:rPr sz="1400" b="1">
                <a:solidFill>
                  <a:srgbClr val="FFFFFF"/>
                </a:solidFill>
                <a:latin typeface="맑은 고딕"/>
              </a:rPr>
              <a:t>1038</a:t>
            </a:r>
          </a:p>
        </p:txBody>
      </p:sp>
      <p:sp>
        <p:nvSpPr>
          <p:cNvPr id="12" name="Rectangle 11"/>
          <p:cNvSpPr/>
          <p:nvPr/>
        </p:nvSpPr>
        <p:spPr>
          <a:xfrm>
            <a:off x="2926080" y="2395728"/>
            <a:ext cx="8778240" cy="502920"/>
          </a:xfrm>
          <a:prstGeom prst="rect">
            <a:avLst/>
          </a:prstGeom>
          <a:solidFill>
            <a:srgbClr val="F5EED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3108960" y="2514600"/>
            <a:ext cx="850392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300" b="0">
                <a:solidFill>
                  <a:srgbClr val="1F2A44"/>
                </a:solidFill>
                <a:latin typeface="맑은 고딕"/>
              </a:rPr>
              <a:t>20세 진사 급제 — 가장 어린 합격자 중 하나</a:t>
            </a:r>
          </a:p>
        </p:txBody>
      </p:sp>
      <p:sp>
        <p:nvSpPr>
          <p:cNvPr id="14" name="Rectangle 13"/>
          <p:cNvSpPr/>
          <p:nvPr/>
        </p:nvSpPr>
        <p:spPr>
          <a:xfrm>
            <a:off x="548640" y="2962656"/>
            <a:ext cx="2286000" cy="502920"/>
          </a:xfrm>
          <a:prstGeom prst="rect">
            <a:avLst/>
          </a:prstGeom>
          <a:solidFill>
            <a:srgbClr val="8B1A1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548640" y="3081528"/>
            <a:ext cx="228600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/>
            <a:r>
              <a:rPr sz="1400" b="1">
                <a:solidFill>
                  <a:srgbClr val="FFFFFF"/>
                </a:solidFill>
                <a:latin typeface="맑은 고딕"/>
              </a:rPr>
              <a:t>1066</a:t>
            </a:r>
          </a:p>
        </p:txBody>
      </p:sp>
      <p:sp>
        <p:nvSpPr>
          <p:cNvPr id="16" name="Rectangle 15"/>
          <p:cNvSpPr/>
          <p:nvPr/>
        </p:nvSpPr>
        <p:spPr>
          <a:xfrm>
            <a:off x="2926080" y="2962656"/>
            <a:ext cx="8778240" cy="502920"/>
          </a:xfrm>
          <a:prstGeom prst="rect">
            <a:avLst/>
          </a:prstGeom>
          <a:solidFill>
            <a:srgbClr val="FAE5E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3108960" y="3081528"/>
            <a:ext cx="850392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300" b="0">
                <a:solidFill>
                  <a:srgbClr val="1F2A44"/>
                </a:solidFill>
                <a:latin typeface="맑은 고딕"/>
              </a:rPr>
              <a:t>영종에게 『통지(通志)』 8권 헌상</a:t>
            </a:r>
          </a:p>
        </p:txBody>
      </p:sp>
      <p:sp>
        <p:nvSpPr>
          <p:cNvPr id="18" name="Rectangle 17"/>
          <p:cNvSpPr/>
          <p:nvPr/>
        </p:nvSpPr>
        <p:spPr>
          <a:xfrm>
            <a:off x="548640" y="3529584"/>
            <a:ext cx="2286000" cy="502920"/>
          </a:xfrm>
          <a:prstGeom prst="rect">
            <a:avLst/>
          </a:prstGeom>
          <a:solidFill>
            <a:srgbClr val="8B1A1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548640" y="3648456"/>
            <a:ext cx="228600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/>
            <a:r>
              <a:rPr sz="1400" b="1">
                <a:solidFill>
                  <a:srgbClr val="FFFFFF"/>
                </a:solidFill>
                <a:latin typeface="맑은 고딕"/>
              </a:rPr>
              <a:t>1067</a:t>
            </a:r>
          </a:p>
        </p:txBody>
      </p:sp>
      <p:sp>
        <p:nvSpPr>
          <p:cNvPr id="20" name="Rectangle 19"/>
          <p:cNvSpPr/>
          <p:nvPr/>
        </p:nvSpPr>
        <p:spPr>
          <a:xfrm>
            <a:off x="2926080" y="3529584"/>
            <a:ext cx="8778240" cy="502920"/>
          </a:xfrm>
          <a:prstGeom prst="rect">
            <a:avLst/>
          </a:prstGeom>
          <a:solidFill>
            <a:srgbClr val="FAE5E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3108960" y="3648456"/>
            <a:ext cx="850392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300" b="0">
                <a:solidFill>
                  <a:srgbClr val="1F2A44"/>
                </a:solidFill>
                <a:latin typeface="맑은 고딕"/>
              </a:rPr>
              <a:t>신종 즉위 — 책 이름을 "자치통감"으로 명명</a:t>
            </a:r>
          </a:p>
        </p:txBody>
      </p:sp>
      <p:sp>
        <p:nvSpPr>
          <p:cNvPr id="22" name="Rectangle 21"/>
          <p:cNvSpPr/>
          <p:nvPr/>
        </p:nvSpPr>
        <p:spPr>
          <a:xfrm>
            <a:off x="548640" y="4096512"/>
            <a:ext cx="2286000" cy="502920"/>
          </a:xfrm>
          <a:prstGeom prst="rect">
            <a:avLst/>
          </a:prstGeom>
          <a:solidFill>
            <a:srgbClr val="55607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548640" y="4215384"/>
            <a:ext cx="228600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/>
            <a:r>
              <a:rPr sz="1400" b="1">
                <a:solidFill>
                  <a:srgbClr val="FFFFFF"/>
                </a:solidFill>
                <a:latin typeface="맑은 고딕"/>
              </a:rPr>
              <a:t>1071</a:t>
            </a:r>
          </a:p>
        </p:txBody>
      </p:sp>
      <p:sp>
        <p:nvSpPr>
          <p:cNvPr id="24" name="Rectangle 23"/>
          <p:cNvSpPr/>
          <p:nvPr/>
        </p:nvSpPr>
        <p:spPr>
          <a:xfrm>
            <a:off x="2926080" y="4096512"/>
            <a:ext cx="8778240" cy="502920"/>
          </a:xfrm>
          <a:prstGeom prst="rect">
            <a:avLst/>
          </a:prstGeom>
          <a:solidFill>
            <a:srgbClr val="F5EED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3108960" y="4215384"/>
            <a:ext cx="850392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300" b="0">
                <a:solidFill>
                  <a:srgbClr val="1F2A44"/>
                </a:solidFill>
                <a:latin typeface="맑은 고딕"/>
              </a:rPr>
              <a:t>왕안석 신법에 반대 → 낙양으로 은퇴</a:t>
            </a:r>
          </a:p>
        </p:txBody>
      </p:sp>
      <p:sp>
        <p:nvSpPr>
          <p:cNvPr id="26" name="Rectangle 25"/>
          <p:cNvSpPr/>
          <p:nvPr/>
        </p:nvSpPr>
        <p:spPr>
          <a:xfrm>
            <a:off x="548640" y="4663440"/>
            <a:ext cx="2286000" cy="502920"/>
          </a:xfrm>
          <a:prstGeom prst="rect">
            <a:avLst/>
          </a:prstGeom>
          <a:solidFill>
            <a:srgbClr val="8B1A1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548640" y="4782312"/>
            <a:ext cx="228600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/>
            <a:r>
              <a:rPr sz="1400" b="1">
                <a:solidFill>
                  <a:srgbClr val="FFFFFF"/>
                </a:solidFill>
                <a:latin typeface="맑은 고딕"/>
              </a:rPr>
              <a:t>1071~1084</a:t>
            </a:r>
          </a:p>
        </p:txBody>
      </p:sp>
      <p:sp>
        <p:nvSpPr>
          <p:cNvPr id="28" name="Rectangle 27"/>
          <p:cNvSpPr/>
          <p:nvPr/>
        </p:nvSpPr>
        <p:spPr>
          <a:xfrm>
            <a:off x="2926080" y="4663440"/>
            <a:ext cx="8778240" cy="502920"/>
          </a:xfrm>
          <a:prstGeom prst="rect">
            <a:avLst/>
          </a:prstGeom>
          <a:solidFill>
            <a:srgbClr val="FAE5E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TextBox 28"/>
          <p:cNvSpPr txBox="1"/>
          <p:nvPr/>
        </p:nvSpPr>
        <p:spPr>
          <a:xfrm>
            <a:off x="3108960" y="4782312"/>
            <a:ext cx="850392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300" b="0">
                <a:solidFill>
                  <a:srgbClr val="1F2A44"/>
                </a:solidFill>
                <a:latin typeface="맑은 고딕"/>
              </a:rPr>
              <a:t>낙양에서 19년간 편찬 — 사학(史學) 운영</a:t>
            </a:r>
          </a:p>
        </p:txBody>
      </p:sp>
      <p:sp>
        <p:nvSpPr>
          <p:cNvPr id="30" name="Rectangle 29"/>
          <p:cNvSpPr/>
          <p:nvPr/>
        </p:nvSpPr>
        <p:spPr>
          <a:xfrm>
            <a:off x="548640" y="5230368"/>
            <a:ext cx="2286000" cy="502920"/>
          </a:xfrm>
          <a:prstGeom prst="rect">
            <a:avLst/>
          </a:prstGeom>
          <a:solidFill>
            <a:srgbClr val="8B1A1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TextBox 30"/>
          <p:cNvSpPr txBox="1"/>
          <p:nvPr/>
        </p:nvSpPr>
        <p:spPr>
          <a:xfrm>
            <a:off x="548640" y="5349240"/>
            <a:ext cx="228600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/>
            <a:r>
              <a:rPr sz="1400" b="1">
                <a:solidFill>
                  <a:srgbClr val="FFFFFF"/>
                </a:solidFill>
                <a:latin typeface="맑은 고딕"/>
              </a:rPr>
              <a:t>1084</a:t>
            </a:r>
          </a:p>
        </p:txBody>
      </p:sp>
      <p:sp>
        <p:nvSpPr>
          <p:cNvPr id="32" name="Rectangle 31"/>
          <p:cNvSpPr/>
          <p:nvPr/>
        </p:nvSpPr>
        <p:spPr>
          <a:xfrm>
            <a:off x="2926080" y="5230368"/>
            <a:ext cx="8778240" cy="502920"/>
          </a:xfrm>
          <a:prstGeom prst="rect">
            <a:avLst/>
          </a:prstGeom>
          <a:solidFill>
            <a:srgbClr val="FAE5E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TextBox 32"/>
          <p:cNvSpPr txBox="1"/>
          <p:nvPr/>
        </p:nvSpPr>
        <p:spPr>
          <a:xfrm>
            <a:off x="3108960" y="5349240"/>
            <a:ext cx="850392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300" b="0">
                <a:solidFill>
                  <a:srgbClr val="1F2A44"/>
                </a:solidFill>
                <a:latin typeface="맑은 고딕"/>
              </a:rPr>
              <a:t>『자치통감』 완성 · 신종에게 헌상</a:t>
            </a:r>
          </a:p>
        </p:txBody>
      </p:sp>
      <p:sp>
        <p:nvSpPr>
          <p:cNvPr id="34" name="Rectangle 33"/>
          <p:cNvSpPr/>
          <p:nvPr/>
        </p:nvSpPr>
        <p:spPr>
          <a:xfrm>
            <a:off x="548640" y="5797296"/>
            <a:ext cx="2286000" cy="502920"/>
          </a:xfrm>
          <a:prstGeom prst="rect">
            <a:avLst/>
          </a:prstGeom>
          <a:solidFill>
            <a:srgbClr val="55607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TextBox 34"/>
          <p:cNvSpPr txBox="1"/>
          <p:nvPr/>
        </p:nvSpPr>
        <p:spPr>
          <a:xfrm>
            <a:off x="548640" y="5916168"/>
            <a:ext cx="228600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/>
            <a:r>
              <a:rPr sz="1400" b="1">
                <a:solidFill>
                  <a:srgbClr val="FFFFFF"/>
                </a:solidFill>
                <a:latin typeface="맑은 고딕"/>
              </a:rPr>
              <a:t>1085</a:t>
            </a:r>
          </a:p>
        </p:txBody>
      </p:sp>
      <p:sp>
        <p:nvSpPr>
          <p:cNvPr id="36" name="Rectangle 35"/>
          <p:cNvSpPr/>
          <p:nvPr/>
        </p:nvSpPr>
        <p:spPr>
          <a:xfrm>
            <a:off x="2926080" y="5797296"/>
            <a:ext cx="8778240" cy="502920"/>
          </a:xfrm>
          <a:prstGeom prst="rect">
            <a:avLst/>
          </a:prstGeom>
          <a:solidFill>
            <a:srgbClr val="F5EED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" name="TextBox 36"/>
          <p:cNvSpPr txBox="1"/>
          <p:nvPr/>
        </p:nvSpPr>
        <p:spPr>
          <a:xfrm>
            <a:off x="3108960" y="5916168"/>
            <a:ext cx="850392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300" b="0">
                <a:solidFill>
                  <a:srgbClr val="1F2A44"/>
                </a:solidFill>
                <a:latin typeface="맑은 고딕"/>
              </a:rPr>
              <a:t>신종 사망 · 철종 즉위 · 사마광 재상으로 복귀</a:t>
            </a:r>
          </a:p>
        </p:txBody>
      </p:sp>
      <p:sp>
        <p:nvSpPr>
          <p:cNvPr id="38" name="Rectangle 37"/>
          <p:cNvSpPr/>
          <p:nvPr/>
        </p:nvSpPr>
        <p:spPr>
          <a:xfrm>
            <a:off x="548640" y="6364224"/>
            <a:ext cx="2286000" cy="502920"/>
          </a:xfrm>
          <a:prstGeom prst="rect">
            <a:avLst/>
          </a:prstGeom>
          <a:solidFill>
            <a:srgbClr val="55607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9" name="TextBox 38"/>
          <p:cNvSpPr txBox="1"/>
          <p:nvPr/>
        </p:nvSpPr>
        <p:spPr>
          <a:xfrm>
            <a:off x="548640" y="6483096"/>
            <a:ext cx="228600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/>
            <a:r>
              <a:rPr sz="1400" b="1">
                <a:solidFill>
                  <a:srgbClr val="FFFFFF"/>
                </a:solidFill>
                <a:latin typeface="맑은 고딕"/>
              </a:rPr>
              <a:t>1086</a:t>
            </a:r>
          </a:p>
        </p:txBody>
      </p:sp>
      <p:sp>
        <p:nvSpPr>
          <p:cNvPr id="40" name="Rectangle 39"/>
          <p:cNvSpPr/>
          <p:nvPr/>
        </p:nvSpPr>
        <p:spPr>
          <a:xfrm>
            <a:off x="2926080" y="6364224"/>
            <a:ext cx="8778240" cy="502920"/>
          </a:xfrm>
          <a:prstGeom prst="rect">
            <a:avLst/>
          </a:prstGeom>
          <a:solidFill>
            <a:srgbClr val="F5EED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1" name="TextBox 40"/>
          <p:cNvSpPr txBox="1"/>
          <p:nvPr/>
        </p:nvSpPr>
        <p:spPr>
          <a:xfrm>
            <a:off x="3108960" y="6483096"/>
            <a:ext cx="850392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300" b="0">
                <a:solidFill>
                  <a:srgbClr val="1F2A44"/>
                </a:solidFill>
                <a:latin typeface="맑은 고딕"/>
              </a:rPr>
              <a:t>사망 (68세) — 시호 문정(文正)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91440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100" b="1">
                <a:solidFill>
                  <a:srgbClr val="556070"/>
                </a:solidFill>
                <a:latin typeface="맑은 고딕"/>
              </a:rPr>
              <a:t>Ⅱ. 사마광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10972800" y="274320"/>
            <a:ext cx="118872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/>
            <a:r>
              <a:rPr sz="1000" b="0">
                <a:solidFill>
                  <a:srgbClr val="556070"/>
                </a:solidFill>
                <a:latin typeface="맑은 고딕"/>
              </a:rPr>
              <a:t>9 / 70</a:t>
            </a:r>
          </a:p>
        </p:txBody>
      </p:sp>
      <p:cxnSp>
        <p:nvCxnSpPr>
          <p:cNvPr id="4" name="Connector 3"/>
          <p:cNvCxnSpPr/>
          <p:nvPr/>
        </p:nvCxnSpPr>
        <p:spPr>
          <a:xfrm>
            <a:off x="457200" y="594360"/>
            <a:ext cx="11704320" cy="0"/>
          </a:xfrm>
          <a:prstGeom prst="line">
            <a:avLst/>
          </a:prstGeom>
          <a:ln w="25400">
            <a:solidFill>
              <a:srgbClr val="C8A25B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5" name="TextBox 4"/>
          <p:cNvSpPr txBox="1"/>
          <p:nvPr/>
        </p:nvSpPr>
        <p:spPr>
          <a:xfrm>
            <a:off x="457200" y="777240"/>
            <a:ext cx="11704320" cy="6400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3000" b="1">
                <a:solidFill>
                  <a:srgbClr val="1F2A44"/>
                </a:solidFill>
                <a:latin typeface="맑은 고딕"/>
              </a:rPr>
              <a:t>두 황제의 후원 — 영종과 신종</a:t>
            </a:r>
          </a:p>
        </p:txBody>
      </p:sp>
      <p:sp>
        <p:nvSpPr>
          <p:cNvPr id="6" name="Rectangle 5"/>
          <p:cNvSpPr/>
          <p:nvPr/>
        </p:nvSpPr>
        <p:spPr>
          <a:xfrm>
            <a:off x="548640" y="2103120"/>
            <a:ext cx="5394960" cy="4114800"/>
          </a:xfrm>
          <a:prstGeom prst="rect">
            <a:avLst/>
          </a:prstGeom>
          <a:solidFill>
            <a:srgbClr val="F5EED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548640" y="2286000"/>
            <a:ext cx="539496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/>
            <a:r>
              <a:rPr sz="1800" b="1">
                <a:solidFill>
                  <a:srgbClr val="8B1A1A"/>
                </a:solidFill>
                <a:latin typeface="맑은 고딕"/>
              </a:rPr>
              <a:t>영종(英宗, 재위 1063~1067)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822960" y="2880360"/>
            <a:ext cx="4846320" cy="32004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30000"/>
              </a:lnSpc>
            </a:pPr>
            <a:r>
              <a:rPr sz="1400" b="1">
                <a:solidFill>
                  <a:srgbClr val="1F2A44"/>
                </a:solidFill>
                <a:latin typeface="맑은 고딕"/>
              </a:rPr>
              <a:t>1066년 — 사마광의 『통지』 8권 헌상</a:t>
            </a:r>
          </a:p>
          <a:p>
            <a:pPr algn="l">
              <a:lnSpc>
                <a:spcPct val="130000"/>
              </a:lnSpc>
            </a:pPr>
            <a:r>
              <a:rPr sz="600" b="0">
                <a:solidFill>
                  <a:srgbClr val="1F2A44"/>
                </a:solidFill>
                <a:latin typeface="맑은 고딕"/>
              </a:rPr>
              <a:t/>
            </a:r>
          </a:p>
          <a:p>
            <a:pPr algn="l">
              <a:lnSpc>
                <a:spcPct val="130000"/>
              </a:lnSpc>
              <a:spcBef>
                <a:spcPts val="600"/>
              </a:spcBef>
            </a:pPr>
            <a:r>
              <a:rPr sz="1400" b="0">
                <a:solidFill>
                  <a:srgbClr val="1F2A44"/>
                </a:solidFill>
                <a:latin typeface="맑은 고딕"/>
              </a:rPr>
              <a:t>영종이 그 진가를 알아봄</a:t>
            </a:r>
          </a:p>
          <a:p>
            <a:pPr algn="l">
              <a:lnSpc>
                <a:spcPct val="130000"/>
              </a:lnSpc>
            </a:pPr>
            <a:r>
              <a:rPr sz="1400" b="1">
                <a:solidFill>
                  <a:srgbClr val="8B1A1A"/>
                </a:solidFill>
                <a:latin typeface="맑은 고딕"/>
              </a:rPr>
              <a:t>"더 큰 통사를 편찬하라"</a:t>
            </a:r>
          </a:p>
          <a:p>
            <a:pPr algn="l">
              <a:lnSpc>
                <a:spcPct val="130000"/>
              </a:lnSpc>
            </a:pPr>
            <a:r>
              <a:rPr sz="1300" b="0">
                <a:solidFill>
                  <a:srgbClr val="556070"/>
                </a:solidFill>
                <a:latin typeface="맑은 고딕"/>
              </a:rPr>
              <a:t>국가 자원 지원 — 책 1,000권 빌려줌</a:t>
            </a:r>
          </a:p>
          <a:p>
            <a:pPr algn="l">
              <a:lnSpc>
                <a:spcPct val="130000"/>
              </a:lnSpc>
            </a:pPr>
            <a:r>
              <a:rPr sz="1300" b="0">
                <a:solidFill>
                  <a:srgbClr val="556070"/>
                </a:solidFill>
                <a:latin typeface="맑은 고딕"/>
              </a:rPr>
              <a:t>보조 학자 임명</a:t>
            </a:r>
          </a:p>
          <a:p>
            <a:pPr algn="l">
              <a:lnSpc>
                <a:spcPct val="130000"/>
              </a:lnSpc>
            </a:pPr>
            <a:r>
              <a:rPr sz="600" b="0">
                <a:solidFill>
                  <a:srgbClr val="1F2A44"/>
                </a:solidFill>
                <a:latin typeface="맑은 고딕"/>
              </a:rPr>
              <a:t/>
            </a:r>
          </a:p>
          <a:p>
            <a:pPr algn="l">
              <a:lnSpc>
                <a:spcPct val="130000"/>
              </a:lnSpc>
              <a:spcBef>
                <a:spcPts val="600"/>
              </a:spcBef>
            </a:pPr>
            <a:r>
              <a:rPr sz="1300" b="0">
                <a:solidFill>
                  <a:srgbClr val="556070"/>
                </a:solidFill>
                <a:latin typeface="맑은 고딕"/>
              </a:rPr>
              <a:t>1067년 영종 붕어 (35세)</a:t>
            </a:r>
          </a:p>
        </p:txBody>
      </p:sp>
      <p:sp>
        <p:nvSpPr>
          <p:cNvPr id="9" name="Rectangle 8"/>
          <p:cNvSpPr/>
          <p:nvPr/>
        </p:nvSpPr>
        <p:spPr>
          <a:xfrm>
            <a:off x="6217920" y="2103120"/>
            <a:ext cx="5394960" cy="4114800"/>
          </a:xfrm>
          <a:prstGeom prst="rect">
            <a:avLst/>
          </a:prstGeom>
          <a:solidFill>
            <a:srgbClr val="FAE5E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6217920" y="2286000"/>
            <a:ext cx="539496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/>
            <a:r>
              <a:rPr sz="1800" b="1">
                <a:solidFill>
                  <a:srgbClr val="8B1A1A"/>
                </a:solidFill>
                <a:latin typeface="맑은 고딕"/>
              </a:rPr>
              <a:t>신종(神宗, 재위 1067~1085)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492240" y="2880360"/>
            <a:ext cx="4846320" cy="32004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30000"/>
              </a:lnSpc>
            </a:pPr>
            <a:r>
              <a:rPr sz="1400" b="1">
                <a:solidFill>
                  <a:srgbClr val="1F2A44"/>
                </a:solidFill>
                <a:latin typeface="맑은 고딕"/>
              </a:rPr>
              <a:t>영종의 후원을 그대로 이어받음</a:t>
            </a:r>
          </a:p>
          <a:p>
            <a:pPr algn="l">
              <a:lnSpc>
                <a:spcPct val="130000"/>
              </a:lnSpc>
            </a:pPr>
            <a:r>
              <a:rPr sz="600" b="0">
                <a:solidFill>
                  <a:srgbClr val="1F2A44"/>
                </a:solidFill>
                <a:latin typeface="맑은 고딕"/>
              </a:rPr>
              <a:t/>
            </a:r>
          </a:p>
          <a:p>
            <a:pPr algn="l">
              <a:lnSpc>
                <a:spcPct val="130000"/>
              </a:lnSpc>
              <a:spcBef>
                <a:spcPts val="600"/>
              </a:spcBef>
            </a:pPr>
            <a:r>
              <a:rPr sz="1400" b="1">
                <a:solidFill>
                  <a:srgbClr val="8B1A1A"/>
                </a:solidFill>
                <a:latin typeface="맑은 고딕"/>
              </a:rPr>
              <a:t>1067년 책 이름 명명 — 자치통감</a:t>
            </a:r>
          </a:p>
          <a:p>
            <a:pPr algn="l">
              <a:lnSpc>
                <a:spcPct val="130000"/>
              </a:lnSpc>
            </a:pPr>
            <a:r>
              <a:rPr sz="1300" b="0">
                <a:solidFill>
                  <a:srgbClr val="1F2A44"/>
                </a:solidFill>
                <a:latin typeface="맑은 고딕"/>
              </a:rPr>
              <a:t>"鑑前世之興衰" 서문 친저</a:t>
            </a:r>
          </a:p>
          <a:p>
            <a:pPr algn="l">
              <a:lnSpc>
                <a:spcPct val="130000"/>
              </a:lnSpc>
            </a:pPr>
            <a:r>
              <a:rPr sz="600" b="0">
                <a:solidFill>
                  <a:srgbClr val="1F2A44"/>
                </a:solidFill>
                <a:latin typeface="맑은 고딕"/>
              </a:rPr>
              <a:t/>
            </a:r>
          </a:p>
          <a:p>
            <a:pPr algn="l">
              <a:lnSpc>
                <a:spcPct val="130000"/>
              </a:lnSpc>
              <a:spcBef>
                <a:spcPts val="600"/>
              </a:spcBef>
            </a:pPr>
            <a:r>
              <a:rPr sz="1300" b="0">
                <a:solidFill>
                  <a:srgbClr val="556070"/>
                </a:solidFill>
                <a:latin typeface="맑은 고딕"/>
              </a:rPr>
              <a:t>정치적 모순 — 왕안석 신법 추진</a:t>
            </a:r>
          </a:p>
          <a:p>
            <a:pPr algn="l">
              <a:lnSpc>
                <a:spcPct val="130000"/>
              </a:lnSpc>
            </a:pPr>
            <a:r>
              <a:rPr sz="1300" b="0">
                <a:solidFill>
                  <a:srgbClr val="556070"/>
                </a:solidFill>
                <a:latin typeface="맑은 고딕"/>
              </a:rPr>
              <a:t>사마광은 신법에 반대 → 낙양으로</a:t>
            </a:r>
          </a:p>
          <a:p>
            <a:pPr algn="l">
              <a:lnSpc>
                <a:spcPct val="130000"/>
              </a:lnSpc>
            </a:pPr>
            <a:r>
              <a:rPr sz="600" b="0">
                <a:solidFill>
                  <a:srgbClr val="1F2A44"/>
                </a:solidFill>
                <a:latin typeface="맑은 고딕"/>
              </a:rPr>
              <a:t/>
            </a:r>
          </a:p>
          <a:p>
            <a:pPr algn="l">
              <a:lnSpc>
                <a:spcPct val="130000"/>
              </a:lnSpc>
              <a:spcBef>
                <a:spcPts val="400"/>
              </a:spcBef>
            </a:pPr>
            <a:r>
              <a:rPr sz="1400" b="1">
                <a:solidFill>
                  <a:srgbClr val="8B1A1A"/>
                </a:solidFill>
                <a:latin typeface="맑은 고딕"/>
              </a:rPr>
              <a:t>그러나 통감 편찬은 끝까지 지원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91440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100" b="1">
                <a:solidFill>
                  <a:srgbClr val="556070"/>
                </a:solidFill>
                <a:latin typeface="맑은 고딕"/>
              </a:rPr>
              <a:t>Ⅱ. 사마광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10972800" y="274320"/>
            <a:ext cx="118872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/>
            <a:r>
              <a:rPr sz="1000" b="0">
                <a:solidFill>
                  <a:srgbClr val="556070"/>
                </a:solidFill>
                <a:latin typeface="맑은 고딕"/>
              </a:rPr>
              <a:t>10 / 70</a:t>
            </a:r>
          </a:p>
        </p:txBody>
      </p:sp>
      <p:cxnSp>
        <p:nvCxnSpPr>
          <p:cNvPr id="4" name="Connector 3"/>
          <p:cNvCxnSpPr/>
          <p:nvPr/>
        </p:nvCxnSpPr>
        <p:spPr>
          <a:xfrm>
            <a:off x="457200" y="594360"/>
            <a:ext cx="11704320" cy="0"/>
          </a:xfrm>
          <a:prstGeom prst="line">
            <a:avLst/>
          </a:prstGeom>
          <a:ln w="25400">
            <a:solidFill>
              <a:srgbClr val="C8A25B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5" name="TextBox 4"/>
          <p:cNvSpPr txBox="1"/>
          <p:nvPr/>
        </p:nvSpPr>
        <p:spPr>
          <a:xfrm>
            <a:off x="457200" y="777240"/>
            <a:ext cx="11704320" cy="6400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3000" b="1">
                <a:solidFill>
                  <a:srgbClr val="1F2A44"/>
                </a:solidFill>
                <a:latin typeface="맑은 고딕"/>
              </a:rPr>
              <a:t>왕안석(王安石)과의 갈등 — 낙양 19년의 배경</a:t>
            </a:r>
          </a:p>
        </p:txBody>
      </p:sp>
      <p:sp>
        <p:nvSpPr>
          <p:cNvPr id="6" name="Rectangle 5"/>
          <p:cNvSpPr/>
          <p:nvPr/>
        </p:nvSpPr>
        <p:spPr>
          <a:xfrm>
            <a:off x="457200" y="2103120"/>
            <a:ext cx="11247120" cy="1828800"/>
          </a:xfrm>
          <a:prstGeom prst="rect">
            <a:avLst/>
          </a:prstGeom>
          <a:solidFill>
            <a:srgbClr val="F5EED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731520" y="2286000"/>
            <a:ext cx="10698480" cy="155448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ctr">
              <a:lnSpc>
                <a:spcPct val="130000"/>
              </a:lnSpc>
            </a:pPr>
            <a:r>
              <a:rPr sz="1800" b="1">
                <a:solidFill>
                  <a:srgbClr val="8B1A1A"/>
                </a:solidFill>
                <a:latin typeface="맑은 고딕"/>
              </a:rPr>
              <a:t>왕안석의 신법(新法, 1069~) — 부국강병의 급진적 개혁</a:t>
            </a:r>
          </a:p>
          <a:p>
            <a:pPr algn="l">
              <a:lnSpc>
                <a:spcPct val="130000"/>
              </a:lnSpc>
            </a:pPr>
            <a:r>
              <a:rPr sz="400" b="0">
                <a:solidFill>
                  <a:srgbClr val="1F2A44"/>
                </a:solidFill>
                <a:latin typeface="맑은 고딕"/>
              </a:rPr>
              <a:t/>
            </a:r>
          </a:p>
          <a:p>
            <a:pPr algn="ctr">
              <a:lnSpc>
                <a:spcPct val="130000"/>
              </a:lnSpc>
              <a:spcBef>
                <a:spcPts val="600"/>
              </a:spcBef>
            </a:pPr>
            <a:r>
              <a:rPr sz="1500" b="0">
                <a:solidFill>
                  <a:srgbClr val="1F2A44"/>
                </a:solidFill>
                <a:latin typeface="맑은 고딕"/>
              </a:rPr>
              <a:t>청묘법·면역법·시역법·보갑법 등 — 국가 개입 확대</a:t>
            </a:r>
          </a:p>
        </p:txBody>
      </p:sp>
      <p:sp>
        <p:nvSpPr>
          <p:cNvPr id="8" name="Rectangle 7"/>
          <p:cNvSpPr/>
          <p:nvPr/>
        </p:nvSpPr>
        <p:spPr>
          <a:xfrm>
            <a:off x="457200" y="4114800"/>
            <a:ext cx="11247120" cy="2286000"/>
          </a:xfrm>
          <a:prstGeom prst="rect">
            <a:avLst/>
          </a:prstGeom>
          <a:solidFill>
            <a:srgbClr val="FAE5E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731520" y="4251960"/>
            <a:ext cx="10698480" cy="201168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ctr">
              <a:lnSpc>
                <a:spcPct val="125000"/>
              </a:lnSpc>
            </a:pPr>
            <a:r>
              <a:rPr sz="1800" b="1">
                <a:solidFill>
                  <a:srgbClr val="8B1A1A"/>
                </a:solidFill>
                <a:latin typeface="맑은 고딕"/>
              </a:rPr>
              <a:t>사마광의 반대 — 보수주의자의 신중</a:t>
            </a:r>
          </a:p>
          <a:p>
            <a:pPr algn="l">
              <a:lnSpc>
                <a:spcPct val="125000"/>
              </a:lnSpc>
            </a:pPr>
            <a:r>
              <a:rPr sz="400" b="0">
                <a:solidFill>
                  <a:srgbClr val="1F2A44"/>
                </a:solidFill>
                <a:latin typeface="맑은 고딕"/>
              </a:rPr>
              <a:t/>
            </a:r>
          </a:p>
          <a:p>
            <a:pPr algn="ctr">
              <a:lnSpc>
                <a:spcPct val="125000"/>
              </a:lnSpc>
              <a:spcBef>
                <a:spcPts val="600"/>
              </a:spcBef>
            </a:pPr>
            <a:r>
              <a:rPr sz="1600" b="1">
                <a:solidFill>
                  <a:srgbClr val="1F2A44"/>
                </a:solidFill>
                <a:latin typeface="맑은 고딕"/>
              </a:rPr>
              <a:t>"백성을 흔드는 급진 개혁은 위험하다"</a:t>
            </a:r>
          </a:p>
          <a:p>
            <a:pPr algn="ctr">
              <a:lnSpc>
                <a:spcPct val="125000"/>
              </a:lnSpc>
            </a:pPr>
            <a:r>
              <a:rPr sz="1400" b="0">
                <a:solidFill>
                  <a:srgbClr val="556070"/>
                </a:solidFill>
                <a:latin typeface="맑은 고딕"/>
              </a:rPr>
              <a:t>"역사가 가르치는 점진(漸進)의 지혜"</a:t>
            </a:r>
          </a:p>
          <a:p>
            <a:pPr algn="l">
              <a:lnSpc>
                <a:spcPct val="125000"/>
              </a:lnSpc>
            </a:pPr>
            <a:r>
              <a:rPr sz="400" b="0">
                <a:solidFill>
                  <a:srgbClr val="1F2A44"/>
                </a:solidFill>
                <a:latin typeface="맑은 고딕"/>
              </a:rPr>
              <a:t/>
            </a:r>
          </a:p>
          <a:p>
            <a:pPr algn="ctr">
              <a:lnSpc>
                <a:spcPct val="125000"/>
              </a:lnSpc>
              <a:spcBef>
                <a:spcPts val="600"/>
              </a:spcBef>
            </a:pPr>
            <a:r>
              <a:rPr sz="1400" b="1">
                <a:solidFill>
                  <a:srgbClr val="8B1A1A"/>
                </a:solidFill>
                <a:latin typeface="맑은 고딕"/>
              </a:rPr>
              <a:t>→ 1071년 낙양으로 은퇴 — 그러나 이 은퇴가 자치통감을 낳았다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91440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100" b="1">
                <a:solidFill>
                  <a:srgbClr val="556070"/>
                </a:solidFill>
                <a:latin typeface="맑은 고딕"/>
              </a:rPr>
              <a:t>Ⅱ. 사마광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10972800" y="274320"/>
            <a:ext cx="118872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/>
            <a:r>
              <a:rPr sz="1000" b="0">
                <a:solidFill>
                  <a:srgbClr val="556070"/>
                </a:solidFill>
                <a:latin typeface="맑은 고딕"/>
              </a:rPr>
              <a:t>11 / 70</a:t>
            </a:r>
          </a:p>
        </p:txBody>
      </p:sp>
      <p:cxnSp>
        <p:nvCxnSpPr>
          <p:cNvPr id="4" name="Connector 3"/>
          <p:cNvCxnSpPr/>
          <p:nvPr/>
        </p:nvCxnSpPr>
        <p:spPr>
          <a:xfrm>
            <a:off x="457200" y="594360"/>
            <a:ext cx="11704320" cy="0"/>
          </a:xfrm>
          <a:prstGeom prst="line">
            <a:avLst/>
          </a:prstGeom>
          <a:ln w="25400">
            <a:solidFill>
              <a:srgbClr val="C8A25B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5" name="TextBox 4"/>
          <p:cNvSpPr txBox="1"/>
          <p:nvPr/>
        </p:nvSpPr>
        <p:spPr>
          <a:xfrm>
            <a:off x="457200" y="777240"/>
            <a:ext cx="11704320" cy="6400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3000" b="1">
                <a:solidFill>
                  <a:srgbClr val="1F2A44"/>
                </a:solidFill>
                <a:latin typeface="맑은 고딕"/>
              </a:rPr>
              <a:t>낙양 19년 — "두 방을 가득 채운 미완성 원고"</a:t>
            </a:r>
          </a:p>
        </p:txBody>
      </p:sp>
      <p:sp>
        <p:nvSpPr>
          <p:cNvPr id="6" name="Rectangle 5"/>
          <p:cNvSpPr/>
          <p:nvPr/>
        </p:nvSpPr>
        <p:spPr>
          <a:xfrm>
            <a:off x="457200" y="2103120"/>
            <a:ext cx="11247120" cy="1828800"/>
          </a:xfrm>
          <a:prstGeom prst="rect">
            <a:avLst/>
          </a:prstGeom>
          <a:solidFill>
            <a:srgbClr val="F5EED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731520" y="2286000"/>
            <a:ext cx="10698480" cy="155448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ctr">
              <a:lnSpc>
                <a:spcPct val="130000"/>
              </a:lnSpc>
            </a:pPr>
            <a:r>
              <a:rPr sz="1800" b="1">
                <a:solidFill>
                  <a:srgbClr val="8B1A1A"/>
                </a:solidFill>
                <a:latin typeface="맑은 고딕"/>
              </a:rPr>
              <a:t>낙양 — 송 부도(副都) · 학문의 중심</a:t>
            </a:r>
          </a:p>
          <a:p>
            <a:pPr algn="l">
              <a:lnSpc>
                <a:spcPct val="130000"/>
              </a:lnSpc>
            </a:pPr>
            <a:r>
              <a:rPr sz="400" b="0">
                <a:solidFill>
                  <a:srgbClr val="1F2A44"/>
                </a:solidFill>
                <a:latin typeface="맑은 고딕"/>
              </a:rPr>
              <a:t/>
            </a:r>
          </a:p>
          <a:p>
            <a:pPr algn="ctr">
              <a:lnSpc>
                <a:spcPct val="130000"/>
              </a:lnSpc>
              <a:spcBef>
                <a:spcPts val="600"/>
              </a:spcBef>
            </a:pPr>
            <a:r>
              <a:rPr sz="1600" b="0">
                <a:solidFill>
                  <a:srgbClr val="1F2A44"/>
                </a:solidFill>
                <a:latin typeface="맑은 고딕"/>
              </a:rPr>
              <a:t>1071~1084년 — 19년간 정치를 떠나 오직 사학(史學)에 몰두</a:t>
            </a:r>
          </a:p>
          <a:p>
            <a:pPr algn="ctr">
              <a:lnSpc>
                <a:spcPct val="130000"/>
              </a:lnSpc>
            </a:pPr>
            <a:r>
              <a:rPr sz="1400" b="1">
                <a:solidFill>
                  <a:srgbClr val="556070"/>
                </a:solidFill>
                <a:latin typeface="맑은 고딕"/>
              </a:rPr>
              <a:t>"끝나기 전에 죽을까 두렵다"</a:t>
            </a:r>
          </a:p>
        </p:txBody>
      </p:sp>
      <p:sp>
        <p:nvSpPr>
          <p:cNvPr id="8" name="Rectangle 7"/>
          <p:cNvSpPr/>
          <p:nvPr/>
        </p:nvSpPr>
        <p:spPr>
          <a:xfrm>
            <a:off x="457200" y="4114800"/>
            <a:ext cx="11247120" cy="2286000"/>
          </a:xfrm>
          <a:prstGeom prst="rect">
            <a:avLst/>
          </a:prstGeom>
          <a:solidFill>
            <a:srgbClr val="FAFA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731520" y="4251960"/>
            <a:ext cx="10698480" cy="201168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ctr">
              <a:lnSpc>
                <a:spcPct val="125000"/>
              </a:lnSpc>
            </a:pPr>
            <a:r>
              <a:rPr sz="1800" b="1">
                <a:solidFill>
                  <a:srgbClr val="8B1A1A"/>
                </a:solidFill>
                <a:latin typeface="맑은 고딕"/>
              </a:rPr>
              <a:t>편찬 과정의 일화</a:t>
            </a:r>
          </a:p>
          <a:p>
            <a:pPr algn="l">
              <a:lnSpc>
                <a:spcPct val="125000"/>
              </a:lnSpc>
            </a:pPr>
            <a:r>
              <a:rPr sz="400" b="0">
                <a:solidFill>
                  <a:srgbClr val="1F2A44"/>
                </a:solidFill>
                <a:latin typeface="맑은 고딕"/>
              </a:rPr>
              <a:t/>
            </a:r>
          </a:p>
          <a:p>
            <a:pPr algn="l">
              <a:lnSpc>
                <a:spcPct val="125000"/>
              </a:lnSpc>
              <a:spcBef>
                <a:spcPts val="600"/>
              </a:spcBef>
            </a:pPr>
            <a:r>
              <a:rPr sz="1400" b="0">
                <a:solidFill>
                  <a:srgbClr val="1F2A44"/>
                </a:solidFill>
                <a:latin typeface="맑은 고딕"/>
              </a:rPr>
              <a:t>• 모든 사료(史料)를 직접 검토 — "구결(舊缺)" 메모를 남김</a:t>
            </a:r>
          </a:p>
          <a:p>
            <a:pPr algn="l">
              <a:lnSpc>
                <a:spcPct val="125000"/>
              </a:lnSpc>
              <a:spcBef>
                <a:spcPts val="400"/>
              </a:spcBef>
            </a:pPr>
            <a:r>
              <a:rPr sz="1400" b="0">
                <a:solidFill>
                  <a:srgbClr val="1F2A44"/>
                </a:solidFill>
                <a:latin typeface="맑은 고딕"/>
              </a:rPr>
              <a:t>• 작업실 두 방이 미완성 원고로 가득 — 후에 모두 정리</a:t>
            </a:r>
          </a:p>
          <a:p>
            <a:pPr algn="l">
              <a:lnSpc>
                <a:spcPct val="125000"/>
              </a:lnSpc>
              <a:spcBef>
                <a:spcPts val="400"/>
              </a:spcBef>
            </a:pPr>
            <a:r>
              <a:rPr sz="1400" b="1">
                <a:solidFill>
                  <a:srgbClr val="8B1A1A"/>
                </a:solidFill>
                <a:latin typeface="맑은 고딕"/>
              </a:rPr>
              <a:t>• 잠을 줄이려 "둥근 베개(警枕)" 사용 — 굴러서 깨도록</a:t>
            </a:r>
          </a:p>
          <a:p>
            <a:pPr algn="l">
              <a:lnSpc>
                <a:spcPct val="125000"/>
              </a:lnSpc>
              <a:spcBef>
                <a:spcPts val="400"/>
              </a:spcBef>
            </a:pPr>
            <a:r>
              <a:rPr sz="1400" b="1">
                <a:solidFill>
                  <a:srgbClr val="1F2A44"/>
                </a:solidFill>
                <a:latin typeface="맑은 고딕"/>
              </a:rPr>
              <a:t>• 1084년 완성 — 사마광 65세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91440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100" b="1">
                <a:solidFill>
                  <a:srgbClr val="556070"/>
                </a:solidFill>
                <a:latin typeface="맑은 고딕"/>
              </a:rPr>
              <a:t>Ⅱ. 사마광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10972800" y="274320"/>
            <a:ext cx="118872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/>
            <a:r>
              <a:rPr sz="1000" b="0">
                <a:solidFill>
                  <a:srgbClr val="556070"/>
                </a:solidFill>
                <a:latin typeface="맑은 고딕"/>
              </a:rPr>
              <a:t>12 / 70</a:t>
            </a:r>
          </a:p>
        </p:txBody>
      </p:sp>
      <p:cxnSp>
        <p:nvCxnSpPr>
          <p:cNvPr id="4" name="Connector 3"/>
          <p:cNvCxnSpPr/>
          <p:nvPr/>
        </p:nvCxnSpPr>
        <p:spPr>
          <a:xfrm>
            <a:off x="457200" y="594360"/>
            <a:ext cx="11704320" cy="0"/>
          </a:xfrm>
          <a:prstGeom prst="line">
            <a:avLst/>
          </a:prstGeom>
          <a:ln w="25400">
            <a:solidFill>
              <a:srgbClr val="C8A25B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5" name="TextBox 4"/>
          <p:cNvSpPr txBox="1"/>
          <p:nvPr/>
        </p:nvSpPr>
        <p:spPr>
          <a:xfrm>
            <a:off x="457200" y="777240"/>
            <a:ext cx="11704320" cy="6400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3000" b="1">
                <a:solidFill>
                  <a:srgbClr val="1F2A44"/>
                </a:solidFill>
                <a:latin typeface="맑은 고딕"/>
              </a:rPr>
              <a:t>협력자 3인 — 시대를 분담한 학자들</a:t>
            </a:r>
          </a:p>
        </p:txBody>
      </p:sp>
      <p:sp>
        <p:nvSpPr>
          <p:cNvPr id="6" name="Rectangle 5"/>
          <p:cNvSpPr/>
          <p:nvPr/>
        </p:nvSpPr>
        <p:spPr>
          <a:xfrm>
            <a:off x="548640" y="2194560"/>
            <a:ext cx="2286000" cy="1188720"/>
          </a:xfrm>
          <a:prstGeom prst="rect">
            <a:avLst/>
          </a:prstGeom>
          <a:solidFill>
            <a:srgbClr val="8B1A1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548640" y="2487168"/>
            <a:ext cx="228600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/>
            <a:r>
              <a:rPr sz="1500" b="1">
                <a:solidFill>
                  <a:srgbClr val="FFFFFF"/>
                </a:solidFill>
                <a:latin typeface="맑은 고딕"/>
              </a:rPr>
              <a:t>류반(劉攽)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48640" y="2926080"/>
            <a:ext cx="228600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/>
            <a:r>
              <a:rPr sz="1200" b="0">
                <a:solidFill>
                  <a:srgbClr val="FFFFFF"/>
                </a:solidFill>
                <a:latin typeface="맑은 고딕"/>
              </a:rPr>
              <a:t>1023~1089</a:t>
            </a:r>
          </a:p>
        </p:txBody>
      </p:sp>
      <p:sp>
        <p:nvSpPr>
          <p:cNvPr id="9" name="Rectangle 8"/>
          <p:cNvSpPr/>
          <p:nvPr/>
        </p:nvSpPr>
        <p:spPr>
          <a:xfrm>
            <a:off x="2926080" y="2194560"/>
            <a:ext cx="2560320" cy="1188720"/>
          </a:xfrm>
          <a:prstGeom prst="rect">
            <a:avLst/>
          </a:prstGeom>
          <a:solidFill>
            <a:srgbClr val="F5EED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3017520" y="2560320"/>
            <a:ext cx="237744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/>
            <a:r>
              <a:rPr sz="1400" b="1">
                <a:solidFill>
                  <a:srgbClr val="8B1A1A"/>
                </a:solidFill>
                <a:latin typeface="맑은 고딕"/>
              </a:rPr>
              <a:t>한기(漢紀) 분담</a:t>
            </a:r>
          </a:p>
        </p:txBody>
      </p:sp>
      <p:sp>
        <p:nvSpPr>
          <p:cNvPr id="11" name="Rectangle 10"/>
          <p:cNvSpPr/>
          <p:nvPr/>
        </p:nvSpPr>
        <p:spPr>
          <a:xfrm>
            <a:off x="5577840" y="2194560"/>
            <a:ext cx="6126480" cy="1188720"/>
          </a:xfrm>
          <a:prstGeom prst="rect">
            <a:avLst/>
          </a:prstGeom>
          <a:solidFill>
            <a:srgbClr val="FAFA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5760720" y="2560320"/>
            <a:ext cx="585216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300" b="0">
                <a:solidFill>
                  <a:srgbClr val="1F2A44"/>
                </a:solidFill>
                <a:latin typeface="맑은 고딕"/>
              </a:rPr>
              <a:t>한대 사료의 최고 전문가 · 사기·한서 정통</a:t>
            </a:r>
          </a:p>
        </p:txBody>
      </p:sp>
      <p:sp>
        <p:nvSpPr>
          <p:cNvPr id="13" name="Rectangle 12"/>
          <p:cNvSpPr/>
          <p:nvPr/>
        </p:nvSpPr>
        <p:spPr>
          <a:xfrm>
            <a:off x="548640" y="3520439"/>
            <a:ext cx="2286000" cy="1188720"/>
          </a:xfrm>
          <a:prstGeom prst="rect">
            <a:avLst/>
          </a:prstGeom>
          <a:solidFill>
            <a:srgbClr val="8B1A1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548640" y="3813048"/>
            <a:ext cx="228600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/>
            <a:r>
              <a:rPr sz="1500" b="1">
                <a:solidFill>
                  <a:srgbClr val="FFFFFF"/>
                </a:solidFill>
                <a:latin typeface="맑은 고딕"/>
              </a:rPr>
              <a:t>류서(劉恕)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548640" y="4251959"/>
            <a:ext cx="228600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/>
            <a:r>
              <a:rPr sz="1200" b="0">
                <a:solidFill>
                  <a:srgbClr val="FFFFFF"/>
                </a:solidFill>
                <a:latin typeface="맑은 고딕"/>
              </a:rPr>
              <a:t>1032~1078</a:t>
            </a:r>
          </a:p>
        </p:txBody>
      </p:sp>
      <p:sp>
        <p:nvSpPr>
          <p:cNvPr id="16" name="Rectangle 15"/>
          <p:cNvSpPr/>
          <p:nvPr/>
        </p:nvSpPr>
        <p:spPr>
          <a:xfrm>
            <a:off x="2926080" y="3520439"/>
            <a:ext cx="2560320" cy="1188720"/>
          </a:xfrm>
          <a:prstGeom prst="rect">
            <a:avLst/>
          </a:prstGeom>
          <a:solidFill>
            <a:srgbClr val="F5EED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3017520" y="3886200"/>
            <a:ext cx="237744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/>
            <a:r>
              <a:rPr sz="1400" b="1">
                <a:solidFill>
                  <a:srgbClr val="8B1A1A"/>
                </a:solidFill>
                <a:latin typeface="맑은 고딕"/>
              </a:rPr>
              <a:t>위·진·남북조 분담</a:t>
            </a:r>
          </a:p>
        </p:txBody>
      </p:sp>
      <p:sp>
        <p:nvSpPr>
          <p:cNvPr id="18" name="Rectangle 17"/>
          <p:cNvSpPr/>
          <p:nvPr/>
        </p:nvSpPr>
        <p:spPr>
          <a:xfrm>
            <a:off x="5577840" y="3520439"/>
            <a:ext cx="6126480" cy="1188720"/>
          </a:xfrm>
          <a:prstGeom prst="rect">
            <a:avLst/>
          </a:prstGeom>
          <a:solidFill>
            <a:srgbClr val="FAFA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5760720" y="3886200"/>
            <a:ext cx="585216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300" b="0">
                <a:solidFill>
                  <a:srgbClr val="1F2A44"/>
                </a:solidFill>
                <a:latin typeface="맑은 고딕"/>
              </a:rPr>
              <a:t>"기억의 화신" — 모든 사료를 외운다는 평가</a:t>
            </a:r>
          </a:p>
        </p:txBody>
      </p:sp>
      <p:sp>
        <p:nvSpPr>
          <p:cNvPr id="20" name="Rectangle 19"/>
          <p:cNvSpPr/>
          <p:nvPr/>
        </p:nvSpPr>
        <p:spPr>
          <a:xfrm>
            <a:off x="548640" y="4846320"/>
            <a:ext cx="2286000" cy="1188720"/>
          </a:xfrm>
          <a:prstGeom prst="rect">
            <a:avLst/>
          </a:prstGeom>
          <a:solidFill>
            <a:srgbClr val="8B1A1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548640" y="5138928"/>
            <a:ext cx="228600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/>
            <a:r>
              <a:rPr sz="1500" b="1">
                <a:solidFill>
                  <a:srgbClr val="FFFFFF"/>
                </a:solidFill>
                <a:latin typeface="맑은 고딕"/>
              </a:rPr>
              <a:t>범조우(范祖禹)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548640" y="5577840"/>
            <a:ext cx="228600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/>
            <a:r>
              <a:rPr sz="1200" b="0">
                <a:solidFill>
                  <a:srgbClr val="FFFFFF"/>
                </a:solidFill>
                <a:latin typeface="맑은 고딕"/>
              </a:rPr>
              <a:t>1041~1098</a:t>
            </a:r>
          </a:p>
        </p:txBody>
      </p:sp>
      <p:sp>
        <p:nvSpPr>
          <p:cNvPr id="23" name="Rectangle 22"/>
          <p:cNvSpPr/>
          <p:nvPr/>
        </p:nvSpPr>
        <p:spPr>
          <a:xfrm>
            <a:off x="2926080" y="4846320"/>
            <a:ext cx="2560320" cy="1188720"/>
          </a:xfrm>
          <a:prstGeom prst="rect">
            <a:avLst/>
          </a:prstGeom>
          <a:solidFill>
            <a:srgbClr val="F5EED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3017520" y="5212080"/>
            <a:ext cx="237744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/>
            <a:r>
              <a:rPr sz="1400" b="1">
                <a:solidFill>
                  <a:srgbClr val="8B1A1A"/>
                </a:solidFill>
                <a:latin typeface="맑은 고딕"/>
              </a:rPr>
              <a:t>당기(唐紀) 분담</a:t>
            </a:r>
          </a:p>
        </p:txBody>
      </p:sp>
      <p:sp>
        <p:nvSpPr>
          <p:cNvPr id="25" name="Rectangle 24"/>
          <p:cNvSpPr/>
          <p:nvPr/>
        </p:nvSpPr>
        <p:spPr>
          <a:xfrm>
            <a:off x="5577840" y="4846320"/>
            <a:ext cx="6126480" cy="1188720"/>
          </a:xfrm>
          <a:prstGeom prst="rect">
            <a:avLst/>
          </a:prstGeom>
          <a:solidFill>
            <a:srgbClr val="FAFA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5760720" y="5212080"/>
            <a:ext cx="585216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300" b="0">
                <a:solidFill>
                  <a:srgbClr val="1F2A44"/>
                </a:solidFill>
                <a:latin typeface="맑은 고딕"/>
              </a:rPr>
              <a:t>당사 전문가 · 후일 『당감(唐鑑)』 친저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457200" y="6263640"/>
            <a:ext cx="1124712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/>
            <a:r>
              <a:rPr sz="1300" b="1">
                <a:solidFill>
                  <a:srgbClr val="8B1A1A"/>
                </a:solidFill>
                <a:latin typeface="맑은 고딕"/>
              </a:rPr>
              <a:t>사마광이 총괄 — 사평(臣光曰)은 모두 그의 친저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91440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100" b="1">
                <a:solidFill>
                  <a:srgbClr val="556070"/>
                </a:solidFill>
                <a:latin typeface="맑은 고딕"/>
              </a:rPr>
              <a:t>Ⅲ. 구조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10972800" y="274320"/>
            <a:ext cx="118872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/>
            <a:r>
              <a:rPr sz="1000" b="0">
                <a:solidFill>
                  <a:srgbClr val="556070"/>
                </a:solidFill>
                <a:latin typeface="맑은 고딕"/>
              </a:rPr>
              <a:t>13 / 70</a:t>
            </a:r>
          </a:p>
        </p:txBody>
      </p:sp>
      <p:cxnSp>
        <p:nvCxnSpPr>
          <p:cNvPr id="4" name="Connector 3"/>
          <p:cNvCxnSpPr/>
          <p:nvPr/>
        </p:nvCxnSpPr>
        <p:spPr>
          <a:xfrm>
            <a:off x="457200" y="594360"/>
            <a:ext cx="11704320" cy="0"/>
          </a:xfrm>
          <a:prstGeom prst="line">
            <a:avLst/>
          </a:prstGeom>
          <a:ln w="25400">
            <a:solidFill>
              <a:srgbClr val="C8A25B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5" name="TextBox 4"/>
          <p:cNvSpPr txBox="1"/>
          <p:nvPr/>
        </p:nvSpPr>
        <p:spPr>
          <a:xfrm>
            <a:off x="457200" y="777240"/>
            <a:ext cx="11704320" cy="6400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3000" b="1">
                <a:solidFill>
                  <a:srgbClr val="1F2A44"/>
                </a:solidFill>
                <a:latin typeface="맑은 고딕"/>
              </a:rPr>
              <a:t>편년체(編年體) — 시간 순서의 통사</a:t>
            </a:r>
          </a:p>
        </p:txBody>
      </p:sp>
      <p:sp>
        <p:nvSpPr>
          <p:cNvPr id="6" name="Rectangle 5"/>
          <p:cNvSpPr/>
          <p:nvPr/>
        </p:nvSpPr>
        <p:spPr>
          <a:xfrm>
            <a:off x="548640" y="2103120"/>
            <a:ext cx="5394960" cy="4114800"/>
          </a:xfrm>
          <a:prstGeom prst="rect">
            <a:avLst/>
          </a:prstGeom>
          <a:solidFill>
            <a:srgbClr val="F5EED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548640" y="2286000"/>
            <a:ext cx="539496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/>
            <a:r>
              <a:rPr sz="1700" b="1">
                <a:solidFill>
                  <a:srgbClr val="556070"/>
                </a:solidFill>
                <a:latin typeface="맑은 고딕"/>
              </a:rPr>
              <a:t>기전체(紀傳體) — 사기·한서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822960" y="2880360"/>
            <a:ext cx="4846320" cy="32004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30000"/>
              </a:lnSpc>
            </a:pPr>
            <a:r>
              <a:rPr sz="1600" b="1">
                <a:solidFill>
                  <a:srgbClr val="1F2A44"/>
                </a:solidFill>
                <a:latin typeface="맑은 고딕"/>
              </a:rPr>
              <a:t>인물 중심 서술</a:t>
            </a:r>
          </a:p>
          <a:p>
            <a:pPr algn="l">
              <a:lnSpc>
                <a:spcPct val="130000"/>
              </a:lnSpc>
            </a:pPr>
            <a:r>
              <a:rPr sz="600" b="0">
                <a:solidFill>
                  <a:srgbClr val="1F2A44"/>
                </a:solidFill>
                <a:latin typeface="맑은 고딕"/>
              </a:rPr>
              <a:t/>
            </a:r>
          </a:p>
          <a:p>
            <a:pPr algn="l">
              <a:lnSpc>
                <a:spcPct val="130000"/>
              </a:lnSpc>
              <a:spcBef>
                <a:spcPts val="600"/>
              </a:spcBef>
            </a:pPr>
            <a:r>
              <a:rPr sz="1300" b="0">
                <a:solidFill>
                  <a:srgbClr val="1F2A44"/>
                </a:solidFill>
                <a:latin typeface="맑은 고딕"/>
              </a:rPr>
              <a:t>• 본기 — 제왕의 일생</a:t>
            </a:r>
          </a:p>
          <a:p>
            <a:pPr algn="l">
              <a:lnSpc>
                <a:spcPct val="130000"/>
              </a:lnSpc>
              <a:spcBef>
                <a:spcPts val="400"/>
              </a:spcBef>
            </a:pPr>
            <a:r>
              <a:rPr sz="1300" b="0">
                <a:solidFill>
                  <a:srgbClr val="1F2A44"/>
                </a:solidFill>
                <a:latin typeface="맑은 고딕"/>
              </a:rPr>
              <a:t>• 열전 — 신하의 일생</a:t>
            </a:r>
          </a:p>
          <a:p>
            <a:pPr algn="l">
              <a:lnSpc>
                <a:spcPct val="130000"/>
              </a:lnSpc>
            </a:pPr>
            <a:r>
              <a:rPr sz="600" b="0">
                <a:solidFill>
                  <a:srgbClr val="1F2A44"/>
                </a:solidFill>
                <a:latin typeface="맑은 고딕"/>
              </a:rPr>
              <a:t/>
            </a:r>
          </a:p>
          <a:p>
            <a:pPr algn="l">
              <a:lnSpc>
                <a:spcPct val="130000"/>
              </a:lnSpc>
              <a:spcBef>
                <a:spcPts val="600"/>
              </a:spcBef>
            </a:pPr>
            <a:r>
              <a:rPr sz="1300" b="0">
                <a:solidFill>
                  <a:srgbClr val="556070"/>
                </a:solidFill>
                <a:latin typeface="맑은 고딕"/>
              </a:rPr>
              <a:t>장점 — 인물의 입체적 조명</a:t>
            </a:r>
          </a:p>
          <a:p>
            <a:pPr algn="l">
              <a:lnSpc>
                <a:spcPct val="130000"/>
              </a:lnSpc>
            </a:pPr>
            <a:r>
              <a:rPr sz="1300" b="0">
                <a:solidFill>
                  <a:srgbClr val="556070"/>
                </a:solidFill>
                <a:latin typeface="맑은 고딕"/>
              </a:rPr>
              <a:t>단점 — 시간의 흐름이 끊김</a:t>
            </a:r>
          </a:p>
        </p:txBody>
      </p:sp>
      <p:sp>
        <p:nvSpPr>
          <p:cNvPr id="9" name="Rectangle 8"/>
          <p:cNvSpPr/>
          <p:nvPr/>
        </p:nvSpPr>
        <p:spPr>
          <a:xfrm>
            <a:off x="6217920" y="2103120"/>
            <a:ext cx="5394960" cy="4114800"/>
          </a:xfrm>
          <a:prstGeom prst="rect">
            <a:avLst/>
          </a:prstGeom>
          <a:solidFill>
            <a:srgbClr val="FAE5E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6217920" y="2286000"/>
            <a:ext cx="539496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/>
            <a:r>
              <a:rPr sz="1700" b="1">
                <a:solidFill>
                  <a:srgbClr val="8B1A1A"/>
                </a:solidFill>
                <a:latin typeface="맑은 고딕"/>
              </a:rPr>
              <a:t>편년체(編年體) — 자치통감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492240" y="2880360"/>
            <a:ext cx="4846320" cy="32004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30000"/>
              </a:lnSpc>
            </a:pPr>
            <a:r>
              <a:rPr sz="1600" b="1">
                <a:solidFill>
                  <a:srgbClr val="8B1A1A"/>
                </a:solidFill>
                <a:latin typeface="맑은 고딕"/>
              </a:rPr>
              <a:t>시간 중심 서술</a:t>
            </a:r>
          </a:p>
          <a:p>
            <a:pPr algn="l">
              <a:lnSpc>
                <a:spcPct val="130000"/>
              </a:lnSpc>
            </a:pPr>
            <a:r>
              <a:rPr sz="600" b="0">
                <a:solidFill>
                  <a:srgbClr val="1F2A44"/>
                </a:solidFill>
                <a:latin typeface="맑은 고딕"/>
              </a:rPr>
              <a:t/>
            </a:r>
          </a:p>
          <a:p>
            <a:pPr algn="l">
              <a:lnSpc>
                <a:spcPct val="130000"/>
              </a:lnSpc>
              <a:spcBef>
                <a:spcPts val="600"/>
              </a:spcBef>
            </a:pPr>
            <a:r>
              <a:rPr sz="1300" b="0">
                <a:solidFill>
                  <a:srgbClr val="1F2A44"/>
                </a:solidFill>
                <a:latin typeface="맑은 고딕"/>
              </a:rPr>
              <a:t>• 연(年)·월·일 순</a:t>
            </a:r>
          </a:p>
          <a:p>
            <a:pPr algn="l">
              <a:lnSpc>
                <a:spcPct val="130000"/>
              </a:lnSpc>
              <a:spcBef>
                <a:spcPts val="400"/>
              </a:spcBef>
            </a:pPr>
            <a:r>
              <a:rPr sz="1300" b="0">
                <a:solidFill>
                  <a:srgbClr val="1F2A44"/>
                </a:solidFill>
                <a:latin typeface="맑은 고딕"/>
              </a:rPr>
              <a:t>• 모든 사건을 시간순으로</a:t>
            </a:r>
          </a:p>
          <a:p>
            <a:pPr algn="l">
              <a:lnSpc>
                <a:spcPct val="130000"/>
              </a:lnSpc>
            </a:pPr>
            <a:r>
              <a:rPr sz="600" b="0">
                <a:solidFill>
                  <a:srgbClr val="1F2A44"/>
                </a:solidFill>
                <a:latin typeface="맑은 고딕"/>
              </a:rPr>
              <a:t/>
            </a:r>
          </a:p>
          <a:p>
            <a:pPr algn="l">
              <a:lnSpc>
                <a:spcPct val="130000"/>
              </a:lnSpc>
              <a:spcBef>
                <a:spcPts val="600"/>
              </a:spcBef>
            </a:pPr>
            <a:r>
              <a:rPr sz="1300" b="0">
                <a:solidFill>
                  <a:srgbClr val="556070"/>
                </a:solidFill>
                <a:latin typeface="맑은 고딕"/>
              </a:rPr>
              <a:t>장점 — 동시대 사건의 연관성 파악</a:t>
            </a:r>
          </a:p>
          <a:p>
            <a:pPr algn="l">
              <a:lnSpc>
                <a:spcPct val="130000"/>
              </a:lnSpc>
            </a:pPr>
            <a:r>
              <a:rPr sz="1300" b="1">
                <a:solidFill>
                  <a:srgbClr val="8B1A1A"/>
                </a:solidFill>
                <a:latin typeface="맑은 고딕"/>
              </a:rPr>
              <a:t>  "거시적 흐름의 거울"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91440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100" b="1">
                <a:solidFill>
                  <a:srgbClr val="556070"/>
                </a:solidFill>
                <a:latin typeface="맑은 고딕"/>
              </a:rPr>
              <a:t>Ⅲ. 구조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10972800" y="274320"/>
            <a:ext cx="118872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/>
            <a:r>
              <a:rPr sz="1000" b="0">
                <a:solidFill>
                  <a:srgbClr val="556070"/>
                </a:solidFill>
                <a:latin typeface="맑은 고딕"/>
              </a:rPr>
              <a:t>14 / 70</a:t>
            </a:r>
          </a:p>
        </p:txBody>
      </p:sp>
      <p:cxnSp>
        <p:nvCxnSpPr>
          <p:cNvPr id="4" name="Connector 3"/>
          <p:cNvCxnSpPr/>
          <p:nvPr/>
        </p:nvCxnSpPr>
        <p:spPr>
          <a:xfrm>
            <a:off x="457200" y="594360"/>
            <a:ext cx="11704320" cy="0"/>
          </a:xfrm>
          <a:prstGeom prst="line">
            <a:avLst/>
          </a:prstGeom>
          <a:ln w="25400">
            <a:solidFill>
              <a:srgbClr val="C8A25B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5" name="TextBox 4"/>
          <p:cNvSpPr txBox="1"/>
          <p:nvPr/>
        </p:nvSpPr>
        <p:spPr>
          <a:xfrm>
            <a:off x="457200" y="777240"/>
            <a:ext cx="11704320" cy="6400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3000" b="1">
                <a:solidFill>
                  <a:srgbClr val="1F2A44"/>
                </a:solidFill>
                <a:latin typeface="맑은 고딕"/>
              </a:rPr>
              <a:t>16기(紀) 개관 — 1,362년의 분할</a:t>
            </a:r>
          </a:p>
        </p:txBody>
      </p:sp>
      <p:sp>
        <p:nvSpPr>
          <p:cNvPr id="6" name="Rectangle 5"/>
          <p:cNvSpPr/>
          <p:nvPr/>
        </p:nvSpPr>
        <p:spPr>
          <a:xfrm>
            <a:off x="457200" y="1828800"/>
            <a:ext cx="548640" cy="502920"/>
          </a:xfrm>
          <a:prstGeom prst="rect">
            <a:avLst/>
          </a:prstGeom>
          <a:solidFill>
            <a:srgbClr val="8B1A1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457200" y="1947672"/>
            <a:ext cx="54864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/>
            <a:r>
              <a:rPr sz="1400" b="1">
                <a:solidFill>
                  <a:srgbClr val="FFFFFF"/>
                </a:solidFill>
                <a:latin typeface="맑은 고딕"/>
              </a:rPr>
              <a:t>1</a:t>
            </a:r>
          </a:p>
        </p:txBody>
      </p:sp>
      <p:sp>
        <p:nvSpPr>
          <p:cNvPr id="8" name="Rectangle 7"/>
          <p:cNvSpPr/>
          <p:nvPr/>
        </p:nvSpPr>
        <p:spPr>
          <a:xfrm>
            <a:off x="1097280" y="1828800"/>
            <a:ext cx="2011680" cy="502920"/>
          </a:xfrm>
          <a:prstGeom prst="rect">
            <a:avLst/>
          </a:prstGeom>
          <a:solidFill>
            <a:srgbClr val="F5EED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1097280" y="1947672"/>
            <a:ext cx="201168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/>
            <a:r>
              <a:rPr sz="1300" b="1">
                <a:solidFill>
                  <a:srgbClr val="8B1A1A"/>
                </a:solidFill>
                <a:latin typeface="맑은 고딕"/>
              </a:rPr>
              <a:t>주기(周紀)</a:t>
            </a:r>
          </a:p>
        </p:txBody>
      </p:sp>
      <p:sp>
        <p:nvSpPr>
          <p:cNvPr id="10" name="Rectangle 9"/>
          <p:cNvSpPr/>
          <p:nvPr/>
        </p:nvSpPr>
        <p:spPr>
          <a:xfrm>
            <a:off x="3200400" y="1828800"/>
            <a:ext cx="1097280" cy="502920"/>
          </a:xfrm>
          <a:prstGeom prst="rect">
            <a:avLst/>
          </a:prstGeom>
          <a:solidFill>
            <a:srgbClr val="FAFA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3200400" y="1947672"/>
            <a:ext cx="109728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/>
            <a:r>
              <a:rPr sz="1200" b="0">
                <a:solidFill>
                  <a:srgbClr val="556070"/>
                </a:solidFill>
                <a:latin typeface="맑은 고딕"/>
              </a:rPr>
              <a:t>5권</a:t>
            </a:r>
          </a:p>
        </p:txBody>
      </p:sp>
      <p:sp>
        <p:nvSpPr>
          <p:cNvPr id="12" name="Rectangle 11"/>
          <p:cNvSpPr/>
          <p:nvPr/>
        </p:nvSpPr>
        <p:spPr>
          <a:xfrm>
            <a:off x="4389120" y="1828800"/>
            <a:ext cx="1554480" cy="502920"/>
          </a:xfrm>
          <a:prstGeom prst="rect">
            <a:avLst/>
          </a:prstGeom>
          <a:solidFill>
            <a:srgbClr val="FAFA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4389120" y="1947672"/>
            <a:ext cx="155448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/>
            <a:r>
              <a:rPr sz="1100" b="0">
                <a:solidFill>
                  <a:srgbClr val="1F2A44"/>
                </a:solidFill>
                <a:latin typeface="맑은 고딕"/>
              </a:rPr>
              <a:t>BC 403~256</a:t>
            </a:r>
          </a:p>
        </p:txBody>
      </p:sp>
      <p:sp>
        <p:nvSpPr>
          <p:cNvPr id="14" name="Rectangle 13"/>
          <p:cNvSpPr/>
          <p:nvPr/>
        </p:nvSpPr>
        <p:spPr>
          <a:xfrm>
            <a:off x="6309360" y="1828800"/>
            <a:ext cx="548640" cy="502920"/>
          </a:xfrm>
          <a:prstGeom prst="rect">
            <a:avLst/>
          </a:prstGeom>
          <a:solidFill>
            <a:srgbClr val="8B1A1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6309360" y="1947672"/>
            <a:ext cx="54864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/>
            <a:r>
              <a:rPr sz="1400" b="1">
                <a:solidFill>
                  <a:srgbClr val="FFFFFF"/>
                </a:solidFill>
                <a:latin typeface="맑은 고딕"/>
              </a:rPr>
              <a:t>2</a:t>
            </a:r>
          </a:p>
        </p:txBody>
      </p:sp>
      <p:sp>
        <p:nvSpPr>
          <p:cNvPr id="16" name="Rectangle 15"/>
          <p:cNvSpPr/>
          <p:nvPr/>
        </p:nvSpPr>
        <p:spPr>
          <a:xfrm>
            <a:off x="6949440" y="1828800"/>
            <a:ext cx="2011680" cy="502920"/>
          </a:xfrm>
          <a:prstGeom prst="rect">
            <a:avLst/>
          </a:prstGeom>
          <a:solidFill>
            <a:srgbClr val="F5EED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6949440" y="1947672"/>
            <a:ext cx="201168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/>
            <a:r>
              <a:rPr sz="1300" b="1">
                <a:solidFill>
                  <a:srgbClr val="8B1A1A"/>
                </a:solidFill>
                <a:latin typeface="맑은 고딕"/>
              </a:rPr>
              <a:t>진기(秦紀)</a:t>
            </a:r>
          </a:p>
        </p:txBody>
      </p:sp>
      <p:sp>
        <p:nvSpPr>
          <p:cNvPr id="18" name="Rectangle 17"/>
          <p:cNvSpPr/>
          <p:nvPr/>
        </p:nvSpPr>
        <p:spPr>
          <a:xfrm>
            <a:off x="9052560" y="1828800"/>
            <a:ext cx="1097280" cy="502920"/>
          </a:xfrm>
          <a:prstGeom prst="rect">
            <a:avLst/>
          </a:prstGeom>
          <a:solidFill>
            <a:srgbClr val="FAFA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9052560" y="1947672"/>
            <a:ext cx="109728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/>
            <a:r>
              <a:rPr sz="1200" b="0">
                <a:solidFill>
                  <a:srgbClr val="556070"/>
                </a:solidFill>
                <a:latin typeface="맑은 고딕"/>
              </a:rPr>
              <a:t>3권</a:t>
            </a:r>
          </a:p>
        </p:txBody>
      </p:sp>
      <p:sp>
        <p:nvSpPr>
          <p:cNvPr id="20" name="Rectangle 19"/>
          <p:cNvSpPr/>
          <p:nvPr/>
        </p:nvSpPr>
        <p:spPr>
          <a:xfrm>
            <a:off x="10241280" y="1828800"/>
            <a:ext cx="1554480" cy="502920"/>
          </a:xfrm>
          <a:prstGeom prst="rect">
            <a:avLst/>
          </a:prstGeom>
          <a:solidFill>
            <a:srgbClr val="FAFA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10241280" y="1947672"/>
            <a:ext cx="155448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/>
            <a:r>
              <a:rPr sz="1100" b="0">
                <a:solidFill>
                  <a:srgbClr val="1F2A44"/>
                </a:solidFill>
                <a:latin typeface="맑은 고딕"/>
              </a:rPr>
              <a:t>BC 255~206</a:t>
            </a:r>
          </a:p>
        </p:txBody>
      </p:sp>
      <p:sp>
        <p:nvSpPr>
          <p:cNvPr id="22" name="Rectangle 21"/>
          <p:cNvSpPr/>
          <p:nvPr/>
        </p:nvSpPr>
        <p:spPr>
          <a:xfrm>
            <a:off x="457200" y="2395728"/>
            <a:ext cx="548640" cy="502920"/>
          </a:xfrm>
          <a:prstGeom prst="rect">
            <a:avLst/>
          </a:prstGeom>
          <a:solidFill>
            <a:srgbClr val="8B1A1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457200" y="2514600"/>
            <a:ext cx="54864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/>
            <a:r>
              <a:rPr sz="1400" b="1">
                <a:solidFill>
                  <a:srgbClr val="FFFFFF"/>
                </a:solidFill>
                <a:latin typeface="맑은 고딕"/>
              </a:rPr>
              <a:t>3</a:t>
            </a:r>
          </a:p>
        </p:txBody>
      </p:sp>
      <p:sp>
        <p:nvSpPr>
          <p:cNvPr id="24" name="Rectangle 23"/>
          <p:cNvSpPr/>
          <p:nvPr/>
        </p:nvSpPr>
        <p:spPr>
          <a:xfrm>
            <a:off x="1097280" y="2395728"/>
            <a:ext cx="2011680" cy="502920"/>
          </a:xfrm>
          <a:prstGeom prst="rect">
            <a:avLst/>
          </a:prstGeom>
          <a:solidFill>
            <a:srgbClr val="F5EED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1097280" y="2514600"/>
            <a:ext cx="201168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/>
            <a:r>
              <a:rPr sz="1300" b="1">
                <a:solidFill>
                  <a:srgbClr val="8B1A1A"/>
                </a:solidFill>
                <a:latin typeface="맑은 고딕"/>
              </a:rPr>
              <a:t>한기(漢紀)</a:t>
            </a:r>
          </a:p>
        </p:txBody>
      </p:sp>
      <p:sp>
        <p:nvSpPr>
          <p:cNvPr id="26" name="Rectangle 25"/>
          <p:cNvSpPr/>
          <p:nvPr/>
        </p:nvSpPr>
        <p:spPr>
          <a:xfrm>
            <a:off x="3200400" y="2395728"/>
            <a:ext cx="1097280" cy="502920"/>
          </a:xfrm>
          <a:prstGeom prst="rect">
            <a:avLst/>
          </a:prstGeom>
          <a:solidFill>
            <a:srgbClr val="FAFA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3200400" y="2514600"/>
            <a:ext cx="109728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/>
            <a:r>
              <a:rPr sz="1200" b="0">
                <a:solidFill>
                  <a:srgbClr val="556070"/>
                </a:solidFill>
                <a:latin typeface="맑은 고딕"/>
              </a:rPr>
              <a:t>60권</a:t>
            </a:r>
          </a:p>
        </p:txBody>
      </p:sp>
      <p:sp>
        <p:nvSpPr>
          <p:cNvPr id="28" name="Rectangle 27"/>
          <p:cNvSpPr/>
          <p:nvPr/>
        </p:nvSpPr>
        <p:spPr>
          <a:xfrm>
            <a:off x="4389120" y="2395728"/>
            <a:ext cx="1554480" cy="502920"/>
          </a:xfrm>
          <a:prstGeom prst="rect">
            <a:avLst/>
          </a:prstGeom>
          <a:solidFill>
            <a:srgbClr val="FAFA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TextBox 28"/>
          <p:cNvSpPr txBox="1"/>
          <p:nvPr/>
        </p:nvSpPr>
        <p:spPr>
          <a:xfrm>
            <a:off x="4389120" y="2514600"/>
            <a:ext cx="155448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/>
            <a:r>
              <a:rPr sz="1100" b="0">
                <a:solidFill>
                  <a:srgbClr val="1F2A44"/>
                </a:solidFill>
                <a:latin typeface="맑은 고딕"/>
              </a:rPr>
              <a:t>BC 206~AD 220</a:t>
            </a:r>
          </a:p>
        </p:txBody>
      </p:sp>
      <p:sp>
        <p:nvSpPr>
          <p:cNvPr id="30" name="Rectangle 29"/>
          <p:cNvSpPr/>
          <p:nvPr/>
        </p:nvSpPr>
        <p:spPr>
          <a:xfrm>
            <a:off x="6309360" y="2395728"/>
            <a:ext cx="548640" cy="502920"/>
          </a:xfrm>
          <a:prstGeom prst="rect">
            <a:avLst/>
          </a:prstGeom>
          <a:solidFill>
            <a:srgbClr val="8B1A1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TextBox 30"/>
          <p:cNvSpPr txBox="1"/>
          <p:nvPr/>
        </p:nvSpPr>
        <p:spPr>
          <a:xfrm>
            <a:off x="6309360" y="2514600"/>
            <a:ext cx="54864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/>
            <a:r>
              <a:rPr sz="1400" b="1">
                <a:solidFill>
                  <a:srgbClr val="FFFFFF"/>
                </a:solidFill>
                <a:latin typeface="맑은 고딕"/>
              </a:rPr>
              <a:t>4</a:t>
            </a:r>
          </a:p>
        </p:txBody>
      </p:sp>
      <p:sp>
        <p:nvSpPr>
          <p:cNvPr id="32" name="Rectangle 31"/>
          <p:cNvSpPr/>
          <p:nvPr/>
        </p:nvSpPr>
        <p:spPr>
          <a:xfrm>
            <a:off x="6949440" y="2395728"/>
            <a:ext cx="2011680" cy="502920"/>
          </a:xfrm>
          <a:prstGeom prst="rect">
            <a:avLst/>
          </a:prstGeom>
          <a:solidFill>
            <a:srgbClr val="F5EED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TextBox 32"/>
          <p:cNvSpPr txBox="1"/>
          <p:nvPr/>
        </p:nvSpPr>
        <p:spPr>
          <a:xfrm>
            <a:off x="6949440" y="2514600"/>
            <a:ext cx="201168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/>
            <a:r>
              <a:rPr sz="1300" b="1">
                <a:solidFill>
                  <a:srgbClr val="8B1A1A"/>
                </a:solidFill>
                <a:latin typeface="맑은 고딕"/>
              </a:rPr>
              <a:t>위기(魏紀)</a:t>
            </a:r>
          </a:p>
        </p:txBody>
      </p:sp>
      <p:sp>
        <p:nvSpPr>
          <p:cNvPr id="34" name="Rectangle 33"/>
          <p:cNvSpPr/>
          <p:nvPr/>
        </p:nvSpPr>
        <p:spPr>
          <a:xfrm>
            <a:off x="9052560" y="2395728"/>
            <a:ext cx="1097280" cy="502920"/>
          </a:xfrm>
          <a:prstGeom prst="rect">
            <a:avLst/>
          </a:prstGeom>
          <a:solidFill>
            <a:srgbClr val="FAFA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TextBox 34"/>
          <p:cNvSpPr txBox="1"/>
          <p:nvPr/>
        </p:nvSpPr>
        <p:spPr>
          <a:xfrm>
            <a:off x="9052560" y="2514600"/>
            <a:ext cx="109728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/>
            <a:r>
              <a:rPr sz="1200" b="0">
                <a:solidFill>
                  <a:srgbClr val="556070"/>
                </a:solidFill>
                <a:latin typeface="맑은 고딕"/>
              </a:rPr>
              <a:t>10권</a:t>
            </a:r>
          </a:p>
        </p:txBody>
      </p:sp>
      <p:sp>
        <p:nvSpPr>
          <p:cNvPr id="36" name="Rectangle 35"/>
          <p:cNvSpPr/>
          <p:nvPr/>
        </p:nvSpPr>
        <p:spPr>
          <a:xfrm>
            <a:off x="10241280" y="2395728"/>
            <a:ext cx="1554480" cy="502920"/>
          </a:xfrm>
          <a:prstGeom prst="rect">
            <a:avLst/>
          </a:prstGeom>
          <a:solidFill>
            <a:srgbClr val="FAFA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" name="TextBox 36"/>
          <p:cNvSpPr txBox="1"/>
          <p:nvPr/>
        </p:nvSpPr>
        <p:spPr>
          <a:xfrm>
            <a:off x="10241280" y="2514600"/>
            <a:ext cx="155448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/>
            <a:r>
              <a:rPr sz="1100" b="0">
                <a:solidFill>
                  <a:srgbClr val="1F2A44"/>
                </a:solidFill>
                <a:latin typeface="맑은 고딕"/>
              </a:rPr>
              <a:t>220~265</a:t>
            </a:r>
          </a:p>
        </p:txBody>
      </p:sp>
      <p:sp>
        <p:nvSpPr>
          <p:cNvPr id="38" name="Rectangle 37"/>
          <p:cNvSpPr/>
          <p:nvPr/>
        </p:nvSpPr>
        <p:spPr>
          <a:xfrm>
            <a:off x="457200" y="2962656"/>
            <a:ext cx="548640" cy="502920"/>
          </a:xfrm>
          <a:prstGeom prst="rect">
            <a:avLst/>
          </a:prstGeom>
          <a:solidFill>
            <a:srgbClr val="8B1A1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9" name="TextBox 38"/>
          <p:cNvSpPr txBox="1"/>
          <p:nvPr/>
        </p:nvSpPr>
        <p:spPr>
          <a:xfrm>
            <a:off x="457200" y="3081528"/>
            <a:ext cx="54864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/>
            <a:r>
              <a:rPr sz="1400" b="1">
                <a:solidFill>
                  <a:srgbClr val="FFFFFF"/>
                </a:solidFill>
                <a:latin typeface="맑은 고딕"/>
              </a:rPr>
              <a:t>5</a:t>
            </a:r>
          </a:p>
        </p:txBody>
      </p:sp>
      <p:sp>
        <p:nvSpPr>
          <p:cNvPr id="40" name="Rectangle 39"/>
          <p:cNvSpPr/>
          <p:nvPr/>
        </p:nvSpPr>
        <p:spPr>
          <a:xfrm>
            <a:off x="1097280" y="2962656"/>
            <a:ext cx="2011680" cy="502920"/>
          </a:xfrm>
          <a:prstGeom prst="rect">
            <a:avLst/>
          </a:prstGeom>
          <a:solidFill>
            <a:srgbClr val="F5EED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1" name="TextBox 40"/>
          <p:cNvSpPr txBox="1"/>
          <p:nvPr/>
        </p:nvSpPr>
        <p:spPr>
          <a:xfrm>
            <a:off x="1097280" y="3081528"/>
            <a:ext cx="201168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/>
            <a:r>
              <a:rPr sz="1300" b="1">
                <a:solidFill>
                  <a:srgbClr val="8B1A1A"/>
                </a:solidFill>
                <a:latin typeface="맑은 고딕"/>
              </a:rPr>
              <a:t>진기(晉紀)</a:t>
            </a:r>
          </a:p>
        </p:txBody>
      </p:sp>
      <p:sp>
        <p:nvSpPr>
          <p:cNvPr id="42" name="Rectangle 41"/>
          <p:cNvSpPr/>
          <p:nvPr/>
        </p:nvSpPr>
        <p:spPr>
          <a:xfrm>
            <a:off x="3200400" y="2962656"/>
            <a:ext cx="1097280" cy="502920"/>
          </a:xfrm>
          <a:prstGeom prst="rect">
            <a:avLst/>
          </a:prstGeom>
          <a:solidFill>
            <a:srgbClr val="FAFA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3" name="TextBox 42"/>
          <p:cNvSpPr txBox="1"/>
          <p:nvPr/>
        </p:nvSpPr>
        <p:spPr>
          <a:xfrm>
            <a:off x="3200400" y="3081528"/>
            <a:ext cx="109728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/>
            <a:r>
              <a:rPr sz="1200" b="0">
                <a:solidFill>
                  <a:srgbClr val="556070"/>
                </a:solidFill>
                <a:latin typeface="맑은 고딕"/>
              </a:rPr>
              <a:t>40권</a:t>
            </a:r>
          </a:p>
        </p:txBody>
      </p:sp>
      <p:sp>
        <p:nvSpPr>
          <p:cNvPr id="44" name="Rectangle 43"/>
          <p:cNvSpPr/>
          <p:nvPr/>
        </p:nvSpPr>
        <p:spPr>
          <a:xfrm>
            <a:off x="4389120" y="2962656"/>
            <a:ext cx="1554480" cy="502920"/>
          </a:xfrm>
          <a:prstGeom prst="rect">
            <a:avLst/>
          </a:prstGeom>
          <a:solidFill>
            <a:srgbClr val="FAFA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5" name="TextBox 44"/>
          <p:cNvSpPr txBox="1"/>
          <p:nvPr/>
        </p:nvSpPr>
        <p:spPr>
          <a:xfrm>
            <a:off x="4389120" y="3081528"/>
            <a:ext cx="155448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/>
            <a:r>
              <a:rPr sz="1100" b="0">
                <a:solidFill>
                  <a:srgbClr val="1F2A44"/>
                </a:solidFill>
                <a:latin typeface="맑은 고딕"/>
              </a:rPr>
              <a:t>265~419</a:t>
            </a:r>
          </a:p>
        </p:txBody>
      </p:sp>
      <p:sp>
        <p:nvSpPr>
          <p:cNvPr id="46" name="Rectangle 45"/>
          <p:cNvSpPr/>
          <p:nvPr/>
        </p:nvSpPr>
        <p:spPr>
          <a:xfrm>
            <a:off x="6309360" y="2962656"/>
            <a:ext cx="548640" cy="502920"/>
          </a:xfrm>
          <a:prstGeom prst="rect">
            <a:avLst/>
          </a:prstGeom>
          <a:solidFill>
            <a:srgbClr val="8B1A1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7" name="TextBox 46"/>
          <p:cNvSpPr txBox="1"/>
          <p:nvPr/>
        </p:nvSpPr>
        <p:spPr>
          <a:xfrm>
            <a:off x="6309360" y="3081528"/>
            <a:ext cx="54864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/>
            <a:r>
              <a:rPr sz="1400" b="1">
                <a:solidFill>
                  <a:srgbClr val="FFFFFF"/>
                </a:solidFill>
                <a:latin typeface="맑은 고딕"/>
              </a:rPr>
              <a:t>6</a:t>
            </a:r>
          </a:p>
        </p:txBody>
      </p:sp>
      <p:sp>
        <p:nvSpPr>
          <p:cNvPr id="48" name="Rectangle 47"/>
          <p:cNvSpPr/>
          <p:nvPr/>
        </p:nvSpPr>
        <p:spPr>
          <a:xfrm>
            <a:off x="6949440" y="2962656"/>
            <a:ext cx="2011680" cy="502920"/>
          </a:xfrm>
          <a:prstGeom prst="rect">
            <a:avLst/>
          </a:prstGeom>
          <a:solidFill>
            <a:srgbClr val="F5EED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9" name="TextBox 48"/>
          <p:cNvSpPr txBox="1"/>
          <p:nvPr/>
        </p:nvSpPr>
        <p:spPr>
          <a:xfrm>
            <a:off x="6949440" y="3081528"/>
            <a:ext cx="201168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/>
            <a:r>
              <a:rPr sz="1300" b="1">
                <a:solidFill>
                  <a:srgbClr val="8B1A1A"/>
                </a:solidFill>
                <a:latin typeface="맑은 고딕"/>
              </a:rPr>
              <a:t>송기(宋紀)</a:t>
            </a:r>
          </a:p>
        </p:txBody>
      </p:sp>
      <p:sp>
        <p:nvSpPr>
          <p:cNvPr id="50" name="Rectangle 49"/>
          <p:cNvSpPr/>
          <p:nvPr/>
        </p:nvSpPr>
        <p:spPr>
          <a:xfrm>
            <a:off x="9052560" y="2962656"/>
            <a:ext cx="1097280" cy="502920"/>
          </a:xfrm>
          <a:prstGeom prst="rect">
            <a:avLst/>
          </a:prstGeom>
          <a:solidFill>
            <a:srgbClr val="FAFA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1" name="TextBox 50"/>
          <p:cNvSpPr txBox="1"/>
          <p:nvPr/>
        </p:nvSpPr>
        <p:spPr>
          <a:xfrm>
            <a:off x="9052560" y="3081528"/>
            <a:ext cx="109728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/>
            <a:r>
              <a:rPr sz="1200" b="0">
                <a:solidFill>
                  <a:srgbClr val="556070"/>
                </a:solidFill>
                <a:latin typeface="맑은 고딕"/>
              </a:rPr>
              <a:t>16권</a:t>
            </a:r>
          </a:p>
        </p:txBody>
      </p:sp>
      <p:sp>
        <p:nvSpPr>
          <p:cNvPr id="52" name="Rectangle 51"/>
          <p:cNvSpPr/>
          <p:nvPr/>
        </p:nvSpPr>
        <p:spPr>
          <a:xfrm>
            <a:off x="10241280" y="2962656"/>
            <a:ext cx="1554480" cy="502920"/>
          </a:xfrm>
          <a:prstGeom prst="rect">
            <a:avLst/>
          </a:prstGeom>
          <a:solidFill>
            <a:srgbClr val="FAFA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3" name="TextBox 52"/>
          <p:cNvSpPr txBox="1"/>
          <p:nvPr/>
        </p:nvSpPr>
        <p:spPr>
          <a:xfrm>
            <a:off x="10241280" y="3081528"/>
            <a:ext cx="155448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/>
            <a:r>
              <a:rPr sz="1100" b="0">
                <a:solidFill>
                  <a:srgbClr val="1F2A44"/>
                </a:solidFill>
                <a:latin typeface="맑은 고딕"/>
              </a:rPr>
              <a:t>420~478</a:t>
            </a:r>
          </a:p>
        </p:txBody>
      </p:sp>
      <p:sp>
        <p:nvSpPr>
          <p:cNvPr id="54" name="Rectangle 53"/>
          <p:cNvSpPr/>
          <p:nvPr/>
        </p:nvSpPr>
        <p:spPr>
          <a:xfrm>
            <a:off x="457200" y="3529584"/>
            <a:ext cx="548640" cy="502920"/>
          </a:xfrm>
          <a:prstGeom prst="rect">
            <a:avLst/>
          </a:prstGeom>
          <a:solidFill>
            <a:srgbClr val="8B1A1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5" name="TextBox 54"/>
          <p:cNvSpPr txBox="1"/>
          <p:nvPr/>
        </p:nvSpPr>
        <p:spPr>
          <a:xfrm>
            <a:off x="457200" y="3648456"/>
            <a:ext cx="54864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/>
            <a:r>
              <a:rPr sz="1400" b="1">
                <a:solidFill>
                  <a:srgbClr val="FFFFFF"/>
                </a:solidFill>
                <a:latin typeface="맑은 고딕"/>
              </a:rPr>
              <a:t>7</a:t>
            </a:r>
          </a:p>
        </p:txBody>
      </p:sp>
      <p:sp>
        <p:nvSpPr>
          <p:cNvPr id="56" name="Rectangle 55"/>
          <p:cNvSpPr/>
          <p:nvPr/>
        </p:nvSpPr>
        <p:spPr>
          <a:xfrm>
            <a:off x="1097280" y="3529584"/>
            <a:ext cx="2011680" cy="502920"/>
          </a:xfrm>
          <a:prstGeom prst="rect">
            <a:avLst/>
          </a:prstGeom>
          <a:solidFill>
            <a:srgbClr val="F5EED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7" name="TextBox 56"/>
          <p:cNvSpPr txBox="1"/>
          <p:nvPr/>
        </p:nvSpPr>
        <p:spPr>
          <a:xfrm>
            <a:off x="1097280" y="3648456"/>
            <a:ext cx="201168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/>
            <a:r>
              <a:rPr sz="1300" b="1">
                <a:solidFill>
                  <a:srgbClr val="8B1A1A"/>
                </a:solidFill>
                <a:latin typeface="맑은 고딕"/>
              </a:rPr>
              <a:t>제기(齊紀)</a:t>
            </a:r>
          </a:p>
        </p:txBody>
      </p:sp>
      <p:sp>
        <p:nvSpPr>
          <p:cNvPr id="58" name="Rectangle 57"/>
          <p:cNvSpPr/>
          <p:nvPr/>
        </p:nvSpPr>
        <p:spPr>
          <a:xfrm>
            <a:off x="3200400" y="3529584"/>
            <a:ext cx="1097280" cy="502920"/>
          </a:xfrm>
          <a:prstGeom prst="rect">
            <a:avLst/>
          </a:prstGeom>
          <a:solidFill>
            <a:srgbClr val="FAFA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9" name="TextBox 58"/>
          <p:cNvSpPr txBox="1"/>
          <p:nvPr/>
        </p:nvSpPr>
        <p:spPr>
          <a:xfrm>
            <a:off x="3200400" y="3648456"/>
            <a:ext cx="109728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/>
            <a:r>
              <a:rPr sz="1200" b="0">
                <a:solidFill>
                  <a:srgbClr val="556070"/>
                </a:solidFill>
                <a:latin typeface="맑은 고딕"/>
              </a:rPr>
              <a:t>10권</a:t>
            </a:r>
          </a:p>
        </p:txBody>
      </p:sp>
      <p:sp>
        <p:nvSpPr>
          <p:cNvPr id="60" name="Rectangle 59"/>
          <p:cNvSpPr/>
          <p:nvPr/>
        </p:nvSpPr>
        <p:spPr>
          <a:xfrm>
            <a:off x="4389120" y="3529584"/>
            <a:ext cx="1554480" cy="502920"/>
          </a:xfrm>
          <a:prstGeom prst="rect">
            <a:avLst/>
          </a:prstGeom>
          <a:solidFill>
            <a:srgbClr val="FAFA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1" name="TextBox 60"/>
          <p:cNvSpPr txBox="1"/>
          <p:nvPr/>
        </p:nvSpPr>
        <p:spPr>
          <a:xfrm>
            <a:off x="4389120" y="3648456"/>
            <a:ext cx="155448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/>
            <a:r>
              <a:rPr sz="1100" b="0">
                <a:solidFill>
                  <a:srgbClr val="1F2A44"/>
                </a:solidFill>
                <a:latin typeface="맑은 고딕"/>
              </a:rPr>
              <a:t>479~501</a:t>
            </a:r>
          </a:p>
        </p:txBody>
      </p:sp>
      <p:sp>
        <p:nvSpPr>
          <p:cNvPr id="62" name="Rectangle 61"/>
          <p:cNvSpPr/>
          <p:nvPr/>
        </p:nvSpPr>
        <p:spPr>
          <a:xfrm>
            <a:off x="6309360" y="3529584"/>
            <a:ext cx="548640" cy="502920"/>
          </a:xfrm>
          <a:prstGeom prst="rect">
            <a:avLst/>
          </a:prstGeom>
          <a:solidFill>
            <a:srgbClr val="8B1A1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3" name="TextBox 62"/>
          <p:cNvSpPr txBox="1"/>
          <p:nvPr/>
        </p:nvSpPr>
        <p:spPr>
          <a:xfrm>
            <a:off x="6309360" y="3648456"/>
            <a:ext cx="54864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/>
            <a:r>
              <a:rPr sz="1400" b="1">
                <a:solidFill>
                  <a:srgbClr val="FFFFFF"/>
                </a:solidFill>
                <a:latin typeface="맑은 고딕"/>
              </a:rPr>
              <a:t>8</a:t>
            </a:r>
          </a:p>
        </p:txBody>
      </p:sp>
      <p:sp>
        <p:nvSpPr>
          <p:cNvPr id="64" name="Rectangle 63"/>
          <p:cNvSpPr/>
          <p:nvPr/>
        </p:nvSpPr>
        <p:spPr>
          <a:xfrm>
            <a:off x="6949440" y="3529584"/>
            <a:ext cx="2011680" cy="502920"/>
          </a:xfrm>
          <a:prstGeom prst="rect">
            <a:avLst/>
          </a:prstGeom>
          <a:solidFill>
            <a:srgbClr val="F5EED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5" name="TextBox 64"/>
          <p:cNvSpPr txBox="1"/>
          <p:nvPr/>
        </p:nvSpPr>
        <p:spPr>
          <a:xfrm>
            <a:off x="6949440" y="3648456"/>
            <a:ext cx="201168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/>
            <a:r>
              <a:rPr sz="1300" b="1">
                <a:solidFill>
                  <a:srgbClr val="8B1A1A"/>
                </a:solidFill>
                <a:latin typeface="맑은 고딕"/>
              </a:rPr>
              <a:t>양기(梁紀)</a:t>
            </a:r>
          </a:p>
        </p:txBody>
      </p:sp>
      <p:sp>
        <p:nvSpPr>
          <p:cNvPr id="66" name="Rectangle 65"/>
          <p:cNvSpPr/>
          <p:nvPr/>
        </p:nvSpPr>
        <p:spPr>
          <a:xfrm>
            <a:off x="9052560" y="3529584"/>
            <a:ext cx="1097280" cy="502920"/>
          </a:xfrm>
          <a:prstGeom prst="rect">
            <a:avLst/>
          </a:prstGeom>
          <a:solidFill>
            <a:srgbClr val="FAFA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7" name="TextBox 66"/>
          <p:cNvSpPr txBox="1"/>
          <p:nvPr/>
        </p:nvSpPr>
        <p:spPr>
          <a:xfrm>
            <a:off x="9052560" y="3648456"/>
            <a:ext cx="109728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/>
            <a:r>
              <a:rPr sz="1200" b="0">
                <a:solidFill>
                  <a:srgbClr val="556070"/>
                </a:solidFill>
                <a:latin typeface="맑은 고딕"/>
              </a:rPr>
              <a:t>22권</a:t>
            </a:r>
          </a:p>
        </p:txBody>
      </p:sp>
      <p:sp>
        <p:nvSpPr>
          <p:cNvPr id="68" name="Rectangle 67"/>
          <p:cNvSpPr/>
          <p:nvPr/>
        </p:nvSpPr>
        <p:spPr>
          <a:xfrm>
            <a:off x="10241280" y="3529584"/>
            <a:ext cx="1554480" cy="502920"/>
          </a:xfrm>
          <a:prstGeom prst="rect">
            <a:avLst/>
          </a:prstGeom>
          <a:solidFill>
            <a:srgbClr val="FAFA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9" name="TextBox 68"/>
          <p:cNvSpPr txBox="1"/>
          <p:nvPr/>
        </p:nvSpPr>
        <p:spPr>
          <a:xfrm>
            <a:off x="10241280" y="3648456"/>
            <a:ext cx="155448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/>
            <a:r>
              <a:rPr sz="1100" b="0">
                <a:solidFill>
                  <a:srgbClr val="1F2A44"/>
                </a:solidFill>
                <a:latin typeface="맑은 고딕"/>
              </a:rPr>
              <a:t>502~556</a:t>
            </a:r>
          </a:p>
        </p:txBody>
      </p:sp>
      <p:sp>
        <p:nvSpPr>
          <p:cNvPr id="70" name="Rectangle 69"/>
          <p:cNvSpPr/>
          <p:nvPr/>
        </p:nvSpPr>
        <p:spPr>
          <a:xfrm>
            <a:off x="457200" y="4096512"/>
            <a:ext cx="548640" cy="502920"/>
          </a:xfrm>
          <a:prstGeom prst="rect">
            <a:avLst/>
          </a:prstGeom>
          <a:solidFill>
            <a:srgbClr val="8B1A1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1" name="TextBox 70"/>
          <p:cNvSpPr txBox="1"/>
          <p:nvPr/>
        </p:nvSpPr>
        <p:spPr>
          <a:xfrm>
            <a:off x="457200" y="4215384"/>
            <a:ext cx="54864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/>
            <a:r>
              <a:rPr sz="1400" b="1">
                <a:solidFill>
                  <a:srgbClr val="FFFFFF"/>
                </a:solidFill>
                <a:latin typeface="맑은 고딕"/>
              </a:rPr>
              <a:t>9</a:t>
            </a:r>
          </a:p>
        </p:txBody>
      </p:sp>
      <p:sp>
        <p:nvSpPr>
          <p:cNvPr id="72" name="Rectangle 71"/>
          <p:cNvSpPr/>
          <p:nvPr/>
        </p:nvSpPr>
        <p:spPr>
          <a:xfrm>
            <a:off x="1097280" y="4096512"/>
            <a:ext cx="2011680" cy="502920"/>
          </a:xfrm>
          <a:prstGeom prst="rect">
            <a:avLst/>
          </a:prstGeom>
          <a:solidFill>
            <a:srgbClr val="F5EED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3" name="TextBox 72"/>
          <p:cNvSpPr txBox="1"/>
          <p:nvPr/>
        </p:nvSpPr>
        <p:spPr>
          <a:xfrm>
            <a:off x="1097280" y="4215384"/>
            <a:ext cx="201168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/>
            <a:r>
              <a:rPr sz="1300" b="1">
                <a:solidFill>
                  <a:srgbClr val="8B1A1A"/>
                </a:solidFill>
                <a:latin typeface="맑은 고딕"/>
              </a:rPr>
              <a:t>진기(陳紀)</a:t>
            </a:r>
          </a:p>
        </p:txBody>
      </p:sp>
      <p:sp>
        <p:nvSpPr>
          <p:cNvPr id="74" name="Rectangle 73"/>
          <p:cNvSpPr/>
          <p:nvPr/>
        </p:nvSpPr>
        <p:spPr>
          <a:xfrm>
            <a:off x="3200400" y="4096512"/>
            <a:ext cx="1097280" cy="502920"/>
          </a:xfrm>
          <a:prstGeom prst="rect">
            <a:avLst/>
          </a:prstGeom>
          <a:solidFill>
            <a:srgbClr val="FAFA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5" name="TextBox 74"/>
          <p:cNvSpPr txBox="1"/>
          <p:nvPr/>
        </p:nvSpPr>
        <p:spPr>
          <a:xfrm>
            <a:off x="3200400" y="4215384"/>
            <a:ext cx="109728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/>
            <a:r>
              <a:rPr sz="1200" b="0">
                <a:solidFill>
                  <a:srgbClr val="556070"/>
                </a:solidFill>
                <a:latin typeface="맑은 고딕"/>
              </a:rPr>
              <a:t>10권</a:t>
            </a:r>
          </a:p>
        </p:txBody>
      </p:sp>
      <p:sp>
        <p:nvSpPr>
          <p:cNvPr id="76" name="Rectangle 75"/>
          <p:cNvSpPr/>
          <p:nvPr/>
        </p:nvSpPr>
        <p:spPr>
          <a:xfrm>
            <a:off x="4389120" y="4096512"/>
            <a:ext cx="1554480" cy="502920"/>
          </a:xfrm>
          <a:prstGeom prst="rect">
            <a:avLst/>
          </a:prstGeom>
          <a:solidFill>
            <a:srgbClr val="FAFA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7" name="TextBox 76"/>
          <p:cNvSpPr txBox="1"/>
          <p:nvPr/>
        </p:nvSpPr>
        <p:spPr>
          <a:xfrm>
            <a:off x="4389120" y="4215384"/>
            <a:ext cx="155448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/>
            <a:r>
              <a:rPr sz="1100" b="0">
                <a:solidFill>
                  <a:srgbClr val="1F2A44"/>
                </a:solidFill>
                <a:latin typeface="맑은 고딕"/>
              </a:rPr>
              <a:t>557~588</a:t>
            </a:r>
          </a:p>
        </p:txBody>
      </p:sp>
      <p:sp>
        <p:nvSpPr>
          <p:cNvPr id="78" name="Rectangle 77"/>
          <p:cNvSpPr/>
          <p:nvPr/>
        </p:nvSpPr>
        <p:spPr>
          <a:xfrm>
            <a:off x="6309360" y="4096512"/>
            <a:ext cx="548640" cy="502920"/>
          </a:xfrm>
          <a:prstGeom prst="rect">
            <a:avLst/>
          </a:prstGeom>
          <a:solidFill>
            <a:srgbClr val="8B1A1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9" name="TextBox 78"/>
          <p:cNvSpPr txBox="1"/>
          <p:nvPr/>
        </p:nvSpPr>
        <p:spPr>
          <a:xfrm>
            <a:off x="6309360" y="4215384"/>
            <a:ext cx="54864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/>
            <a:r>
              <a:rPr sz="1400" b="1">
                <a:solidFill>
                  <a:srgbClr val="FFFFFF"/>
                </a:solidFill>
                <a:latin typeface="맑은 고딕"/>
              </a:rPr>
              <a:t>10</a:t>
            </a:r>
          </a:p>
        </p:txBody>
      </p:sp>
      <p:sp>
        <p:nvSpPr>
          <p:cNvPr id="80" name="Rectangle 79"/>
          <p:cNvSpPr/>
          <p:nvPr/>
        </p:nvSpPr>
        <p:spPr>
          <a:xfrm>
            <a:off x="6949440" y="4096512"/>
            <a:ext cx="2011680" cy="502920"/>
          </a:xfrm>
          <a:prstGeom prst="rect">
            <a:avLst/>
          </a:prstGeom>
          <a:solidFill>
            <a:srgbClr val="F5EED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1" name="TextBox 80"/>
          <p:cNvSpPr txBox="1"/>
          <p:nvPr/>
        </p:nvSpPr>
        <p:spPr>
          <a:xfrm>
            <a:off x="6949440" y="4215384"/>
            <a:ext cx="201168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/>
            <a:r>
              <a:rPr sz="1300" b="1">
                <a:solidFill>
                  <a:srgbClr val="8B1A1A"/>
                </a:solidFill>
                <a:latin typeface="맑은 고딕"/>
              </a:rPr>
              <a:t>수기(隋紀)</a:t>
            </a:r>
          </a:p>
        </p:txBody>
      </p:sp>
      <p:sp>
        <p:nvSpPr>
          <p:cNvPr id="82" name="Rectangle 81"/>
          <p:cNvSpPr/>
          <p:nvPr/>
        </p:nvSpPr>
        <p:spPr>
          <a:xfrm>
            <a:off x="9052560" y="4096512"/>
            <a:ext cx="1097280" cy="502920"/>
          </a:xfrm>
          <a:prstGeom prst="rect">
            <a:avLst/>
          </a:prstGeom>
          <a:solidFill>
            <a:srgbClr val="FAFA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3" name="TextBox 82"/>
          <p:cNvSpPr txBox="1"/>
          <p:nvPr/>
        </p:nvSpPr>
        <p:spPr>
          <a:xfrm>
            <a:off x="9052560" y="4215384"/>
            <a:ext cx="109728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/>
            <a:r>
              <a:rPr sz="1200" b="0">
                <a:solidFill>
                  <a:srgbClr val="556070"/>
                </a:solidFill>
                <a:latin typeface="맑은 고딕"/>
              </a:rPr>
              <a:t>8권</a:t>
            </a:r>
          </a:p>
        </p:txBody>
      </p:sp>
      <p:sp>
        <p:nvSpPr>
          <p:cNvPr id="84" name="Rectangle 83"/>
          <p:cNvSpPr/>
          <p:nvPr/>
        </p:nvSpPr>
        <p:spPr>
          <a:xfrm>
            <a:off x="10241280" y="4096512"/>
            <a:ext cx="1554480" cy="502920"/>
          </a:xfrm>
          <a:prstGeom prst="rect">
            <a:avLst/>
          </a:prstGeom>
          <a:solidFill>
            <a:srgbClr val="FAFA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5" name="TextBox 84"/>
          <p:cNvSpPr txBox="1"/>
          <p:nvPr/>
        </p:nvSpPr>
        <p:spPr>
          <a:xfrm>
            <a:off x="10241280" y="4215384"/>
            <a:ext cx="155448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/>
            <a:r>
              <a:rPr sz="1100" b="0">
                <a:solidFill>
                  <a:srgbClr val="1F2A44"/>
                </a:solidFill>
                <a:latin typeface="맑은 고딕"/>
              </a:rPr>
              <a:t>589~617</a:t>
            </a:r>
          </a:p>
        </p:txBody>
      </p:sp>
      <p:sp>
        <p:nvSpPr>
          <p:cNvPr id="86" name="Rectangle 85"/>
          <p:cNvSpPr/>
          <p:nvPr/>
        </p:nvSpPr>
        <p:spPr>
          <a:xfrm>
            <a:off x="457200" y="4663440"/>
            <a:ext cx="548640" cy="502920"/>
          </a:xfrm>
          <a:prstGeom prst="rect">
            <a:avLst/>
          </a:prstGeom>
          <a:solidFill>
            <a:srgbClr val="8B1A1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7" name="TextBox 86"/>
          <p:cNvSpPr txBox="1"/>
          <p:nvPr/>
        </p:nvSpPr>
        <p:spPr>
          <a:xfrm>
            <a:off x="457200" y="4782312"/>
            <a:ext cx="54864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/>
            <a:r>
              <a:rPr sz="1400" b="1">
                <a:solidFill>
                  <a:srgbClr val="FFFFFF"/>
                </a:solidFill>
                <a:latin typeface="맑은 고딕"/>
              </a:rPr>
              <a:t>11</a:t>
            </a:r>
          </a:p>
        </p:txBody>
      </p:sp>
      <p:sp>
        <p:nvSpPr>
          <p:cNvPr id="88" name="Rectangle 87"/>
          <p:cNvSpPr/>
          <p:nvPr/>
        </p:nvSpPr>
        <p:spPr>
          <a:xfrm>
            <a:off x="1097280" y="4663440"/>
            <a:ext cx="2011680" cy="502920"/>
          </a:xfrm>
          <a:prstGeom prst="rect">
            <a:avLst/>
          </a:prstGeom>
          <a:solidFill>
            <a:srgbClr val="F5EED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9" name="TextBox 88"/>
          <p:cNvSpPr txBox="1"/>
          <p:nvPr/>
        </p:nvSpPr>
        <p:spPr>
          <a:xfrm>
            <a:off x="1097280" y="4782312"/>
            <a:ext cx="201168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/>
            <a:r>
              <a:rPr sz="1300" b="1">
                <a:solidFill>
                  <a:srgbClr val="8B1A1A"/>
                </a:solidFill>
                <a:latin typeface="맑은 고딕"/>
              </a:rPr>
              <a:t>당기(唐紀)</a:t>
            </a:r>
          </a:p>
        </p:txBody>
      </p:sp>
      <p:sp>
        <p:nvSpPr>
          <p:cNvPr id="90" name="Rectangle 89"/>
          <p:cNvSpPr/>
          <p:nvPr/>
        </p:nvSpPr>
        <p:spPr>
          <a:xfrm>
            <a:off x="3200400" y="4663440"/>
            <a:ext cx="1097280" cy="502920"/>
          </a:xfrm>
          <a:prstGeom prst="rect">
            <a:avLst/>
          </a:prstGeom>
          <a:solidFill>
            <a:srgbClr val="FAFA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1" name="TextBox 90"/>
          <p:cNvSpPr txBox="1"/>
          <p:nvPr/>
        </p:nvSpPr>
        <p:spPr>
          <a:xfrm>
            <a:off x="3200400" y="4782312"/>
            <a:ext cx="109728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/>
            <a:r>
              <a:rPr sz="1200" b="0">
                <a:solidFill>
                  <a:srgbClr val="556070"/>
                </a:solidFill>
                <a:latin typeface="맑은 고딕"/>
              </a:rPr>
              <a:t>81권</a:t>
            </a:r>
          </a:p>
        </p:txBody>
      </p:sp>
      <p:sp>
        <p:nvSpPr>
          <p:cNvPr id="92" name="Rectangle 91"/>
          <p:cNvSpPr/>
          <p:nvPr/>
        </p:nvSpPr>
        <p:spPr>
          <a:xfrm>
            <a:off x="4389120" y="4663440"/>
            <a:ext cx="1554480" cy="502920"/>
          </a:xfrm>
          <a:prstGeom prst="rect">
            <a:avLst/>
          </a:prstGeom>
          <a:solidFill>
            <a:srgbClr val="FAFA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3" name="TextBox 92"/>
          <p:cNvSpPr txBox="1"/>
          <p:nvPr/>
        </p:nvSpPr>
        <p:spPr>
          <a:xfrm>
            <a:off x="4389120" y="4782312"/>
            <a:ext cx="155448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/>
            <a:r>
              <a:rPr sz="1100" b="0">
                <a:solidFill>
                  <a:srgbClr val="1F2A44"/>
                </a:solidFill>
                <a:latin typeface="맑은 고딕"/>
              </a:rPr>
              <a:t>618~906</a:t>
            </a:r>
          </a:p>
        </p:txBody>
      </p:sp>
      <p:sp>
        <p:nvSpPr>
          <p:cNvPr id="94" name="Rectangle 93"/>
          <p:cNvSpPr/>
          <p:nvPr/>
        </p:nvSpPr>
        <p:spPr>
          <a:xfrm>
            <a:off x="6309360" y="4663440"/>
            <a:ext cx="548640" cy="502920"/>
          </a:xfrm>
          <a:prstGeom prst="rect">
            <a:avLst/>
          </a:prstGeom>
          <a:solidFill>
            <a:srgbClr val="8B1A1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5" name="TextBox 94"/>
          <p:cNvSpPr txBox="1"/>
          <p:nvPr/>
        </p:nvSpPr>
        <p:spPr>
          <a:xfrm>
            <a:off x="6309360" y="4782312"/>
            <a:ext cx="54864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/>
            <a:r>
              <a:rPr sz="1400" b="1">
                <a:solidFill>
                  <a:srgbClr val="FFFFFF"/>
                </a:solidFill>
                <a:latin typeface="맑은 고딕"/>
              </a:rPr>
              <a:t>12</a:t>
            </a:r>
          </a:p>
        </p:txBody>
      </p:sp>
      <p:sp>
        <p:nvSpPr>
          <p:cNvPr id="96" name="Rectangle 95"/>
          <p:cNvSpPr/>
          <p:nvPr/>
        </p:nvSpPr>
        <p:spPr>
          <a:xfrm>
            <a:off x="6949440" y="4663440"/>
            <a:ext cx="2011680" cy="502920"/>
          </a:xfrm>
          <a:prstGeom prst="rect">
            <a:avLst/>
          </a:prstGeom>
          <a:solidFill>
            <a:srgbClr val="F5EED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7" name="TextBox 96"/>
          <p:cNvSpPr txBox="1"/>
          <p:nvPr/>
        </p:nvSpPr>
        <p:spPr>
          <a:xfrm>
            <a:off x="6949440" y="4782312"/>
            <a:ext cx="201168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/>
            <a:r>
              <a:rPr sz="1300" b="1">
                <a:solidFill>
                  <a:srgbClr val="8B1A1A"/>
                </a:solidFill>
                <a:latin typeface="맑은 고딕"/>
              </a:rPr>
              <a:t>후량기(後梁)</a:t>
            </a:r>
          </a:p>
        </p:txBody>
      </p:sp>
      <p:sp>
        <p:nvSpPr>
          <p:cNvPr id="98" name="Rectangle 97"/>
          <p:cNvSpPr/>
          <p:nvPr/>
        </p:nvSpPr>
        <p:spPr>
          <a:xfrm>
            <a:off x="9052560" y="4663440"/>
            <a:ext cx="1097280" cy="502920"/>
          </a:xfrm>
          <a:prstGeom prst="rect">
            <a:avLst/>
          </a:prstGeom>
          <a:solidFill>
            <a:srgbClr val="FAFA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9" name="TextBox 98"/>
          <p:cNvSpPr txBox="1"/>
          <p:nvPr/>
        </p:nvSpPr>
        <p:spPr>
          <a:xfrm>
            <a:off x="9052560" y="4782312"/>
            <a:ext cx="109728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/>
            <a:r>
              <a:rPr sz="1200" b="0">
                <a:solidFill>
                  <a:srgbClr val="556070"/>
                </a:solidFill>
                <a:latin typeface="맑은 고딕"/>
              </a:rPr>
              <a:t>6권</a:t>
            </a:r>
          </a:p>
        </p:txBody>
      </p:sp>
      <p:sp>
        <p:nvSpPr>
          <p:cNvPr id="100" name="Rectangle 99"/>
          <p:cNvSpPr/>
          <p:nvPr/>
        </p:nvSpPr>
        <p:spPr>
          <a:xfrm>
            <a:off x="10241280" y="4663440"/>
            <a:ext cx="1554480" cy="502920"/>
          </a:xfrm>
          <a:prstGeom prst="rect">
            <a:avLst/>
          </a:prstGeom>
          <a:solidFill>
            <a:srgbClr val="FAFA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1" name="TextBox 100"/>
          <p:cNvSpPr txBox="1"/>
          <p:nvPr/>
        </p:nvSpPr>
        <p:spPr>
          <a:xfrm>
            <a:off x="10241280" y="4782312"/>
            <a:ext cx="155448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/>
            <a:r>
              <a:rPr sz="1100" b="0">
                <a:solidFill>
                  <a:srgbClr val="1F2A44"/>
                </a:solidFill>
                <a:latin typeface="맑은 고딕"/>
              </a:rPr>
              <a:t>907~922</a:t>
            </a:r>
          </a:p>
        </p:txBody>
      </p:sp>
      <p:sp>
        <p:nvSpPr>
          <p:cNvPr id="102" name="Rectangle 101"/>
          <p:cNvSpPr/>
          <p:nvPr/>
        </p:nvSpPr>
        <p:spPr>
          <a:xfrm>
            <a:off x="457200" y="5230368"/>
            <a:ext cx="548640" cy="502920"/>
          </a:xfrm>
          <a:prstGeom prst="rect">
            <a:avLst/>
          </a:prstGeom>
          <a:solidFill>
            <a:srgbClr val="8B1A1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3" name="TextBox 102"/>
          <p:cNvSpPr txBox="1"/>
          <p:nvPr/>
        </p:nvSpPr>
        <p:spPr>
          <a:xfrm>
            <a:off x="457200" y="5349240"/>
            <a:ext cx="54864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/>
            <a:r>
              <a:rPr sz="1400" b="1">
                <a:solidFill>
                  <a:srgbClr val="FFFFFF"/>
                </a:solidFill>
                <a:latin typeface="맑은 고딕"/>
              </a:rPr>
              <a:t>13</a:t>
            </a:r>
          </a:p>
        </p:txBody>
      </p:sp>
      <p:sp>
        <p:nvSpPr>
          <p:cNvPr id="104" name="Rectangle 103"/>
          <p:cNvSpPr/>
          <p:nvPr/>
        </p:nvSpPr>
        <p:spPr>
          <a:xfrm>
            <a:off x="1097280" y="5230368"/>
            <a:ext cx="2011680" cy="502920"/>
          </a:xfrm>
          <a:prstGeom prst="rect">
            <a:avLst/>
          </a:prstGeom>
          <a:solidFill>
            <a:srgbClr val="F5EED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5" name="TextBox 104"/>
          <p:cNvSpPr txBox="1"/>
          <p:nvPr/>
        </p:nvSpPr>
        <p:spPr>
          <a:xfrm>
            <a:off x="1097280" y="5349240"/>
            <a:ext cx="201168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/>
            <a:r>
              <a:rPr sz="1300" b="1">
                <a:solidFill>
                  <a:srgbClr val="8B1A1A"/>
                </a:solidFill>
                <a:latin typeface="맑은 고딕"/>
              </a:rPr>
              <a:t>후당기(後唐)</a:t>
            </a:r>
          </a:p>
        </p:txBody>
      </p:sp>
      <p:sp>
        <p:nvSpPr>
          <p:cNvPr id="106" name="Rectangle 105"/>
          <p:cNvSpPr/>
          <p:nvPr/>
        </p:nvSpPr>
        <p:spPr>
          <a:xfrm>
            <a:off x="3200400" y="5230368"/>
            <a:ext cx="1097280" cy="502920"/>
          </a:xfrm>
          <a:prstGeom prst="rect">
            <a:avLst/>
          </a:prstGeom>
          <a:solidFill>
            <a:srgbClr val="FAFA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7" name="TextBox 106"/>
          <p:cNvSpPr txBox="1"/>
          <p:nvPr/>
        </p:nvSpPr>
        <p:spPr>
          <a:xfrm>
            <a:off x="3200400" y="5349240"/>
            <a:ext cx="109728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/>
            <a:r>
              <a:rPr sz="1200" b="0">
                <a:solidFill>
                  <a:srgbClr val="556070"/>
                </a:solidFill>
                <a:latin typeface="맑은 고딕"/>
              </a:rPr>
              <a:t>8권</a:t>
            </a:r>
          </a:p>
        </p:txBody>
      </p:sp>
      <p:sp>
        <p:nvSpPr>
          <p:cNvPr id="108" name="Rectangle 107"/>
          <p:cNvSpPr/>
          <p:nvPr/>
        </p:nvSpPr>
        <p:spPr>
          <a:xfrm>
            <a:off x="4389120" y="5230368"/>
            <a:ext cx="1554480" cy="502920"/>
          </a:xfrm>
          <a:prstGeom prst="rect">
            <a:avLst/>
          </a:prstGeom>
          <a:solidFill>
            <a:srgbClr val="FAFA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9" name="TextBox 108"/>
          <p:cNvSpPr txBox="1"/>
          <p:nvPr/>
        </p:nvSpPr>
        <p:spPr>
          <a:xfrm>
            <a:off x="4389120" y="5349240"/>
            <a:ext cx="155448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/>
            <a:r>
              <a:rPr sz="1100" b="0">
                <a:solidFill>
                  <a:srgbClr val="1F2A44"/>
                </a:solidFill>
                <a:latin typeface="맑은 고딕"/>
              </a:rPr>
              <a:t>923~935</a:t>
            </a:r>
          </a:p>
        </p:txBody>
      </p:sp>
      <p:sp>
        <p:nvSpPr>
          <p:cNvPr id="110" name="Rectangle 109"/>
          <p:cNvSpPr/>
          <p:nvPr/>
        </p:nvSpPr>
        <p:spPr>
          <a:xfrm>
            <a:off x="6309360" y="5230368"/>
            <a:ext cx="548640" cy="502920"/>
          </a:xfrm>
          <a:prstGeom prst="rect">
            <a:avLst/>
          </a:prstGeom>
          <a:solidFill>
            <a:srgbClr val="8B1A1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1" name="TextBox 110"/>
          <p:cNvSpPr txBox="1"/>
          <p:nvPr/>
        </p:nvSpPr>
        <p:spPr>
          <a:xfrm>
            <a:off x="6309360" y="5349240"/>
            <a:ext cx="54864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/>
            <a:r>
              <a:rPr sz="1400" b="1">
                <a:solidFill>
                  <a:srgbClr val="FFFFFF"/>
                </a:solidFill>
                <a:latin typeface="맑은 고딕"/>
              </a:rPr>
              <a:t>14</a:t>
            </a:r>
          </a:p>
        </p:txBody>
      </p:sp>
      <p:sp>
        <p:nvSpPr>
          <p:cNvPr id="112" name="Rectangle 111"/>
          <p:cNvSpPr/>
          <p:nvPr/>
        </p:nvSpPr>
        <p:spPr>
          <a:xfrm>
            <a:off x="6949440" y="5230368"/>
            <a:ext cx="2011680" cy="502920"/>
          </a:xfrm>
          <a:prstGeom prst="rect">
            <a:avLst/>
          </a:prstGeom>
          <a:solidFill>
            <a:srgbClr val="F5EED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3" name="TextBox 112"/>
          <p:cNvSpPr txBox="1"/>
          <p:nvPr/>
        </p:nvSpPr>
        <p:spPr>
          <a:xfrm>
            <a:off x="6949440" y="5349240"/>
            <a:ext cx="201168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/>
            <a:r>
              <a:rPr sz="1300" b="1">
                <a:solidFill>
                  <a:srgbClr val="8B1A1A"/>
                </a:solidFill>
                <a:latin typeface="맑은 고딕"/>
              </a:rPr>
              <a:t>후진기(後晉)</a:t>
            </a:r>
          </a:p>
        </p:txBody>
      </p:sp>
      <p:sp>
        <p:nvSpPr>
          <p:cNvPr id="114" name="Rectangle 113"/>
          <p:cNvSpPr/>
          <p:nvPr/>
        </p:nvSpPr>
        <p:spPr>
          <a:xfrm>
            <a:off x="9052560" y="5230368"/>
            <a:ext cx="1097280" cy="502920"/>
          </a:xfrm>
          <a:prstGeom prst="rect">
            <a:avLst/>
          </a:prstGeom>
          <a:solidFill>
            <a:srgbClr val="FAFA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5" name="TextBox 114"/>
          <p:cNvSpPr txBox="1"/>
          <p:nvPr/>
        </p:nvSpPr>
        <p:spPr>
          <a:xfrm>
            <a:off x="9052560" y="5349240"/>
            <a:ext cx="109728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/>
            <a:r>
              <a:rPr sz="1200" b="0">
                <a:solidFill>
                  <a:srgbClr val="556070"/>
                </a:solidFill>
                <a:latin typeface="맑은 고딕"/>
              </a:rPr>
              <a:t>6권</a:t>
            </a:r>
          </a:p>
        </p:txBody>
      </p:sp>
      <p:sp>
        <p:nvSpPr>
          <p:cNvPr id="116" name="Rectangle 115"/>
          <p:cNvSpPr/>
          <p:nvPr/>
        </p:nvSpPr>
        <p:spPr>
          <a:xfrm>
            <a:off x="10241280" y="5230368"/>
            <a:ext cx="1554480" cy="502920"/>
          </a:xfrm>
          <a:prstGeom prst="rect">
            <a:avLst/>
          </a:prstGeom>
          <a:solidFill>
            <a:srgbClr val="FAFA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7" name="TextBox 116"/>
          <p:cNvSpPr txBox="1"/>
          <p:nvPr/>
        </p:nvSpPr>
        <p:spPr>
          <a:xfrm>
            <a:off x="10241280" y="5349240"/>
            <a:ext cx="155448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/>
            <a:r>
              <a:rPr sz="1100" b="0">
                <a:solidFill>
                  <a:srgbClr val="1F2A44"/>
                </a:solidFill>
                <a:latin typeface="맑은 고딕"/>
              </a:rPr>
              <a:t>936~946</a:t>
            </a:r>
          </a:p>
        </p:txBody>
      </p:sp>
      <p:sp>
        <p:nvSpPr>
          <p:cNvPr id="118" name="Rectangle 117"/>
          <p:cNvSpPr/>
          <p:nvPr/>
        </p:nvSpPr>
        <p:spPr>
          <a:xfrm>
            <a:off x="457200" y="5797296"/>
            <a:ext cx="548640" cy="502920"/>
          </a:xfrm>
          <a:prstGeom prst="rect">
            <a:avLst/>
          </a:prstGeom>
          <a:solidFill>
            <a:srgbClr val="8B1A1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9" name="TextBox 118"/>
          <p:cNvSpPr txBox="1"/>
          <p:nvPr/>
        </p:nvSpPr>
        <p:spPr>
          <a:xfrm>
            <a:off x="457200" y="5916168"/>
            <a:ext cx="54864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/>
            <a:r>
              <a:rPr sz="1400" b="1">
                <a:solidFill>
                  <a:srgbClr val="FFFFFF"/>
                </a:solidFill>
                <a:latin typeface="맑은 고딕"/>
              </a:rPr>
              <a:t>15</a:t>
            </a:r>
          </a:p>
        </p:txBody>
      </p:sp>
      <p:sp>
        <p:nvSpPr>
          <p:cNvPr id="120" name="Rectangle 119"/>
          <p:cNvSpPr/>
          <p:nvPr/>
        </p:nvSpPr>
        <p:spPr>
          <a:xfrm>
            <a:off x="1097280" y="5797296"/>
            <a:ext cx="2011680" cy="502920"/>
          </a:xfrm>
          <a:prstGeom prst="rect">
            <a:avLst/>
          </a:prstGeom>
          <a:solidFill>
            <a:srgbClr val="F5EED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1" name="TextBox 120"/>
          <p:cNvSpPr txBox="1"/>
          <p:nvPr/>
        </p:nvSpPr>
        <p:spPr>
          <a:xfrm>
            <a:off x="1097280" y="5916168"/>
            <a:ext cx="201168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/>
            <a:r>
              <a:rPr sz="1300" b="1">
                <a:solidFill>
                  <a:srgbClr val="8B1A1A"/>
                </a:solidFill>
                <a:latin typeface="맑은 고딕"/>
              </a:rPr>
              <a:t>후한기(後漢)</a:t>
            </a:r>
          </a:p>
        </p:txBody>
      </p:sp>
      <p:sp>
        <p:nvSpPr>
          <p:cNvPr id="122" name="Rectangle 121"/>
          <p:cNvSpPr/>
          <p:nvPr/>
        </p:nvSpPr>
        <p:spPr>
          <a:xfrm>
            <a:off x="3200400" y="5797296"/>
            <a:ext cx="1097280" cy="502920"/>
          </a:xfrm>
          <a:prstGeom prst="rect">
            <a:avLst/>
          </a:prstGeom>
          <a:solidFill>
            <a:srgbClr val="FAFA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3" name="TextBox 122"/>
          <p:cNvSpPr txBox="1"/>
          <p:nvPr/>
        </p:nvSpPr>
        <p:spPr>
          <a:xfrm>
            <a:off x="3200400" y="5916168"/>
            <a:ext cx="109728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/>
            <a:r>
              <a:rPr sz="1200" b="0">
                <a:solidFill>
                  <a:srgbClr val="556070"/>
                </a:solidFill>
                <a:latin typeface="맑은 고딕"/>
              </a:rPr>
              <a:t>4권</a:t>
            </a:r>
          </a:p>
        </p:txBody>
      </p:sp>
      <p:sp>
        <p:nvSpPr>
          <p:cNvPr id="124" name="Rectangle 123"/>
          <p:cNvSpPr/>
          <p:nvPr/>
        </p:nvSpPr>
        <p:spPr>
          <a:xfrm>
            <a:off x="4389120" y="5797296"/>
            <a:ext cx="1554480" cy="502920"/>
          </a:xfrm>
          <a:prstGeom prst="rect">
            <a:avLst/>
          </a:prstGeom>
          <a:solidFill>
            <a:srgbClr val="FAFA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5" name="TextBox 124"/>
          <p:cNvSpPr txBox="1"/>
          <p:nvPr/>
        </p:nvSpPr>
        <p:spPr>
          <a:xfrm>
            <a:off x="4389120" y="5916168"/>
            <a:ext cx="155448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/>
            <a:r>
              <a:rPr sz="1100" b="0">
                <a:solidFill>
                  <a:srgbClr val="1F2A44"/>
                </a:solidFill>
                <a:latin typeface="맑은 고딕"/>
              </a:rPr>
              <a:t>947~950</a:t>
            </a:r>
          </a:p>
        </p:txBody>
      </p:sp>
      <p:sp>
        <p:nvSpPr>
          <p:cNvPr id="126" name="Rectangle 125"/>
          <p:cNvSpPr/>
          <p:nvPr/>
        </p:nvSpPr>
        <p:spPr>
          <a:xfrm>
            <a:off x="6309360" y="5797296"/>
            <a:ext cx="548640" cy="502920"/>
          </a:xfrm>
          <a:prstGeom prst="rect">
            <a:avLst/>
          </a:prstGeom>
          <a:solidFill>
            <a:srgbClr val="8B1A1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7" name="TextBox 126"/>
          <p:cNvSpPr txBox="1"/>
          <p:nvPr/>
        </p:nvSpPr>
        <p:spPr>
          <a:xfrm>
            <a:off x="6309360" y="5916168"/>
            <a:ext cx="54864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/>
            <a:r>
              <a:rPr sz="1400" b="1">
                <a:solidFill>
                  <a:srgbClr val="FFFFFF"/>
                </a:solidFill>
                <a:latin typeface="맑은 고딕"/>
              </a:rPr>
              <a:t>16</a:t>
            </a:r>
          </a:p>
        </p:txBody>
      </p:sp>
      <p:sp>
        <p:nvSpPr>
          <p:cNvPr id="128" name="Rectangle 127"/>
          <p:cNvSpPr/>
          <p:nvPr/>
        </p:nvSpPr>
        <p:spPr>
          <a:xfrm>
            <a:off x="6949440" y="5797296"/>
            <a:ext cx="2011680" cy="502920"/>
          </a:xfrm>
          <a:prstGeom prst="rect">
            <a:avLst/>
          </a:prstGeom>
          <a:solidFill>
            <a:srgbClr val="F5EED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9" name="TextBox 128"/>
          <p:cNvSpPr txBox="1"/>
          <p:nvPr/>
        </p:nvSpPr>
        <p:spPr>
          <a:xfrm>
            <a:off x="6949440" y="5916168"/>
            <a:ext cx="201168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/>
            <a:r>
              <a:rPr sz="1300" b="1">
                <a:solidFill>
                  <a:srgbClr val="8B1A1A"/>
                </a:solidFill>
                <a:latin typeface="맑은 고딕"/>
              </a:rPr>
              <a:t>후주기(後周)</a:t>
            </a:r>
          </a:p>
        </p:txBody>
      </p:sp>
      <p:sp>
        <p:nvSpPr>
          <p:cNvPr id="130" name="Rectangle 129"/>
          <p:cNvSpPr/>
          <p:nvPr/>
        </p:nvSpPr>
        <p:spPr>
          <a:xfrm>
            <a:off x="9052560" y="5797296"/>
            <a:ext cx="1097280" cy="502920"/>
          </a:xfrm>
          <a:prstGeom prst="rect">
            <a:avLst/>
          </a:prstGeom>
          <a:solidFill>
            <a:srgbClr val="FAFA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1" name="TextBox 130"/>
          <p:cNvSpPr txBox="1"/>
          <p:nvPr/>
        </p:nvSpPr>
        <p:spPr>
          <a:xfrm>
            <a:off x="9052560" y="5916168"/>
            <a:ext cx="109728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/>
            <a:r>
              <a:rPr sz="1200" b="0">
                <a:solidFill>
                  <a:srgbClr val="556070"/>
                </a:solidFill>
                <a:latin typeface="맑은 고딕"/>
              </a:rPr>
              <a:t>5권</a:t>
            </a:r>
          </a:p>
        </p:txBody>
      </p:sp>
      <p:sp>
        <p:nvSpPr>
          <p:cNvPr id="132" name="Rectangle 131"/>
          <p:cNvSpPr/>
          <p:nvPr/>
        </p:nvSpPr>
        <p:spPr>
          <a:xfrm>
            <a:off x="10241280" y="5797296"/>
            <a:ext cx="1554480" cy="502920"/>
          </a:xfrm>
          <a:prstGeom prst="rect">
            <a:avLst/>
          </a:prstGeom>
          <a:solidFill>
            <a:srgbClr val="FAFA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3" name="TextBox 132"/>
          <p:cNvSpPr txBox="1"/>
          <p:nvPr/>
        </p:nvSpPr>
        <p:spPr>
          <a:xfrm>
            <a:off x="10241280" y="5916168"/>
            <a:ext cx="155448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/>
            <a:r>
              <a:rPr sz="1100" b="0">
                <a:solidFill>
                  <a:srgbClr val="1F2A44"/>
                </a:solidFill>
                <a:latin typeface="맑은 고딕"/>
              </a:rPr>
              <a:t>951~959</a:t>
            </a: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91440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100" b="1">
                <a:solidFill>
                  <a:srgbClr val="556070"/>
                </a:solidFill>
                <a:latin typeface="맑은 고딕"/>
              </a:rPr>
              <a:t>Ⅲ. 구조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10972800" y="274320"/>
            <a:ext cx="118872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/>
            <a:r>
              <a:rPr sz="1000" b="0">
                <a:solidFill>
                  <a:srgbClr val="556070"/>
                </a:solidFill>
                <a:latin typeface="맑은 고딕"/>
              </a:rPr>
              <a:t>15 / 70</a:t>
            </a:r>
          </a:p>
        </p:txBody>
      </p:sp>
      <p:cxnSp>
        <p:nvCxnSpPr>
          <p:cNvPr id="4" name="Connector 3"/>
          <p:cNvCxnSpPr/>
          <p:nvPr/>
        </p:nvCxnSpPr>
        <p:spPr>
          <a:xfrm>
            <a:off x="457200" y="594360"/>
            <a:ext cx="11704320" cy="0"/>
          </a:xfrm>
          <a:prstGeom prst="line">
            <a:avLst/>
          </a:prstGeom>
          <a:ln w="25400">
            <a:solidFill>
              <a:srgbClr val="C8A25B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5" name="TextBox 4"/>
          <p:cNvSpPr txBox="1"/>
          <p:nvPr/>
        </p:nvSpPr>
        <p:spPr>
          <a:xfrm>
            <a:off x="457200" y="777240"/>
            <a:ext cx="11704320" cy="6400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3000" b="1">
                <a:solidFill>
                  <a:srgbClr val="1F2A44"/>
                </a:solidFill>
                <a:latin typeface="맑은 고딕"/>
              </a:rPr>
              <a:t>권수 분포 — "어디에 가장 무게를 두었나"</a:t>
            </a:r>
          </a:p>
        </p:txBody>
      </p:sp>
      <p:sp>
        <p:nvSpPr>
          <p:cNvPr id="6" name="Rectangle 5"/>
          <p:cNvSpPr/>
          <p:nvPr/>
        </p:nvSpPr>
        <p:spPr>
          <a:xfrm>
            <a:off x="548640" y="2103120"/>
            <a:ext cx="1828800" cy="502920"/>
          </a:xfrm>
          <a:prstGeom prst="rect">
            <a:avLst/>
          </a:prstGeom>
          <a:solidFill>
            <a:srgbClr val="8B1A1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548640" y="2221991"/>
            <a:ext cx="182880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/>
            <a:r>
              <a:rPr sz="1400" b="1">
                <a:solidFill>
                  <a:srgbClr val="FFFFFF"/>
                </a:solidFill>
                <a:latin typeface="맑은 고딕"/>
              </a:rPr>
              <a:t>당기</a:t>
            </a:r>
          </a:p>
        </p:txBody>
      </p:sp>
      <p:sp>
        <p:nvSpPr>
          <p:cNvPr id="8" name="Rectangle 7"/>
          <p:cNvSpPr/>
          <p:nvPr/>
        </p:nvSpPr>
        <p:spPr>
          <a:xfrm>
            <a:off x="2468880" y="2103120"/>
            <a:ext cx="1188720" cy="502920"/>
          </a:xfrm>
          <a:prstGeom prst="rect">
            <a:avLst/>
          </a:prstGeom>
          <a:solidFill>
            <a:srgbClr val="F5EED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2468880" y="2221991"/>
            <a:ext cx="118872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/>
            <a:r>
              <a:rPr sz="1300" b="1">
                <a:solidFill>
                  <a:srgbClr val="8B1A1A"/>
                </a:solidFill>
                <a:latin typeface="맑은 고딕"/>
              </a:rPr>
              <a:t>81권</a:t>
            </a:r>
          </a:p>
        </p:txBody>
      </p:sp>
      <p:sp>
        <p:nvSpPr>
          <p:cNvPr id="10" name="Rectangle 9"/>
          <p:cNvSpPr/>
          <p:nvPr/>
        </p:nvSpPr>
        <p:spPr>
          <a:xfrm>
            <a:off x="3749039" y="2148839"/>
            <a:ext cx="8686800" cy="411480"/>
          </a:xfrm>
          <a:prstGeom prst="rect">
            <a:avLst/>
          </a:prstGeom>
          <a:solidFill>
            <a:srgbClr val="8B1A1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12527280" y="2221991"/>
            <a:ext cx="137160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200" b="1">
                <a:solidFill>
                  <a:srgbClr val="556070"/>
                </a:solidFill>
                <a:latin typeface="맑은 고딕"/>
              </a:rPr>
              <a:t>28%</a:t>
            </a:r>
          </a:p>
        </p:txBody>
      </p:sp>
      <p:sp>
        <p:nvSpPr>
          <p:cNvPr id="12" name="Rectangle 11"/>
          <p:cNvSpPr/>
          <p:nvPr/>
        </p:nvSpPr>
        <p:spPr>
          <a:xfrm>
            <a:off x="548640" y="2670048"/>
            <a:ext cx="1828800" cy="502920"/>
          </a:xfrm>
          <a:prstGeom prst="rect">
            <a:avLst/>
          </a:prstGeom>
          <a:solidFill>
            <a:srgbClr val="8B1A1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548640" y="2788920"/>
            <a:ext cx="182880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/>
            <a:r>
              <a:rPr sz="1400" b="1">
                <a:solidFill>
                  <a:srgbClr val="FFFFFF"/>
                </a:solidFill>
                <a:latin typeface="맑은 고딕"/>
              </a:rPr>
              <a:t>한기</a:t>
            </a:r>
          </a:p>
        </p:txBody>
      </p:sp>
      <p:sp>
        <p:nvSpPr>
          <p:cNvPr id="14" name="Rectangle 13"/>
          <p:cNvSpPr/>
          <p:nvPr/>
        </p:nvSpPr>
        <p:spPr>
          <a:xfrm>
            <a:off x="2468880" y="2670048"/>
            <a:ext cx="1188720" cy="502920"/>
          </a:xfrm>
          <a:prstGeom prst="rect">
            <a:avLst/>
          </a:prstGeom>
          <a:solidFill>
            <a:srgbClr val="F5EED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2468880" y="2788920"/>
            <a:ext cx="118872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/>
            <a:r>
              <a:rPr sz="1300" b="1">
                <a:solidFill>
                  <a:srgbClr val="8B1A1A"/>
                </a:solidFill>
                <a:latin typeface="맑은 고딕"/>
              </a:rPr>
              <a:t>60권</a:t>
            </a:r>
          </a:p>
        </p:txBody>
      </p:sp>
      <p:sp>
        <p:nvSpPr>
          <p:cNvPr id="16" name="Rectangle 15"/>
          <p:cNvSpPr/>
          <p:nvPr/>
        </p:nvSpPr>
        <p:spPr>
          <a:xfrm>
            <a:off x="3749039" y="2715768"/>
            <a:ext cx="6204857" cy="411480"/>
          </a:xfrm>
          <a:prstGeom prst="rect">
            <a:avLst/>
          </a:prstGeom>
          <a:solidFill>
            <a:srgbClr val="8B1A1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10045337" y="2788920"/>
            <a:ext cx="137160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200" b="1">
                <a:solidFill>
                  <a:srgbClr val="556070"/>
                </a:solidFill>
                <a:latin typeface="맑은 고딕"/>
              </a:rPr>
              <a:t>20%</a:t>
            </a:r>
          </a:p>
        </p:txBody>
      </p:sp>
      <p:sp>
        <p:nvSpPr>
          <p:cNvPr id="18" name="Rectangle 17"/>
          <p:cNvSpPr/>
          <p:nvPr/>
        </p:nvSpPr>
        <p:spPr>
          <a:xfrm>
            <a:off x="548640" y="3236976"/>
            <a:ext cx="1828800" cy="502920"/>
          </a:xfrm>
          <a:prstGeom prst="rect">
            <a:avLst/>
          </a:prstGeom>
          <a:solidFill>
            <a:srgbClr val="8B1A1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548640" y="3355848"/>
            <a:ext cx="182880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/>
            <a:r>
              <a:rPr sz="1400" b="1">
                <a:solidFill>
                  <a:srgbClr val="FFFFFF"/>
                </a:solidFill>
                <a:latin typeface="맑은 고딕"/>
              </a:rPr>
              <a:t>진기(晉)</a:t>
            </a:r>
          </a:p>
        </p:txBody>
      </p:sp>
      <p:sp>
        <p:nvSpPr>
          <p:cNvPr id="20" name="Rectangle 19"/>
          <p:cNvSpPr/>
          <p:nvPr/>
        </p:nvSpPr>
        <p:spPr>
          <a:xfrm>
            <a:off x="2468880" y="3236976"/>
            <a:ext cx="1188720" cy="502920"/>
          </a:xfrm>
          <a:prstGeom prst="rect">
            <a:avLst/>
          </a:prstGeom>
          <a:solidFill>
            <a:srgbClr val="F5EED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2468880" y="3355848"/>
            <a:ext cx="118872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/>
            <a:r>
              <a:rPr sz="1300" b="1">
                <a:solidFill>
                  <a:srgbClr val="8B1A1A"/>
                </a:solidFill>
                <a:latin typeface="맑은 고딕"/>
              </a:rPr>
              <a:t>40권</a:t>
            </a:r>
          </a:p>
        </p:txBody>
      </p:sp>
      <p:sp>
        <p:nvSpPr>
          <p:cNvPr id="22" name="Rectangle 21"/>
          <p:cNvSpPr/>
          <p:nvPr/>
        </p:nvSpPr>
        <p:spPr>
          <a:xfrm>
            <a:off x="3749039" y="3282696"/>
            <a:ext cx="4343400" cy="411480"/>
          </a:xfrm>
          <a:prstGeom prst="rect">
            <a:avLst/>
          </a:prstGeom>
          <a:solidFill>
            <a:srgbClr val="8B1A1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8183879" y="3355848"/>
            <a:ext cx="137160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200" b="1">
                <a:solidFill>
                  <a:srgbClr val="556070"/>
                </a:solidFill>
                <a:latin typeface="맑은 고딕"/>
              </a:rPr>
              <a:t>14%</a:t>
            </a:r>
          </a:p>
        </p:txBody>
      </p:sp>
      <p:sp>
        <p:nvSpPr>
          <p:cNvPr id="24" name="Rectangle 23"/>
          <p:cNvSpPr/>
          <p:nvPr/>
        </p:nvSpPr>
        <p:spPr>
          <a:xfrm>
            <a:off x="548640" y="3803904"/>
            <a:ext cx="1828800" cy="502920"/>
          </a:xfrm>
          <a:prstGeom prst="rect">
            <a:avLst/>
          </a:prstGeom>
          <a:solidFill>
            <a:srgbClr val="8B1A1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548640" y="3922776"/>
            <a:ext cx="182880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/>
            <a:r>
              <a:rPr sz="1400" b="1">
                <a:solidFill>
                  <a:srgbClr val="FFFFFF"/>
                </a:solidFill>
                <a:latin typeface="맑은 고딕"/>
              </a:rPr>
              <a:t>양기</a:t>
            </a:r>
          </a:p>
        </p:txBody>
      </p:sp>
      <p:sp>
        <p:nvSpPr>
          <p:cNvPr id="26" name="Rectangle 25"/>
          <p:cNvSpPr/>
          <p:nvPr/>
        </p:nvSpPr>
        <p:spPr>
          <a:xfrm>
            <a:off x="2468880" y="3803904"/>
            <a:ext cx="1188720" cy="502920"/>
          </a:xfrm>
          <a:prstGeom prst="rect">
            <a:avLst/>
          </a:prstGeom>
          <a:solidFill>
            <a:srgbClr val="F5EED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2468880" y="3922776"/>
            <a:ext cx="118872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/>
            <a:r>
              <a:rPr sz="1300" b="1">
                <a:solidFill>
                  <a:srgbClr val="8B1A1A"/>
                </a:solidFill>
                <a:latin typeface="맑은 고딕"/>
              </a:rPr>
              <a:t>22권</a:t>
            </a:r>
          </a:p>
        </p:txBody>
      </p:sp>
      <p:sp>
        <p:nvSpPr>
          <p:cNvPr id="28" name="Rectangle 27"/>
          <p:cNvSpPr/>
          <p:nvPr/>
        </p:nvSpPr>
        <p:spPr>
          <a:xfrm>
            <a:off x="3749039" y="3849624"/>
            <a:ext cx="2171700" cy="411480"/>
          </a:xfrm>
          <a:prstGeom prst="rect">
            <a:avLst/>
          </a:prstGeom>
          <a:solidFill>
            <a:srgbClr val="8B1A1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TextBox 28"/>
          <p:cNvSpPr txBox="1"/>
          <p:nvPr/>
        </p:nvSpPr>
        <p:spPr>
          <a:xfrm>
            <a:off x="6012179" y="3922776"/>
            <a:ext cx="137160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200" b="1">
                <a:solidFill>
                  <a:srgbClr val="556070"/>
                </a:solidFill>
                <a:latin typeface="맑은 고딕"/>
              </a:rPr>
              <a:t>7%</a:t>
            </a:r>
          </a:p>
        </p:txBody>
      </p:sp>
      <p:sp>
        <p:nvSpPr>
          <p:cNvPr id="30" name="Rectangle 29"/>
          <p:cNvSpPr/>
          <p:nvPr/>
        </p:nvSpPr>
        <p:spPr>
          <a:xfrm>
            <a:off x="548640" y="4370832"/>
            <a:ext cx="1828800" cy="502920"/>
          </a:xfrm>
          <a:prstGeom prst="rect">
            <a:avLst/>
          </a:prstGeom>
          <a:solidFill>
            <a:srgbClr val="8B1A1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TextBox 30"/>
          <p:cNvSpPr txBox="1"/>
          <p:nvPr/>
        </p:nvSpPr>
        <p:spPr>
          <a:xfrm>
            <a:off x="548640" y="4489704"/>
            <a:ext cx="182880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/>
            <a:r>
              <a:rPr sz="1400" b="1">
                <a:solidFill>
                  <a:srgbClr val="FFFFFF"/>
                </a:solidFill>
                <a:latin typeface="맑은 고딕"/>
              </a:rPr>
              <a:t>송기</a:t>
            </a:r>
          </a:p>
        </p:txBody>
      </p:sp>
      <p:sp>
        <p:nvSpPr>
          <p:cNvPr id="32" name="Rectangle 31"/>
          <p:cNvSpPr/>
          <p:nvPr/>
        </p:nvSpPr>
        <p:spPr>
          <a:xfrm>
            <a:off x="2468880" y="4370832"/>
            <a:ext cx="1188720" cy="502920"/>
          </a:xfrm>
          <a:prstGeom prst="rect">
            <a:avLst/>
          </a:prstGeom>
          <a:solidFill>
            <a:srgbClr val="F5EED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TextBox 32"/>
          <p:cNvSpPr txBox="1"/>
          <p:nvPr/>
        </p:nvSpPr>
        <p:spPr>
          <a:xfrm>
            <a:off x="2468880" y="4489704"/>
            <a:ext cx="118872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/>
            <a:r>
              <a:rPr sz="1300" b="1">
                <a:solidFill>
                  <a:srgbClr val="8B1A1A"/>
                </a:solidFill>
                <a:latin typeface="맑은 고딕"/>
              </a:rPr>
              <a:t>16권</a:t>
            </a:r>
          </a:p>
        </p:txBody>
      </p:sp>
      <p:sp>
        <p:nvSpPr>
          <p:cNvPr id="34" name="Rectangle 33"/>
          <p:cNvSpPr/>
          <p:nvPr/>
        </p:nvSpPr>
        <p:spPr>
          <a:xfrm>
            <a:off x="3749039" y="4416552"/>
            <a:ext cx="1551214" cy="411480"/>
          </a:xfrm>
          <a:prstGeom prst="rect">
            <a:avLst/>
          </a:prstGeom>
          <a:solidFill>
            <a:srgbClr val="8B1A1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TextBox 34"/>
          <p:cNvSpPr txBox="1"/>
          <p:nvPr/>
        </p:nvSpPr>
        <p:spPr>
          <a:xfrm>
            <a:off x="5391694" y="4489704"/>
            <a:ext cx="137160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200" b="1">
                <a:solidFill>
                  <a:srgbClr val="556070"/>
                </a:solidFill>
                <a:latin typeface="맑은 고딕"/>
              </a:rPr>
              <a:t>5%</a:t>
            </a:r>
          </a:p>
        </p:txBody>
      </p:sp>
      <p:sp>
        <p:nvSpPr>
          <p:cNvPr id="36" name="Rectangle 35"/>
          <p:cNvSpPr/>
          <p:nvPr/>
        </p:nvSpPr>
        <p:spPr>
          <a:xfrm>
            <a:off x="548640" y="4937760"/>
            <a:ext cx="1828800" cy="502920"/>
          </a:xfrm>
          <a:prstGeom prst="rect">
            <a:avLst/>
          </a:prstGeom>
          <a:solidFill>
            <a:srgbClr val="8B1A1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" name="TextBox 36"/>
          <p:cNvSpPr txBox="1"/>
          <p:nvPr/>
        </p:nvSpPr>
        <p:spPr>
          <a:xfrm>
            <a:off x="548640" y="5056632"/>
            <a:ext cx="182880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/>
            <a:r>
              <a:rPr sz="1400" b="1">
                <a:solidFill>
                  <a:srgbClr val="FFFFFF"/>
                </a:solidFill>
                <a:latin typeface="맑은 고딕"/>
              </a:rPr>
              <a:t>위·제·진·수</a:t>
            </a:r>
          </a:p>
        </p:txBody>
      </p:sp>
      <p:sp>
        <p:nvSpPr>
          <p:cNvPr id="38" name="Rectangle 37"/>
          <p:cNvSpPr/>
          <p:nvPr/>
        </p:nvSpPr>
        <p:spPr>
          <a:xfrm>
            <a:off x="2468880" y="4937760"/>
            <a:ext cx="1188720" cy="502920"/>
          </a:xfrm>
          <a:prstGeom prst="rect">
            <a:avLst/>
          </a:prstGeom>
          <a:solidFill>
            <a:srgbClr val="F5EED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9" name="TextBox 38"/>
          <p:cNvSpPr txBox="1"/>
          <p:nvPr/>
        </p:nvSpPr>
        <p:spPr>
          <a:xfrm>
            <a:off x="2468880" y="5056632"/>
            <a:ext cx="118872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/>
            <a:r>
              <a:rPr sz="1300" b="1">
                <a:solidFill>
                  <a:srgbClr val="8B1A1A"/>
                </a:solidFill>
                <a:latin typeface="맑은 고딕"/>
              </a:rPr>
              <a:t>38권</a:t>
            </a:r>
          </a:p>
        </p:txBody>
      </p:sp>
      <p:sp>
        <p:nvSpPr>
          <p:cNvPr id="40" name="Rectangle 39"/>
          <p:cNvSpPr/>
          <p:nvPr/>
        </p:nvSpPr>
        <p:spPr>
          <a:xfrm>
            <a:off x="3749039" y="4983480"/>
            <a:ext cx="4033157" cy="411480"/>
          </a:xfrm>
          <a:prstGeom prst="rect">
            <a:avLst/>
          </a:prstGeom>
          <a:solidFill>
            <a:srgbClr val="8B1A1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1" name="TextBox 40"/>
          <p:cNvSpPr txBox="1"/>
          <p:nvPr/>
        </p:nvSpPr>
        <p:spPr>
          <a:xfrm>
            <a:off x="7873637" y="5056632"/>
            <a:ext cx="137160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200" b="1">
                <a:solidFill>
                  <a:srgbClr val="556070"/>
                </a:solidFill>
                <a:latin typeface="맑은 고딕"/>
              </a:rPr>
              <a:t>13%</a:t>
            </a:r>
          </a:p>
        </p:txBody>
      </p:sp>
      <p:sp>
        <p:nvSpPr>
          <p:cNvPr id="42" name="Rectangle 41"/>
          <p:cNvSpPr/>
          <p:nvPr/>
        </p:nvSpPr>
        <p:spPr>
          <a:xfrm>
            <a:off x="548640" y="5504688"/>
            <a:ext cx="1828800" cy="502920"/>
          </a:xfrm>
          <a:prstGeom prst="rect">
            <a:avLst/>
          </a:prstGeom>
          <a:solidFill>
            <a:srgbClr val="8B1A1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3" name="TextBox 42"/>
          <p:cNvSpPr txBox="1"/>
          <p:nvPr/>
        </p:nvSpPr>
        <p:spPr>
          <a:xfrm>
            <a:off x="548640" y="5623560"/>
            <a:ext cx="182880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/>
            <a:r>
              <a:rPr sz="1400" b="1">
                <a:solidFill>
                  <a:srgbClr val="FFFFFF"/>
                </a:solidFill>
                <a:latin typeface="맑은 고딕"/>
              </a:rPr>
              <a:t>주·진(秦)</a:t>
            </a:r>
          </a:p>
        </p:txBody>
      </p:sp>
      <p:sp>
        <p:nvSpPr>
          <p:cNvPr id="44" name="Rectangle 43"/>
          <p:cNvSpPr/>
          <p:nvPr/>
        </p:nvSpPr>
        <p:spPr>
          <a:xfrm>
            <a:off x="2468880" y="5504688"/>
            <a:ext cx="1188720" cy="502920"/>
          </a:xfrm>
          <a:prstGeom prst="rect">
            <a:avLst/>
          </a:prstGeom>
          <a:solidFill>
            <a:srgbClr val="F5EED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5" name="TextBox 44"/>
          <p:cNvSpPr txBox="1"/>
          <p:nvPr/>
        </p:nvSpPr>
        <p:spPr>
          <a:xfrm>
            <a:off x="2468880" y="5623560"/>
            <a:ext cx="118872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/>
            <a:r>
              <a:rPr sz="1300" b="1">
                <a:solidFill>
                  <a:srgbClr val="8B1A1A"/>
                </a:solidFill>
                <a:latin typeface="맑은 고딕"/>
              </a:rPr>
              <a:t>8권</a:t>
            </a:r>
          </a:p>
        </p:txBody>
      </p:sp>
      <p:sp>
        <p:nvSpPr>
          <p:cNvPr id="46" name="Rectangle 45"/>
          <p:cNvSpPr/>
          <p:nvPr/>
        </p:nvSpPr>
        <p:spPr>
          <a:xfrm>
            <a:off x="3749039" y="5550408"/>
            <a:ext cx="930728" cy="411480"/>
          </a:xfrm>
          <a:prstGeom prst="rect">
            <a:avLst/>
          </a:prstGeom>
          <a:solidFill>
            <a:srgbClr val="8B1A1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7" name="TextBox 46"/>
          <p:cNvSpPr txBox="1"/>
          <p:nvPr/>
        </p:nvSpPr>
        <p:spPr>
          <a:xfrm>
            <a:off x="4771208" y="5623560"/>
            <a:ext cx="137160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200" b="1">
                <a:solidFill>
                  <a:srgbClr val="556070"/>
                </a:solidFill>
                <a:latin typeface="맑은 고딕"/>
              </a:rPr>
              <a:t>3%</a:t>
            </a:r>
          </a:p>
        </p:txBody>
      </p:sp>
      <p:sp>
        <p:nvSpPr>
          <p:cNvPr id="48" name="Rectangle 47"/>
          <p:cNvSpPr/>
          <p:nvPr/>
        </p:nvSpPr>
        <p:spPr>
          <a:xfrm>
            <a:off x="548640" y="6071616"/>
            <a:ext cx="1828800" cy="502920"/>
          </a:xfrm>
          <a:prstGeom prst="rect">
            <a:avLst/>
          </a:prstGeom>
          <a:solidFill>
            <a:srgbClr val="8B1A1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9" name="TextBox 48"/>
          <p:cNvSpPr txBox="1"/>
          <p:nvPr/>
        </p:nvSpPr>
        <p:spPr>
          <a:xfrm>
            <a:off x="548640" y="6190488"/>
            <a:ext cx="182880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/>
            <a:r>
              <a:rPr sz="1400" b="1">
                <a:solidFill>
                  <a:srgbClr val="FFFFFF"/>
                </a:solidFill>
                <a:latin typeface="맑은 고딕"/>
              </a:rPr>
              <a:t>오대</a:t>
            </a:r>
          </a:p>
        </p:txBody>
      </p:sp>
      <p:sp>
        <p:nvSpPr>
          <p:cNvPr id="50" name="Rectangle 49"/>
          <p:cNvSpPr/>
          <p:nvPr/>
        </p:nvSpPr>
        <p:spPr>
          <a:xfrm>
            <a:off x="2468880" y="6071616"/>
            <a:ext cx="1188720" cy="502920"/>
          </a:xfrm>
          <a:prstGeom prst="rect">
            <a:avLst/>
          </a:prstGeom>
          <a:solidFill>
            <a:srgbClr val="F5EED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1" name="TextBox 50"/>
          <p:cNvSpPr txBox="1"/>
          <p:nvPr/>
        </p:nvSpPr>
        <p:spPr>
          <a:xfrm>
            <a:off x="2468880" y="6190488"/>
            <a:ext cx="118872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/>
            <a:r>
              <a:rPr sz="1300" b="1">
                <a:solidFill>
                  <a:srgbClr val="8B1A1A"/>
                </a:solidFill>
                <a:latin typeface="맑은 고딕"/>
              </a:rPr>
              <a:t>29권</a:t>
            </a:r>
          </a:p>
        </p:txBody>
      </p:sp>
      <p:sp>
        <p:nvSpPr>
          <p:cNvPr id="52" name="Rectangle 51"/>
          <p:cNvSpPr/>
          <p:nvPr/>
        </p:nvSpPr>
        <p:spPr>
          <a:xfrm>
            <a:off x="3749039" y="6117336"/>
            <a:ext cx="3102428" cy="411480"/>
          </a:xfrm>
          <a:prstGeom prst="rect">
            <a:avLst/>
          </a:prstGeom>
          <a:solidFill>
            <a:srgbClr val="8B1A1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3" name="TextBox 52"/>
          <p:cNvSpPr txBox="1"/>
          <p:nvPr/>
        </p:nvSpPr>
        <p:spPr>
          <a:xfrm>
            <a:off x="6942908" y="6190488"/>
            <a:ext cx="137160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200" b="1">
                <a:solidFill>
                  <a:srgbClr val="556070"/>
                </a:solidFill>
                <a:latin typeface="맑은 고딕"/>
              </a:rPr>
              <a:t>10%</a:t>
            </a:r>
          </a:p>
        </p:txBody>
      </p:sp>
      <p:sp>
        <p:nvSpPr>
          <p:cNvPr id="54" name="TextBox 53"/>
          <p:cNvSpPr txBox="1"/>
          <p:nvPr/>
        </p:nvSpPr>
        <p:spPr>
          <a:xfrm>
            <a:off x="457200" y="6400800"/>
            <a:ext cx="1124712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/>
            <a:r>
              <a:rPr sz="1300" b="1">
                <a:solidFill>
                  <a:srgbClr val="8B1A1A"/>
                </a:solidFill>
                <a:latin typeface="맑은 고딕"/>
              </a:rPr>
              <a:t>당기·한기에 절반 — 동양 통사의 두 황금기에 집중</a:t>
            </a: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91440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100" b="1">
                <a:solidFill>
                  <a:srgbClr val="556070"/>
                </a:solidFill>
                <a:latin typeface="맑은 고딕"/>
              </a:rPr>
              <a:t>Ⅲ. 구조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10972800" y="274320"/>
            <a:ext cx="118872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/>
            <a:r>
              <a:rPr sz="1000" b="0">
                <a:solidFill>
                  <a:srgbClr val="556070"/>
                </a:solidFill>
                <a:latin typeface="맑은 고딕"/>
              </a:rPr>
              <a:t>16 / 70</a:t>
            </a:r>
          </a:p>
        </p:txBody>
      </p:sp>
      <p:cxnSp>
        <p:nvCxnSpPr>
          <p:cNvPr id="4" name="Connector 3"/>
          <p:cNvCxnSpPr/>
          <p:nvPr/>
        </p:nvCxnSpPr>
        <p:spPr>
          <a:xfrm>
            <a:off x="457200" y="594360"/>
            <a:ext cx="11704320" cy="0"/>
          </a:xfrm>
          <a:prstGeom prst="line">
            <a:avLst/>
          </a:prstGeom>
          <a:ln w="25400">
            <a:solidFill>
              <a:srgbClr val="C8A25B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5" name="TextBox 4"/>
          <p:cNvSpPr txBox="1"/>
          <p:nvPr/>
        </p:nvSpPr>
        <p:spPr>
          <a:xfrm>
            <a:off x="457200" y="777240"/>
            <a:ext cx="11704320" cy="6400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3000" b="1">
                <a:solidFill>
                  <a:srgbClr val="1F2A44"/>
                </a:solidFill>
                <a:latin typeface="맑은 고딕"/>
              </a:rPr>
              <a:t>보조 문헌 — 통감을 둘러싼 책들</a:t>
            </a:r>
          </a:p>
        </p:txBody>
      </p:sp>
      <p:sp>
        <p:nvSpPr>
          <p:cNvPr id="6" name="Rectangle 5"/>
          <p:cNvSpPr/>
          <p:nvPr/>
        </p:nvSpPr>
        <p:spPr>
          <a:xfrm>
            <a:off x="548640" y="2194560"/>
            <a:ext cx="2286000" cy="640080"/>
          </a:xfrm>
          <a:prstGeom prst="rect">
            <a:avLst/>
          </a:prstGeom>
          <a:solidFill>
            <a:srgbClr val="8B1A1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548640" y="2331720"/>
            <a:ext cx="228600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/>
            <a:r>
              <a:rPr sz="1400" b="1">
                <a:solidFill>
                  <a:srgbClr val="FFFFFF"/>
                </a:solidFill>
                <a:latin typeface="맑은 고딕"/>
              </a:rPr>
              <a:t>목록(目錄)</a:t>
            </a:r>
          </a:p>
        </p:txBody>
      </p:sp>
      <p:sp>
        <p:nvSpPr>
          <p:cNvPr id="8" name="Rectangle 7"/>
          <p:cNvSpPr/>
          <p:nvPr/>
        </p:nvSpPr>
        <p:spPr>
          <a:xfrm>
            <a:off x="2926080" y="2194560"/>
            <a:ext cx="3200400" cy="640080"/>
          </a:xfrm>
          <a:prstGeom prst="rect">
            <a:avLst/>
          </a:prstGeom>
          <a:solidFill>
            <a:srgbClr val="F5EED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3063240" y="2331720"/>
            <a:ext cx="301752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300" b="1">
                <a:solidFill>
                  <a:srgbClr val="8B1A1A"/>
                </a:solidFill>
                <a:latin typeface="맑은 고딕"/>
              </a:rPr>
              <a:t>사마광 친저 · 30권</a:t>
            </a:r>
          </a:p>
        </p:txBody>
      </p:sp>
      <p:sp>
        <p:nvSpPr>
          <p:cNvPr id="10" name="Rectangle 9"/>
          <p:cNvSpPr/>
          <p:nvPr/>
        </p:nvSpPr>
        <p:spPr>
          <a:xfrm>
            <a:off x="6217920" y="2194560"/>
            <a:ext cx="5486400" cy="640080"/>
          </a:xfrm>
          <a:prstGeom prst="rect">
            <a:avLst/>
          </a:prstGeom>
          <a:solidFill>
            <a:srgbClr val="FAFA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6400800" y="2331720"/>
            <a:ext cx="521208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200" b="0">
                <a:solidFill>
                  <a:srgbClr val="1F2A44"/>
                </a:solidFill>
                <a:latin typeface="맑은 고딕"/>
              </a:rPr>
              <a:t>날짜·사건 일람 — 통감의 색인</a:t>
            </a:r>
          </a:p>
        </p:txBody>
      </p:sp>
      <p:sp>
        <p:nvSpPr>
          <p:cNvPr id="12" name="Rectangle 11"/>
          <p:cNvSpPr/>
          <p:nvPr/>
        </p:nvSpPr>
        <p:spPr>
          <a:xfrm>
            <a:off x="548640" y="2971800"/>
            <a:ext cx="2286000" cy="640080"/>
          </a:xfrm>
          <a:prstGeom prst="rect">
            <a:avLst/>
          </a:prstGeom>
          <a:solidFill>
            <a:srgbClr val="8B1A1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548640" y="3108960"/>
            <a:ext cx="228600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/>
            <a:r>
              <a:rPr sz="1400" b="1">
                <a:solidFill>
                  <a:srgbClr val="FFFFFF"/>
                </a:solidFill>
                <a:latin typeface="맑은 고딕"/>
              </a:rPr>
              <a:t>고이(考異)</a:t>
            </a:r>
          </a:p>
        </p:txBody>
      </p:sp>
      <p:sp>
        <p:nvSpPr>
          <p:cNvPr id="14" name="Rectangle 13"/>
          <p:cNvSpPr/>
          <p:nvPr/>
        </p:nvSpPr>
        <p:spPr>
          <a:xfrm>
            <a:off x="2926080" y="2971800"/>
            <a:ext cx="3200400" cy="640080"/>
          </a:xfrm>
          <a:prstGeom prst="rect">
            <a:avLst/>
          </a:prstGeom>
          <a:solidFill>
            <a:srgbClr val="F5EED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3063240" y="3108960"/>
            <a:ext cx="301752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300" b="1">
                <a:solidFill>
                  <a:srgbClr val="8B1A1A"/>
                </a:solidFill>
                <a:latin typeface="맑은 고딕"/>
              </a:rPr>
              <a:t>사마광 친저 · 30권</a:t>
            </a:r>
          </a:p>
        </p:txBody>
      </p:sp>
      <p:sp>
        <p:nvSpPr>
          <p:cNvPr id="16" name="Rectangle 15"/>
          <p:cNvSpPr/>
          <p:nvPr/>
        </p:nvSpPr>
        <p:spPr>
          <a:xfrm>
            <a:off x="6217920" y="2971800"/>
            <a:ext cx="5486400" cy="640080"/>
          </a:xfrm>
          <a:prstGeom prst="rect">
            <a:avLst/>
          </a:prstGeom>
          <a:solidFill>
            <a:srgbClr val="FAFA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6400800" y="3108960"/>
            <a:ext cx="521208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200" b="0">
                <a:solidFill>
                  <a:srgbClr val="1F2A44"/>
                </a:solidFill>
                <a:latin typeface="맑은 고딕"/>
              </a:rPr>
              <a:t>"왜 이 사료를 채택했는가" — 사료 비판</a:t>
            </a:r>
          </a:p>
        </p:txBody>
      </p:sp>
      <p:sp>
        <p:nvSpPr>
          <p:cNvPr id="18" name="Rectangle 17"/>
          <p:cNvSpPr/>
          <p:nvPr/>
        </p:nvSpPr>
        <p:spPr>
          <a:xfrm>
            <a:off x="548640" y="3749039"/>
            <a:ext cx="2286000" cy="640080"/>
          </a:xfrm>
          <a:prstGeom prst="rect">
            <a:avLst/>
          </a:prstGeom>
          <a:solidFill>
            <a:srgbClr val="8B1A1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548640" y="3886200"/>
            <a:ext cx="228600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/>
            <a:r>
              <a:rPr sz="1400" b="1">
                <a:solidFill>
                  <a:srgbClr val="FFFFFF"/>
                </a:solidFill>
                <a:latin typeface="맑은 고딕"/>
              </a:rPr>
              <a:t>통감기사본말</a:t>
            </a:r>
          </a:p>
        </p:txBody>
      </p:sp>
      <p:sp>
        <p:nvSpPr>
          <p:cNvPr id="20" name="Rectangle 19"/>
          <p:cNvSpPr/>
          <p:nvPr/>
        </p:nvSpPr>
        <p:spPr>
          <a:xfrm>
            <a:off x="2926080" y="3749039"/>
            <a:ext cx="3200400" cy="640080"/>
          </a:xfrm>
          <a:prstGeom prst="rect">
            <a:avLst/>
          </a:prstGeom>
          <a:solidFill>
            <a:srgbClr val="F5EED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3063240" y="3886200"/>
            <a:ext cx="301752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300" b="1">
                <a:solidFill>
                  <a:srgbClr val="8B1A1A"/>
                </a:solidFill>
                <a:latin typeface="맑은 고딕"/>
              </a:rPr>
              <a:t>원추(袁樞) · 1174</a:t>
            </a:r>
          </a:p>
        </p:txBody>
      </p:sp>
      <p:sp>
        <p:nvSpPr>
          <p:cNvPr id="22" name="Rectangle 21"/>
          <p:cNvSpPr/>
          <p:nvPr/>
        </p:nvSpPr>
        <p:spPr>
          <a:xfrm>
            <a:off x="6217920" y="3749039"/>
            <a:ext cx="5486400" cy="640080"/>
          </a:xfrm>
          <a:prstGeom prst="rect">
            <a:avLst/>
          </a:prstGeom>
          <a:solidFill>
            <a:srgbClr val="FAFA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6400800" y="3886200"/>
            <a:ext cx="521208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200" b="0">
                <a:solidFill>
                  <a:srgbClr val="1F2A44"/>
                </a:solidFill>
                <a:latin typeface="맑은 고딕"/>
              </a:rPr>
              <a:t>사건별 재편 — 기사본말체의 시조</a:t>
            </a:r>
          </a:p>
        </p:txBody>
      </p:sp>
      <p:sp>
        <p:nvSpPr>
          <p:cNvPr id="24" name="Rectangle 23"/>
          <p:cNvSpPr/>
          <p:nvPr/>
        </p:nvSpPr>
        <p:spPr>
          <a:xfrm>
            <a:off x="548640" y="4526279"/>
            <a:ext cx="2286000" cy="640080"/>
          </a:xfrm>
          <a:prstGeom prst="rect">
            <a:avLst/>
          </a:prstGeom>
          <a:solidFill>
            <a:srgbClr val="8B1A1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548640" y="4663440"/>
            <a:ext cx="228600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/>
            <a:r>
              <a:rPr sz="1400" b="1">
                <a:solidFill>
                  <a:srgbClr val="FFFFFF"/>
                </a:solidFill>
                <a:latin typeface="맑은 고딕"/>
              </a:rPr>
              <a:t>통감강목(綱目)</a:t>
            </a:r>
          </a:p>
        </p:txBody>
      </p:sp>
      <p:sp>
        <p:nvSpPr>
          <p:cNvPr id="26" name="Rectangle 25"/>
          <p:cNvSpPr/>
          <p:nvPr/>
        </p:nvSpPr>
        <p:spPr>
          <a:xfrm>
            <a:off x="2926080" y="4526279"/>
            <a:ext cx="3200400" cy="640080"/>
          </a:xfrm>
          <a:prstGeom prst="rect">
            <a:avLst/>
          </a:prstGeom>
          <a:solidFill>
            <a:srgbClr val="F5EED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3063240" y="4663440"/>
            <a:ext cx="301752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300" b="1">
                <a:solidFill>
                  <a:srgbClr val="8B1A1A"/>
                </a:solidFill>
                <a:latin typeface="맑은 고딕"/>
              </a:rPr>
              <a:t>주희(朱熹) · 1172</a:t>
            </a:r>
          </a:p>
        </p:txBody>
      </p:sp>
      <p:sp>
        <p:nvSpPr>
          <p:cNvPr id="28" name="Rectangle 27"/>
          <p:cNvSpPr/>
          <p:nvPr/>
        </p:nvSpPr>
        <p:spPr>
          <a:xfrm>
            <a:off x="6217920" y="4526279"/>
            <a:ext cx="5486400" cy="640080"/>
          </a:xfrm>
          <a:prstGeom prst="rect">
            <a:avLst/>
          </a:prstGeom>
          <a:solidFill>
            <a:srgbClr val="FAFA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TextBox 28"/>
          <p:cNvSpPr txBox="1"/>
          <p:nvPr/>
        </p:nvSpPr>
        <p:spPr>
          <a:xfrm>
            <a:off x="6400800" y="4663440"/>
            <a:ext cx="521208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200" b="0">
                <a:solidFill>
                  <a:srgbClr val="1F2A44"/>
                </a:solidFill>
                <a:latin typeface="맑은 고딕"/>
              </a:rPr>
              <a:t>도덕적 재해석 — 성리학적 시각</a:t>
            </a:r>
          </a:p>
        </p:txBody>
      </p:sp>
      <p:sp>
        <p:nvSpPr>
          <p:cNvPr id="30" name="Rectangle 29"/>
          <p:cNvSpPr/>
          <p:nvPr/>
        </p:nvSpPr>
        <p:spPr>
          <a:xfrm>
            <a:off x="548640" y="5303519"/>
            <a:ext cx="2286000" cy="640080"/>
          </a:xfrm>
          <a:prstGeom prst="rect">
            <a:avLst/>
          </a:prstGeom>
          <a:solidFill>
            <a:srgbClr val="8B1A1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TextBox 30"/>
          <p:cNvSpPr txBox="1"/>
          <p:nvPr/>
        </p:nvSpPr>
        <p:spPr>
          <a:xfrm>
            <a:off x="548640" y="5440679"/>
            <a:ext cx="228600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/>
            <a:r>
              <a:rPr sz="1400" b="1">
                <a:solidFill>
                  <a:srgbClr val="FFFFFF"/>
                </a:solidFill>
                <a:latin typeface="맑은 고딕"/>
              </a:rPr>
              <a:t>통감속편</a:t>
            </a:r>
          </a:p>
        </p:txBody>
      </p:sp>
      <p:sp>
        <p:nvSpPr>
          <p:cNvPr id="32" name="Rectangle 31"/>
          <p:cNvSpPr/>
          <p:nvPr/>
        </p:nvSpPr>
        <p:spPr>
          <a:xfrm>
            <a:off x="2926080" y="5303519"/>
            <a:ext cx="3200400" cy="640080"/>
          </a:xfrm>
          <a:prstGeom prst="rect">
            <a:avLst/>
          </a:prstGeom>
          <a:solidFill>
            <a:srgbClr val="F5EED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TextBox 32"/>
          <p:cNvSpPr txBox="1"/>
          <p:nvPr/>
        </p:nvSpPr>
        <p:spPr>
          <a:xfrm>
            <a:off x="3063240" y="5440679"/>
            <a:ext cx="301752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300" b="1">
                <a:solidFill>
                  <a:srgbClr val="8B1A1A"/>
                </a:solidFill>
                <a:latin typeface="맑은 고딕"/>
              </a:rPr>
              <a:t>필원(畢沅) · 청대</a:t>
            </a:r>
          </a:p>
        </p:txBody>
      </p:sp>
      <p:sp>
        <p:nvSpPr>
          <p:cNvPr id="34" name="Rectangle 33"/>
          <p:cNvSpPr/>
          <p:nvPr/>
        </p:nvSpPr>
        <p:spPr>
          <a:xfrm>
            <a:off x="6217920" y="5303519"/>
            <a:ext cx="5486400" cy="640080"/>
          </a:xfrm>
          <a:prstGeom prst="rect">
            <a:avLst/>
          </a:prstGeom>
          <a:solidFill>
            <a:srgbClr val="FAFA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TextBox 34"/>
          <p:cNvSpPr txBox="1"/>
          <p:nvPr/>
        </p:nvSpPr>
        <p:spPr>
          <a:xfrm>
            <a:off x="6400800" y="5440679"/>
            <a:ext cx="521208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200" b="0">
                <a:solidFill>
                  <a:srgbClr val="1F2A44"/>
                </a:solidFill>
                <a:latin typeface="맑은 고딕"/>
              </a:rPr>
              <a:t>송 이후를 다룬 후속서</a:t>
            </a:r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91440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100" b="1">
                <a:solidFill>
                  <a:srgbClr val="556070"/>
                </a:solidFill>
                <a:latin typeface="맑은 고딕"/>
              </a:rPr>
              <a:t>Ⅳ. 사관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10972800" y="274320"/>
            <a:ext cx="118872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/>
            <a:r>
              <a:rPr sz="1000" b="0">
                <a:solidFill>
                  <a:srgbClr val="556070"/>
                </a:solidFill>
                <a:latin typeface="맑은 고딕"/>
              </a:rPr>
              <a:t>17 / 70</a:t>
            </a:r>
          </a:p>
        </p:txBody>
      </p:sp>
      <p:cxnSp>
        <p:nvCxnSpPr>
          <p:cNvPr id="4" name="Connector 3"/>
          <p:cNvCxnSpPr/>
          <p:nvPr/>
        </p:nvCxnSpPr>
        <p:spPr>
          <a:xfrm>
            <a:off x="457200" y="594360"/>
            <a:ext cx="11704320" cy="0"/>
          </a:xfrm>
          <a:prstGeom prst="line">
            <a:avLst/>
          </a:prstGeom>
          <a:ln w="25400">
            <a:solidFill>
              <a:srgbClr val="C8A25B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5" name="TextBox 4"/>
          <p:cNvSpPr txBox="1"/>
          <p:nvPr/>
        </p:nvSpPr>
        <p:spPr>
          <a:xfrm>
            <a:off x="457200" y="777240"/>
            <a:ext cx="11704320" cy="6400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3000" b="1">
                <a:solidFill>
                  <a:srgbClr val="1F2A44"/>
                </a:solidFill>
                <a:latin typeface="맑은 고딕"/>
              </a:rPr>
              <a:t>시작점 — 삼가분진(三家分晉, BC 403)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57200" y="1417320"/>
            <a:ext cx="1170432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400" b="0">
                <a:solidFill>
                  <a:srgbClr val="556070"/>
                </a:solidFill>
                <a:latin typeface="맑은 고딕"/>
              </a:rPr>
              <a:t>"왜 주(周) 위열왕 23년에서 시작하는가?"</a:t>
            </a:r>
          </a:p>
        </p:txBody>
      </p:sp>
      <p:sp>
        <p:nvSpPr>
          <p:cNvPr id="7" name="Rectangle 6"/>
          <p:cNvSpPr/>
          <p:nvPr/>
        </p:nvSpPr>
        <p:spPr>
          <a:xfrm>
            <a:off x="457200" y="2103120"/>
            <a:ext cx="11247120" cy="2286000"/>
          </a:xfrm>
          <a:prstGeom prst="rect">
            <a:avLst/>
          </a:prstGeom>
          <a:solidFill>
            <a:srgbClr val="F5EED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731520" y="2286000"/>
            <a:ext cx="10698480" cy="201168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ctr">
              <a:lnSpc>
                <a:spcPct val="125000"/>
              </a:lnSpc>
            </a:pPr>
            <a:r>
              <a:rPr sz="1700" b="1">
                <a:solidFill>
                  <a:srgbClr val="8B1A1A"/>
                </a:solidFill>
                <a:latin typeface="맑은 고딕"/>
              </a:rPr>
              <a:t>BC 403년 — 주 위열왕(威烈王) 23년</a:t>
            </a:r>
          </a:p>
          <a:p>
            <a:pPr algn="l">
              <a:lnSpc>
                <a:spcPct val="125000"/>
              </a:lnSpc>
            </a:pPr>
            <a:r>
              <a:rPr sz="400" b="0">
                <a:solidFill>
                  <a:srgbClr val="1F2A44"/>
                </a:solidFill>
                <a:latin typeface="맑은 고딕"/>
              </a:rPr>
              <a:t/>
            </a:r>
          </a:p>
          <a:p>
            <a:pPr algn="ctr">
              <a:lnSpc>
                <a:spcPct val="125000"/>
              </a:lnSpc>
              <a:spcBef>
                <a:spcPts val="600"/>
              </a:spcBef>
            </a:pPr>
            <a:r>
              <a:rPr sz="1500" b="0">
                <a:solidFill>
                  <a:srgbClr val="1F2A44"/>
                </a:solidFill>
                <a:latin typeface="맑은 고딕"/>
              </a:rPr>
              <a:t>주왕이 진(晉)의 세 대부 한(韓)·위(魏)·조(趙)를 제후로 책봉</a:t>
            </a:r>
          </a:p>
          <a:p>
            <a:pPr algn="ctr">
              <a:lnSpc>
                <a:spcPct val="125000"/>
              </a:lnSpc>
            </a:pPr>
            <a:r>
              <a:rPr sz="1500" b="1">
                <a:solidFill>
                  <a:srgbClr val="1F2A44"/>
                </a:solidFill>
                <a:latin typeface="맑은 고딕"/>
              </a:rPr>
              <a:t>"신하가 제후가 되는 정명(正名)의 붕괴"</a:t>
            </a:r>
          </a:p>
        </p:txBody>
      </p:sp>
      <p:sp>
        <p:nvSpPr>
          <p:cNvPr id="9" name="Rectangle 8"/>
          <p:cNvSpPr/>
          <p:nvPr/>
        </p:nvSpPr>
        <p:spPr>
          <a:xfrm>
            <a:off x="457200" y="4572000"/>
            <a:ext cx="11247120" cy="1828800"/>
          </a:xfrm>
          <a:prstGeom prst="rect">
            <a:avLst/>
          </a:prstGeom>
          <a:solidFill>
            <a:srgbClr val="FAE5E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731520" y="4709160"/>
            <a:ext cx="10698480" cy="16459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ctr">
              <a:lnSpc>
                <a:spcPct val="130000"/>
              </a:lnSpc>
            </a:pPr>
            <a:r>
              <a:rPr sz="1700" b="1">
                <a:solidFill>
                  <a:srgbClr val="8B1A1A"/>
                </a:solidFill>
                <a:latin typeface="맑은 고딕"/>
              </a:rPr>
              <a:t>사마광의 시작점 선택 의도</a:t>
            </a:r>
          </a:p>
          <a:p>
            <a:pPr algn="l">
              <a:lnSpc>
                <a:spcPct val="130000"/>
              </a:lnSpc>
            </a:pPr>
            <a:r>
              <a:rPr sz="400" b="0">
                <a:solidFill>
                  <a:srgbClr val="1F2A44"/>
                </a:solidFill>
                <a:latin typeface="맑은 고딕"/>
              </a:rPr>
              <a:t/>
            </a:r>
          </a:p>
          <a:p>
            <a:pPr algn="ctr">
              <a:lnSpc>
                <a:spcPct val="130000"/>
              </a:lnSpc>
              <a:spcBef>
                <a:spcPts val="600"/>
              </a:spcBef>
            </a:pPr>
            <a:r>
              <a:rPr sz="1600" b="1">
                <a:solidFill>
                  <a:srgbClr val="1F2A44"/>
                </a:solidFill>
                <a:latin typeface="맑은 고딕"/>
              </a:rPr>
              <a:t>"천하 질서가 무너진 결정적 순간"</a:t>
            </a:r>
          </a:p>
          <a:p>
            <a:pPr algn="ctr">
              <a:lnSpc>
                <a:spcPct val="130000"/>
              </a:lnSpc>
            </a:pPr>
            <a:r>
              <a:rPr sz="1300" b="0">
                <a:solidFill>
                  <a:srgbClr val="556070"/>
                </a:solidFill>
                <a:latin typeface="맑은 고딕"/>
              </a:rPr>
              <a:t>첫 사평(臣光曰) — 명분과 질서의 중요성을 처음 천명</a:t>
            </a:r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91440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100" b="1">
                <a:solidFill>
                  <a:srgbClr val="556070"/>
                </a:solidFill>
                <a:latin typeface="맑은 고딕"/>
              </a:rPr>
              <a:t>Ⅳ. 사관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10972800" y="274320"/>
            <a:ext cx="118872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/>
            <a:r>
              <a:rPr sz="1000" b="0">
                <a:solidFill>
                  <a:srgbClr val="556070"/>
                </a:solidFill>
                <a:latin typeface="맑은 고딕"/>
              </a:rPr>
              <a:t>18 / 70</a:t>
            </a:r>
          </a:p>
        </p:txBody>
      </p:sp>
      <p:cxnSp>
        <p:nvCxnSpPr>
          <p:cNvPr id="4" name="Connector 3"/>
          <p:cNvCxnSpPr/>
          <p:nvPr/>
        </p:nvCxnSpPr>
        <p:spPr>
          <a:xfrm>
            <a:off x="457200" y="594360"/>
            <a:ext cx="11704320" cy="0"/>
          </a:xfrm>
          <a:prstGeom prst="line">
            <a:avLst/>
          </a:prstGeom>
          <a:ln w="25400">
            <a:solidFill>
              <a:srgbClr val="C8A25B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5" name="TextBox 4"/>
          <p:cNvSpPr txBox="1"/>
          <p:nvPr/>
        </p:nvSpPr>
        <p:spPr>
          <a:xfrm>
            <a:off x="457200" y="777240"/>
            <a:ext cx="11704320" cy="6400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3000" b="1">
                <a:solidFill>
                  <a:srgbClr val="1F2A44"/>
                </a:solidFill>
                <a:latin typeface="맑은 고딕"/>
              </a:rPr>
              <a:t>끝점 — 후주(後周) 세종(世宗) 현덕(顯德) 6년 (959)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57200" y="1417320"/>
            <a:ext cx="1170432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400" b="0">
                <a:solidFill>
                  <a:srgbClr val="556070"/>
                </a:solidFill>
                <a:latin typeface="맑은 고딕"/>
              </a:rPr>
              <a:t>"왜 송 건국 직전에서 멈추었나?"</a:t>
            </a:r>
          </a:p>
        </p:txBody>
      </p:sp>
      <p:sp>
        <p:nvSpPr>
          <p:cNvPr id="7" name="Rectangle 6"/>
          <p:cNvSpPr/>
          <p:nvPr/>
        </p:nvSpPr>
        <p:spPr>
          <a:xfrm>
            <a:off x="457200" y="2103120"/>
            <a:ext cx="11247120" cy="2286000"/>
          </a:xfrm>
          <a:prstGeom prst="rect">
            <a:avLst/>
          </a:prstGeom>
          <a:solidFill>
            <a:srgbClr val="F5EED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731520" y="2286000"/>
            <a:ext cx="10698480" cy="201168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ctr">
              <a:lnSpc>
                <a:spcPct val="125000"/>
              </a:lnSpc>
            </a:pPr>
            <a:r>
              <a:rPr sz="1700" b="1">
                <a:solidFill>
                  <a:srgbClr val="8B1A1A"/>
                </a:solidFill>
                <a:latin typeface="맑은 고딕"/>
              </a:rPr>
              <a:t>959년 — 후주 세종(柴榮)의 마지막 해</a:t>
            </a:r>
          </a:p>
          <a:p>
            <a:pPr algn="l">
              <a:lnSpc>
                <a:spcPct val="125000"/>
              </a:lnSpc>
            </a:pPr>
            <a:r>
              <a:rPr sz="400" b="0">
                <a:solidFill>
                  <a:srgbClr val="1F2A44"/>
                </a:solidFill>
                <a:latin typeface="맑은 고딕"/>
              </a:rPr>
              <a:t/>
            </a:r>
          </a:p>
          <a:p>
            <a:pPr algn="ctr">
              <a:lnSpc>
                <a:spcPct val="125000"/>
              </a:lnSpc>
              <a:spcBef>
                <a:spcPts val="600"/>
              </a:spcBef>
            </a:pPr>
            <a:r>
              <a:rPr sz="1500" b="0">
                <a:solidFill>
                  <a:srgbClr val="1F2A44"/>
                </a:solidFill>
                <a:latin typeface="맑은 고딕"/>
              </a:rPr>
              <a:t>이듬해(960) 송 태조 조광윤이 진교병변(陳橋兵變)으로 즉위</a:t>
            </a:r>
          </a:p>
          <a:p>
            <a:pPr algn="ctr">
              <a:lnSpc>
                <a:spcPct val="125000"/>
              </a:lnSpc>
            </a:pPr>
            <a:r>
              <a:rPr sz="1500" b="1">
                <a:solidFill>
                  <a:srgbClr val="1F2A44"/>
                </a:solidFill>
                <a:latin typeface="맑은 고딕"/>
              </a:rPr>
              <a:t>= 송(宋) 건국 직전에서 절묘하게 멈춤</a:t>
            </a:r>
          </a:p>
        </p:txBody>
      </p:sp>
      <p:sp>
        <p:nvSpPr>
          <p:cNvPr id="9" name="Rectangle 8"/>
          <p:cNvSpPr/>
          <p:nvPr/>
        </p:nvSpPr>
        <p:spPr>
          <a:xfrm>
            <a:off x="457200" y="4572000"/>
            <a:ext cx="11247120" cy="1828800"/>
          </a:xfrm>
          <a:prstGeom prst="rect">
            <a:avLst/>
          </a:prstGeom>
          <a:solidFill>
            <a:srgbClr val="FAE5E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731520" y="4709160"/>
            <a:ext cx="10698480" cy="16459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ctr">
              <a:lnSpc>
                <a:spcPct val="130000"/>
              </a:lnSpc>
            </a:pPr>
            <a:r>
              <a:rPr sz="1800" b="1">
                <a:solidFill>
                  <a:srgbClr val="8B1A1A"/>
                </a:solidFill>
                <a:latin typeface="맑은 고딕"/>
              </a:rPr>
              <a:t>"본조(本朝, 송)는 평론하지 않는다"</a:t>
            </a:r>
          </a:p>
          <a:p>
            <a:pPr algn="l">
              <a:lnSpc>
                <a:spcPct val="130000"/>
              </a:lnSpc>
            </a:pPr>
            <a:r>
              <a:rPr sz="400" b="0">
                <a:solidFill>
                  <a:srgbClr val="1F2A44"/>
                </a:solidFill>
                <a:latin typeface="맑은 고딕"/>
              </a:rPr>
              <a:t/>
            </a:r>
          </a:p>
          <a:p>
            <a:pPr algn="ctr">
              <a:lnSpc>
                <a:spcPct val="130000"/>
              </a:lnSpc>
              <a:spcBef>
                <a:spcPts val="600"/>
              </a:spcBef>
            </a:pPr>
            <a:r>
              <a:rPr sz="1400" b="0">
                <a:solidFill>
                  <a:srgbClr val="1F2A44"/>
                </a:solidFill>
                <a:latin typeface="맑은 고딕"/>
              </a:rPr>
              <a:t>동시대 사관(史官)의 금기 — 객관성 유지</a:t>
            </a:r>
          </a:p>
          <a:p>
            <a:pPr algn="ctr">
              <a:lnSpc>
                <a:spcPct val="130000"/>
              </a:lnSpc>
            </a:pPr>
            <a:r>
              <a:rPr sz="1400" b="1">
                <a:solidFill>
                  <a:srgbClr val="8B1A1A"/>
                </a:solidFill>
                <a:latin typeface="맑은 고딕"/>
              </a:rPr>
              <a:t>과거를 거울로 삼아 "지금"을 비추게 하려는 의도</a:t>
            </a:r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91440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100" b="1">
                <a:solidFill>
                  <a:srgbClr val="556070"/>
                </a:solidFill>
                <a:latin typeface="맑은 고딕"/>
              </a:rPr>
              <a:t>Ⅳ. 사관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10972800" y="274320"/>
            <a:ext cx="118872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/>
            <a:r>
              <a:rPr sz="1000" b="0">
                <a:solidFill>
                  <a:srgbClr val="556070"/>
                </a:solidFill>
                <a:latin typeface="맑은 고딕"/>
              </a:rPr>
              <a:t>19 / 70</a:t>
            </a:r>
          </a:p>
        </p:txBody>
      </p:sp>
      <p:cxnSp>
        <p:nvCxnSpPr>
          <p:cNvPr id="4" name="Connector 3"/>
          <p:cNvCxnSpPr/>
          <p:nvPr/>
        </p:nvCxnSpPr>
        <p:spPr>
          <a:xfrm>
            <a:off x="457200" y="594360"/>
            <a:ext cx="11704320" cy="0"/>
          </a:xfrm>
          <a:prstGeom prst="line">
            <a:avLst/>
          </a:prstGeom>
          <a:ln w="25400">
            <a:solidFill>
              <a:srgbClr val="C8A25B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5" name="TextBox 4"/>
          <p:cNvSpPr txBox="1"/>
          <p:nvPr/>
        </p:nvSpPr>
        <p:spPr>
          <a:xfrm>
            <a:off x="457200" y="777240"/>
            <a:ext cx="11704320" cy="6400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3000" b="1">
                <a:solidFill>
                  <a:srgbClr val="1F2A44"/>
                </a:solidFill>
                <a:latin typeface="맑은 고딕"/>
              </a:rPr>
              <a:t>"감(鑑)"의 의미 — 거울로서의 역사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57200" y="2011680"/>
            <a:ext cx="11247120" cy="8229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/>
            <a:r>
              <a:rPr sz="4200" b="1">
                <a:solidFill>
                  <a:srgbClr val="8B1A1A"/>
                </a:solidFill>
                <a:latin typeface="맑은 고딕"/>
              </a:rPr>
              <a:t>鑑 前 世 之 興 衰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57200" y="2926080"/>
            <a:ext cx="11247120" cy="8229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/>
            <a:r>
              <a:rPr sz="4200" b="1">
                <a:solidFill>
                  <a:srgbClr val="8B1A1A"/>
                </a:solidFill>
                <a:latin typeface="맑은 고딕"/>
              </a:rPr>
              <a:t>考 當 今 之 得 失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57200" y="3840480"/>
            <a:ext cx="1124712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/>
            <a:r>
              <a:rPr sz="1500" b="0">
                <a:solidFill>
                  <a:srgbClr val="556070"/>
                </a:solidFill>
                <a:latin typeface="맑은 고딕"/>
              </a:rPr>
              <a:t>감전세지흥쇠 · 고당금지득실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57200" y="4297680"/>
            <a:ext cx="1124712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/>
            <a:r>
              <a:rPr sz="1300" b="0">
                <a:solidFill>
                  <a:srgbClr val="556070"/>
                </a:solidFill>
                <a:latin typeface="맑은 고딕"/>
              </a:rPr>
              <a:t>— 사마광 「자치통감서(序)」</a:t>
            </a:r>
          </a:p>
        </p:txBody>
      </p:sp>
      <p:cxnSp>
        <p:nvCxnSpPr>
          <p:cNvPr id="10" name="Connector 9"/>
          <p:cNvCxnSpPr/>
          <p:nvPr/>
        </p:nvCxnSpPr>
        <p:spPr>
          <a:xfrm>
            <a:off x="5029200" y="4846320"/>
            <a:ext cx="2103120" cy="0"/>
          </a:xfrm>
          <a:prstGeom prst="line">
            <a:avLst/>
          </a:prstGeom>
          <a:ln w="19050">
            <a:solidFill>
              <a:srgbClr val="C8A25B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1" name="TextBox 10"/>
          <p:cNvSpPr txBox="1"/>
          <p:nvPr/>
        </p:nvSpPr>
        <p:spPr>
          <a:xfrm>
            <a:off x="457200" y="5120640"/>
            <a:ext cx="11247120" cy="5486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/>
            <a:r>
              <a:rPr sz="2000" b="0">
                <a:solidFill>
                  <a:srgbClr val="1F2A44"/>
                </a:solidFill>
                <a:latin typeface="맑은 고딕"/>
              </a:rPr>
              <a:t>"지난 시대의 흥망(興衰)을 거울 삼아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457200" y="5669280"/>
            <a:ext cx="11247120" cy="5486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/>
            <a:r>
              <a:rPr sz="2200" b="1">
                <a:solidFill>
                  <a:srgbClr val="1F2A44"/>
                </a:solidFill>
                <a:latin typeface="맑은 고딕"/>
              </a:rPr>
              <a:t> 지금의 득실(得失)을 살핀다"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457200" y="6400800"/>
            <a:ext cx="1124712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/>
            <a:r>
              <a:rPr sz="1300" b="1">
                <a:solidFill>
                  <a:srgbClr val="8B1A1A"/>
                </a:solidFill>
                <a:latin typeface="맑은 고딕"/>
              </a:rPr>
              <a:t>역사는 단순 기록이 아니라 "거울" — 동양 사학의 근본 정신</a:t>
            </a:r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91440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100" b="1">
                <a:solidFill>
                  <a:srgbClr val="556070"/>
                </a:solidFill>
                <a:latin typeface="맑은 고딕"/>
              </a:rPr>
              <a:t>Ⅳ. 사관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10972800" y="274320"/>
            <a:ext cx="118872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/>
            <a:r>
              <a:rPr sz="1000" b="0">
                <a:solidFill>
                  <a:srgbClr val="556070"/>
                </a:solidFill>
                <a:latin typeface="맑은 고딕"/>
              </a:rPr>
              <a:t>20 / 70</a:t>
            </a:r>
          </a:p>
        </p:txBody>
      </p:sp>
      <p:cxnSp>
        <p:nvCxnSpPr>
          <p:cNvPr id="4" name="Connector 3"/>
          <p:cNvCxnSpPr/>
          <p:nvPr/>
        </p:nvCxnSpPr>
        <p:spPr>
          <a:xfrm>
            <a:off x="457200" y="594360"/>
            <a:ext cx="11704320" cy="0"/>
          </a:xfrm>
          <a:prstGeom prst="line">
            <a:avLst/>
          </a:prstGeom>
          <a:ln w="25400">
            <a:solidFill>
              <a:srgbClr val="C8A25B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5" name="TextBox 4"/>
          <p:cNvSpPr txBox="1"/>
          <p:nvPr/>
        </p:nvSpPr>
        <p:spPr>
          <a:xfrm>
            <a:off x="457200" y="777240"/>
            <a:ext cx="11704320" cy="6400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3000" b="1">
                <a:solidFill>
                  <a:srgbClr val="1F2A44"/>
                </a:solidFill>
                <a:latin typeface="맑은 고딕"/>
              </a:rPr>
              <a:t>"신광왈(臣光曰)" — 사마광의 친저 사평 219편</a:t>
            </a:r>
          </a:p>
        </p:txBody>
      </p:sp>
      <p:sp>
        <p:nvSpPr>
          <p:cNvPr id="6" name="Rectangle 5"/>
          <p:cNvSpPr/>
          <p:nvPr/>
        </p:nvSpPr>
        <p:spPr>
          <a:xfrm>
            <a:off x="457200" y="2103120"/>
            <a:ext cx="11247120" cy="1828800"/>
          </a:xfrm>
          <a:prstGeom prst="rect">
            <a:avLst/>
          </a:prstGeom>
          <a:solidFill>
            <a:srgbClr val="F5EED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731520" y="2286000"/>
            <a:ext cx="10698480" cy="155448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ctr">
              <a:lnSpc>
                <a:spcPct val="130000"/>
              </a:lnSpc>
            </a:pPr>
            <a:r>
              <a:rPr sz="2000" b="1">
                <a:solidFill>
                  <a:srgbClr val="8B1A1A"/>
                </a:solidFill>
                <a:latin typeface="맑은 고딕"/>
              </a:rPr>
              <a:t>"신광왈(臣光曰)" — "신하 사마광이 아룁니다"</a:t>
            </a:r>
          </a:p>
          <a:p>
            <a:pPr algn="l">
              <a:lnSpc>
                <a:spcPct val="130000"/>
              </a:lnSpc>
            </a:pPr>
            <a:r>
              <a:rPr sz="400" b="0">
                <a:solidFill>
                  <a:srgbClr val="1F2A44"/>
                </a:solidFill>
                <a:latin typeface="맑은 고딕"/>
              </a:rPr>
              <a:t/>
            </a:r>
          </a:p>
          <a:p>
            <a:pPr algn="ctr">
              <a:lnSpc>
                <a:spcPct val="130000"/>
              </a:lnSpc>
              <a:spcBef>
                <a:spcPts val="600"/>
              </a:spcBef>
            </a:pPr>
            <a:r>
              <a:rPr sz="1600" b="0">
                <a:solidFill>
                  <a:srgbClr val="1F2A44"/>
                </a:solidFill>
                <a:latin typeface="맑은 고딕"/>
              </a:rPr>
              <a:t>통감 전체에 약 219편의 사평(史評)을 친저</a:t>
            </a:r>
          </a:p>
          <a:p>
            <a:pPr algn="ctr">
              <a:lnSpc>
                <a:spcPct val="130000"/>
              </a:lnSpc>
            </a:pPr>
            <a:r>
              <a:rPr sz="1400" b="0">
                <a:solidFill>
                  <a:srgbClr val="556070"/>
                </a:solidFill>
                <a:latin typeface="맑은 고딕"/>
              </a:rPr>
              <a:t>주요 사건마다 사마광의 직접적 해석과 평가</a:t>
            </a:r>
          </a:p>
        </p:txBody>
      </p:sp>
      <p:sp>
        <p:nvSpPr>
          <p:cNvPr id="8" name="Rectangle 7"/>
          <p:cNvSpPr/>
          <p:nvPr/>
        </p:nvSpPr>
        <p:spPr>
          <a:xfrm>
            <a:off x="457200" y="4114800"/>
            <a:ext cx="11247120" cy="2286000"/>
          </a:xfrm>
          <a:prstGeom prst="rect">
            <a:avLst/>
          </a:prstGeom>
          <a:solidFill>
            <a:srgbClr val="FAFA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731520" y="4251960"/>
            <a:ext cx="10698480" cy="201168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ctr">
              <a:lnSpc>
                <a:spcPct val="130000"/>
              </a:lnSpc>
            </a:pPr>
            <a:r>
              <a:rPr sz="1800" b="1">
                <a:solidFill>
                  <a:srgbClr val="8B1A1A"/>
                </a:solidFill>
                <a:latin typeface="맑은 고딕"/>
              </a:rPr>
              <a:t>사평의 핵심 주제</a:t>
            </a:r>
          </a:p>
          <a:p>
            <a:pPr algn="l">
              <a:lnSpc>
                <a:spcPct val="130000"/>
              </a:lnSpc>
            </a:pPr>
            <a:r>
              <a:rPr sz="400" b="0">
                <a:solidFill>
                  <a:srgbClr val="1F2A44"/>
                </a:solidFill>
                <a:latin typeface="맑은 고딕"/>
              </a:rPr>
              <a:t/>
            </a:r>
          </a:p>
          <a:p>
            <a:pPr algn="l">
              <a:lnSpc>
                <a:spcPct val="130000"/>
              </a:lnSpc>
              <a:spcBef>
                <a:spcPts val="600"/>
              </a:spcBef>
            </a:pPr>
            <a:r>
              <a:rPr sz="1400" b="0">
                <a:solidFill>
                  <a:srgbClr val="1F2A44"/>
                </a:solidFill>
                <a:latin typeface="맑은 고딕"/>
              </a:rPr>
              <a:t>• 정명(正名) — 군신·부자의 분(分)을 지킴</a:t>
            </a:r>
          </a:p>
          <a:p>
            <a:pPr algn="l">
              <a:lnSpc>
                <a:spcPct val="130000"/>
              </a:lnSpc>
              <a:spcBef>
                <a:spcPts val="400"/>
              </a:spcBef>
            </a:pPr>
            <a:r>
              <a:rPr sz="1400" b="0">
                <a:solidFill>
                  <a:srgbClr val="1F2A44"/>
                </a:solidFill>
                <a:latin typeface="맑은 고딕"/>
              </a:rPr>
              <a:t>• 인재 등용의 원칙 — "재(才)와 덕(德)의 균형"</a:t>
            </a:r>
          </a:p>
          <a:p>
            <a:pPr algn="l">
              <a:lnSpc>
                <a:spcPct val="130000"/>
              </a:lnSpc>
              <a:spcBef>
                <a:spcPts val="400"/>
              </a:spcBef>
            </a:pPr>
            <a:r>
              <a:rPr sz="1400" b="0">
                <a:solidFill>
                  <a:srgbClr val="1F2A44"/>
                </a:solidFill>
                <a:latin typeface="맑은 고딕"/>
              </a:rPr>
              <a:t>• 간언 수용 — 직간자를 보호</a:t>
            </a:r>
          </a:p>
          <a:p>
            <a:pPr algn="l">
              <a:lnSpc>
                <a:spcPct val="130000"/>
              </a:lnSpc>
              <a:spcBef>
                <a:spcPts val="400"/>
              </a:spcBef>
            </a:pPr>
            <a:r>
              <a:rPr sz="1400" b="0">
                <a:solidFill>
                  <a:srgbClr val="1F2A44"/>
                </a:solidFill>
                <a:latin typeface="맑은 고딕"/>
              </a:rPr>
              <a:t>• 검약·신중 — 군주의 자기 절제</a:t>
            </a:r>
          </a:p>
          <a:p>
            <a:pPr algn="l">
              <a:lnSpc>
                <a:spcPct val="130000"/>
              </a:lnSpc>
              <a:spcBef>
                <a:spcPts val="400"/>
              </a:spcBef>
            </a:pPr>
            <a:r>
              <a:rPr sz="1400" b="1">
                <a:solidFill>
                  <a:srgbClr val="8B1A1A"/>
                </a:solidFill>
                <a:latin typeface="맑은 고딕"/>
              </a:rPr>
              <a:t>• 변화(漸進) — 급진적 개혁의 위험성</a:t>
            </a:r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91440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100" b="1">
                <a:solidFill>
                  <a:srgbClr val="556070"/>
                </a:solidFill>
                <a:latin typeface="맑은 고딕"/>
              </a:rPr>
              <a:t>Ⅴ. 시대별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10972800" y="274320"/>
            <a:ext cx="118872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/>
            <a:r>
              <a:rPr sz="1000" b="0">
                <a:solidFill>
                  <a:srgbClr val="556070"/>
                </a:solidFill>
                <a:latin typeface="맑은 고딕"/>
              </a:rPr>
              <a:t>21 / 70</a:t>
            </a:r>
          </a:p>
        </p:txBody>
      </p:sp>
      <p:cxnSp>
        <p:nvCxnSpPr>
          <p:cNvPr id="4" name="Connector 3"/>
          <p:cNvCxnSpPr/>
          <p:nvPr/>
        </p:nvCxnSpPr>
        <p:spPr>
          <a:xfrm>
            <a:off x="457200" y="594360"/>
            <a:ext cx="11704320" cy="0"/>
          </a:xfrm>
          <a:prstGeom prst="line">
            <a:avLst/>
          </a:prstGeom>
          <a:ln w="25400">
            <a:solidFill>
              <a:srgbClr val="C8A25B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5" name="TextBox 4"/>
          <p:cNvSpPr txBox="1"/>
          <p:nvPr/>
        </p:nvSpPr>
        <p:spPr>
          <a:xfrm>
            <a:off x="457200" y="777240"/>
            <a:ext cx="11704320" cy="6400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3000" b="1">
                <a:solidFill>
                  <a:srgbClr val="1F2A44"/>
                </a:solidFill>
                <a:latin typeface="맑은 고딕"/>
              </a:rPr>
              <a:t>주기(周紀) 5권 — BC 403~256 · 전국시대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57200" y="1417320"/>
            <a:ext cx="1170432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400" b="0">
                <a:solidFill>
                  <a:srgbClr val="556070"/>
                </a:solidFill>
                <a:latin typeface="맑은 고딕"/>
              </a:rPr>
              <a:t>"천하 질서의 붕괴와 칠웅(七雄)의 쟁투"</a:t>
            </a:r>
          </a:p>
        </p:txBody>
      </p:sp>
      <p:sp>
        <p:nvSpPr>
          <p:cNvPr id="7" name="Rectangle 6"/>
          <p:cNvSpPr/>
          <p:nvPr/>
        </p:nvSpPr>
        <p:spPr>
          <a:xfrm>
            <a:off x="548640" y="2194560"/>
            <a:ext cx="1828800" cy="502920"/>
          </a:xfrm>
          <a:prstGeom prst="rect">
            <a:avLst/>
          </a:prstGeom>
          <a:solidFill>
            <a:srgbClr val="8B1A1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548640" y="2313432"/>
            <a:ext cx="182880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/>
            <a:r>
              <a:rPr sz="1400" b="1">
                <a:solidFill>
                  <a:srgbClr val="FFFFFF"/>
                </a:solidFill>
                <a:latin typeface="맑은 고딕"/>
              </a:rPr>
              <a:t>BC 403</a:t>
            </a:r>
          </a:p>
        </p:txBody>
      </p:sp>
      <p:sp>
        <p:nvSpPr>
          <p:cNvPr id="9" name="Rectangle 8"/>
          <p:cNvSpPr/>
          <p:nvPr/>
        </p:nvSpPr>
        <p:spPr>
          <a:xfrm>
            <a:off x="2468880" y="2194560"/>
            <a:ext cx="9235440" cy="502920"/>
          </a:xfrm>
          <a:prstGeom prst="rect">
            <a:avLst/>
          </a:prstGeom>
          <a:solidFill>
            <a:srgbClr val="F5EED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2651760" y="2313432"/>
            <a:ext cx="896112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300" b="0">
                <a:solidFill>
                  <a:srgbClr val="1F2A44"/>
                </a:solidFill>
                <a:latin typeface="맑은 고딕"/>
              </a:rPr>
              <a:t>삼가분진 — 주왕이 한·위·조를 제후로 책봉</a:t>
            </a:r>
          </a:p>
        </p:txBody>
      </p:sp>
      <p:sp>
        <p:nvSpPr>
          <p:cNvPr id="11" name="Rectangle 10"/>
          <p:cNvSpPr/>
          <p:nvPr/>
        </p:nvSpPr>
        <p:spPr>
          <a:xfrm>
            <a:off x="548640" y="2761488"/>
            <a:ext cx="1828800" cy="502920"/>
          </a:xfrm>
          <a:prstGeom prst="rect">
            <a:avLst/>
          </a:prstGeom>
          <a:solidFill>
            <a:srgbClr val="8B1A1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548640" y="2880360"/>
            <a:ext cx="182880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/>
            <a:r>
              <a:rPr sz="1400" b="1">
                <a:solidFill>
                  <a:srgbClr val="FFFFFF"/>
                </a:solidFill>
                <a:latin typeface="맑은 고딕"/>
              </a:rPr>
              <a:t>BC 361</a:t>
            </a:r>
          </a:p>
        </p:txBody>
      </p:sp>
      <p:sp>
        <p:nvSpPr>
          <p:cNvPr id="13" name="Rectangle 12"/>
          <p:cNvSpPr/>
          <p:nvPr/>
        </p:nvSpPr>
        <p:spPr>
          <a:xfrm>
            <a:off x="2468880" y="2761488"/>
            <a:ext cx="9235440" cy="502920"/>
          </a:xfrm>
          <a:prstGeom prst="rect">
            <a:avLst/>
          </a:prstGeom>
          <a:solidFill>
            <a:srgbClr val="F5EED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2651760" y="2880360"/>
            <a:ext cx="896112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300" b="0">
                <a:solidFill>
                  <a:srgbClr val="1F2A44"/>
                </a:solidFill>
                <a:latin typeface="맑은 고딕"/>
              </a:rPr>
              <a:t>진(秦) 효공 즉위 · 상앙(商鞅)의 변법(BC 356)</a:t>
            </a:r>
          </a:p>
        </p:txBody>
      </p:sp>
      <p:sp>
        <p:nvSpPr>
          <p:cNvPr id="15" name="Rectangle 14"/>
          <p:cNvSpPr/>
          <p:nvPr/>
        </p:nvSpPr>
        <p:spPr>
          <a:xfrm>
            <a:off x="548640" y="3328416"/>
            <a:ext cx="1828800" cy="502920"/>
          </a:xfrm>
          <a:prstGeom prst="rect">
            <a:avLst/>
          </a:prstGeom>
          <a:solidFill>
            <a:srgbClr val="8B1A1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548640" y="3447288"/>
            <a:ext cx="182880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/>
            <a:r>
              <a:rPr sz="1400" b="1">
                <a:solidFill>
                  <a:srgbClr val="FFFFFF"/>
                </a:solidFill>
                <a:latin typeface="맑은 고딕"/>
              </a:rPr>
              <a:t>BC 338</a:t>
            </a:r>
          </a:p>
        </p:txBody>
      </p:sp>
      <p:sp>
        <p:nvSpPr>
          <p:cNvPr id="17" name="Rectangle 16"/>
          <p:cNvSpPr/>
          <p:nvPr/>
        </p:nvSpPr>
        <p:spPr>
          <a:xfrm>
            <a:off x="2468880" y="3328416"/>
            <a:ext cx="9235440" cy="502920"/>
          </a:xfrm>
          <a:prstGeom prst="rect">
            <a:avLst/>
          </a:prstGeom>
          <a:solidFill>
            <a:srgbClr val="F5EED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2651760" y="3447288"/>
            <a:ext cx="896112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300" b="0">
                <a:solidFill>
                  <a:srgbClr val="1F2A44"/>
                </a:solidFill>
                <a:latin typeface="맑은 고딕"/>
              </a:rPr>
              <a:t>효공 사후 상앙 거열형 — 그러나 법은 살아남음</a:t>
            </a:r>
          </a:p>
        </p:txBody>
      </p:sp>
      <p:sp>
        <p:nvSpPr>
          <p:cNvPr id="19" name="Rectangle 18"/>
          <p:cNvSpPr/>
          <p:nvPr/>
        </p:nvSpPr>
        <p:spPr>
          <a:xfrm>
            <a:off x="548640" y="3895344"/>
            <a:ext cx="1828800" cy="502920"/>
          </a:xfrm>
          <a:prstGeom prst="rect">
            <a:avLst/>
          </a:prstGeom>
          <a:solidFill>
            <a:srgbClr val="8B1A1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548640" y="4014215"/>
            <a:ext cx="182880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/>
            <a:r>
              <a:rPr sz="1400" b="1">
                <a:solidFill>
                  <a:srgbClr val="FFFFFF"/>
                </a:solidFill>
                <a:latin typeface="맑은 고딕"/>
              </a:rPr>
              <a:t>BC 318</a:t>
            </a:r>
          </a:p>
        </p:txBody>
      </p:sp>
      <p:sp>
        <p:nvSpPr>
          <p:cNvPr id="21" name="Rectangle 20"/>
          <p:cNvSpPr/>
          <p:nvPr/>
        </p:nvSpPr>
        <p:spPr>
          <a:xfrm>
            <a:off x="2468880" y="3895344"/>
            <a:ext cx="9235440" cy="502920"/>
          </a:xfrm>
          <a:prstGeom prst="rect">
            <a:avLst/>
          </a:prstGeom>
          <a:solidFill>
            <a:srgbClr val="F5EED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2651760" y="4014215"/>
            <a:ext cx="896112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300" b="0">
                <a:solidFill>
                  <a:srgbClr val="1F2A44"/>
                </a:solidFill>
                <a:latin typeface="맑은 고딕"/>
              </a:rPr>
              <a:t>5국 합종(合縱) — 진에 대항한 동맹</a:t>
            </a:r>
          </a:p>
        </p:txBody>
      </p:sp>
      <p:sp>
        <p:nvSpPr>
          <p:cNvPr id="23" name="Rectangle 22"/>
          <p:cNvSpPr/>
          <p:nvPr/>
        </p:nvSpPr>
        <p:spPr>
          <a:xfrm>
            <a:off x="548640" y="4462272"/>
            <a:ext cx="1828800" cy="502920"/>
          </a:xfrm>
          <a:prstGeom prst="rect">
            <a:avLst/>
          </a:prstGeom>
          <a:solidFill>
            <a:srgbClr val="8B1A1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548640" y="4581144"/>
            <a:ext cx="182880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/>
            <a:r>
              <a:rPr sz="1400" b="1">
                <a:solidFill>
                  <a:srgbClr val="FFFFFF"/>
                </a:solidFill>
                <a:latin typeface="맑은 고딕"/>
              </a:rPr>
              <a:t>BC 286</a:t>
            </a:r>
          </a:p>
        </p:txBody>
      </p:sp>
      <p:sp>
        <p:nvSpPr>
          <p:cNvPr id="25" name="Rectangle 24"/>
          <p:cNvSpPr/>
          <p:nvPr/>
        </p:nvSpPr>
        <p:spPr>
          <a:xfrm>
            <a:off x="2468880" y="4462272"/>
            <a:ext cx="9235440" cy="502920"/>
          </a:xfrm>
          <a:prstGeom prst="rect">
            <a:avLst/>
          </a:prstGeom>
          <a:solidFill>
            <a:srgbClr val="F5EED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2651760" y="4581144"/>
            <a:ext cx="896112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300" b="0">
                <a:solidFill>
                  <a:srgbClr val="1F2A44"/>
                </a:solidFill>
                <a:latin typeface="맑은 고딕"/>
              </a:rPr>
              <a:t>제(齊)가 송(宋)을 멸함 · 동방의 강국</a:t>
            </a:r>
          </a:p>
        </p:txBody>
      </p:sp>
      <p:sp>
        <p:nvSpPr>
          <p:cNvPr id="27" name="Rectangle 26"/>
          <p:cNvSpPr/>
          <p:nvPr/>
        </p:nvSpPr>
        <p:spPr>
          <a:xfrm>
            <a:off x="548640" y="5029200"/>
            <a:ext cx="1828800" cy="502920"/>
          </a:xfrm>
          <a:prstGeom prst="rect">
            <a:avLst/>
          </a:prstGeom>
          <a:solidFill>
            <a:srgbClr val="8B1A1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548640" y="5148072"/>
            <a:ext cx="182880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/>
            <a:r>
              <a:rPr sz="1400" b="1">
                <a:solidFill>
                  <a:srgbClr val="FFFFFF"/>
                </a:solidFill>
                <a:latin typeface="맑은 고딕"/>
              </a:rPr>
              <a:t>BC 260</a:t>
            </a:r>
          </a:p>
        </p:txBody>
      </p:sp>
      <p:sp>
        <p:nvSpPr>
          <p:cNvPr id="29" name="Rectangle 28"/>
          <p:cNvSpPr/>
          <p:nvPr/>
        </p:nvSpPr>
        <p:spPr>
          <a:xfrm>
            <a:off x="2468880" y="5029200"/>
            <a:ext cx="9235440" cy="502920"/>
          </a:xfrm>
          <a:prstGeom prst="rect">
            <a:avLst/>
          </a:prstGeom>
          <a:solidFill>
            <a:srgbClr val="F5EED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TextBox 29"/>
          <p:cNvSpPr txBox="1"/>
          <p:nvPr/>
        </p:nvSpPr>
        <p:spPr>
          <a:xfrm>
            <a:off x="2651760" y="5148072"/>
            <a:ext cx="896112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300" b="0">
                <a:solidFill>
                  <a:srgbClr val="1F2A44"/>
                </a:solidFill>
                <a:latin typeface="맑은 고딕"/>
              </a:rPr>
              <a:t>장평대전 — 진(秦)이 조(趙)의 40만 포로 생매장</a:t>
            </a:r>
          </a:p>
        </p:txBody>
      </p:sp>
      <p:sp>
        <p:nvSpPr>
          <p:cNvPr id="31" name="Rectangle 30"/>
          <p:cNvSpPr/>
          <p:nvPr/>
        </p:nvSpPr>
        <p:spPr>
          <a:xfrm>
            <a:off x="548640" y="5596128"/>
            <a:ext cx="1828800" cy="502920"/>
          </a:xfrm>
          <a:prstGeom prst="rect">
            <a:avLst/>
          </a:prstGeom>
          <a:solidFill>
            <a:srgbClr val="8B1A1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TextBox 31"/>
          <p:cNvSpPr txBox="1"/>
          <p:nvPr/>
        </p:nvSpPr>
        <p:spPr>
          <a:xfrm>
            <a:off x="548640" y="5715000"/>
            <a:ext cx="182880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/>
            <a:r>
              <a:rPr sz="1400" b="1">
                <a:solidFill>
                  <a:srgbClr val="FFFFFF"/>
                </a:solidFill>
                <a:latin typeface="맑은 고딕"/>
              </a:rPr>
              <a:t>BC 256</a:t>
            </a:r>
          </a:p>
        </p:txBody>
      </p:sp>
      <p:sp>
        <p:nvSpPr>
          <p:cNvPr id="33" name="Rectangle 32"/>
          <p:cNvSpPr/>
          <p:nvPr/>
        </p:nvSpPr>
        <p:spPr>
          <a:xfrm>
            <a:off x="2468880" y="5596128"/>
            <a:ext cx="9235440" cy="502920"/>
          </a:xfrm>
          <a:prstGeom prst="rect">
            <a:avLst/>
          </a:prstGeom>
          <a:solidFill>
            <a:srgbClr val="F5EED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TextBox 33"/>
          <p:cNvSpPr txBox="1"/>
          <p:nvPr/>
        </p:nvSpPr>
        <p:spPr>
          <a:xfrm>
            <a:off x="2651760" y="5715000"/>
            <a:ext cx="896112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300" b="0">
                <a:solidFill>
                  <a:srgbClr val="1F2A44"/>
                </a:solidFill>
                <a:latin typeface="맑은 고딕"/>
              </a:rPr>
              <a:t>진이 동주(東周)를 멸함 — 800년 주(周) 왕실 종말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457200" y="6355080"/>
            <a:ext cx="1124712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/>
            <a:r>
              <a:rPr sz="1300" b="1">
                <a:solidFill>
                  <a:srgbClr val="8B1A1A"/>
                </a:solidFill>
                <a:latin typeface="맑은 고딕"/>
              </a:rPr>
              <a:t>첫 사평 — "명분 붕괴의 결정적 순간"이라는 통감 전체의 출발점</a:t>
            </a:r>
          </a:p>
        </p:txBody>
      </p:sp>
    </p:spTree>
  </p:cSld>
  <p:clrMapOvr>
    <a:masterClrMapping/>
  </p:clrMapOvr>
</p:sld>
</file>

<file path=ppt/slides/slide2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91440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100" b="1">
                <a:solidFill>
                  <a:srgbClr val="556070"/>
                </a:solidFill>
                <a:latin typeface="맑은 고딕"/>
              </a:rPr>
              <a:t>Ⅴ. 시대별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10972800" y="274320"/>
            <a:ext cx="118872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/>
            <a:r>
              <a:rPr sz="1000" b="0">
                <a:solidFill>
                  <a:srgbClr val="556070"/>
                </a:solidFill>
                <a:latin typeface="맑은 고딕"/>
              </a:rPr>
              <a:t>22 / 70</a:t>
            </a:r>
          </a:p>
        </p:txBody>
      </p:sp>
      <p:cxnSp>
        <p:nvCxnSpPr>
          <p:cNvPr id="4" name="Connector 3"/>
          <p:cNvCxnSpPr/>
          <p:nvPr/>
        </p:nvCxnSpPr>
        <p:spPr>
          <a:xfrm>
            <a:off x="457200" y="594360"/>
            <a:ext cx="11704320" cy="0"/>
          </a:xfrm>
          <a:prstGeom prst="line">
            <a:avLst/>
          </a:prstGeom>
          <a:ln w="25400">
            <a:solidFill>
              <a:srgbClr val="C8A25B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5" name="TextBox 4"/>
          <p:cNvSpPr txBox="1"/>
          <p:nvPr/>
        </p:nvSpPr>
        <p:spPr>
          <a:xfrm>
            <a:off x="457200" y="777240"/>
            <a:ext cx="11704320" cy="6400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3000" b="1">
                <a:solidFill>
                  <a:srgbClr val="1F2A44"/>
                </a:solidFill>
                <a:latin typeface="맑은 고딕"/>
              </a:rPr>
              <a:t>진기(秦紀) 3권 — BC 255~206 · 통일과 멸망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57200" y="1417320"/>
            <a:ext cx="1170432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400" b="0">
                <a:solidFill>
                  <a:srgbClr val="556070"/>
                </a:solidFill>
                <a:latin typeface="맑은 고딕"/>
              </a:rPr>
              <a:t>"15년 통일 후 14년 만에 멸망 — 가장 짧은 제국"</a:t>
            </a:r>
          </a:p>
        </p:txBody>
      </p:sp>
      <p:sp>
        <p:nvSpPr>
          <p:cNvPr id="7" name="Rectangle 6"/>
          <p:cNvSpPr/>
          <p:nvPr/>
        </p:nvSpPr>
        <p:spPr>
          <a:xfrm>
            <a:off x="548640" y="2194560"/>
            <a:ext cx="2011680" cy="502920"/>
          </a:xfrm>
          <a:prstGeom prst="rect">
            <a:avLst/>
          </a:prstGeom>
          <a:solidFill>
            <a:srgbClr val="8B1A1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548640" y="2313432"/>
            <a:ext cx="201168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/>
            <a:r>
              <a:rPr sz="1400" b="1">
                <a:solidFill>
                  <a:srgbClr val="FFFFFF"/>
                </a:solidFill>
                <a:latin typeface="맑은 고딕"/>
              </a:rPr>
              <a:t>BC 246</a:t>
            </a:r>
          </a:p>
        </p:txBody>
      </p:sp>
      <p:sp>
        <p:nvSpPr>
          <p:cNvPr id="9" name="Rectangle 8"/>
          <p:cNvSpPr/>
          <p:nvPr/>
        </p:nvSpPr>
        <p:spPr>
          <a:xfrm>
            <a:off x="2651760" y="2194560"/>
            <a:ext cx="9052560" cy="502920"/>
          </a:xfrm>
          <a:prstGeom prst="rect">
            <a:avLst/>
          </a:prstGeom>
          <a:solidFill>
            <a:srgbClr val="F5EED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2834640" y="2313432"/>
            <a:ext cx="877824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300" b="0">
                <a:solidFill>
                  <a:srgbClr val="1F2A44"/>
                </a:solidFill>
                <a:latin typeface="맑은 고딕"/>
              </a:rPr>
              <a:t>진왕 정(政, 훗날 시황) 즉위 — 13세</a:t>
            </a:r>
          </a:p>
        </p:txBody>
      </p:sp>
      <p:sp>
        <p:nvSpPr>
          <p:cNvPr id="11" name="Rectangle 10"/>
          <p:cNvSpPr/>
          <p:nvPr/>
        </p:nvSpPr>
        <p:spPr>
          <a:xfrm>
            <a:off x="548640" y="2761488"/>
            <a:ext cx="2011680" cy="502920"/>
          </a:xfrm>
          <a:prstGeom prst="rect">
            <a:avLst/>
          </a:prstGeom>
          <a:solidFill>
            <a:srgbClr val="8B1A1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548640" y="2880360"/>
            <a:ext cx="201168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/>
            <a:r>
              <a:rPr sz="1400" b="1">
                <a:solidFill>
                  <a:srgbClr val="FFFFFF"/>
                </a:solidFill>
                <a:latin typeface="맑은 고딕"/>
              </a:rPr>
              <a:t>BC 221</a:t>
            </a:r>
          </a:p>
        </p:txBody>
      </p:sp>
      <p:sp>
        <p:nvSpPr>
          <p:cNvPr id="13" name="Rectangle 12"/>
          <p:cNvSpPr/>
          <p:nvPr/>
        </p:nvSpPr>
        <p:spPr>
          <a:xfrm>
            <a:off x="2651760" y="2761488"/>
            <a:ext cx="9052560" cy="502920"/>
          </a:xfrm>
          <a:prstGeom prst="rect">
            <a:avLst/>
          </a:prstGeom>
          <a:solidFill>
            <a:srgbClr val="F5EED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2834640" y="2880360"/>
            <a:ext cx="877824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300" b="0">
                <a:solidFill>
                  <a:srgbClr val="1F2A44"/>
                </a:solidFill>
                <a:latin typeface="맑은 고딕"/>
              </a:rPr>
              <a:t>6국 통일 — 중국 최초의 황제 등극</a:t>
            </a:r>
          </a:p>
        </p:txBody>
      </p:sp>
      <p:sp>
        <p:nvSpPr>
          <p:cNvPr id="15" name="Rectangle 14"/>
          <p:cNvSpPr/>
          <p:nvPr/>
        </p:nvSpPr>
        <p:spPr>
          <a:xfrm>
            <a:off x="548640" y="3328416"/>
            <a:ext cx="2011680" cy="502920"/>
          </a:xfrm>
          <a:prstGeom prst="rect">
            <a:avLst/>
          </a:prstGeom>
          <a:solidFill>
            <a:srgbClr val="8B1A1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548640" y="3447288"/>
            <a:ext cx="201168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/>
            <a:r>
              <a:rPr sz="1400" b="1">
                <a:solidFill>
                  <a:srgbClr val="FFFFFF"/>
                </a:solidFill>
                <a:latin typeface="맑은 고딕"/>
              </a:rPr>
              <a:t>BC 213~212</a:t>
            </a:r>
          </a:p>
        </p:txBody>
      </p:sp>
      <p:sp>
        <p:nvSpPr>
          <p:cNvPr id="17" name="Rectangle 16"/>
          <p:cNvSpPr/>
          <p:nvPr/>
        </p:nvSpPr>
        <p:spPr>
          <a:xfrm>
            <a:off x="2651760" y="3328416"/>
            <a:ext cx="9052560" cy="502920"/>
          </a:xfrm>
          <a:prstGeom prst="rect">
            <a:avLst/>
          </a:prstGeom>
          <a:solidFill>
            <a:srgbClr val="F5EED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2834640" y="3447288"/>
            <a:ext cx="877824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300" b="0">
                <a:solidFill>
                  <a:srgbClr val="1F2A44"/>
                </a:solidFill>
                <a:latin typeface="맑은 고딕"/>
              </a:rPr>
              <a:t>분서갱유(焚書坑儒) — 사상 통제</a:t>
            </a:r>
          </a:p>
        </p:txBody>
      </p:sp>
      <p:sp>
        <p:nvSpPr>
          <p:cNvPr id="19" name="Rectangle 18"/>
          <p:cNvSpPr/>
          <p:nvPr/>
        </p:nvSpPr>
        <p:spPr>
          <a:xfrm>
            <a:off x="548640" y="3895344"/>
            <a:ext cx="2011680" cy="502920"/>
          </a:xfrm>
          <a:prstGeom prst="rect">
            <a:avLst/>
          </a:prstGeom>
          <a:solidFill>
            <a:srgbClr val="8B1A1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548640" y="4014215"/>
            <a:ext cx="201168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/>
            <a:r>
              <a:rPr sz="1400" b="1">
                <a:solidFill>
                  <a:srgbClr val="FFFFFF"/>
                </a:solidFill>
                <a:latin typeface="맑은 고딕"/>
              </a:rPr>
              <a:t>BC 210</a:t>
            </a:r>
          </a:p>
        </p:txBody>
      </p:sp>
      <p:sp>
        <p:nvSpPr>
          <p:cNvPr id="21" name="Rectangle 20"/>
          <p:cNvSpPr/>
          <p:nvPr/>
        </p:nvSpPr>
        <p:spPr>
          <a:xfrm>
            <a:off x="2651760" y="3895344"/>
            <a:ext cx="9052560" cy="502920"/>
          </a:xfrm>
          <a:prstGeom prst="rect">
            <a:avLst/>
          </a:prstGeom>
          <a:solidFill>
            <a:srgbClr val="F5EED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2834640" y="4014215"/>
            <a:ext cx="877824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300" b="0">
                <a:solidFill>
                  <a:srgbClr val="1F2A44"/>
                </a:solidFill>
                <a:latin typeface="맑은 고딕"/>
              </a:rPr>
              <a:t>시황 순행 중 사망 — 환관 조고의 음모 시작</a:t>
            </a:r>
          </a:p>
        </p:txBody>
      </p:sp>
      <p:sp>
        <p:nvSpPr>
          <p:cNvPr id="23" name="Rectangle 22"/>
          <p:cNvSpPr/>
          <p:nvPr/>
        </p:nvSpPr>
        <p:spPr>
          <a:xfrm>
            <a:off x="548640" y="4462272"/>
            <a:ext cx="2011680" cy="502920"/>
          </a:xfrm>
          <a:prstGeom prst="rect">
            <a:avLst/>
          </a:prstGeom>
          <a:solidFill>
            <a:srgbClr val="8B1A1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548640" y="4581144"/>
            <a:ext cx="201168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/>
            <a:r>
              <a:rPr sz="1400" b="1">
                <a:solidFill>
                  <a:srgbClr val="FFFFFF"/>
                </a:solidFill>
                <a:latin typeface="맑은 고딕"/>
              </a:rPr>
              <a:t>BC 209</a:t>
            </a:r>
          </a:p>
        </p:txBody>
      </p:sp>
      <p:sp>
        <p:nvSpPr>
          <p:cNvPr id="25" name="Rectangle 24"/>
          <p:cNvSpPr/>
          <p:nvPr/>
        </p:nvSpPr>
        <p:spPr>
          <a:xfrm>
            <a:off x="2651760" y="4462272"/>
            <a:ext cx="9052560" cy="502920"/>
          </a:xfrm>
          <a:prstGeom prst="rect">
            <a:avLst/>
          </a:prstGeom>
          <a:solidFill>
            <a:srgbClr val="F5EED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2834640" y="4581144"/>
            <a:ext cx="877824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300" b="0">
                <a:solidFill>
                  <a:srgbClr val="1F2A44"/>
                </a:solidFill>
                <a:latin typeface="맑은 고딕"/>
              </a:rPr>
              <a:t>진승(陳勝)·오광(吳廣)의 봉기 — "왕후장상 영유종호?"</a:t>
            </a:r>
          </a:p>
        </p:txBody>
      </p:sp>
      <p:sp>
        <p:nvSpPr>
          <p:cNvPr id="27" name="Rectangle 26"/>
          <p:cNvSpPr/>
          <p:nvPr/>
        </p:nvSpPr>
        <p:spPr>
          <a:xfrm>
            <a:off x="548640" y="5029200"/>
            <a:ext cx="2011680" cy="502920"/>
          </a:xfrm>
          <a:prstGeom prst="rect">
            <a:avLst/>
          </a:prstGeom>
          <a:solidFill>
            <a:srgbClr val="8B1A1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548640" y="5148072"/>
            <a:ext cx="201168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/>
            <a:r>
              <a:rPr sz="1400" b="1">
                <a:solidFill>
                  <a:srgbClr val="FFFFFF"/>
                </a:solidFill>
                <a:latin typeface="맑은 고딕"/>
              </a:rPr>
              <a:t>BC 207</a:t>
            </a:r>
          </a:p>
        </p:txBody>
      </p:sp>
      <p:sp>
        <p:nvSpPr>
          <p:cNvPr id="29" name="Rectangle 28"/>
          <p:cNvSpPr/>
          <p:nvPr/>
        </p:nvSpPr>
        <p:spPr>
          <a:xfrm>
            <a:off x="2651760" y="5029200"/>
            <a:ext cx="9052560" cy="502920"/>
          </a:xfrm>
          <a:prstGeom prst="rect">
            <a:avLst/>
          </a:prstGeom>
          <a:solidFill>
            <a:srgbClr val="F5EED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TextBox 29"/>
          <p:cNvSpPr txBox="1"/>
          <p:nvPr/>
        </p:nvSpPr>
        <p:spPr>
          <a:xfrm>
            <a:off x="2834640" y="5148072"/>
            <a:ext cx="877824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300" b="0">
                <a:solidFill>
                  <a:srgbClr val="1F2A44"/>
                </a:solidFill>
                <a:latin typeface="맑은 고딕"/>
              </a:rPr>
              <a:t>거록의 전투 — 항우가 진의 주력 격파</a:t>
            </a:r>
          </a:p>
        </p:txBody>
      </p:sp>
      <p:sp>
        <p:nvSpPr>
          <p:cNvPr id="31" name="Rectangle 30"/>
          <p:cNvSpPr/>
          <p:nvPr/>
        </p:nvSpPr>
        <p:spPr>
          <a:xfrm>
            <a:off x="548640" y="5596128"/>
            <a:ext cx="2011680" cy="502920"/>
          </a:xfrm>
          <a:prstGeom prst="rect">
            <a:avLst/>
          </a:prstGeom>
          <a:solidFill>
            <a:srgbClr val="8B1A1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TextBox 31"/>
          <p:cNvSpPr txBox="1"/>
          <p:nvPr/>
        </p:nvSpPr>
        <p:spPr>
          <a:xfrm>
            <a:off x="548640" y="5715000"/>
            <a:ext cx="201168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/>
            <a:r>
              <a:rPr sz="1400" b="1">
                <a:solidFill>
                  <a:srgbClr val="FFFFFF"/>
                </a:solidFill>
                <a:latin typeface="맑은 고딕"/>
              </a:rPr>
              <a:t>BC 206</a:t>
            </a:r>
          </a:p>
        </p:txBody>
      </p:sp>
      <p:sp>
        <p:nvSpPr>
          <p:cNvPr id="33" name="Rectangle 32"/>
          <p:cNvSpPr/>
          <p:nvPr/>
        </p:nvSpPr>
        <p:spPr>
          <a:xfrm>
            <a:off x="2651760" y="5596128"/>
            <a:ext cx="9052560" cy="502920"/>
          </a:xfrm>
          <a:prstGeom prst="rect">
            <a:avLst/>
          </a:prstGeom>
          <a:solidFill>
            <a:srgbClr val="F5EED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TextBox 33"/>
          <p:cNvSpPr txBox="1"/>
          <p:nvPr/>
        </p:nvSpPr>
        <p:spPr>
          <a:xfrm>
            <a:off x="2834640" y="5715000"/>
            <a:ext cx="877824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300" b="0">
                <a:solidFill>
                  <a:srgbClr val="1F2A44"/>
                </a:solidFill>
                <a:latin typeface="맑은 고딕"/>
              </a:rPr>
              <a:t>유방이 함양 입성 → 진(秦) 멸망 · 약법삼장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457200" y="6355080"/>
            <a:ext cx="1124712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/>
            <a:r>
              <a:rPr sz="1300" b="1">
                <a:solidFill>
                  <a:srgbClr val="8B1A1A"/>
                </a:solidFill>
                <a:latin typeface="맑은 고딕"/>
              </a:rPr>
              <a:t>통감의 핵심 교훈 — "무력과 법만으로는 천하를 지킬 수 없다"</a:t>
            </a:r>
          </a:p>
        </p:txBody>
      </p:sp>
    </p:spTree>
  </p:cSld>
  <p:clrMapOvr>
    <a:masterClrMapping/>
  </p:clrMapOvr>
</p:sld>
</file>

<file path=ppt/slides/slide2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91440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100" b="1">
                <a:solidFill>
                  <a:srgbClr val="556070"/>
                </a:solidFill>
                <a:latin typeface="맑은 고딕"/>
              </a:rPr>
              <a:t>Ⅴ. 시대별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10972800" y="274320"/>
            <a:ext cx="118872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/>
            <a:r>
              <a:rPr sz="1000" b="0">
                <a:solidFill>
                  <a:srgbClr val="556070"/>
                </a:solidFill>
                <a:latin typeface="맑은 고딕"/>
              </a:rPr>
              <a:t>23 / 70</a:t>
            </a:r>
          </a:p>
        </p:txBody>
      </p:sp>
      <p:cxnSp>
        <p:nvCxnSpPr>
          <p:cNvPr id="4" name="Connector 3"/>
          <p:cNvCxnSpPr/>
          <p:nvPr/>
        </p:nvCxnSpPr>
        <p:spPr>
          <a:xfrm>
            <a:off x="457200" y="594360"/>
            <a:ext cx="11704320" cy="0"/>
          </a:xfrm>
          <a:prstGeom prst="line">
            <a:avLst/>
          </a:prstGeom>
          <a:ln w="25400">
            <a:solidFill>
              <a:srgbClr val="C8A25B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5" name="TextBox 4"/>
          <p:cNvSpPr txBox="1"/>
          <p:nvPr/>
        </p:nvSpPr>
        <p:spPr>
          <a:xfrm>
            <a:off x="457200" y="777240"/>
            <a:ext cx="11704320" cy="6400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3000" b="1">
                <a:solidFill>
                  <a:srgbClr val="1F2A44"/>
                </a:solidFill>
                <a:latin typeface="맑은 고딕"/>
              </a:rPr>
              <a:t>한기(漢紀) 60권 ① — 전한(前漢) · BC 206~AD 8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57200" y="1417320"/>
            <a:ext cx="1170432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400" b="0">
                <a:solidFill>
                  <a:srgbClr val="556070"/>
                </a:solidFill>
                <a:latin typeface="맑은 고딕"/>
              </a:rPr>
              <a:t>"초한쟁패 · 문경의 치 · 무제의 영광과 그늘"</a:t>
            </a:r>
          </a:p>
        </p:txBody>
      </p:sp>
      <p:sp>
        <p:nvSpPr>
          <p:cNvPr id="7" name="Rectangle 6"/>
          <p:cNvSpPr/>
          <p:nvPr/>
        </p:nvSpPr>
        <p:spPr>
          <a:xfrm>
            <a:off x="548640" y="2194560"/>
            <a:ext cx="2286000" cy="502920"/>
          </a:xfrm>
          <a:prstGeom prst="rect">
            <a:avLst/>
          </a:prstGeom>
          <a:solidFill>
            <a:srgbClr val="8B1A1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548640" y="2313432"/>
            <a:ext cx="228600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/>
            <a:r>
              <a:rPr sz="1300" b="1">
                <a:solidFill>
                  <a:srgbClr val="FFFFFF"/>
                </a:solidFill>
                <a:latin typeface="맑은 고딕"/>
              </a:rPr>
              <a:t>BC 206~202</a:t>
            </a:r>
          </a:p>
        </p:txBody>
      </p:sp>
      <p:sp>
        <p:nvSpPr>
          <p:cNvPr id="9" name="Rectangle 8"/>
          <p:cNvSpPr/>
          <p:nvPr/>
        </p:nvSpPr>
        <p:spPr>
          <a:xfrm>
            <a:off x="2926080" y="2194560"/>
            <a:ext cx="8778240" cy="502920"/>
          </a:xfrm>
          <a:prstGeom prst="rect">
            <a:avLst/>
          </a:prstGeom>
          <a:solidFill>
            <a:srgbClr val="F5EED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3108960" y="2313432"/>
            <a:ext cx="850392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300" b="0">
                <a:solidFill>
                  <a:srgbClr val="1F2A44"/>
                </a:solidFill>
                <a:latin typeface="맑은 고딕"/>
              </a:rPr>
              <a:t>초한쟁패 — 유방 vs 항우 4년 전쟁</a:t>
            </a:r>
          </a:p>
        </p:txBody>
      </p:sp>
      <p:sp>
        <p:nvSpPr>
          <p:cNvPr id="11" name="Rectangle 10"/>
          <p:cNvSpPr/>
          <p:nvPr/>
        </p:nvSpPr>
        <p:spPr>
          <a:xfrm>
            <a:off x="548640" y="2761488"/>
            <a:ext cx="2286000" cy="502920"/>
          </a:xfrm>
          <a:prstGeom prst="rect">
            <a:avLst/>
          </a:prstGeom>
          <a:solidFill>
            <a:srgbClr val="8B1A1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548640" y="2880360"/>
            <a:ext cx="228600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/>
            <a:r>
              <a:rPr sz="1300" b="1">
                <a:solidFill>
                  <a:srgbClr val="FFFFFF"/>
                </a:solidFill>
                <a:latin typeface="맑은 고딕"/>
              </a:rPr>
              <a:t>BC 202</a:t>
            </a:r>
          </a:p>
        </p:txBody>
      </p:sp>
      <p:sp>
        <p:nvSpPr>
          <p:cNvPr id="13" name="Rectangle 12"/>
          <p:cNvSpPr/>
          <p:nvPr/>
        </p:nvSpPr>
        <p:spPr>
          <a:xfrm>
            <a:off x="2926080" y="2761488"/>
            <a:ext cx="8778240" cy="502920"/>
          </a:xfrm>
          <a:prstGeom prst="rect">
            <a:avLst/>
          </a:prstGeom>
          <a:solidFill>
            <a:srgbClr val="F5EED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3108960" y="2880360"/>
            <a:ext cx="850392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300" b="0">
                <a:solidFill>
                  <a:srgbClr val="1F2A44"/>
                </a:solidFill>
                <a:latin typeface="맑은 고딕"/>
              </a:rPr>
              <a:t>유방 즉위 — 한(漢) 건국 · 토사구팽 시작</a:t>
            </a:r>
          </a:p>
        </p:txBody>
      </p:sp>
      <p:sp>
        <p:nvSpPr>
          <p:cNvPr id="15" name="Rectangle 14"/>
          <p:cNvSpPr/>
          <p:nvPr/>
        </p:nvSpPr>
        <p:spPr>
          <a:xfrm>
            <a:off x="548640" y="3328416"/>
            <a:ext cx="2286000" cy="502920"/>
          </a:xfrm>
          <a:prstGeom prst="rect">
            <a:avLst/>
          </a:prstGeom>
          <a:solidFill>
            <a:srgbClr val="8B1A1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548640" y="3447288"/>
            <a:ext cx="228600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/>
            <a:r>
              <a:rPr sz="1300" b="1">
                <a:solidFill>
                  <a:srgbClr val="FFFFFF"/>
                </a:solidFill>
                <a:latin typeface="맑은 고딕"/>
              </a:rPr>
              <a:t>BC 180~141</a:t>
            </a:r>
          </a:p>
        </p:txBody>
      </p:sp>
      <p:sp>
        <p:nvSpPr>
          <p:cNvPr id="17" name="Rectangle 16"/>
          <p:cNvSpPr/>
          <p:nvPr/>
        </p:nvSpPr>
        <p:spPr>
          <a:xfrm>
            <a:off x="2926080" y="3328416"/>
            <a:ext cx="8778240" cy="502920"/>
          </a:xfrm>
          <a:prstGeom prst="rect">
            <a:avLst/>
          </a:prstGeom>
          <a:solidFill>
            <a:srgbClr val="F5EED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3108960" y="3447288"/>
            <a:ext cx="850392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300" b="0">
                <a:solidFill>
                  <a:srgbClr val="1F2A44"/>
                </a:solidFill>
                <a:latin typeface="맑은 고딕"/>
              </a:rPr>
              <a:t>문경의 치(文景之治) — 무위(無爲)의 황금기</a:t>
            </a:r>
          </a:p>
        </p:txBody>
      </p:sp>
      <p:sp>
        <p:nvSpPr>
          <p:cNvPr id="19" name="Rectangle 18"/>
          <p:cNvSpPr/>
          <p:nvPr/>
        </p:nvSpPr>
        <p:spPr>
          <a:xfrm>
            <a:off x="548640" y="3895344"/>
            <a:ext cx="2286000" cy="502920"/>
          </a:xfrm>
          <a:prstGeom prst="rect">
            <a:avLst/>
          </a:prstGeom>
          <a:solidFill>
            <a:srgbClr val="8B1A1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548640" y="4014215"/>
            <a:ext cx="228600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/>
            <a:r>
              <a:rPr sz="1300" b="1">
                <a:solidFill>
                  <a:srgbClr val="FFFFFF"/>
                </a:solidFill>
                <a:latin typeface="맑은 고딕"/>
              </a:rPr>
              <a:t>BC 141~87</a:t>
            </a:r>
          </a:p>
        </p:txBody>
      </p:sp>
      <p:sp>
        <p:nvSpPr>
          <p:cNvPr id="21" name="Rectangle 20"/>
          <p:cNvSpPr/>
          <p:nvPr/>
        </p:nvSpPr>
        <p:spPr>
          <a:xfrm>
            <a:off x="2926080" y="3895344"/>
            <a:ext cx="8778240" cy="502920"/>
          </a:xfrm>
          <a:prstGeom prst="rect">
            <a:avLst/>
          </a:prstGeom>
          <a:solidFill>
            <a:srgbClr val="F5EED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3108960" y="4014215"/>
            <a:ext cx="850392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300" b="0">
                <a:solidFill>
                  <a:srgbClr val="1F2A44"/>
                </a:solidFill>
                <a:latin typeface="맑은 고딕"/>
              </a:rPr>
              <a:t>무제(武帝) — 흉노 정벌·실크로드·유가 국교</a:t>
            </a:r>
          </a:p>
        </p:txBody>
      </p:sp>
      <p:sp>
        <p:nvSpPr>
          <p:cNvPr id="23" name="Rectangle 22"/>
          <p:cNvSpPr/>
          <p:nvPr/>
        </p:nvSpPr>
        <p:spPr>
          <a:xfrm>
            <a:off x="548640" y="4462272"/>
            <a:ext cx="2286000" cy="502920"/>
          </a:xfrm>
          <a:prstGeom prst="rect">
            <a:avLst/>
          </a:prstGeom>
          <a:solidFill>
            <a:srgbClr val="8B1A1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548640" y="4581144"/>
            <a:ext cx="228600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/>
            <a:r>
              <a:rPr sz="1300" b="1">
                <a:solidFill>
                  <a:srgbClr val="FFFFFF"/>
                </a:solidFill>
                <a:latin typeface="맑은 고딕"/>
              </a:rPr>
              <a:t>BC 87~74</a:t>
            </a:r>
          </a:p>
        </p:txBody>
      </p:sp>
      <p:sp>
        <p:nvSpPr>
          <p:cNvPr id="25" name="Rectangle 24"/>
          <p:cNvSpPr/>
          <p:nvPr/>
        </p:nvSpPr>
        <p:spPr>
          <a:xfrm>
            <a:off x="2926080" y="4462272"/>
            <a:ext cx="8778240" cy="502920"/>
          </a:xfrm>
          <a:prstGeom prst="rect">
            <a:avLst/>
          </a:prstGeom>
          <a:solidFill>
            <a:srgbClr val="F5EED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3108960" y="4581144"/>
            <a:ext cx="850392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300" b="0">
                <a:solidFill>
                  <a:srgbClr val="1F2A44"/>
                </a:solidFill>
                <a:latin typeface="맑은 고딕"/>
              </a:rPr>
              <a:t>소제·곽광의 섭정 — 외척 정치의 시작</a:t>
            </a:r>
          </a:p>
        </p:txBody>
      </p:sp>
      <p:sp>
        <p:nvSpPr>
          <p:cNvPr id="27" name="Rectangle 26"/>
          <p:cNvSpPr/>
          <p:nvPr/>
        </p:nvSpPr>
        <p:spPr>
          <a:xfrm>
            <a:off x="548640" y="5029200"/>
            <a:ext cx="2286000" cy="502920"/>
          </a:xfrm>
          <a:prstGeom prst="rect">
            <a:avLst/>
          </a:prstGeom>
          <a:solidFill>
            <a:srgbClr val="8B1A1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548640" y="5148072"/>
            <a:ext cx="228600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/>
            <a:r>
              <a:rPr sz="1300" b="1">
                <a:solidFill>
                  <a:srgbClr val="FFFFFF"/>
                </a:solidFill>
                <a:latin typeface="맑은 고딕"/>
              </a:rPr>
              <a:t>BC 73~49</a:t>
            </a:r>
          </a:p>
        </p:txBody>
      </p:sp>
      <p:sp>
        <p:nvSpPr>
          <p:cNvPr id="29" name="Rectangle 28"/>
          <p:cNvSpPr/>
          <p:nvPr/>
        </p:nvSpPr>
        <p:spPr>
          <a:xfrm>
            <a:off x="2926080" y="5029200"/>
            <a:ext cx="8778240" cy="502920"/>
          </a:xfrm>
          <a:prstGeom prst="rect">
            <a:avLst/>
          </a:prstGeom>
          <a:solidFill>
            <a:srgbClr val="F5EED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TextBox 29"/>
          <p:cNvSpPr txBox="1"/>
          <p:nvPr/>
        </p:nvSpPr>
        <p:spPr>
          <a:xfrm>
            <a:off x="3108960" y="5148072"/>
            <a:ext cx="850392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300" b="0">
                <a:solidFill>
                  <a:srgbClr val="1F2A44"/>
                </a:solidFill>
                <a:latin typeface="맑은 고딕"/>
              </a:rPr>
              <a:t>선제(宣帝) — 한 중흥의 명군</a:t>
            </a:r>
          </a:p>
        </p:txBody>
      </p:sp>
      <p:sp>
        <p:nvSpPr>
          <p:cNvPr id="31" name="Rectangle 30"/>
          <p:cNvSpPr/>
          <p:nvPr/>
        </p:nvSpPr>
        <p:spPr>
          <a:xfrm>
            <a:off x="548640" y="5596128"/>
            <a:ext cx="2286000" cy="502920"/>
          </a:xfrm>
          <a:prstGeom prst="rect">
            <a:avLst/>
          </a:prstGeom>
          <a:solidFill>
            <a:srgbClr val="8B1A1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TextBox 31"/>
          <p:cNvSpPr txBox="1"/>
          <p:nvPr/>
        </p:nvSpPr>
        <p:spPr>
          <a:xfrm>
            <a:off x="548640" y="5715000"/>
            <a:ext cx="228600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/>
            <a:r>
              <a:rPr sz="1300" b="1">
                <a:solidFill>
                  <a:srgbClr val="FFFFFF"/>
                </a:solidFill>
                <a:latin typeface="맑은 고딕"/>
              </a:rPr>
              <a:t>BC 8~AD 8</a:t>
            </a:r>
          </a:p>
        </p:txBody>
      </p:sp>
      <p:sp>
        <p:nvSpPr>
          <p:cNvPr id="33" name="Rectangle 32"/>
          <p:cNvSpPr/>
          <p:nvPr/>
        </p:nvSpPr>
        <p:spPr>
          <a:xfrm>
            <a:off x="2926080" y="5596128"/>
            <a:ext cx="8778240" cy="502920"/>
          </a:xfrm>
          <a:prstGeom prst="rect">
            <a:avLst/>
          </a:prstGeom>
          <a:solidFill>
            <a:srgbClr val="F5EED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TextBox 33"/>
          <p:cNvSpPr txBox="1"/>
          <p:nvPr/>
        </p:nvSpPr>
        <p:spPr>
          <a:xfrm>
            <a:off x="3108960" y="5715000"/>
            <a:ext cx="850392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300" b="0">
                <a:solidFill>
                  <a:srgbClr val="1F2A44"/>
                </a:solidFill>
                <a:latin typeface="맑은 고딕"/>
              </a:rPr>
              <a:t>왕망의 찬탈 — 신(新)왕조 (15년)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457200" y="6355080"/>
            <a:ext cx="1124712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/>
            <a:r>
              <a:rPr sz="1300" b="1">
                <a:solidFill>
                  <a:srgbClr val="8B1A1A"/>
                </a:solidFill>
                <a:latin typeface="맑은 고딕"/>
              </a:rPr>
              <a:t>문경의 치 — 동양 통사의 모범적 황금기 · 통감 사평의 단골 모범</a:t>
            </a:r>
          </a:p>
        </p:txBody>
      </p:sp>
    </p:spTree>
  </p:cSld>
  <p:clrMapOvr>
    <a:masterClrMapping/>
  </p:clrMapOvr>
</p:sld>
</file>

<file path=ppt/slides/slide2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91440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100" b="1">
                <a:solidFill>
                  <a:srgbClr val="556070"/>
                </a:solidFill>
                <a:latin typeface="맑은 고딕"/>
              </a:rPr>
              <a:t>Ⅴ. 시대별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10972800" y="274320"/>
            <a:ext cx="118872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/>
            <a:r>
              <a:rPr sz="1000" b="0">
                <a:solidFill>
                  <a:srgbClr val="556070"/>
                </a:solidFill>
                <a:latin typeface="맑은 고딕"/>
              </a:rPr>
              <a:t>24 / 70</a:t>
            </a:r>
          </a:p>
        </p:txBody>
      </p:sp>
      <p:cxnSp>
        <p:nvCxnSpPr>
          <p:cNvPr id="4" name="Connector 3"/>
          <p:cNvCxnSpPr/>
          <p:nvPr/>
        </p:nvCxnSpPr>
        <p:spPr>
          <a:xfrm>
            <a:off x="457200" y="594360"/>
            <a:ext cx="11704320" cy="0"/>
          </a:xfrm>
          <a:prstGeom prst="line">
            <a:avLst/>
          </a:prstGeom>
          <a:ln w="25400">
            <a:solidFill>
              <a:srgbClr val="C8A25B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5" name="TextBox 4"/>
          <p:cNvSpPr txBox="1"/>
          <p:nvPr/>
        </p:nvSpPr>
        <p:spPr>
          <a:xfrm>
            <a:off x="457200" y="777240"/>
            <a:ext cx="11704320" cy="6400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3000" b="1">
                <a:solidFill>
                  <a:srgbClr val="1F2A44"/>
                </a:solidFill>
                <a:latin typeface="맑은 고딕"/>
              </a:rPr>
              <a:t>한기(漢紀) 60권 ② — 후한(後漢) · 25~220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57200" y="1417320"/>
            <a:ext cx="1170432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400" b="0">
                <a:solidFill>
                  <a:srgbClr val="556070"/>
                </a:solidFill>
                <a:latin typeface="맑은 고딕"/>
              </a:rPr>
              <a:t>"광무중흥 → 환관·외척 정치 → 황건의 난"</a:t>
            </a:r>
          </a:p>
        </p:txBody>
      </p:sp>
      <p:sp>
        <p:nvSpPr>
          <p:cNvPr id="7" name="Rectangle 6"/>
          <p:cNvSpPr/>
          <p:nvPr/>
        </p:nvSpPr>
        <p:spPr>
          <a:xfrm>
            <a:off x="548640" y="2103120"/>
            <a:ext cx="1828800" cy="502920"/>
          </a:xfrm>
          <a:prstGeom prst="rect">
            <a:avLst/>
          </a:prstGeom>
          <a:solidFill>
            <a:srgbClr val="8B1A1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548640" y="2221991"/>
            <a:ext cx="182880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/>
            <a:r>
              <a:rPr sz="1400" b="1">
                <a:solidFill>
                  <a:srgbClr val="FFFFFF"/>
                </a:solidFill>
                <a:latin typeface="맑은 고딕"/>
              </a:rPr>
              <a:t>25</a:t>
            </a:r>
          </a:p>
        </p:txBody>
      </p:sp>
      <p:sp>
        <p:nvSpPr>
          <p:cNvPr id="9" name="Rectangle 8"/>
          <p:cNvSpPr/>
          <p:nvPr/>
        </p:nvSpPr>
        <p:spPr>
          <a:xfrm>
            <a:off x="2468880" y="2103120"/>
            <a:ext cx="9235440" cy="502920"/>
          </a:xfrm>
          <a:prstGeom prst="rect">
            <a:avLst/>
          </a:prstGeom>
          <a:solidFill>
            <a:srgbClr val="F5EED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2651760" y="2221991"/>
            <a:ext cx="896112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300" b="0">
                <a:solidFill>
                  <a:srgbClr val="1F2A44"/>
                </a:solidFill>
                <a:latin typeface="맑은 고딕"/>
              </a:rPr>
              <a:t>광무제(光武帝) 즉위 — 한 부흥, "광무중흥"</a:t>
            </a:r>
          </a:p>
        </p:txBody>
      </p:sp>
      <p:sp>
        <p:nvSpPr>
          <p:cNvPr id="11" name="Rectangle 10"/>
          <p:cNvSpPr/>
          <p:nvPr/>
        </p:nvSpPr>
        <p:spPr>
          <a:xfrm>
            <a:off x="548640" y="2651760"/>
            <a:ext cx="1828800" cy="502920"/>
          </a:xfrm>
          <a:prstGeom prst="rect">
            <a:avLst/>
          </a:prstGeom>
          <a:solidFill>
            <a:srgbClr val="8B1A1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548640" y="2770632"/>
            <a:ext cx="182880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/>
            <a:r>
              <a:rPr sz="1400" b="1">
                <a:solidFill>
                  <a:srgbClr val="FFFFFF"/>
                </a:solidFill>
                <a:latin typeface="맑은 고딕"/>
              </a:rPr>
              <a:t>29~57</a:t>
            </a:r>
          </a:p>
        </p:txBody>
      </p:sp>
      <p:sp>
        <p:nvSpPr>
          <p:cNvPr id="13" name="Rectangle 12"/>
          <p:cNvSpPr/>
          <p:nvPr/>
        </p:nvSpPr>
        <p:spPr>
          <a:xfrm>
            <a:off x="2468880" y="2651760"/>
            <a:ext cx="9235440" cy="502920"/>
          </a:xfrm>
          <a:prstGeom prst="rect">
            <a:avLst/>
          </a:prstGeom>
          <a:solidFill>
            <a:srgbClr val="F5EED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2651760" y="2770632"/>
            <a:ext cx="896112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300" b="0">
                <a:solidFill>
                  <a:srgbClr val="1F2A44"/>
                </a:solidFill>
                <a:latin typeface="맑은 고딕"/>
              </a:rPr>
              <a:t>광무제 치세 — 명군의 모범</a:t>
            </a:r>
          </a:p>
        </p:txBody>
      </p:sp>
      <p:sp>
        <p:nvSpPr>
          <p:cNvPr id="15" name="Rectangle 14"/>
          <p:cNvSpPr/>
          <p:nvPr/>
        </p:nvSpPr>
        <p:spPr>
          <a:xfrm>
            <a:off x="548640" y="3200400"/>
            <a:ext cx="1828800" cy="502920"/>
          </a:xfrm>
          <a:prstGeom prst="rect">
            <a:avLst/>
          </a:prstGeom>
          <a:solidFill>
            <a:srgbClr val="8B1A1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548640" y="3319272"/>
            <a:ext cx="182880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/>
            <a:r>
              <a:rPr sz="1400" b="1">
                <a:solidFill>
                  <a:srgbClr val="FFFFFF"/>
                </a:solidFill>
                <a:latin typeface="맑은 고딕"/>
              </a:rPr>
              <a:t>57~75</a:t>
            </a:r>
          </a:p>
        </p:txBody>
      </p:sp>
      <p:sp>
        <p:nvSpPr>
          <p:cNvPr id="17" name="Rectangle 16"/>
          <p:cNvSpPr/>
          <p:nvPr/>
        </p:nvSpPr>
        <p:spPr>
          <a:xfrm>
            <a:off x="2468880" y="3200400"/>
            <a:ext cx="9235440" cy="502920"/>
          </a:xfrm>
          <a:prstGeom prst="rect">
            <a:avLst/>
          </a:prstGeom>
          <a:solidFill>
            <a:srgbClr val="F5EED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2651760" y="3319272"/>
            <a:ext cx="896112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300" b="0">
                <a:solidFill>
                  <a:srgbClr val="1F2A44"/>
                </a:solidFill>
                <a:latin typeface="맑은 고딕"/>
              </a:rPr>
              <a:t>명제(明帝) — 불교 동전(東傳), 백마사 창건</a:t>
            </a:r>
          </a:p>
        </p:txBody>
      </p:sp>
      <p:sp>
        <p:nvSpPr>
          <p:cNvPr id="19" name="Rectangle 18"/>
          <p:cNvSpPr/>
          <p:nvPr/>
        </p:nvSpPr>
        <p:spPr>
          <a:xfrm>
            <a:off x="548640" y="3749039"/>
            <a:ext cx="1828800" cy="502920"/>
          </a:xfrm>
          <a:prstGeom prst="rect">
            <a:avLst/>
          </a:prstGeom>
          <a:solidFill>
            <a:srgbClr val="8B1A1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548640" y="3867911"/>
            <a:ext cx="182880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/>
            <a:r>
              <a:rPr sz="1400" b="1">
                <a:solidFill>
                  <a:srgbClr val="FFFFFF"/>
                </a:solidFill>
                <a:latin typeface="맑은 고딕"/>
              </a:rPr>
              <a:t>166</a:t>
            </a:r>
          </a:p>
        </p:txBody>
      </p:sp>
      <p:sp>
        <p:nvSpPr>
          <p:cNvPr id="21" name="Rectangle 20"/>
          <p:cNvSpPr/>
          <p:nvPr/>
        </p:nvSpPr>
        <p:spPr>
          <a:xfrm>
            <a:off x="2468880" y="3749039"/>
            <a:ext cx="9235440" cy="502920"/>
          </a:xfrm>
          <a:prstGeom prst="rect">
            <a:avLst/>
          </a:prstGeom>
          <a:solidFill>
            <a:srgbClr val="F5EED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2651760" y="3867911"/>
            <a:ext cx="896112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300" b="0">
                <a:solidFill>
                  <a:srgbClr val="1F2A44"/>
                </a:solidFill>
                <a:latin typeface="맑은 고딕"/>
              </a:rPr>
              <a:t>제1차 당고지화(黨錮之禍) — 환관의 사대부 탄압</a:t>
            </a:r>
          </a:p>
        </p:txBody>
      </p:sp>
      <p:sp>
        <p:nvSpPr>
          <p:cNvPr id="23" name="Rectangle 22"/>
          <p:cNvSpPr/>
          <p:nvPr/>
        </p:nvSpPr>
        <p:spPr>
          <a:xfrm>
            <a:off x="548640" y="4297679"/>
            <a:ext cx="1828800" cy="502920"/>
          </a:xfrm>
          <a:prstGeom prst="rect">
            <a:avLst/>
          </a:prstGeom>
          <a:solidFill>
            <a:srgbClr val="8B1A1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548640" y="4416551"/>
            <a:ext cx="182880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/>
            <a:r>
              <a:rPr sz="1400" b="1">
                <a:solidFill>
                  <a:srgbClr val="FFFFFF"/>
                </a:solidFill>
                <a:latin typeface="맑은 고딕"/>
              </a:rPr>
              <a:t>169</a:t>
            </a:r>
          </a:p>
        </p:txBody>
      </p:sp>
      <p:sp>
        <p:nvSpPr>
          <p:cNvPr id="25" name="Rectangle 24"/>
          <p:cNvSpPr/>
          <p:nvPr/>
        </p:nvSpPr>
        <p:spPr>
          <a:xfrm>
            <a:off x="2468880" y="4297679"/>
            <a:ext cx="9235440" cy="502920"/>
          </a:xfrm>
          <a:prstGeom prst="rect">
            <a:avLst/>
          </a:prstGeom>
          <a:solidFill>
            <a:srgbClr val="F5EED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2651760" y="4416551"/>
            <a:ext cx="896112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300" b="0">
                <a:solidFill>
                  <a:srgbClr val="1F2A44"/>
                </a:solidFill>
                <a:latin typeface="맑은 고딕"/>
              </a:rPr>
              <a:t>제2차 당고지화 — 청류파 대거 학살</a:t>
            </a:r>
          </a:p>
        </p:txBody>
      </p:sp>
      <p:sp>
        <p:nvSpPr>
          <p:cNvPr id="27" name="Rectangle 26"/>
          <p:cNvSpPr/>
          <p:nvPr/>
        </p:nvSpPr>
        <p:spPr>
          <a:xfrm>
            <a:off x="548640" y="4846319"/>
            <a:ext cx="1828800" cy="502920"/>
          </a:xfrm>
          <a:prstGeom prst="rect">
            <a:avLst/>
          </a:prstGeom>
          <a:solidFill>
            <a:srgbClr val="8B1A1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548640" y="4965191"/>
            <a:ext cx="182880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/>
            <a:r>
              <a:rPr sz="1400" b="1">
                <a:solidFill>
                  <a:srgbClr val="FFFFFF"/>
                </a:solidFill>
                <a:latin typeface="맑은 고딕"/>
              </a:rPr>
              <a:t>184</a:t>
            </a:r>
          </a:p>
        </p:txBody>
      </p:sp>
      <p:sp>
        <p:nvSpPr>
          <p:cNvPr id="29" name="Rectangle 28"/>
          <p:cNvSpPr/>
          <p:nvPr/>
        </p:nvSpPr>
        <p:spPr>
          <a:xfrm>
            <a:off x="2468880" y="4846319"/>
            <a:ext cx="9235440" cy="502920"/>
          </a:xfrm>
          <a:prstGeom prst="rect">
            <a:avLst/>
          </a:prstGeom>
          <a:solidFill>
            <a:srgbClr val="F5EED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TextBox 29"/>
          <p:cNvSpPr txBox="1"/>
          <p:nvPr/>
        </p:nvSpPr>
        <p:spPr>
          <a:xfrm>
            <a:off x="2651760" y="4965191"/>
            <a:ext cx="896112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300" b="0">
                <a:solidFill>
                  <a:srgbClr val="1F2A44"/>
                </a:solidFill>
                <a:latin typeface="맑은 고딕"/>
              </a:rPr>
              <a:t>황건(黃巾)의 난 — "창천이사 황천당립"</a:t>
            </a:r>
          </a:p>
        </p:txBody>
      </p:sp>
      <p:sp>
        <p:nvSpPr>
          <p:cNvPr id="31" name="Rectangle 30"/>
          <p:cNvSpPr/>
          <p:nvPr/>
        </p:nvSpPr>
        <p:spPr>
          <a:xfrm>
            <a:off x="548640" y="5394959"/>
            <a:ext cx="1828800" cy="502920"/>
          </a:xfrm>
          <a:prstGeom prst="rect">
            <a:avLst/>
          </a:prstGeom>
          <a:solidFill>
            <a:srgbClr val="8B1A1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TextBox 31"/>
          <p:cNvSpPr txBox="1"/>
          <p:nvPr/>
        </p:nvSpPr>
        <p:spPr>
          <a:xfrm>
            <a:off x="548640" y="5513831"/>
            <a:ext cx="182880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/>
            <a:r>
              <a:rPr sz="1400" b="1">
                <a:solidFill>
                  <a:srgbClr val="FFFFFF"/>
                </a:solidFill>
                <a:latin typeface="맑은 고딕"/>
              </a:rPr>
              <a:t>189</a:t>
            </a:r>
          </a:p>
        </p:txBody>
      </p:sp>
      <p:sp>
        <p:nvSpPr>
          <p:cNvPr id="33" name="Rectangle 32"/>
          <p:cNvSpPr/>
          <p:nvPr/>
        </p:nvSpPr>
        <p:spPr>
          <a:xfrm>
            <a:off x="2468880" y="5394959"/>
            <a:ext cx="9235440" cy="502920"/>
          </a:xfrm>
          <a:prstGeom prst="rect">
            <a:avLst/>
          </a:prstGeom>
          <a:solidFill>
            <a:srgbClr val="F5EED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TextBox 33"/>
          <p:cNvSpPr txBox="1"/>
          <p:nvPr/>
        </p:nvSpPr>
        <p:spPr>
          <a:xfrm>
            <a:off x="2651760" y="5513831"/>
            <a:ext cx="896112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300" b="0">
                <a:solidFill>
                  <a:srgbClr val="1F2A44"/>
                </a:solidFill>
                <a:latin typeface="맑은 고딕"/>
              </a:rPr>
              <a:t>동탁(董卓)의 낙양 입성 — 후한 황제권 붕괴</a:t>
            </a:r>
          </a:p>
        </p:txBody>
      </p:sp>
      <p:sp>
        <p:nvSpPr>
          <p:cNvPr id="35" name="Rectangle 34"/>
          <p:cNvSpPr/>
          <p:nvPr/>
        </p:nvSpPr>
        <p:spPr>
          <a:xfrm>
            <a:off x="548640" y="5943599"/>
            <a:ext cx="1828800" cy="502920"/>
          </a:xfrm>
          <a:prstGeom prst="rect">
            <a:avLst/>
          </a:prstGeom>
          <a:solidFill>
            <a:srgbClr val="8B1A1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6" name="TextBox 35"/>
          <p:cNvSpPr txBox="1"/>
          <p:nvPr/>
        </p:nvSpPr>
        <p:spPr>
          <a:xfrm>
            <a:off x="548640" y="6062471"/>
            <a:ext cx="182880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/>
            <a:r>
              <a:rPr sz="1400" b="1">
                <a:solidFill>
                  <a:srgbClr val="FFFFFF"/>
                </a:solidFill>
                <a:latin typeface="맑은 고딕"/>
              </a:rPr>
              <a:t>220</a:t>
            </a:r>
          </a:p>
        </p:txBody>
      </p:sp>
      <p:sp>
        <p:nvSpPr>
          <p:cNvPr id="37" name="Rectangle 36"/>
          <p:cNvSpPr/>
          <p:nvPr/>
        </p:nvSpPr>
        <p:spPr>
          <a:xfrm>
            <a:off x="2468880" y="5943599"/>
            <a:ext cx="9235440" cy="502920"/>
          </a:xfrm>
          <a:prstGeom prst="rect">
            <a:avLst/>
          </a:prstGeom>
          <a:solidFill>
            <a:srgbClr val="F5EED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8" name="TextBox 37"/>
          <p:cNvSpPr txBox="1"/>
          <p:nvPr/>
        </p:nvSpPr>
        <p:spPr>
          <a:xfrm>
            <a:off x="2651760" y="6062471"/>
            <a:ext cx="896112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300" b="0">
                <a:solidFill>
                  <a:srgbClr val="1F2A44"/>
                </a:solidFill>
                <a:latin typeface="맑은 고딕"/>
              </a:rPr>
              <a:t>조비(曹丕)가 헌제를 폐위 → 위(魏) 건국 · 한 멸망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457200" y="6400800"/>
            <a:ext cx="1124712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/>
            <a:r>
              <a:rPr sz="1300" b="1">
                <a:solidFill>
                  <a:srgbClr val="8B1A1A"/>
                </a:solidFill>
                <a:latin typeface="맑은 고딕"/>
              </a:rPr>
              <a:t>통감 교훈 — "외척·환관의 정치 농단이 왕조 멸망의 원인"</a:t>
            </a:r>
          </a:p>
        </p:txBody>
      </p:sp>
    </p:spTree>
  </p:cSld>
  <p:clrMapOvr>
    <a:masterClrMapping/>
  </p:clrMapOvr>
</p:sld>
</file>

<file path=ppt/slides/slide2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91440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100" b="1">
                <a:solidFill>
                  <a:srgbClr val="556070"/>
                </a:solidFill>
                <a:latin typeface="맑은 고딕"/>
              </a:rPr>
              <a:t>Ⅴ. 시대별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10972800" y="274320"/>
            <a:ext cx="118872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/>
            <a:r>
              <a:rPr sz="1000" b="0">
                <a:solidFill>
                  <a:srgbClr val="556070"/>
                </a:solidFill>
                <a:latin typeface="맑은 고딕"/>
              </a:rPr>
              <a:t>25 / 70</a:t>
            </a:r>
          </a:p>
        </p:txBody>
      </p:sp>
      <p:cxnSp>
        <p:nvCxnSpPr>
          <p:cNvPr id="4" name="Connector 3"/>
          <p:cNvCxnSpPr/>
          <p:nvPr/>
        </p:nvCxnSpPr>
        <p:spPr>
          <a:xfrm>
            <a:off x="457200" y="594360"/>
            <a:ext cx="11704320" cy="0"/>
          </a:xfrm>
          <a:prstGeom prst="line">
            <a:avLst/>
          </a:prstGeom>
          <a:ln w="25400">
            <a:solidFill>
              <a:srgbClr val="C8A25B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5" name="TextBox 4"/>
          <p:cNvSpPr txBox="1"/>
          <p:nvPr/>
        </p:nvSpPr>
        <p:spPr>
          <a:xfrm>
            <a:off x="457200" y="777240"/>
            <a:ext cx="11704320" cy="6400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3000" b="1">
                <a:solidFill>
                  <a:srgbClr val="1F2A44"/>
                </a:solidFill>
                <a:latin typeface="맑은 고딕"/>
              </a:rPr>
              <a:t>위기(魏紀) 10권 + 진기(晉紀) — 삼국·서진 · 220~316</a:t>
            </a:r>
          </a:p>
        </p:txBody>
      </p:sp>
      <p:sp>
        <p:nvSpPr>
          <p:cNvPr id="6" name="Rectangle 5"/>
          <p:cNvSpPr/>
          <p:nvPr/>
        </p:nvSpPr>
        <p:spPr>
          <a:xfrm>
            <a:off x="457200" y="1828800"/>
            <a:ext cx="1371600" cy="457200"/>
          </a:xfrm>
          <a:prstGeom prst="rect">
            <a:avLst/>
          </a:prstGeom>
          <a:solidFill>
            <a:srgbClr val="8B1A1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457200" y="1920240"/>
            <a:ext cx="137160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/>
            <a:r>
              <a:rPr sz="1300" b="1">
                <a:solidFill>
                  <a:srgbClr val="FFFFFF"/>
                </a:solidFill>
                <a:latin typeface="맑은 고딕"/>
              </a:rPr>
              <a:t>220</a:t>
            </a:r>
          </a:p>
        </p:txBody>
      </p:sp>
      <p:sp>
        <p:nvSpPr>
          <p:cNvPr id="8" name="Rectangle 7"/>
          <p:cNvSpPr/>
          <p:nvPr/>
        </p:nvSpPr>
        <p:spPr>
          <a:xfrm>
            <a:off x="1920240" y="1828800"/>
            <a:ext cx="4023360" cy="457200"/>
          </a:xfrm>
          <a:prstGeom prst="rect">
            <a:avLst/>
          </a:prstGeom>
          <a:solidFill>
            <a:srgbClr val="F5EED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2011680" y="1920240"/>
            <a:ext cx="393192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100" b="0">
                <a:solidFill>
                  <a:srgbClr val="1F2A44"/>
                </a:solidFill>
                <a:latin typeface="맑은 고딕"/>
              </a:rPr>
              <a:t>조비 — 위(魏) 건국 (낙양)</a:t>
            </a:r>
          </a:p>
        </p:txBody>
      </p:sp>
      <p:sp>
        <p:nvSpPr>
          <p:cNvPr id="10" name="Rectangle 9"/>
          <p:cNvSpPr/>
          <p:nvPr/>
        </p:nvSpPr>
        <p:spPr>
          <a:xfrm>
            <a:off x="6309360" y="1828800"/>
            <a:ext cx="1371600" cy="457200"/>
          </a:xfrm>
          <a:prstGeom prst="rect">
            <a:avLst/>
          </a:prstGeom>
          <a:solidFill>
            <a:srgbClr val="8B1A1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6309360" y="1920240"/>
            <a:ext cx="137160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/>
            <a:r>
              <a:rPr sz="1300" b="1">
                <a:solidFill>
                  <a:srgbClr val="FFFFFF"/>
                </a:solidFill>
                <a:latin typeface="맑은 고딕"/>
              </a:rPr>
              <a:t>221</a:t>
            </a:r>
          </a:p>
        </p:txBody>
      </p:sp>
      <p:sp>
        <p:nvSpPr>
          <p:cNvPr id="12" name="Rectangle 11"/>
          <p:cNvSpPr/>
          <p:nvPr/>
        </p:nvSpPr>
        <p:spPr>
          <a:xfrm>
            <a:off x="7772400" y="1828800"/>
            <a:ext cx="4023360" cy="457200"/>
          </a:xfrm>
          <a:prstGeom prst="rect">
            <a:avLst/>
          </a:prstGeom>
          <a:solidFill>
            <a:srgbClr val="F5EED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7863840" y="1920240"/>
            <a:ext cx="393192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100" b="0">
                <a:solidFill>
                  <a:srgbClr val="1F2A44"/>
                </a:solidFill>
                <a:latin typeface="맑은 고딕"/>
              </a:rPr>
              <a:t>유비 — 촉한(蜀漢) 건국 (성도)</a:t>
            </a:r>
          </a:p>
        </p:txBody>
      </p:sp>
      <p:sp>
        <p:nvSpPr>
          <p:cNvPr id="14" name="Rectangle 13"/>
          <p:cNvSpPr/>
          <p:nvPr/>
        </p:nvSpPr>
        <p:spPr>
          <a:xfrm>
            <a:off x="457200" y="2377440"/>
            <a:ext cx="1371600" cy="457200"/>
          </a:xfrm>
          <a:prstGeom prst="rect">
            <a:avLst/>
          </a:prstGeom>
          <a:solidFill>
            <a:srgbClr val="8B1A1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457200" y="2468880"/>
            <a:ext cx="137160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/>
            <a:r>
              <a:rPr sz="1300" b="1">
                <a:solidFill>
                  <a:srgbClr val="FFFFFF"/>
                </a:solidFill>
                <a:latin typeface="맑은 고딕"/>
              </a:rPr>
              <a:t>229</a:t>
            </a:r>
          </a:p>
        </p:txBody>
      </p:sp>
      <p:sp>
        <p:nvSpPr>
          <p:cNvPr id="16" name="Rectangle 15"/>
          <p:cNvSpPr/>
          <p:nvPr/>
        </p:nvSpPr>
        <p:spPr>
          <a:xfrm>
            <a:off x="1920240" y="2377440"/>
            <a:ext cx="4023360" cy="457200"/>
          </a:xfrm>
          <a:prstGeom prst="rect">
            <a:avLst/>
          </a:prstGeom>
          <a:solidFill>
            <a:srgbClr val="F5EED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2011680" y="2468880"/>
            <a:ext cx="393192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100" b="0">
                <a:solidFill>
                  <a:srgbClr val="1F2A44"/>
                </a:solidFill>
                <a:latin typeface="맑은 고딕"/>
              </a:rPr>
              <a:t>손권 — 오(吳) 건국 (건업) · 삼국정립 완성</a:t>
            </a:r>
          </a:p>
        </p:txBody>
      </p:sp>
      <p:sp>
        <p:nvSpPr>
          <p:cNvPr id="18" name="Rectangle 17"/>
          <p:cNvSpPr/>
          <p:nvPr/>
        </p:nvSpPr>
        <p:spPr>
          <a:xfrm>
            <a:off x="6309360" y="2377440"/>
            <a:ext cx="1371600" cy="457200"/>
          </a:xfrm>
          <a:prstGeom prst="rect">
            <a:avLst/>
          </a:prstGeom>
          <a:solidFill>
            <a:srgbClr val="8B1A1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6309360" y="2468880"/>
            <a:ext cx="137160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/>
            <a:r>
              <a:rPr sz="1300" b="1">
                <a:solidFill>
                  <a:srgbClr val="FFFFFF"/>
                </a:solidFill>
                <a:latin typeface="맑은 고딕"/>
              </a:rPr>
              <a:t>234</a:t>
            </a:r>
          </a:p>
        </p:txBody>
      </p:sp>
      <p:sp>
        <p:nvSpPr>
          <p:cNvPr id="20" name="Rectangle 19"/>
          <p:cNvSpPr/>
          <p:nvPr/>
        </p:nvSpPr>
        <p:spPr>
          <a:xfrm>
            <a:off x="7772400" y="2377440"/>
            <a:ext cx="4023360" cy="457200"/>
          </a:xfrm>
          <a:prstGeom prst="rect">
            <a:avLst/>
          </a:prstGeom>
          <a:solidFill>
            <a:srgbClr val="F5EED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7863840" y="2468880"/>
            <a:ext cx="393192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100" b="0">
                <a:solidFill>
                  <a:srgbClr val="1F2A44"/>
                </a:solidFill>
                <a:latin typeface="맑은 고딕"/>
              </a:rPr>
              <a:t>제갈량(諸葛亮) 오장원에서 병사</a:t>
            </a:r>
          </a:p>
        </p:txBody>
      </p:sp>
      <p:sp>
        <p:nvSpPr>
          <p:cNvPr id="22" name="Rectangle 21"/>
          <p:cNvSpPr/>
          <p:nvPr/>
        </p:nvSpPr>
        <p:spPr>
          <a:xfrm>
            <a:off x="457200" y="2926080"/>
            <a:ext cx="1371600" cy="457200"/>
          </a:xfrm>
          <a:prstGeom prst="rect">
            <a:avLst/>
          </a:prstGeom>
          <a:solidFill>
            <a:srgbClr val="8B1A1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457200" y="3017520"/>
            <a:ext cx="137160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/>
            <a:r>
              <a:rPr sz="1300" b="1">
                <a:solidFill>
                  <a:srgbClr val="FFFFFF"/>
                </a:solidFill>
                <a:latin typeface="맑은 고딕"/>
              </a:rPr>
              <a:t>249</a:t>
            </a:r>
          </a:p>
        </p:txBody>
      </p:sp>
      <p:sp>
        <p:nvSpPr>
          <p:cNvPr id="24" name="Rectangle 23"/>
          <p:cNvSpPr/>
          <p:nvPr/>
        </p:nvSpPr>
        <p:spPr>
          <a:xfrm>
            <a:off x="1920240" y="2926080"/>
            <a:ext cx="4023360" cy="457200"/>
          </a:xfrm>
          <a:prstGeom prst="rect">
            <a:avLst/>
          </a:prstGeom>
          <a:solidFill>
            <a:srgbClr val="F5EED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2011680" y="3017520"/>
            <a:ext cx="393192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100" b="0">
                <a:solidFill>
                  <a:srgbClr val="1F2A44"/>
                </a:solidFill>
                <a:latin typeface="맑은 고딕"/>
              </a:rPr>
              <a:t>사마의(司馬懿) 고평릉의 변 — 위 권력 장악</a:t>
            </a:r>
          </a:p>
        </p:txBody>
      </p:sp>
      <p:sp>
        <p:nvSpPr>
          <p:cNvPr id="26" name="Rectangle 25"/>
          <p:cNvSpPr/>
          <p:nvPr/>
        </p:nvSpPr>
        <p:spPr>
          <a:xfrm>
            <a:off x="6309360" y="2926080"/>
            <a:ext cx="1371600" cy="457200"/>
          </a:xfrm>
          <a:prstGeom prst="rect">
            <a:avLst/>
          </a:prstGeom>
          <a:solidFill>
            <a:srgbClr val="8B1A1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6309360" y="3017520"/>
            <a:ext cx="137160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/>
            <a:r>
              <a:rPr sz="1300" b="1">
                <a:solidFill>
                  <a:srgbClr val="FFFFFF"/>
                </a:solidFill>
                <a:latin typeface="맑은 고딕"/>
              </a:rPr>
              <a:t>263</a:t>
            </a:r>
          </a:p>
        </p:txBody>
      </p:sp>
      <p:sp>
        <p:nvSpPr>
          <p:cNvPr id="28" name="Rectangle 27"/>
          <p:cNvSpPr/>
          <p:nvPr/>
        </p:nvSpPr>
        <p:spPr>
          <a:xfrm>
            <a:off x="7772400" y="2926080"/>
            <a:ext cx="4023360" cy="457200"/>
          </a:xfrm>
          <a:prstGeom prst="rect">
            <a:avLst/>
          </a:prstGeom>
          <a:solidFill>
            <a:srgbClr val="F5EED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TextBox 28"/>
          <p:cNvSpPr txBox="1"/>
          <p:nvPr/>
        </p:nvSpPr>
        <p:spPr>
          <a:xfrm>
            <a:off x="7863840" y="3017520"/>
            <a:ext cx="393192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100" b="0">
                <a:solidFill>
                  <a:srgbClr val="1F2A44"/>
                </a:solidFill>
                <a:latin typeface="맑은 고딕"/>
              </a:rPr>
              <a:t>위가 촉(蜀)을 멸함</a:t>
            </a:r>
          </a:p>
        </p:txBody>
      </p:sp>
      <p:sp>
        <p:nvSpPr>
          <p:cNvPr id="30" name="Rectangle 29"/>
          <p:cNvSpPr/>
          <p:nvPr/>
        </p:nvSpPr>
        <p:spPr>
          <a:xfrm>
            <a:off x="457200" y="3474720"/>
            <a:ext cx="1371600" cy="457200"/>
          </a:xfrm>
          <a:prstGeom prst="rect">
            <a:avLst/>
          </a:prstGeom>
          <a:solidFill>
            <a:srgbClr val="8B1A1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TextBox 30"/>
          <p:cNvSpPr txBox="1"/>
          <p:nvPr/>
        </p:nvSpPr>
        <p:spPr>
          <a:xfrm>
            <a:off x="457200" y="3566160"/>
            <a:ext cx="137160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/>
            <a:r>
              <a:rPr sz="1300" b="1">
                <a:solidFill>
                  <a:srgbClr val="FFFFFF"/>
                </a:solidFill>
                <a:latin typeface="맑은 고딕"/>
              </a:rPr>
              <a:t>265</a:t>
            </a:r>
          </a:p>
        </p:txBody>
      </p:sp>
      <p:sp>
        <p:nvSpPr>
          <p:cNvPr id="32" name="Rectangle 31"/>
          <p:cNvSpPr/>
          <p:nvPr/>
        </p:nvSpPr>
        <p:spPr>
          <a:xfrm>
            <a:off x="1920240" y="3474720"/>
            <a:ext cx="4023360" cy="457200"/>
          </a:xfrm>
          <a:prstGeom prst="rect">
            <a:avLst/>
          </a:prstGeom>
          <a:solidFill>
            <a:srgbClr val="F5EED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TextBox 32"/>
          <p:cNvSpPr txBox="1"/>
          <p:nvPr/>
        </p:nvSpPr>
        <p:spPr>
          <a:xfrm>
            <a:off x="2011680" y="3566160"/>
            <a:ext cx="393192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100" b="0">
                <a:solidFill>
                  <a:srgbClr val="1F2A44"/>
                </a:solidFill>
                <a:latin typeface="맑은 고딕"/>
              </a:rPr>
              <a:t>사마염(司馬炎) — 위를 폐하고 진(晉) 건국</a:t>
            </a:r>
          </a:p>
        </p:txBody>
      </p:sp>
      <p:sp>
        <p:nvSpPr>
          <p:cNvPr id="34" name="Rectangle 33"/>
          <p:cNvSpPr/>
          <p:nvPr/>
        </p:nvSpPr>
        <p:spPr>
          <a:xfrm>
            <a:off x="6309360" y="3474720"/>
            <a:ext cx="1371600" cy="457200"/>
          </a:xfrm>
          <a:prstGeom prst="rect">
            <a:avLst/>
          </a:prstGeom>
          <a:solidFill>
            <a:srgbClr val="8B1A1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TextBox 34"/>
          <p:cNvSpPr txBox="1"/>
          <p:nvPr/>
        </p:nvSpPr>
        <p:spPr>
          <a:xfrm>
            <a:off x="6309360" y="3566160"/>
            <a:ext cx="137160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/>
            <a:r>
              <a:rPr sz="1300" b="1">
                <a:solidFill>
                  <a:srgbClr val="FFFFFF"/>
                </a:solidFill>
                <a:latin typeface="맑은 고딕"/>
              </a:rPr>
              <a:t>280</a:t>
            </a:r>
          </a:p>
        </p:txBody>
      </p:sp>
      <p:sp>
        <p:nvSpPr>
          <p:cNvPr id="36" name="Rectangle 35"/>
          <p:cNvSpPr/>
          <p:nvPr/>
        </p:nvSpPr>
        <p:spPr>
          <a:xfrm>
            <a:off x="7772400" y="3474720"/>
            <a:ext cx="4023360" cy="457200"/>
          </a:xfrm>
          <a:prstGeom prst="rect">
            <a:avLst/>
          </a:prstGeom>
          <a:solidFill>
            <a:srgbClr val="F5EED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" name="TextBox 36"/>
          <p:cNvSpPr txBox="1"/>
          <p:nvPr/>
        </p:nvSpPr>
        <p:spPr>
          <a:xfrm>
            <a:off x="7863840" y="3566160"/>
            <a:ext cx="393192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100" b="0">
                <a:solidFill>
                  <a:srgbClr val="1F2A44"/>
                </a:solidFill>
                <a:latin typeface="맑은 고딕"/>
              </a:rPr>
              <a:t>진이 오(吳)를 멸함 — 천하 통일</a:t>
            </a:r>
          </a:p>
        </p:txBody>
      </p:sp>
      <p:sp>
        <p:nvSpPr>
          <p:cNvPr id="38" name="Rectangle 37"/>
          <p:cNvSpPr/>
          <p:nvPr/>
        </p:nvSpPr>
        <p:spPr>
          <a:xfrm>
            <a:off x="457200" y="4023360"/>
            <a:ext cx="1371600" cy="457200"/>
          </a:xfrm>
          <a:prstGeom prst="rect">
            <a:avLst/>
          </a:prstGeom>
          <a:solidFill>
            <a:srgbClr val="8B1A1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9" name="TextBox 38"/>
          <p:cNvSpPr txBox="1"/>
          <p:nvPr/>
        </p:nvSpPr>
        <p:spPr>
          <a:xfrm>
            <a:off x="457200" y="4114800"/>
            <a:ext cx="137160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/>
            <a:r>
              <a:rPr sz="1300" b="1">
                <a:solidFill>
                  <a:srgbClr val="FFFFFF"/>
                </a:solidFill>
                <a:latin typeface="맑은 고딕"/>
              </a:rPr>
              <a:t>291~306</a:t>
            </a:r>
          </a:p>
        </p:txBody>
      </p:sp>
      <p:sp>
        <p:nvSpPr>
          <p:cNvPr id="40" name="Rectangle 39"/>
          <p:cNvSpPr/>
          <p:nvPr/>
        </p:nvSpPr>
        <p:spPr>
          <a:xfrm>
            <a:off x="1920240" y="4023360"/>
            <a:ext cx="4023360" cy="457200"/>
          </a:xfrm>
          <a:prstGeom prst="rect">
            <a:avLst/>
          </a:prstGeom>
          <a:solidFill>
            <a:srgbClr val="F5EED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1" name="TextBox 40"/>
          <p:cNvSpPr txBox="1"/>
          <p:nvPr/>
        </p:nvSpPr>
        <p:spPr>
          <a:xfrm>
            <a:off x="2011680" y="4114800"/>
            <a:ext cx="393192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100" b="0">
                <a:solidFill>
                  <a:srgbClr val="1F2A44"/>
                </a:solidFill>
                <a:latin typeface="맑은 고딕"/>
              </a:rPr>
              <a:t>팔왕(八王)의 난 — 진의 내전</a:t>
            </a:r>
          </a:p>
        </p:txBody>
      </p:sp>
      <p:sp>
        <p:nvSpPr>
          <p:cNvPr id="42" name="Rectangle 41"/>
          <p:cNvSpPr/>
          <p:nvPr/>
        </p:nvSpPr>
        <p:spPr>
          <a:xfrm>
            <a:off x="6309360" y="4023360"/>
            <a:ext cx="1371600" cy="457200"/>
          </a:xfrm>
          <a:prstGeom prst="rect">
            <a:avLst/>
          </a:prstGeom>
          <a:solidFill>
            <a:srgbClr val="8B1A1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3" name="TextBox 42"/>
          <p:cNvSpPr txBox="1"/>
          <p:nvPr/>
        </p:nvSpPr>
        <p:spPr>
          <a:xfrm>
            <a:off x="6309360" y="4114800"/>
            <a:ext cx="137160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/>
            <a:r>
              <a:rPr sz="1300" b="1">
                <a:solidFill>
                  <a:srgbClr val="FFFFFF"/>
                </a:solidFill>
                <a:latin typeface="맑은 고딕"/>
              </a:rPr>
              <a:t>316</a:t>
            </a:r>
          </a:p>
        </p:txBody>
      </p:sp>
      <p:sp>
        <p:nvSpPr>
          <p:cNvPr id="44" name="Rectangle 43"/>
          <p:cNvSpPr/>
          <p:nvPr/>
        </p:nvSpPr>
        <p:spPr>
          <a:xfrm>
            <a:off x="7772400" y="4023360"/>
            <a:ext cx="4023360" cy="457200"/>
          </a:xfrm>
          <a:prstGeom prst="rect">
            <a:avLst/>
          </a:prstGeom>
          <a:solidFill>
            <a:srgbClr val="F5EED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5" name="TextBox 44"/>
          <p:cNvSpPr txBox="1"/>
          <p:nvPr/>
        </p:nvSpPr>
        <p:spPr>
          <a:xfrm>
            <a:off x="7863840" y="4114800"/>
            <a:ext cx="393192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100" b="0">
                <a:solidFill>
                  <a:srgbClr val="1F2A44"/>
                </a:solidFill>
                <a:latin typeface="맑은 고딕"/>
              </a:rPr>
              <a:t>서진(西晉) 멸망 — 영가의 난</a:t>
            </a:r>
          </a:p>
        </p:txBody>
      </p:sp>
    </p:spTree>
  </p:cSld>
  <p:clrMapOvr>
    <a:masterClrMapping/>
  </p:clrMapOvr>
</p:sld>
</file>

<file path=ppt/slides/slide2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91440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100" b="1">
                <a:solidFill>
                  <a:srgbClr val="556070"/>
                </a:solidFill>
                <a:latin typeface="맑은 고딕"/>
              </a:rPr>
              <a:t>Ⅴ. 시대별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10972800" y="274320"/>
            <a:ext cx="118872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/>
            <a:r>
              <a:rPr sz="1000" b="0">
                <a:solidFill>
                  <a:srgbClr val="556070"/>
                </a:solidFill>
                <a:latin typeface="맑은 고딕"/>
              </a:rPr>
              <a:t>26 / 70</a:t>
            </a:r>
          </a:p>
        </p:txBody>
      </p:sp>
      <p:cxnSp>
        <p:nvCxnSpPr>
          <p:cNvPr id="4" name="Connector 3"/>
          <p:cNvCxnSpPr/>
          <p:nvPr/>
        </p:nvCxnSpPr>
        <p:spPr>
          <a:xfrm>
            <a:off x="457200" y="594360"/>
            <a:ext cx="11704320" cy="0"/>
          </a:xfrm>
          <a:prstGeom prst="line">
            <a:avLst/>
          </a:prstGeom>
          <a:ln w="25400">
            <a:solidFill>
              <a:srgbClr val="C8A25B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5" name="TextBox 4"/>
          <p:cNvSpPr txBox="1"/>
          <p:nvPr/>
        </p:nvSpPr>
        <p:spPr>
          <a:xfrm>
            <a:off x="457200" y="777240"/>
            <a:ext cx="11704320" cy="6400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3000" b="1">
                <a:solidFill>
                  <a:srgbClr val="1F2A44"/>
                </a:solidFill>
                <a:latin typeface="맑은 고딕"/>
              </a:rPr>
              <a:t>동진·남북조 — 317~589 · 송·제·양·진(陳)기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57200" y="1417320"/>
            <a:ext cx="1170432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400" b="0">
                <a:solidFill>
                  <a:srgbClr val="556070"/>
                </a:solidFill>
                <a:latin typeface="맑은 고딕"/>
              </a:rPr>
              <a:t>"한족이 강남으로 남하 · 북방은 16국 → 북위 → 북주"</a:t>
            </a:r>
          </a:p>
        </p:txBody>
      </p:sp>
      <p:sp>
        <p:nvSpPr>
          <p:cNvPr id="7" name="Rectangle 6"/>
          <p:cNvSpPr/>
          <p:nvPr/>
        </p:nvSpPr>
        <p:spPr>
          <a:xfrm>
            <a:off x="548640" y="2103120"/>
            <a:ext cx="1828800" cy="457200"/>
          </a:xfrm>
          <a:prstGeom prst="rect">
            <a:avLst/>
          </a:prstGeom>
          <a:solidFill>
            <a:srgbClr val="8B1A1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548640" y="2194560"/>
            <a:ext cx="182880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/>
            <a:r>
              <a:rPr sz="1300" b="1">
                <a:solidFill>
                  <a:srgbClr val="FFFFFF"/>
                </a:solidFill>
                <a:latin typeface="맑은 고딕"/>
              </a:rPr>
              <a:t>317~420</a:t>
            </a:r>
          </a:p>
        </p:txBody>
      </p:sp>
      <p:sp>
        <p:nvSpPr>
          <p:cNvPr id="9" name="Rectangle 8"/>
          <p:cNvSpPr/>
          <p:nvPr/>
        </p:nvSpPr>
        <p:spPr>
          <a:xfrm>
            <a:off x="2468880" y="2103120"/>
            <a:ext cx="9235440" cy="457200"/>
          </a:xfrm>
          <a:prstGeom prst="rect">
            <a:avLst/>
          </a:prstGeom>
          <a:solidFill>
            <a:srgbClr val="F5EED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2651760" y="2194560"/>
            <a:ext cx="896112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300" b="0">
                <a:solidFill>
                  <a:srgbClr val="1F2A44"/>
                </a:solidFill>
                <a:latin typeface="맑은 고딕"/>
              </a:rPr>
              <a:t>동진(東晉) — 한족 사대부의 남방 정권 · 사현 등</a:t>
            </a:r>
          </a:p>
        </p:txBody>
      </p:sp>
      <p:sp>
        <p:nvSpPr>
          <p:cNvPr id="11" name="Rectangle 10"/>
          <p:cNvSpPr/>
          <p:nvPr/>
        </p:nvSpPr>
        <p:spPr>
          <a:xfrm>
            <a:off x="548640" y="2606039"/>
            <a:ext cx="1828800" cy="457200"/>
          </a:xfrm>
          <a:prstGeom prst="rect">
            <a:avLst/>
          </a:prstGeom>
          <a:solidFill>
            <a:srgbClr val="8B1A1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548640" y="2697479"/>
            <a:ext cx="182880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/>
            <a:r>
              <a:rPr sz="1300" b="1">
                <a:solidFill>
                  <a:srgbClr val="FFFFFF"/>
                </a:solidFill>
                <a:latin typeface="맑은 고딕"/>
              </a:rPr>
              <a:t>383</a:t>
            </a:r>
          </a:p>
        </p:txBody>
      </p:sp>
      <p:sp>
        <p:nvSpPr>
          <p:cNvPr id="13" name="Rectangle 12"/>
          <p:cNvSpPr/>
          <p:nvPr/>
        </p:nvSpPr>
        <p:spPr>
          <a:xfrm>
            <a:off x="2468880" y="2606039"/>
            <a:ext cx="9235440" cy="457200"/>
          </a:xfrm>
          <a:prstGeom prst="rect">
            <a:avLst/>
          </a:prstGeom>
          <a:solidFill>
            <a:srgbClr val="F5EED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2651760" y="2697479"/>
            <a:ext cx="896112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300" b="0">
                <a:solidFill>
                  <a:srgbClr val="1F2A44"/>
                </a:solidFill>
                <a:latin typeface="맑은 고딕"/>
              </a:rPr>
              <a:t>비수(淝水)대전 — 동진이 전진(前秦) 격파</a:t>
            </a:r>
          </a:p>
        </p:txBody>
      </p:sp>
      <p:sp>
        <p:nvSpPr>
          <p:cNvPr id="15" name="Rectangle 14"/>
          <p:cNvSpPr/>
          <p:nvPr/>
        </p:nvSpPr>
        <p:spPr>
          <a:xfrm>
            <a:off x="548640" y="3108959"/>
            <a:ext cx="1828800" cy="457200"/>
          </a:xfrm>
          <a:prstGeom prst="rect">
            <a:avLst/>
          </a:prstGeom>
          <a:solidFill>
            <a:srgbClr val="8B1A1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548640" y="3200399"/>
            <a:ext cx="182880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/>
            <a:r>
              <a:rPr sz="1300" b="1">
                <a:solidFill>
                  <a:srgbClr val="FFFFFF"/>
                </a:solidFill>
                <a:latin typeface="맑은 고딕"/>
              </a:rPr>
              <a:t>420~478</a:t>
            </a:r>
          </a:p>
        </p:txBody>
      </p:sp>
      <p:sp>
        <p:nvSpPr>
          <p:cNvPr id="17" name="Rectangle 16"/>
          <p:cNvSpPr/>
          <p:nvPr/>
        </p:nvSpPr>
        <p:spPr>
          <a:xfrm>
            <a:off x="2468880" y="3108959"/>
            <a:ext cx="9235440" cy="457200"/>
          </a:xfrm>
          <a:prstGeom prst="rect">
            <a:avLst/>
          </a:prstGeom>
          <a:solidFill>
            <a:srgbClr val="F5EED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2651760" y="3200399"/>
            <a:ext cx="896112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300" b="0">
                <a:solidFill>
                  <a:srgbClr val="1F2A44"/>
                </a:solidFill>
                <a:latin typeface="맑은 고딕"/>
              </a:rPr>
              <a:t>송(宋) — 유유(劉裕) 건국 · 원가의 치</a:t>
            </a:r>
          </a:p>
        </p:txBody>
      </p:sp>
      <p:sp>
        <p:nvSpPr>
          <p:cNvPr id="19" name="Rectangle 18"/>
          <p:cNvSpPr/>
          <p:nvPr/>
        </p:nvSpPr>
        <p:spPr>
          <a:xfrm>
            <a:off x="548640" y="3611879"/>
            <a:ext cx="1828800" cy="457200"/>
          </a:xfrm>
          <a:prstGeom prst="rect">
            <a:avLst/>
          </a:prstGeom>
          <a:solidFill>
            <a:srgbClr val="8B1A1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548640" y="3703319"/>
            <a:ext cx="182880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/>
            <a:r>
              <a:rPr sz="1300" b="1">
                <a:solidFill>
                  <a:srgbClr val="FFFFFF"/>
                </a:solidFill>
                <a:latin typeface="맑은 고딕"/>
              </a:rPr>
              <a:t>439</a:t>
            </a:r>
          </a:p>
        </p:txBody>
      </p:sp>
      <p:sp>
        <p:nvSpPr>
          <p:cNvPr id="21" name="Rectangle 20"/>
          <p:cNvSpPr/>
          <p:nvPr/>
        </p:nvSpPr>
        <p:spPr>
          <a:xfrm>
            <a:off x="2468880" y="3611879"/>
            <a:ext cx="9235440" cy="457200"/>
          </a:xfrm>
          <a:prstGeom prst="rect">
            <a:avLst/>
          </a:prstGeom>
          <a:solidFill>
            <a:srgbClr val="F5EED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2651760" y="3703319"/>
            <a:ext cx="896112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300" b="0">
                <a:solidFill>
                  <a:srgbClr val="1F2A44"/>
                </a:solidFill>
                <a:latin typeface="맑은 고딕"/>
              </a:rPr>
              <a:t>북위(北魏) 화북 통일</a:t>
            </a:r>
          </a:p>
        </p:txBody>
      </p:sp>
      <p:sp>
        <p:nvSpPr>
          <p:cNvPr id="23" name="Rectangle 22"/>
          <p:cNvSpPr/>
          <p:nvPr/>
        </p:nvSpPr>
        <p:spPr>
          <a:xfrm>
            <a:off x="548640" y="4114799"/>
            <a:ext cx="1828800" cy="457200"/>
          </a:xfrm>
          <a:prstGeom prst="rect">
            <a:avLst/>
          </a:prstGeom>
          <a:solidFill>
            <a:srgbClr val="8B1A1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548640" y="4206239"/>
            <a:ext cx="182880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/>
            <a:r>
              <a:rPr sz="1300" b="1">
                <a:solidFill>
                  <a:srgbClr val="FFFFFF"/>
                </a:solidFill>
                <a:latin typeface="맑은 고딕"/>
              </a:rPr>
              <a:t>479~501</a:t>
            </a:r>
          </a:p>
        </p:txBody>
      </p:sp>
      <p:sp>
        <p:nvSpPr>
          <p:cNvPr id="25" name="Rectangle 24"/>
          <p:cNvSpPr/>
          <p:nvPr/>
        </p:nvSpPr>
        <p:spPr>
          <a:xfrm>
            <a:off x="2468880" y="4114799"/>
            <a:ext cx="9235440" cy="457200"/>
          </a:xfrm>
          <a:prstGeom prst="rect">
            <a:avLst/>
          </a:prstGeom>
          <a:solidFill>
            <a:srgbClr val="F5EED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2651760" y="4206239"/>
            <a:ext cx="896112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300" b="0">
                <a:solidFill>
                  <a:srgbClr val="1F2A44"/>
                </a:solidFill>
                <a:latin typeface="맑은 고딕"/>
              </a:rPr>
              <a:t>제(齊) — 짧은 왕조</a:t>
            </a:r>
          </a:p>
        </p:txBody>
      </p:sp>
      <p:sp>
        <p:nvSpPr>
          <p:cNvPr id="27" name="Rectangle 26"/>
          <p:cNvSpPr/>
          <p:nvPr/>
        </p:nvSpPr>
        <p:spPr>
          <a:xfrm>
            <a:off x="548640" y="4617719"/>
            <a:ext cx="1828800" cy="457200"/>
          </a:xfrm>
          <a:prstGeom prst="rect">
            <a:avLst/>
          </a:prstGeom>
          <a:solidFill>
            <a:srgbClr val="8B1A1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548640" y="4709159"/>
            <a:ext cx="182880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/>
            <a:r>
              <a:rPr sz="1300" b="1">
                <a:solidFill>
                  <a:srgbClr val="FFFFFF"/>
                </a:solidFill>
                <a:latin typeface="맑은 고딕"/>
              </a:rPr>
              <a:t>502~556</a:t>
            </a:r>
          </a:p>
        </p:txBody>
      </p:sp>
      <p:sp>
        <p:nvSpPr>
          <p:cNvPr id="29" name="Rectangle 28"/>
          <p:cNvSpPr/>
          <p:nvPr/>
        </p:nvSpPr>
        <p:spPr>
          <a:xfrm>
            <a:off x="2468880" y="4617719"/>
            <a:ext cx="9235440" cy="457200"/>
          </a:xfrm>
          <a:prstGeom prst="rect">
            <a:avLst/>
          </a:prstGeom>
          <a:solidFill>
            <a:srgbClr val="F5EED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TextBox 29"/>
          <p:cNvSpPr txBox="1"/>
          <p:nvPr/>
        </p:nvSpPr>
        <p:spPr>
          <a:xfrm>
            <a:off x="2651760" y="4709159"/>
            <a:ext cx="896112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300" b="0">
                <a:solidFill>
                  <a:srgbClr val="1F2A44"/>
                </a:solidFill>
                <a:latin typeface="맑은 고딕"/>
              </a:rPr>
              <a:t>양(梁) — 무제(武帝)의 불교 부흥 · 후경의 난</a:t>
            </a:r>
          </a:p>
        </p:txBody>
      </p:sp>
      <p:sp>
        <p:nvSpPr>
          <p:cNvPr id="31" name="Rectangle 30"/>
          <p:cNvSpPr/>
          <p:nvPr/>
        </p:nvSpPr>
        <p:spPr>
          <a:xfrm>
            <a:off x="548640" y="5120639"/>
            <a:ext cx="1828800" cy="457200"/>
          </a:xfrm>
          <a:prstGeom prst="rect">
            <a:avLst/>
          </a:prstGeom>
          <a:solidFill>
            <a:srgbClr val="8B1A1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TextBox 31"/>
          <p:cNvSpPr txBox="1"/>
          <p:nvPr/>
        </p:nvSpPr>
        <p:spPr>
          <a:xfrm>
            <a:off x="548640" y="5212079"/>
            <a:ext cx="182880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/>
            <a:r>
              <a:rPr sz="1300" b="1">
                <a:solidFill>
                  <a:srgbClr val="FFFFFF"/>
                </a:solidFill>
                <a:latin typeface="맑은 고딕"/>
              </a:rPr>
              <a:t>557~588</a:t>
            </a:r>
          </a:p>
        </p:txBody>
      </p:sp>
      <p:sp>
        <p:nvSpPr>
          <p:cNvPr id="33" name="Rectangle 32"/>
          <p:cNvSpPr/>
          <p:nvPr/>
        </p:nvSpPr>
        <p:spPr>
          <a:xfrm>
            <a:off x="2468880" y="5120639"/>
            <a:ext cx="9235440" cy="457200"/>
          </a:xfrm>
          <a:prstGeom prst="rect">
            <a:avLst/>
          </a:prstGeom>
          <a:solidFill>
            <a:srgbClr val="F5EED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TextBox 33"/>
          <p:cNvSpPr txBox="1"/>
          <p:nvPr/>
        </p:nvSpPr>
        <p:spPr>
          <a:xfrm>
            <a:off x="2651760" y="5212079"/>
            <a:ext cx="896112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300" b="0">
                <a:solidFill>
                  <a:srgbClr val="1F2A44"/>
                </a:solidFill>
                <a:latin typeface="맑은 고딕"/>
              </a:rPr>
              <a:t>진(陳) — 남조 마지막</a:t>
            </a:r>
          </a:p>
        </p:txBody>
      </p:sp>
      <p:sp>
        <p:nvSpPr>
          <p:cNvPr id="35" name="Rectangle 34"/>
          <p:cNvSpPr/>
          <p:nvPr/>
        </p:nvSpPr>
        <p:spPr>
          <a:xfrm>
            <a:off x="548640" y="5623559"/>
            <a:ext cx="1828800" cy="457200"/>
          </a:xfrm>
          <a:prstGeom prst="rect">
            <a:avLst/>
          </a:prstGeom>
          <a:solidFill>
            <a:srgbClr val="8B1A1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6" name="TextBox 35"/>
          <p:cNvSpPr txBox="1"/>
          <p:nvPr/>
        </p:nvSpPr>
        <p:spPr>
          <a:xfrm>
            <a:off x="548640" y="5714999"/>
            <a:ext cx="182880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/>
            <a:r>
              <a:rPr sz="1300" b="1">
                <a:solidFill>
                  <a:srgbClr val="FFFFFF"/>
                </a:solidFill>
                <a:latin typeface="맑은 고딕"/>
              </a:rPr>
              <a:t>581</a:t>
            </a:r>
          </a:p>
        </p:txBody>
      </p:sp>
      <p:sp>
        <p:nvSpPr>
          <p:cNvPr id="37" name="Rectangle 36"/>
          <p:cNvSpPr/>
          <p:nvPr/>
        </p:nvSpPr>
        <p:spPr>
          <a:xfrm>
            <a:off x="2468880" y="5623559"/>
            <a:ext cx="9235440" cy="457200"/>
          </a:xfrm>
          <a:prstGeom prst="rect">
            <a:avLst/>
          </a:prstGeom>
          <a:solidFill>
            <a:srgbClr val="F5EED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8" name="TextBox 37"/>
          <p:cNvSpPr txBox="1"/>
          <p:nvPr/>
        </p:nvSpPr>
        <p:spPr>
          <a:xfrm>
            <a:off x="2651760" y="5714999"/>
            <a:ext cx="896112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300" b="0">
                <a:solidFill>
                  <a:srgbClr val="1F2A44"/>
                </a:solidFill>
                <a:latin typeface="맑은 고딕"/>
              </a:rPr>
              <a:t>수(隋) 양견(楊堅) 건국 · 북주 찬탈</a:t>
            </a:r>
          </a:p>
        </p:txBody>
      </p:sp>
      <p:sp>
        <p:nvSpPr>
          <p:cNvPr id="39" name="Rectangle 38"/>
          <p:cNvSpPr/>
          <p:nvPr/>
        </p:nvSpPr>
        <p:spPr>
          <a:xfrm>
            <a:off x="548640" y="6126479"/>
            <a:ext cx="1828800" cy="457200"/>
          </a:xfrm>
          <a:prstGeom prst="rect">
            <a:avLst/>
          </a:prstGeom>
          <a:solidFill>
            <a:srgbClr val="8B1A1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0" name="TextBox 39"/>
          <p:cNvSpPr txBox="1"/>
          <p:nvPr/>
        </p:nvSpPr>
        <p:spPr>
          <a:xfrm>
            <a:off x="548640" y="6217919"/>
            <a:ext cx="182880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/>
            <a:r>
              <a:rPr sz="1300" b="1">
                <a:solidFill>
                  <a:srgbClr val="FFFFFF"/>
                </a:solidFill>
                <a:latin typeface="맑은 고딕"/>
              </a:rPr>
              <a:t>589</a:t>
            </a:r>
          </a:p>
        </p:txBody>
      </p:sp>
      <p:sp>
        <p:nvSpPr>
          <p:cNvPr id="41" name="Rectangle 40"/>
          <p:cNvSpPr/>
          <p:nvPr/>
        </p:nvSpPr>
        <p:spPr>
          <a:xfrm>
            <a:off x="2468880" y="6126479"/>
            <a:ext cx="9235440" cy="457200"/>
          </a:xfrm>
          <a:prstGeom prst="rect">
            <a:avLst/>
          </a:prstGeom>
          <a:solidFill>
            <a:srgbClr val="F5EED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2" name="TextBox 41"/>
          <p:cNvSpPr txBox="1"/>
          <p:nvPr/>
        </p:nvSpPr>
        <p:spPr>
          <a:xfrm>
            <a:off x="2651760" y="6217919"/>
            <a:ext cx="896112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300" b="0">
                <a:solidFill>
                  <a:srgbClr val="1F2A44"/>
                </a:solidFill>
                <a:latin typeface="맑은 고딕"/>
              </a:rPr>
              <a:t>수가 진(陳)을 멸함 — 분열 종식, 천하 재통일</a:t>
            </a:r>
          </a:p>
        </p:txBody>
      </p:sp>
    </p:spTree>
  </p:cSld>
  <p:clrMapOvr>
    <a:masterClrMapping/>
  </p:clrMapOvr>
</p:sld>
</file>

<file path=ppt/slides/slide2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91440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100" b="1">
                <a:solidFill>
                  <a:srgbClr val="556070"/>
                </a:solidFill>
                <a:latin typeface="맑은 고딕"/>
              </a:rPr>
              <a:t>Ⅴ. 시대별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10972800" y="274320"/>
            <a:ext cx="118872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/>
            <a:r>
              <a:rPr sz="1000" b="0">
                <a:solidFill>
                  <a:srgbClr val="556070"/>
                </a:solidFill>
                <a:latin typeface="맑은 고딕"/>
              </a:rPr>
              <a:t>27 / 70</a:t>
            </a:r>
          </a:p>
        </p:txBody>
      </p:sp>
      <p:cxnSp>
        <p:nvCxnSpPr>
          <p:cNvPr id="4" name="Connector 3"/>
          <p:cNvCxnSpPr/>
          <p:nvPr/>
        </p:nvCxnSpPr>
        <p:spPr>
          <a:xfrm>
            <a:off x="457200" y="594360"/>
            <a:ext cx="11704320" cy="0"/>
          </a:xfrm>
          <a:prstGeom prst="line">
            <a:avLst/>
          </a:prstGeom>
          <a:ln w="25400">
            <a:solidFill>
              <a:srgbClr val="C8A25B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5" name="TextBox 4"/>
          <p:cNvSpPr txBox="1"/>
          <p:nvPr/>
        </p:nvSpPr>
        <p:spPr>
          <a:xfrm>
            <a:off x="457200" y="777240"/>
            <a:ext cx="11704320" cy="6400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3000" b="1">
                <a:solidFill>
                  <a:srgbClr val="1F2A44"/>
                </a:solidFill>
                <a:latin typeface="맑은 고딕"/>
              </a:rPr>
              <a:t>수기(隋紀) 8권 — 589~617 · 30년의 통일과 멸망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57200" y="1417320"/>
            <a:ext cx="1170432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400" b="0">
                <a:solidFill>
                  <a:srgbClr val="556070"/>
                </a:solidFill>
                <a:latin typeface="맑은 고딕"/>
              </a:rPr>
              <a:t>"문제의 영광과 양제의 폭정 — 통감의 핵심 반면교사"</a:t>
            </a:r>
          </a:p>
        </p:txBody>
      </p:sp>
      <p:sp>
        <p:nvSpPr>
          <p:cNvPr id="7" name="Rectangle 6"/>
          <p:cNvSpPr/>
          <p:nvPr/>
        </p:nvSpPr>
        <p:spPr>
          <a:xfrm>
            <a:off x="548640" y="2103120"/>
            <a:ext cx="2011680" cy="457200"/>
          </a:xfrm>
          <a:prstGeom prst="rect">
            <a:avLst/>
          </a:prstGeom>
          <a:solidFill>
            <a:srgbClr val="8B1A1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548640" y="2194560"/>
            <a:ext cx="201168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/>
            <a:r>
              <a:rPr sz="1300" b="1">
                <a:solidFill>
                  <a:srgbClr val="FFFFFF"/>
                </a:solidFill>
                <a:latin typeface="맑은 고딕"/>
              </a:rPr>
              <a:t>581</a:t>
            </a:r>
          </a:p>
        </p:txBody>
      </p:sp>
      <p:sp>
        <p:nvSpPr>
          <p:cNvPr id="9" name="Rectangle 8"/>
          <p:cNvSpPr/>
          <p:nvPr/>
        </p:nvSpPr>
        <p:spPr>
          <a:xfrm>
            <a:off x="2651760" y="2103120"/>
            <a:ext cx="9052560" cy="457200"/>
          </a:xfrm>
          <a:prstGeom prst="rect">
            <a:avLst/>
          </a:prstGeom>
          <a:solidFill>
            <a:srgbClr val="F5EED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2834640" y="2194560"/>
            <a:ext cx="877824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300" b="0">
                <a:solidFill>
                  <a:srgbClr val="1F2A44"/>
                </a:solidFill>
                <a:latin typeface="맑은 고딕"/>
              </a:rPr>
              <a:t>문제(文帝) 양견 — 북주를 폐하고 수 건국</a:t>
            </a:r>
          </a:p>
        </p:txBody>
      </p:sp>
      <p:sp>
        <p:nvSpPr>
          <p:cNvPr id="11" name="Rectangle 10"/>
          <p:cNvSpPr/>
          <p:nvPr/>
        </p:nvSpPr>
        <p:spPr>
          <a:xfrm>
            <a:off x="548640" y="2606039"/>
            <a:ext cx="2011680" cy="457200"/>
          </a:xfrm>
          <a:prstGeom prst="rect">
            <a:avLst/>
          </a:prstGeom>
          <a:solidFill>
            <a:srgbClr val="8B1A1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548640" y="2697479"/>
            <a:ext cx="201168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/>
            <a:r>
              <a:rPr sz="1300" b="1">
                <a:solidFill>
                  <a:srgbClr val="FFFFFF"/>
                </a:solidFill>
                <a:latin typeface="맑은 고딕"/>
              </a:rPr>
              <a:t>589</a:t>
            </a:r>
          </a:p>
        </p:txBody>
      </p:sp>
      <p:sp>
        <p:nvSpPr>
          <p:cNvPr id="13" name="Rectangle 12"/>
          <p:cNvSpPr/>
          <p:nvPr/>
        </p:nvSpPr>
        <p:spPr>
          <a:xfrm>
            <a:off x="2651760" y="2606039"/>
            <a:ext cx="9052560" cy="457200"/>
          </a:xfrm>
          <a:prstGeom prst="rect">
            <a:avLst/>
          </a:prstGeom>
          <a:solidFill>
            <a:srgbClr val="F5EED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2834640" y="2697479"/>
            <a:ext cx="877824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300" b="0">
                <a:solidFill>
                  <a:srgbClr val="1F2A44"/>
                </a:solidFill>
                <a:latin typeface="맑은 고딕"/>
              </a:rPr>
              <a:t>천하 재통일 — 분열 273년 종식</a:t>
            </a:r>
          </a:p>
        </p:txBody>
      </p:sp>
      <p:sp>
        <p:nvSpPr>
          <p:cNvPr id="15" name="Rectangle 14"/>
          <p:cNvSpPr/>
          <p:nvPr/>
        </p:nvSpPr>
        <p:spPr>
          <a:xfrm>
            <a:off x="548640" y="3108959"/>
            <a:ext cx="2011680" cy="457200"/>
          </a:xfrm>
          <a:prstGeom prst="rect">
            <a:avLst/>
          </a:prstGeom>
          <a:solidFill>
            <a:srgbClr val="8B1A1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548640" y="3200399"/>
            <a:ext cx="201168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/>
            <a:r>
              <a:rPr sz="1300" b="1">
                <a:solidFill>
                  <a:srgbClr val="FFFFFF"/>
                </a:solidFill>
                <a:latin typeface="맑은 고딕"/>
              </a:rPr>
              <a:t>589~604</a:t>
            </a:r>
          </a:p>
        </p:txBody>
      </p:sp>
      <p:sp>
        <p:nvSpPr>
          <p:cNvPr id="17" name="Rectangle 16"/>
          <p:cNvSpPr/>
          <p:nvPr/>
        </p:nvSpPr>
        <p:spPr>
          <a:xfrm>
            <a:off x="2651760" y="3108959"/>
            <a:ext cx="9052560" cy="457200"/>
          </a:xfrm>
          <a:prstGeom prst="rect">
            <a:avLst/>
          </a:prstGeom>
          <a:solidFill>
            <a:srgbClr val="F5EED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2834640" y="3200399"/>
            <a:ext cx="877824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300" b="0">
                <a:solidFill>
                  <a:srgbClr val="1F2A44"/>
                </a:solidFill>
                <a:latin typeface="맑은 고딕"/>
              </a:rPr>
              <a:t>문제 치세 — 율령 정비·과거제 시작·균전제</a:t>
            </a:r>
          </a:p>
        </p:txBody>
      </p:sp>
      <p:sp>
        <p:nvSpPr>
          <p:cNvPr id="19" name="Rectangle 18"/>
          <p:cNvSpPr/>
          <p:nvPr/>
        </p:nvSpPr>
        <p:spPr>
          <a:xfrm>
            <a:off x="548640" y="3611879"/>
            <a:ext cx="2011680" cy="457200"/>
          </a:xfrm>
          <a:prstGeom prst="rect">
            <a:avLst/>
          </a:prstGeom>
          <a:solidFill>
            <a:srgbClr val="8B1A1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548640" y="3703319"/>
            <a:ext cx="201168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/>
            <a:r>
              <a:rPr sz="1300" b="1">
                <a:solidFill>
                  <a:srgbClr val="FFFFFF"/>
                </a:solidFill>
                <a:latin typeface="맑은 고딕"/>
              </a:rPr>
              <a:t>604</a:t>
            </a:r>
          </a:p>
        </p:txBody>
      </p:sp>
      <p:sp>
        <p:nvSpPr>
          <p:cNvPr id="21" name="Rectangle 20"/>
          <p:cNvSpPr/>
          <p:nvPr/>
        </p:nvSpPr>
        <p:spPr>
          <a:xfrm>
            <a:off x="2651760" y="3611879"/>
            <a:ext cx="9052560" cy="457200"/>
          </a:xfrm>
          <a:prstGeom prst="rect">
            <a:avLst/>
          </a:prstGeom>
          <a:solidFill>
            <a:srgbClr val="F5EED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2834640" y="3703319"/>
            <a:ext cx="877824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300" b="0">
                <a:solidFill>
                  <a:srgbClr val="1F2A44"/>
                </a:solidFill>
                <a:latin typeface="맑은 고딕"/>
              </a:rPr>
              <a:t>양제(煬帝) 즉위 — 부친 시해 의혹</a:t>
            </a:r>
          </a:p>
        </p:txBody>
      </p:sp>
      <p:sp>
        <p:nvSpPr>
          <p:cNvPr id="23" name="Rectangle 22"/>
          <p:cNvSpPr/>
          <p:nvPr/>
        </p:nvSpPr>
        <p:spPr>
          <a:xfrm>
            <a:off x="548640" y="4114799"/>
            <a:ext cx="2011680" cy="457200"/>
          </a:xfrm>
          <a:prstGeom prst="rect">
            <a:avLst/>
          </a:prstGeom>
          <a:solidFill>
            <a:srgbClr val="8B1A1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548640" y="4206239"/>
            <a:ext cx="201168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/>
            <a:r>
              <a:rPr sz="1300" b="1">
                <a:solidFill>
                  <a:srgbClr val="FFFFFF"/>
                </a:solidFill>
                <a:latin typeface="맑은 고딕"/>
              </a:rPr>
              <a:t>605~610</a:t>
            </a:r>
          </a:p>
        </p:txBody>
      </p:sp>
      <p:sp>
        <p:nvSpPr>
          <p:cNvPr id="25" name="Rectangle 24"/>
          <p:cNvSpPr/>
          <p:nvPr/>
        </p:nvSpPr>
        <p:spPr>
          <a:xfrm>
            <a:off x="2651760" y="4114799"/>
            <a:ext cx="9052560" cy="457200"/>
          </a:xfrm>
          <a:prstGeom prst="rect">
            <a:avLst/>
          </a:prstGeom>
          <a:solidFill>
            <a:srgbClr val="F5EED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2834640" y="4206239"/>
            <a:ext cx="877824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300" b="0">
                <a:solidFill>
                  <a:srgbClr val="1F2A44"/>
                </a:solidFill>
                <a:latin typeface="맑은 고딕"/>
              </a:rPr>
              <a:t>대운하 건설 — 수백만 명 동원</a:t>
            </a:r>
          </a:p>
        </p:txBody>
      </p:sp>
      <p:sp>
        <p:nvSpPr>
          <p:cNvPr id="27" name="Rectangle 26"/>
          <p:cNvSpPr/>
          <p:nvPr/>
        </p:nvSpPr>
        <p:spPr>
          <a:xfrm>
            <a:off x="548640" y="4617719"/>
            <a:ext cx="2011680" cy="457200"/>
          </a:xfrm>
          <a:prstGeom prst="rect">
            <a:avLst/>
          </a:prstGeom>
          <a:solidFill>
            <a:srgbClr val="8B1A1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548640" y="4709159"/>
            <a:ext cx="201168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/>
            <a:r>
              <a:rPr sz="1300" b="1">
                <a:solidFill>
                  <a:srgbClr val="FFFFFF"/>
                </a:solidFill>
                <a:latin typeface="맑은 고딕"/>
              </a:rPr>
              <a:t>612~614</a:t>
            </a:r>
          </a:p>
        </p:txBody>
      </p:sp>
      <p:sp>
        <p:nvSpPr>
          <p:cNvPr id="29" name="Rectangle 28"/>
          <p:cNvSpPr/>
          <p:nvPr/>
        </p:nvSpPr>
        <p:spPr>
          <a:xfrm>
            <a:off x="2651760" y="4617719"/>
            <a:ext cx="9052560" cy="457200"/>
          </a:xfrm>
          <a:prstGeom prst="rect">
            <a:avLst/>
          </a:prstGeom>
          <a:solidFill>
            <a:srgbClr val="F5EED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TextBox 29"/>
          <p:cNvSpPr txBox="1"/>
          <p:nvPr/>
        </p:nvSpPr>
        <p:spPr>
          <a:xfrm>
            <a:off x="2834640" y="4709159"/>
            <a:ext cx="877824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300" b="0">
                <a:solidFill>
                  <a:srgbClr val="1F2A44"/>
                </a:solidFill>
                <a:latin typeface="맑은 고딕"/>
              </a:rPr>
              <a:t>고구려 3차 원정 — 모두 실패 · 백만 군대 손실</a:t>
            </a:r>
          </a:p>
        </p:txBody>
      </p:sp>
      <p:sp>
        <p:nvSpPr>
          <p:cNvPr id="31" name="Rectangle 30"/>
          <p:cNvSpPr/>
          <p:nvPr/>
        </p:nvSpPr>
        <p:spPr>
          <a:xfrm>
            <a:off x="548640" y="5120639"/>
            <a:ext cx="2011680" cy="457200"/>
          </a:xfrm>
          <a:prstGeom prst="rect">
            <a:avLst/>
          </a:prstGeom>
          <a:solidFill>
            <a:srgbClr val="8B1A1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TextBox 31"/>
          <p:cNvSpPr txBox="1"/>
          <p:nvPr/>
        </p:nvSpPr>
        <p:spPr>
          <a:xfrm>
            <a:off x="548640" y="5212079"/>
            <a:ext cx="201168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/>
            <a:r>
              <a:rPr sz="1300" b="1">
                <a:solidFill>
                  <a:srgbClr val="FFFFFF"/>
                </a:solidFill>
                <a:latin typeface="맑은 고딕"/>
              </a:rPr>
              <a:t>616</a:t>
            </a:r>
          </a:p>
        </p:txBody>
      </p:sp>
      <p:sp>
        <p:nvSpPr>
          <p:cNvPr id="33" name="Rectangle 32"/>
          <p:cNvSpPr/>
          <p:nvPr/>
        </p:nvSpPr>
        <p:spPr>
          <a:xfrm>
            <a:off x="2651760" y="5120639"/>
            <a:ext cx="9052560" cy="457200"/>
          </a:xfrm>
          <a:prstGeom prst="rect">
            <a:avLst/>
          </a:prstGeom>
          <a:solidFill>
            <a:srgbClr val="F5EED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TextBox 33"/>
          <p:cNvSpPr txBox="1"/>
          <p:nvPr/>
        </p:nvSpPr>
        <p:spPr>
          <a:xfrm>
            <a:off x="2834640" y="5212079"/>
            <a:ext cx="877824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300" b="0">
                <a:solidFill>
                  <a:srgbClr val="1F2A44"/>
                </a:solidFill>
                <a:latin typeface="맑은 고딕"/>
              </a:rPr>
              <a:t>양제 강도(江都)로 도피 — 사실상 강남 정권</a:t>
            </a:r>
          </a:p>
        </p:txBody>
      </p:sp>
      <p:sp>
        <p:nvSpPr>
          <p:cNvPr id="35" name="Rectangle 34"/>
          <p:cNvSpPr/>
          <p:nvPr/>
        </p:nvSpPr>
        <p:spPr>
          <a:xfrm>
            <a:off x="548640" y="5623559"/>
            <a:ext cx="2011680" cy="457200"/>
          </a:xfrm>
          <a:prstGeom prst="rect">
            <a:avLst/>
          </a:prstGeom>
          <a:solidFill>
            <a:srgbClr val="8B1A1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6" name="TextBox 35"/>
          <p:cNvSpPr txBox="1"/>
          <p:nvPr/>
        </p:nvSpPr>
        <p:spPr>
          <a:xfrm>
            <a:off x="548640" y="5714999"/>
            <a:ext cx="201168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/>
            <a:r>
              <a:rPr sz="1300" b="1">
                <a:solidFill>
                  <a:srgbClr val="FFFFFF"/>
                </a:solidFill>
                <a:latin typeface="맑은 고딕"/>
              </a:rPr>
              <a:t>618</a:t>
            </a:r>
          </a:p>
        </p:txBody>
      </p:sp>
      <p:sp>
        <p:nvSpPr>
          <p:cNvPr id="37" name="Rectangle 36"/>
          <p:cNvSpPr/>
          <p:nvPr/>
        </p:nvSpPr>
        <p:spPr>
          <a:xfrm>
            <a:off x="2651760" y="5623559"/>
            <a:ext cx="9052560" cy="457200"/>
          </a:xfrm>
          <a:prstGeom prst="rect">
            <a:avLst/>
          </a:prstGeom>
          <a:solidFill>
            <a:srgbClr val="F5EED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8" name="TextBox 37"/>
          <p:cNvSpPr txBox="1"/>
          <p:nvPr/>
        </p:nvSpPr>
        <p:spPr>
          <a:xfrm>
            <a:off x="2834640" y="5714999"/>
            <a:ext cx="877824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300" b="0">
                <a:solidFill>
                  <a:srgbClr val="1F2A44"/>
                </a:solidFill>
                <a:latin typeface="맑은 고딕"/>
              </a:rPr>
              <a:t>강도에서 호위군에게 살해 — 수 멸망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457200" y="6400800"/>
            <a:ext cx="1124712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/>
            <a:r>
              <a:rPr sz="1300" b="1">
                <a:solidFill>
                  <a:srgbClr val="8B1A1A"/>
                </a:solidFill>
                <a:latin typeface="맑은 고딕"/>
              </a:rPr>
              <a:t>"수 양제 = 진 시황과 함께 통감의 양대 반면교사"</a:t>
            </a:r>
          </a:p>
        </p:txBody>
      </p:sp>
    </p:spTree>
  </p:cSld>
  <p:clrMapOvr>
    <a:masterClrMapping/>
  </p:clrMapOvr>
</p:sld>
</file>

<file path=ppt/slides/slide2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91440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100" b="1">
                <a:solidFill>
                  <a:srgbClr val="556070"/>
                </a:solidFill>
                <a:latin typeface="맑은 고딕"/>
              </a:rPr>
              <a:t>Ⅴ. 시대별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10972800" y="274320"/>
            <a:ext cx="118872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/>
            <a:r>
              <a:rPr sz="1000" b="0">
                <a:solidFill>
                  <a:srgbClr val="556070"/>
                </a:solidFill>
                <a:latin typeface="맑은 고딕"/>
              </a:rPr>
              <a:t>28 / 70</a:t>
            </a:r>
          </a:p>
        </p:txBody>
      </p:sp>
      <p:cxnSp>
        <p:nvCxnSpPr>
          <p:cNvPr id="4" name="Connector 3"/>
          <p:cNvCxnSpPr/>
          <p:nvPr/>
        </p:nvCxnSpPr>
        <p:spPr>
          <a:xfrm>
            <a:off x="457200" y="594360"/>
            <a:ext cx="11704320" cy="0"/>
          </a:xfrm>
          <a:prstGeom prst="line">
            <a:avLst/>
          </a:prstGeom>
          <a:ln w="25400">
            <a:solidFill>
              <a:srgbClr val="C8A25B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5" name="TextBox 4"/>
          <p:cNvSpPr txBox="1"/>
          <p:nvPr/>
        </p:nvSpPr>
        <p:spPr>
          <a:xfrm>
            <a:off x="457200" y="777240"/>
            <a:ext cx="11704320" cy="6400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3000" b="1">
                <a:solidFill>
                  <a:srgbClr val="1F2A44"/>
                </a:solidFill>
                <a:latin typeface="맑은 고딕"/>
              </a:rPr>
              <a:t>당기(唐紀) 81권 ① — 618~755 · 전기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57200" y="1417320"/>
            <a:ext cx="1170432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400" b="0">
                <a:solidFill>
                  <a:srgbClr val="556070"/>
                </a:solidFill>
                <a:latin typeface="맑은 고딕"/>
              </a:rPr>
              <a:t>"통감 최대 분량(28%) — 당의 영광"</a:t>
            </a:r>
          </a:p>
        </p:txBody>
      </p:sp>
      <p:sp>
        <p:nvSpPr>
          <p:cNvPr id="7" name="Rectangle 6"/>
          <p:cNvSpPr/>
          <p:nvPr/>
        </p:nvSpPr>
        <p:spPr>
          <a:xfrm>
            <a:off x="548640" y="2103120"/>
            <a:ext cx="1828800" cy="457200"/>
          </a:xfrm>
          <a:prstGeom prst="rect">
            <a:avLst/>
          </a:prstGeom>
          <a:solidFill>
            <a:srgbClr val="8B1A1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548640" y="2194560"/>
            <a:ext cx="182880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/>
            <a:r>
              <a:rPr sz="1300" b="1">
                <a:solidFill>
                  <a:srgbClr val="FFFFFF"/>
                </a:solidFill>
                <a:latin typeface="맑은 고딕"/>
              </a:rPr>
              <a:t>618</a:t>
            </a:r>
          </a:p>
        </p:txBody>
      </p:sp>
      <p:sp>
        <p:nvSpPr>
          <p:cNvPr id="9" name="Rectangle 8"/>
          <p:cNvSpPr/>
          <p:nvPr/>
        </p:nvSpPr>
        <p:spPr>
          <a:xfrm>
            <a:off x="2468880" y="2103120"/>
            <a:ext cx="9235440" cy="457200"/>
          </a:xfrm>
          <a:prstGeom prst="rect">
            <a:avLst/>
          </a:prstGeom>
          <a:solidFill>
            <a:srgbClr val="F5EED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2651760" y="2194560"/>
            <a:ext cx="896112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300" b="0">
                <a:solidFill>
                  <a:srgbClr val="1F2A44"/>
                </a:solidFill>
                <a:latin typeface="맑은 고딕"/>
              </a:rPr>
              <a:t>당 고조 이연(李淵) 건국</a:t>
            </a:r>
          </a:p>
        </p:txBody>
      </p:sp>
      <p:sp>
        <p:nvSpPr>
          <p:cNvPr id="11" name="Rectangle 10"/>
          <p:cNvSpPr/>
          <p:nvPr/>
        </p:nvSpPr>
        <p:spPr>
          <a:xfrm>
            <a:off x="548640" y="2606039"/>
            <a:ext cx="1828800" cy="457200"/>
          </a:xfrm>
          <a:prstGeom prst="rect">
            <a:avLst/>
          </a:prstGeom>
          <a:solidFill>
            <a:srgbClr val="8B1A1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548640" y="2697479"/>
            <a:ext cx="182880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/>
            <a:r>
              <a:rPr sz="1300" b="1">
                <a:solidFill>
                  <a:srgbClr val="FFFFFF"/>
                </a:solidFill>
                <a:latin typeface="맑은 고딕"/>
              </a:rPr>
              <a:t>626</a:t>
            </a:r>
          </a:p>
        </p:txBody>
      </p:sp>
      <p:sp>
        <p:nvSpPr>
          <p:cNvPr id="13" name="Rectangle 12"/>
          <p:cNvSpPr/>
          <p:nvPr/>
        </p:nvSpPr>
        <p:spPr>
          <a:xfrm>
            <a:off x="2468880" y="2606039"/>
            <a:ext cx="9235440" cy="457200"/>
          </a:xfrm>
          <a:prstGeom prst="rect">
            <a:avLst/>
          </a:prstGeom>
          <a:solidFill>
            <a:srgbClr val="F5EED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2651760" y="2697479"/>
            <a:ext cx="896112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300" b="0">
                <a:solidFill>
                  <a:srgbClr val="1F2A44"/>
                </a:solidFill>
                <a:latin typeface="맑은 고딕"/>
              </a:rPr>
              <a:t>현무문(玄武門)의 변 — 이세민 즉위</a:t>
            </a:r>
          </a:p>
        </p:txBody>
      </p:sp>
      <p:sp>
        <p:nvSpPr>
          <p:cNvPr id="15" name="Rectangle 14"/>
          <p:cNvSpPr/>
          <p:nvPr/>
        </p:nvSpPr>
        <p:spPr>
          <a:xfrm>
            <a:off x="548640" y="3108959"/>
            <a:ext cx="1828800" cy="457200"/>
          </a:xfrm>
          <a:prstGeom prst="rect">
            <a:avLst/>
          </a:prstGeom>
          <a:solidFill>
            <a:srgbClr val="8B1A1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548640" y="3200399"/>
            <a:ext cx="182880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/>
            <a:r>
              <a:rPr sz="1300" b="1">
                <a:solidFill>
                  <a:srgbClr val="FFFFFF"/>
                </a:solidFill>
                <a:latin typeface="맑은 고딕"/>
              </a:rPr>
              <a:t>627~649</a:t>
            </a:r>
          </a:p>
        </p:txBody>
      </p:sp>
      <p:sp>
        <p:nvSpPr>
          <p:cNvPr id="17" name="Rectangle 16"/>
          <p:cNvSpPr/>
          <p:nvPr/>
        </p:nvSpPr>
        <p:spPr>
          <a:xfrm>
            <a:off x="2468880" y="3108959"/>
            <a:ext cx="9235440" cy="457200"/>
          </a:xfrm>
          <a:prstGeom prst="rect">
            <a:avLst/>
          </a:prstGeom>
          <a:solidFill>
            <a:srgbClr val="F5EED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2651760" y="3200399"/>
            <a:ext cx="896112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300" b="0">
                <a:solidFill>
                  <a:srgbClr val="1F2A44"/>
                </a:solidFill>
                <a:latin typeface="맑은 고딕"/>
              </a:rPr>
              <a:t>정관(貞觀)의 치 — 통감의 모범 사례</a:t>
            </a:r>
          </a:p>
        </p:txBody>
      </p:sp>
      <p:sp>
        <p:nvSpPr>
          <p:cNvPr id="19" name="Rectangle 18"/>
          <p:cNvSpPr/>
          <p:nvPr/>
        </p:nvSpPr>
        <p:spPr>
          <a:xfrm>
            <a:off x="548640" y="3611879"/>
            <a:ext cx="1828800" cy="457200"/>
          </a:xfrm>
          <a:prstGeom prst="rect">
            <a:avLst/>
          </a:prstGeom>
          <a:solidFill>
            <a:srgbClr val="8B1A1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548640" y="3703319"/>
            <a:ext cx="182880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/>
            <a:r>
              <a:rPr sz="1300" b="1">
                <a:solidFill>
                  <a:srgbClr val="FFFFFF"/>
                </a:solidFill>
                <a:latin typeface="맑은 고딕"/>
              </a:rPr>
              <a:t>630</a:t>
            </a:r>
          </a:p>
        </p:txBody>
      </p:sp>
      <p:sp>
        <p:nvSpPr>
          <p:cNvPr id="21" name="Rectangle 20"/>
          <p:cNvSpPr/>
          <p:nvPr/>
        </p:nvSpPr>
        <p:spPr>
          <a:xfrm>
            <a:off x="2468880" y="3611879"/>
            <a:ext cx="9235440" cy="457200"/>
          </a:xfrm>
          <a:prstGeom prst="rect">
            <a:avLst/>
          </a:prstGeom>
          <a:solidFill>
            <a:srgbClr val="F5EED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2651760" y="3703319"/>
            <a:ext cx="896112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300" b="0">
                <a:solidFill>
                  <a:srgbClr val="1F2A44"/>
                </a:solidFill>
                <a:latin typeface="맑은 고딕"/>
              </a:rPr>
              <a:t>돌궐 평정 · "천가한(天可汗)" 칭호</a:t>
            </a:r>
          </a:p>
        </p:txBody>
      </p:sp>
      <p:sp>
        <p:nvSpPr>
          <p:cNvPr id="23" name="Rectangle 22"/>
          <p:cNvSpPr/>
          <p:nvPr/>
        </p:nvSpPr>
        <p:spPr>
          <a:xfrm>
            <a:off x="548640" y="4114799"/>
            <a:ext cx="1828800" cy="457200"/>
          </a:xfrm>
          <a:prstGeom prst="rect">
            <a:avLst/>
          </a:prstGeom>
          <a:solidFill>
            <a:srgbClr val="8B1A1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548640" y="4206239"/>
            <a:ext cx="182880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/>
            <a:r>
              <a:rPr sz="1300" b="1">
                <a:solidFill>
                  <a:srgbClr val="FFFFFF"/>
                </a:solidFill>
                <a:latin typeface="맑은 고딕"/>
              </a:rPr>
              <a:t>649~683</a:t>
            </a:r>
          </a:p>
        </p:txBody>
      </p:sp>
      <p:sp>
        <p:nvSpPr>
          <p:cNvPr id="25" name="Rectangle 24"/>
          <p:cNvSpPr/>
          <p:nvPr/>
        </p:nvSpPr>
        <p:spPr>
          <a:xfrm>
            <a:off x="2468880" y="4114799"/>
            <a:ext cx="9235440" cy="457200"/>
          </a:xfrm>
          <a:prstGeom prst="rect">
            <a:avLst/>
          </a:prstGeom>
          <a:solidFill>
            <a:srgbClr val="F5EED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2651760" y="4206239"/>
            <a:ext cx="896112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300" b="0">
                <a:solidFill>
                  <a:srgbClr val="1F2A44"/>
                </a:solidFill>
                <a:latin typeface="맑은 고딕"/>
              </a:rPr>
              <a:t>고종(高宗) — 측천무후의 부상</a:t>
            </a:r>
          </a:p>
        </p:txBody>
      </p:sp>
      <p:sp>
        <p:nvSpPr>
          <p:cNvPr id="27" name="Rectangle 26"/>
          <p:cNvSpPr/>
          <p:nvPr/>
        </p:nvSpPr>
        <p:spPr>
          <a:xfrm>
            <a:off x="548640" y="4617719"/>
            <a:ext cx="1828800" cy="457200"/>
          </a:xfrm>
          <a:prstGeom prst="rect">
            <a:avLst/>
          </a:prstGeom>
          <a:solidFill>
            <a:srgbClr val="8B1A1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548640" y="4709159"/>
            <a:ext cx="182880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/>
            <a:r>
              <a:rPr sz="1300" b="1">
                <a:solidFill>
                  <a:srgbClr val="FFFFFF"/>
                </a:solidFill>
                <a:latin typeface="맑은 고딕"/>
              </a:rPr>
              <a:t>690~705</a:t>
            </a:r>
          </a:p>
        </p:txBody>
      </p:sp>
      <p:sp>
        <p:nvSpPr>
          <p:cNvPr id="29" name="Rectangle 28"/>
          <p:cNvSpPr/>
          <p:nvPr/>
        </p:nvSpPr>
        <p:spPr>
          <a:xfrm>
            <a:off x="2468880" y="4617719"/>
            <a:ext cx="9235440" cy="457200"/>
          </a:xfrm>
          <a:prstGeom prst="rect">
            <a:avLst/>
          </a:prstGeom>
          <a:solidFill>
            <a:srgbClr val="F5EED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TextBox 29"/>
          <p:cNvSpPr txBox="1"/>
          <p:nvPr/>
        </p:nvSpPr>
        <p:spPr>
          <a:xfrm>
            <a:off x="2651760" y="4709159"/>
            <a:ext cx="896112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300" b="0">
                <a:solidFill>
                  <a:srgbClr val="1F2A44"/>
                </a:solidFill>
                <a:latin typeface="맑은 고딕"/>
              </a:rPr>
              <a:t>측천무후 — 중국 최초의 여황제 · 주(周)</a:t>
            </a:r>
          </a:p>
        </p:txBody>
      </p:sp>
      <p:sp>
        <p:nvSpPr>
          <p:cNvPr id="31" name="Rectangle 30"/>
          <p:cNvSpPr/>
          <p:nvPr/>
        </p:nvSpPr>
        <p:spPr>
          <a:xfrm>
            <a:off x="548640" y="5120639"/>
            <a:ext cx="1828800" cy="457200"/>
          </a:xfrm>
          <a:prstGeom prst="rect">
            <a:avLst/>
          </a:prstGeom>
          <a:solidFill>
            <a:srgbClr val="8B1A1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TextBox 31"/>
          <p:cNvSpPr txBox="1"/>
          <p:nvPr/>
        </p:nvSpPr>
        <p:spPr>
          <a:xfrm>
            <a:off x="548640" y="5212079"/>
            <a:ext cx="182880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/>
            <a:r>
              <a:rPr sz="1300" b="1">
                <a:solidFill>
                  <a:srgbClr val="FFFFFF"/>
                </a:solidFill>
                <a:latin typeface="맑은 고딕"/>
              </a:rPr>
              <a:t>712~756</a:t>
            </a:r>
          </a:p>
        </p:txBody>
      </p:sp>
      <p:sp>
        <p:nvSpPr>
          <p:cNvPr id="33" name="Rectangle 32"/>
          <p:cNvSpPr/>
          <p:nvPr/>
        </p:nvSpPr>
        <p:spPr>
          <a:xfrm>
            <a:off x="2468880" y="5120639"/>
            <a:ext cx="9235440" cy="457200"/>
          </a:xfrm>
          <a:prstGeom prst="rect">
            <a:avLst/>
          </a:prstGeom>
          <a:solidFill>
            <a:srgbClr val="F5EED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TextBox 33"/>
          <p:cNvSpPr txBox="1"/>
          <p:nvPr/>
        </p:nvSpPr>
        <p:spPr>
          <a:xfrm>
            <a:off x="2651760" y="5212079"/>
            <a:ext cx="896112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300" b="0">
                <a:solidFill>
                  <a:srgbClr val="1F2A44"/>
                </a:solidFill>
                <a:latin typeface="맑은 고딕"/>
              </a:rPr>
              <a:t>현종(玄宗) — 개원(開元)의 치 · 당의 정점</a:t>
            </a:r>
          </a:p>
        </p:txBody>
      </p:sp>
      <p:sp>
        <p:nvSpPr>
          <p:cNvPr id="35" name="Rectangle 34"/>
          <p:cNvSpPr/>
          <p:nvPr/>
        </p:nvSpPr>
        <p:spPr>
          <a:xfrm>
            <a:off x="548640" y="5623559"/>
            <a:ext cx="1828800" cy="457200"/>
          </a:xfrm>
          <a:prstGeom prst="rect">
            <a:avLst/>
          </a:prstGeom>
          <a:solidFill>
            <a:srgbClr val="8B1A1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6" name="TextBox 35"/>
          <p:cNvSpPr txBox="1"/>
          <p:nvPr/>
        </p:nvSpPr>
        <p:spPr>
          <a:xfrm>
            <a:off x="548640" y="5714999"/>
            <a:ext cx="182880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/>
            <a:r>
              <a:rPr sz="1300" b="1">
                <a:solidFill>
                  <a:srgbClr val="FFFFFF"/>
                </a:solidFill>
                <a:latin typeface="맑은 고딕"/>
              </a:rPr>
              <a:t>755</a:t>
            </a:r>
          </a:p>
        </p:txBody>
      </p:sp>
      <p:sp>
        <p:nvSpPr>
          <p:cNvPr id="37" name="Rectangle 36"/>
          <p:cNvSpPr/>
          <p:nvPr/>
        </p:nvSpPr>
        <p:spPr>
          <a:xfrm>
            <a:off x="2468880" y="5623559"/>
            <a:ext cx="9235440" cy="457200"/>
          </a:xfrm>
          <a:prstGeom prst="rect">
            <a:avLst/>
          </a:prstGeom>
          <a:solidFill>
            <a:srgbClr val="F5EED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8" name="TextBox 37"/>
          <p:cNvSpPr txBox="1"/>
          <p:nvPr/>
        </p:nvSpPr>
        <p:spPr>
          <a:xfrm>
            <a:off x="2651760" y="5714999"/>
            <a:ext cx="896112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300" b="0">
                <a:solidFill>
                  <a:srgbClr val="1F2A44"/>
                </a:solidFill>
                <a:latin typeface="맑은 고딕"/>
              </a:rPr>
              <a:t>안사(安史)의 난 — 당의 분기점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457200" y="6400800"/>
            <a:ext cx="1124712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/>
            <a:r>
              <a:rPr sz="1300" b="1">
                <a:solidFill>
                  <a:srgbClr val="8B1A1A"/>
                </a:solidFill>
                <a:latin typeface="맑은 고딕"/>
              </a:rPr>
              <a:t>"정관의 치 → 개원의 치 → 안사의 난" — 통감이 가장 깊이 다루는 흐름</a:t>
            </a:r>
          </a:p>
        </p:txBody>
      </p:sp>
    </p:spTree>
  </p:cSld>
  <p:clrMapOvr>
    <a:masterClrMapping/>
  </p:clrMapOvr>
</p:sld>
</file>

<file path=ppt/slides/slide2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91440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100" b="1">
                <a:solidFill>
                  <a:srgbClr val="556070"/>
                </a:solidFill>
                <a:latin typeface="맑은 고딕"/>
              </a:rPr>
              <a:t>Ⅴ. 시대별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10972800" y="274320"/>
            <a:ext cx="118872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/>
            <a:r>
              <a:rPr sz="1000" b="0">
                <a:solidFill>
                  <a:srgbClr val="556070"/>
                </a:solidFill>
                <a:latin typeface="맑은 고딕"/>
              </a:rPr>
              <a:t>29 / 70</a:t>
            </a:r>
          </a:p>
        </p:txBody>
      </p:sp>
      <p:cxnSp>
        <p:nvCxnSpPr>
          <p:cNvPr id="4" name="Connector 3"/>
          <p:cNvCxnSpPr/>
          <p:nvPr/>
        </p:nvCxnSpPr>
        <p:spPr>
          <a:xfrm>
            <a:off x="457200" y="594360"/>
            <a:ext cx="11704320" cy="0"/>
          </a:xfrm>
          <a:prstGeom prst="line">
            <a:avLst/>
          </a:prstGeom>
          <a:ln w="25400">
            <a:solidFill>
              <a:srgbClr val="C8A25B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5" name="TextBox 4"/>
          <p:cNvSpPr txBox="1"/>
          <p:nvPr/>
        </p:nvSpPr>
        <p:spPr>
          <a:xfrm>
            <a:off x="457200" y="777240"/>
            <a:ext cx="11704320" cy="6400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3000" b="1">
                <a:solidFill>
                  <a:srgbClr val="1F2A44"/>
                </a:solidFill>
                <a:latin typeface="맑은 고딕"/>
              </a:rPr>
              <a:t>당기(唐紀) 81권 ② — 755~906 · 후기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57200" y="1417320"/>
            <a:ext cx="1170432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400" b="0">
                <a:solidFill>
                  <a:srgbClr val="556070"/>
                </a:solidFill>
                <a:latin typeface="맑은 고딕"/>
              </a:rPr>
              <a:t>"안사의 난 이후 150년의 점진적 쇠퇴"</a:t>
            </a:r>
          </a:p>
        </p:txBody>
      </p:sp>
      <p:sp>
        <p:nvSpPr>
          <p:cNvPr id="7" name="Rectangle 6"/>
          <p:cNvSpPr/>
          <p:nvPr/>
        </p:nvSpPr>
        <p:spPr>
          <a:xfrm>
            <a:off x="548640" y="2194560"/>
            <a:ext cx="1828800" cy="502920"/>
          </a:xfrm>
          <a:prstGeom prst="rect">
            <a:avLst/>
          </a:prstGeom>
          <a:solidFill>
            <a:srgbClr val="8B1A1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548640" y="2313432"/>
            <a:ext cx="182880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/>
            <a:r>
              <a:rPr sz="1400" b="1">
                <a:solidFill>
                  <a:srgbClr val="FFFFFF"/>
                </a:solidFill>
                <a:latin typeface="맑은 고딕"/>
              </a:rPr>
              <a:t>755~763</a:t>
            </a:r>
          </a:p>
        </p:txBody>
      </p:sp>
      <p:sp>
        <p:nvSpPr>
          <p:cNvPr id="9" name="Rectangle 8"/>
          <p:cNvSpPr/>
          <p:nvPr/>
        </p:nvSpPr>
        <p:spPr>
          <a:xfrm>
            <a:off x="2468880" y="2194560"/>
            <a:ext cx="9235440" cy="502920"/>
          </a:xfrm>
          <a:prstGeom prst="rect">
            <a:avLst/>
          </a:prstGeom>
          <a:solidFill>
            <a:srgbClr val="F5EED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2651760" y="2313432"/>
            <a:ext cx="896112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300" b="0">
                <a:solidFill>
                  <a:srgbClr val="1F2A44"/>
                </a:solidFill>
                <a:latin typeface="맑은 고딕"/>
              </a:rPr>
              <a:t>안사의 난 — 안녹산·사사명 · 인구 절반 사라짐</a:t>
            </a:r>
          </a:p>
        </p:txBody>
      </p:sp>
      <p:sp>
        <p:nvSpPr>
          <p:cNvPr id="11" name="Rectangle 10"/>
          <p:cNvSpPr/>
          <p:nvPr/>
        </p:nvSpPr>
        <p:spPr>
          <a:xfrm>
            <a:off x="548640" y="2761488"/>
            <a:ext cx="1828800" cy="502920"/>
          </a:xfrm>
          <a:prstGeom prst="rect">
            <a:avLst/>
          </a:prstGeom>
          <a:solidFill>
            <a:srgbClr val="8B1A1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548640" y="2880360"/>
            <a:ext cx="182880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/>
            <a:r>
              <a:rPr sz="1400" b="1">
                <a:solidFill>
                  <a:srgbClr val="FFFFFF"/>
                </a:solidFill>
                <a:latin typeface="맑은 고딕"/>
              </a:rPr>
              <a:t>756</a:t>
            </a:r>
          </a:p>
        </p:txBody>
      </p:sp>
      <p:sp>
        <p:nvSpPr>
          <p:cNvPr id="13" name="Rectangle 12"/>
          <p:cNvSpPr/>
          <p:nvPr/>
        </p:nvSpPr>
        <p:spPr>
          <a:xfrm>
            <a:off x="2468880" y="2761488"/>
            <a:ext cx="9235440" cy="502920"/>
          </a:xfrm>
          <a:prstGeom prst="rect">
            <a:avLst/>
          </a:prstGeom>
          <a:solidFill>
            <a:srgbClr val="F5EED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2651760" y="2880360"/>
            <a:ext cx="896112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300" b="0">
                <a:solidFill>
                  <a:srgbClr val="1F2A44"/>
                </a:solidFill>
                <a:latin typeface="맑은 고딕"/>
              </a:rPr>
              <a:t>양귀비의 죽음 — 마외역(馬嵬驛)</a:t>
            </a:r>
          </a:p>
        </p:txBody>
      </p:sp>
      <p:sp>
        <p:nvSpPr>
          <p:cNvPr id="15" name="Rectangle 14"/>
          <p:cNvSpPr/>
          <p:nvPr/>
        </p:nvSpPr>
        <p:spPr>
          <a:xfrm>
            <a:off x="548640" y="3328416"/>
            <a:ext cx="1828800" cy="502920"/>
          </a:xfrm>
          <a:prstGeom prst="rect">
            <a:avLst/>
          </a:prstGeom>
          <a:solidFill>
            <a:srgbClr val="8B1A1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548640" y="3447288"/>
            <a:ext cx="182880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/>
            <a:r>
              <a:rPr sz="1400" b="1">
                <a:solidFill>
                  <a:srgbClr val="FFFFFF"/>
                </a:solidFill>
                <a:latin typeface="맑은 고딕"/>
              </a:rPr>
              <a:t>780</a:t>
            </a:r>
          </a:p>
        </p:txBody>
      </p:sp>
      <p:sp>
        <p:nvSpPr>
          <p:cNvPr id="17" name="Rectangle 16"/>
          <p:cNvSpPr/>
          <p:nvPr/>
        </p:nvSpPr>
        <p:spPr>
          <a:xfrm>
            <a:off x="2468880" y="3328416"/>
            <a:ext cx="9235440" cy="502920"/>
          </a:xfrm>
          <a:prstGeom prst="rect">
            <a:avLst/>
          </a:prstGeom>
          <a:solidFill>
            <a:srgbClr val="F5EED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2651760" y="3447288"/>
            <a:ext cx="896112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300" b="0">
                <a:solidFill>
                  <a:srgbClr val="1F2A44"/>
                </a:solidFill>
                <a:latin typeface="맑은 고딕"/>
              </a:rPr>
              <a:t>양세법(兩稅法) 시행 — 조용조 → 토지·재산세</a:t>
            </a:r>
          </a:p>
        </p:txBody>
      </p:sp>
      <p:sp>
        <p:nvSpPr>
          <p:cNvPr id="19" name="Rectangle 18"/>
          <p:cNvSpPr/>
          <p:nvPr/>
        </p:nvSpPr>
        <p:spPr>
          <a:xfrm>
            <a:off x="548640" y="3895344"/>
            <a:ext cx="1828800" cy="502920"/>
          </a:xfrm>
          <a:prstGeom prst="rect">
            <a:avLst/>
          </a:prstGeom>
          <a:solidFill>
            <a:srgbClr val="8B1A1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548640" y="4014215"/>
            <a:ext cx="182880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/>
            <a:r>
              <a:rPr sz="1400" b="1">
                <a:solidFill>
                  <a:srgbClr val="FFFFFF"/>
                </a:solidFill>
                <a:latin typeface="맑은 고딕"/>
              </a:rPr>
              <a:t>806~820</a:t>
            </a:r>
          </a:p>
        </p:txBody>
      </p:sp>
      <p:sp>
        <p:nvSpPr>
          <p:cNvPr id="21" name="Rectangle 20"/>
          <p:cNvSpPr/>
          <p:nvPr/>
        </p:nvSpPr>
        <p:spPr>
          <a:xfrm>
            <a:off x="2468880" y="3895344"/>
            <a:ext cx="9235440" cy="502920"/>
          </a:xfrm>
          <a:prstGeom prst="rect">
            <a:avLst/>
          </a:prstGeom>
          <a:solidFill>
            <a:srgbClr val="F5EED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2651760" y="4014215"/>
            <a:ext cx="896112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300" b="0">
                <a:solidFill>
                  <a:srgbClr val="1F2A44"/>
                </a:solidFill>
                <a:latin typeface="맑은 고딕"/>
              </a:rPr>
              <a:t>헌종(憲宗) — 원화의 중흥 · 단명</a:t>
            </a:r>
          </a:p>
        </p:txBody>
      </p:sp>
      <p:sp>
        <p:nvSpPr>
          <p:cNvPr id="23" name="Rectangle 22"/>
          <p:cNvSpPr/>
          <p:nvPr/>
        </p:nvSpPr>
        <p:spPr>
          <a:xfrm>
            <a:off x="548640" y="4462272"/>
            <a:ext cx="1828800" cy="502920"/>
          </a:xfrm>
          <a:prstGeom prst="rect">
            <a:avLst/>
          </a:prstGeom>
          <a:solidFill>
            <a:srgbClr val="8B1A1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548640" y="4581144"/>
            <a:ext cx="182880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/>
            <a:r>
              <a:rPr sz="1400" b="1">
                <a:solidFill>
                  <a:srgbClr val="FFFFFF"/>
                </a:solidFill>
                <a:latin typeface="맑은 고딕"/>
              </a:rPr>
              <a:t>835</a:t>
            </a:r>
          </a:p>
        </p:txBody>
      </p:sp>
      <p:sp>
        <p:nvSpPr>
          <p:cNvPr id="25" name="Rectangle 24"/>
          <p:cNvSpPr/>
          <p:nvPr/>
        </p:nvSpPr>
        <p:spPr>
          <a:xfrm>
            <a:off x="2468880" y="4462272"/>
            <a:ext cx="9235440" cy="502920"/>
          </a:xfrm>
          <a:prstGeom prst="rect">
            <a:avLst/>
          </a:prstGeom>
          <a:solidFill>
            <a:srgbClr val="F5EED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2651760" y="4581144"/>
            <a:ext cx="896112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300" b="0">
                <a:solidFill>
                  <a:srgbClr val="1F2A44"/>
                </a:solidFill>
                <a:latin typeface="맑은 고딕"/>
              </a:rPr>
              <a:t>감로(甘露)의 변 — 환관의 사대부 학살</a:t>
            </a:r>
          </a:p>
        </p:txBody>
      </p:sp>
      <p:sp>
        <p:nvSpPr>
          <p:cNvPr id="27" name="Rectangle 26"/>
          <p:cNvSpPr/>
          <p:nvPr/>
        </p:nvSpPr>
        <p:spPr>
          <a:xfrm>
            <a:off x="548640" y="5029200"/>
            <a:ext cx="1828800" cy="502920"/>
          </a:xfrm>
          <a:prstGeom prst="rect">
            <a:avLst/>
          </a:prstGeom>
          <a:solidFill>
            <a:srgbClr val="8B1A1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548640" y="5148072"/>
            <a:ext cx="182880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/>
            <a:r>
              <a:rPr sz="1400" b="1">
                <a:solidFill>
                  <a:srgbClr val="FFFFFF"/>
                </a:solidFill>
                <a:latin typeface="맑은 고딕"/>
              </a:rPr>
              <a:t>874~884</a:t>
            </a:r>
          </a:p>
        </p:txBody>
      </p:sp>
      <p:sp>
        <p:nvSpPr>
          <p:cNvPr id="29" name="Rectangle 28"/>
          <p:cNvSpPr/>
          <p:nvPr/>
        </p:nvSpPr>
        <p:spPr>
          <a:xfrm>
            <a:off x="2468880" y="5029200"/>
            <a:ext cx="9235440" cy="502920"/>
          </a:xfrm>
          <a:prstGeom prst="rect">
            <a:avLst/>
          </a:prstGeom>
          <a:solidFill>
            <a:srgbClr val="F5EED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TextBox 29"/>
          <p:cNvSpPr txBox="1"/>
          <p:nvPr/>
        </p:nvSpPr>
        <p:spPr>
          <a:xfrm>
            <a:off x="2651760" y="5148072"/>
            <a:ext cx="896112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300" b="0">
                <a:solidFill>
                  <a:srgbClr val="1F2A44"/>
                </a:solidFill>
                <a:latin typeface="맑은 고딕"/>
              </a:rPr>
              <a:t>황소(黃巢)의 난 — 장안 함락</a:t>
            </a:r>
          </a:p>
        </p:txBody>
      </p:sp>
      <p:sp>
        <p:nvSpPr>
          <p:cNvPr id="31" name="Rectangle 30"/>
          <p:cNvSpPr/>
          <p:nvPr/>
        </p:nvSpPr>
        <p:spPr>
          <a:xfrm>
            <a:off x="548640" y="5596128"/>
            <a:ext cx="1828800" cy="502920"/>
          </a:xfrm>
          <a:prstGeom prst="rect">
            <a:avLst/>
          </a:prstGeom>
          <a:solidFill>
            <a:srgbClr val="8B1A1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TextBox 31"/>
          <p:cNvSpPr txBox="1"/>
          <p:nvPr/>
        </p:nvSpPr>
        <p:spPr>
          <a:xfrm>
            <a:off x="548640" y="5715000"/>
            <a:ext cx="182880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/>
            <a:r>
              <a:rPr sz="1400" b="1">
                <a:solidFill>
                  <a:srgbClr val="FFFFFF"/>
                </a:solidFill>
                <a:latin typeface="맑은 고딕"/>
              </a:rPr>
              <a:t>907</a:t>
            </a:r>
          </a:p>
        </p:txBody>
      </p:sp>
      <p:sp>
        <p:nvSpPr>
          <p:cNvPr id="33" name="Rectangle 32"/>
          <p:cNvSpPr/>
          <p:nvPr/>
        </p:nvSpPr>
        <p:spPr>
          <a:xfrm>
            <a:off x="2468880" y="5596128"/>
            <a:ext cx="9235440" cy="502920"/>
          </a:xfrm>
          <a:prstGeom prst="rect">
            <a:avLst/>
          </a:prstGeom>
          <a:solidFill>
            <a:srgbClr val="F5EED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TextBox 33"/>
          <p:cNvSpPr txBox="1"/>
          <p:nvPr/>
        </p:nvSpPr>
        <p:spPr>
          <a:xfrm>
            <a:off x="2651760" y="5715000"/>
            <a:ext cx="896112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300" b="0">
                <a:solidFill>
                  <a:srgbClr val="1F2A44"/>
                </a:solidFill>
                <a:latin typeface="맑은 고딕"/>
              </a:rPr>
              <a:t>주전충(朱全忠)이 애제 폐위 → 후량(後梁) 건국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457200" y="6400800"/>
            <a:ext cx="1124712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/>
            <a:r>
              <a:rPr sz="1300" b="1">
                <a:solidFill>
                  <a:srgbClr val="8B1A1A"/>
                </a:solidFill>
                <a:latin typeface="맑은 고딕"/>
              </a:rPr>
              <a:t>통감 교훈 — "환관·번진(藩鎭)·환국의 3중 위기가 290년 당을 무너뜨림"</a:t>
            </a:r>
          </a:p>
        </p:txBody>
      </p:sp>
    </p:spTree>
  </p:cSld>
  <p:clrMapOvr>
    <a:masterClrMapping/>
  </p:clrMapOvr>
</p:sld>
</file>

<file path=ppt/slides/slide3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91440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100" b="1">
                <a:solidFill>
                  <a:srgbClr val="556070"/>
                </a:solidFill>
                <a:latin typeface="맑은 고딕"/>
              </a:rPr>
              <a:t>Ⅴ. 시대별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10972800" y="274320"/>
            <a:ext cx="118872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/>
            <a:r>
              <a:rPr sz="1000" b="0">
                <a:solidFill>
                  <a:srgbClr val="556070"/>
                </a:solidFill>
                <a:latin typeface="맑은 고딕"/>
              </a:rPr>
              <a:t>30 / 70</a:t>
            </a:r>
          </a:p>
        </p:txBody>
      </p:sp>
      <p:cxnSp>
        <p:nvCxnSpPr>
          <p:cNvPr id="4" name="Connector 3"/>
          <p:cNvCxnSpPr/>
          <p:nvPr/>
        </p:nvCxnSpPr>
        <p:spPr>
          <a:xfrm>
            <a:off x="457200" y="594360"/>
            <a:ext cx="11704320" cy="0"/>
          </a:xfrm>
          <a:prstGeom prst="line">
            <a:avLst/>
          </a:prstGeom>
          <a:ln w="25400">
            <a:solidFill>
              <a:srgbClr val="C8A25B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5" name="TextBox 4"/>
          <p:cNvSpPr txBox="1"/>
          <p:nvPr/>
        </p:nvSpPr>
        <p:spPr>
          <a:xfrm>
            <a:off x="457200" y="777240"/>
            <a:ext cx="11704320" cy="6400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3000" b="1">
                <a:solidFill>
                  <a:srgbClr val="1F2A44"/>
                </a:solidFill>
                <a:latin typeface="맑은 고딕"/>
              </a:rPr>
              <a:t>오대(五代) 5기 29권 — 907~959 · 53년의 5왕조 교체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57200" y="1417320"/>
            <a:ext cx="1170432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400" b="0">
                <a:solidFill>
                  <a:srgbClr val="556070"/>
                </a:solidFill>
                <a:latin typeface="맑은 고딕"/>
              </a:rPr>
              <a:t>"평균 11년의 단명 왕조 — 무인 정치의 위험"</a:t>
            </a:r>
          </a:p>
        </p:txBody>
      </p:sp>
      <p:sp>
        <p:nvSpPr>
          <p:cNvPr id="7" name="Rectangle 6"/>
          <p:cNvSpPr/>
          <p:nvPr/>
        </p:nvSpPr>
        <p:spPr>
          <a:xfrm>
            <a:off x="548640" y="2194560"/>
            <a:ext cx="2011680" cy="502920"/>
          </a:xfrm>
          <a:prstGeom prst="rect">
            <a:avLst/>
          </a:prstGeom>
          <a:solidFill>
            <a:srgbClr val="8B1A1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548640" y="2313432"/>
            <a:ext cx="201168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/>
            <a:r>
              <a:rPr sz="1300" b="1">
                <a:solidFill>
                  <a:srgbClr val="FFFFFF"/>
                </a:solidFill>
                <a:latin typeface="맑은 고딕"/>
              </a:rPr>
              <a:t>907~923</a:t>
            </a:r>
          </a:p>
        </p:txBody>
      </p:sp>
      <p:sp>
        <p:nvSpPr>
          <p:cNvPr id="9" name="Rectangle 8"/>
          <p:cNvSpPr/>
          <p:nvPr/>
        </p:nvSpPr>
        <p:spPr>
          <a:xfrm>
            <a:off x="2651760" y="2194560"/>
            <a:ext cx="9052560" cy="502920"/>
          </a:xfrm>
          <a:prstGeom prst="rect">
            <a:avLst/>
          </a:prstGeom>
          <a:solidFill>
            <a:srgbClr val="F5EED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2834640" y="2313432"/>
            <a:ext cx="877824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300" b="0">
                <a:solidFill>
                  <a:srgbClr val="1F2A44"/>
                </a:solidFill>
                <a:latin typeface="맑은 고딕"/>
              </a:rPr>
              <a:t>후량(後梁) — 주전충 · 16년</a:t>
            </a:r>
          </a:p>
        </p:txBody>
      </p:sp>
      <p:sp>
        <p:nvSpPr>
          <p:cNvPr id="11" name="Rectangle 10"/>
          <p:cNvSpPr/>
          <p:nvPr/>
        </p:nvSpPr>
        <p:spPr>
          <a:xfrm>
            <a:off x="548640" y="2761488"/>
            <a:ext cx="2011680" cy="502920"/>
          </a:xfrm>
          <a:prstGeom prst="rect">
            <a:avLst/>
          </a:prstGeom>
          <a:solidFill>
            <a:srgbClr val="8B1A1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548640" y="2880360"/>
            <a:ext cx="201168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/>
            <a:r>
              <a:rPr sz="1300" b="1">
                <a:solidFill>
                  <a:srgbClr val="FFFFFF"/>
                </a:solidFill>
                <a:latin typeface="맑은 고딕"/>
              </a:rPr>
              <a:t>923~936</a:t>
            </a:r>
          </a:p>
        </p:txBody>
      </p:sp>
      <p:sp>
        <p:nvSpPr>
          <p:cNvPr id="13" name="Rectangle 12"/>
          <p:cNvSpPr/>
          <p:nvPr/>
        </p:nvSpPr>
        <p:spPr>
          <a:xfrm>
            <a:off x="2651760" y="2761488"/>
            <a:ext cx="9052560" cy="502920"/>
          </a:xfrm>
          <a:prstGeom prst="rect">
            <a:avLst/>
          </a:prstGeom>
          <a:solidFill>
            <a:srgbClr val="F5EED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2834640" y="2880360"/>
            <a:ext cx="877824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300" b="0">
                <a:solidFill>
                  <a:srgbClr val="1F2A44"/>
                </a:solidFill>
                <a:latin typeface="맑은 고딕"/>
              </a:rPr>
              <a:t>후당(後唐) — 이존욱 · 13년</a:t>
            </a:r>
          </a:p>
        </p:txBody>
      </p:sp>
      <p:sp>
        <p:nvSpPr>
          <p:cNvPr id="15" name="Rectangle 14"/>
          <p:cNvSpPr/>
          <p:nvPr/>
        </p:nvSpPr>
        <p:spPr>
          <a:xfrm>
            <a:off x="548640" y="3328416"/>
            <a:ext cx="2011680" cy="502920"/>
          </a:xfrm>
          <a:prstGeom prst="rect">
            <a:avLst/>
          </a:prstGeom>
          <a:solidFill>
            <a:srgbClr val="8B1A1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548640" y="3447288"/>
            <a:ext cx="201168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/>
            <a:r>
              <a:rPr sz="1300" b="1">
                <a:solidFill>
                  <a:srgbClr val="FFFFFF"/>
                </a:solidFill>
                <a:latin typeface="맑은 고딕"/>
              </a:rPr>
              <a:t>936~947</a:t>
            </a:r>
          </a:p>
        </p:txBody>
      </p:sp>
      <p:sp>
        <p:nvSpPr>
          <p:cNvPr id="17" name="Rectangle 16"/>
          <p:cNvSpPr/>
          <p:nvPr/>
        </p:nvSpPr>
        <p:spPr>
          <a:xfrm>
            <a:off x="2651760" y="3328416"/>
            <a:ext cx="9052560" cy="502920"/>
          </a:xfrm>
          <a:prstGeom prst="rect">
            <a:avLst/>
          </a:prstGeom>
          <a:solidFill>
            <a:srgbClr val="F5EED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2834640" y="3447288"/>
            <a:ext cx="877824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300" b="0">
                <a:solidFill>
                  <a:srgbClr val="1F2A44"/>
                </a:solidFill>
                <a:latin typeface="맑은 고딕"/>
              </a:rPr>
              <a:t>후진(後晉) — 석경당 · 거란에 연운16주 할양</a:t>
            </a:r>
          </a:p>
        </p:txBody>
      </p:sp>
      <p:sp>
        <p:nvSpPr>
          <p:cNvPr id="19" name="Rectangle 18"/>
          <p:cNvSpPr/>
          <p:nvPr/>
        </p:nvSpPr>
        <p:spPr>
          <a:xfrm>
            <a:off x="548640" y="3895344"/>
            <a:ext cx="2011680" cy="502920"/>
          </a:xfrm>
          <a:prstGeom prst="rect">
            <a:avLst/>
          </a:prstGeom>
          <a:solidFill>
            <a:srgbClr val="8B1A1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548640" y="4014215"/>
            <a:ext cx="201168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/>
            <a:r>
              <a:rPr sz="1300" b="1">
                <a:solidFill>
                  <a:srgbClr val="FFFFFF"/>
                </a:solidFill>
                <a:latin typeface="맑은 고딕"/>
              </a:rPr>
              <a:t>947~950</a:t>
            </a:r>
          </a:p>
        </p:txBody>
      </p:sp>
      <p:sp>
        <p:nvSpPr>
          <p:cNvPr id="21" name="Rectangle 20"/>
          <p:cNvSpPr/>
          <p:nvPr/>
        </p:nvSpPr>
        <p:spPr>
          <a:xfrm>
            <a:off x="2651760" y="3895344"/>
            <a:ext cx="9052560" cy="502920"/>
          </a:xfrm>
          <a:prstGeom prst="rect">
            <a:avLst/>
          </a:prstGeom>
          <a:solidFill>
            <a:srgbClr val="F5EED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2834640" y="4014215"/>
            <a:ext cx="877824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300" b="0">
                <a:solidFill>
                  <a:srgbClr val="1F2A44"/>
                </a:solidFill>
                <a:latin typeface="맑은 고딕"/>
              </a:rPr>
              <a:t>후한(後漢) — 유지원 · 3년 (가장 짧은)</a:t>
            </a:r>
          </a:p>
        </p:txBody>
      </p:sp>
      <p:sp>
        <p:nvSpPr>
          <p:cNvPr id="23" name="Rectangle 22"/>
          <p:cNvSpPr/>
          <p:nvPr/>
        </p:nvSpPr>
        <p:spPr>
          <a:xfrm>
            <a:off x="548640" y="4462272"/>
            <a:ext cx="2011680" cy="502920"/>
          </a:xfrm>
          <a:prstGeom prst="rect">
            <a:avLst/>
          </a:prstGeom>
          <a:solidFill>
            <a:srgbClr val="8B1A1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548640" y="4581144"/>
            <a:ext cx="201168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/>
            <a:r>
              <a:rPr sz="1300" b="1">
                <a:solidFill>
                  <a:srgbClr val="FFFFFF"/>
                </a:solidFill>
                <a:latin typeface="맑은 고딕"/>
              </a:rPr>
              <a:t>951~960</a:t>
            </a:r>
          </a:p>
        </p:txBody>
      </p:sp>
      <p:sp>
        <p:nvSpPr>
          <p:cNvPr id="25" name="Rectangle 24"/>
          <p:cNvSpPr/>
          <p:nvPr/>
        </p:nvSpPr>
        <p:spPr>
          <a:xfrm>
            <a:off x="2651760" y="4462272"/>
            <a:ext cx="9052560" cy="502920"/>
          </a:xfrm>
          <a:prstGeom prst="rect">
            <a:avLst/>
          </a:prstGeom>
          <a:solidFill>
            <a:srgbClr val="F5EED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2834640" y="4581144"/>
            <a:ext cx="877824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300" b="0">
                <a:solidFill>
                  <a:srgbClr val="1F2A44"/>
                </a:solidFill>
                <a:latin typeface="맑은 고딕"/>
              </a:rPr>
              <a:t>후주(後周) — 곽위·시영 · 명군 등장</a:t>
            </a:r>
          </a:p>
        </p:txBody>
      </p:sp>
      <p:sp>
        <p:nvSpPr>
          <p:cNvPr id="27" name="Rectangle 26"/>
          <p:cNvSpPr/>
          <p:nvPr/>
        </p:nvSpPr>
        <p:spPr>
          <a:xfrm>
            <a:off x="548640" y="5029200"/>
            <a:ext cx="2011680" cy="502920"/>
          </a:xfrm>
          <a:prstGeom prst="rect">
            <a:avLst/>
          </a:prstGeom>
          <a:solidFill>
            <a:srgbClr val="8B1A1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548640" y="5148072"/>
            <a:ext cx="201168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/>
            <a:r>
              <a:rPr sz="1300" b="1">
                <a:solidFill>
                  <a:srgbClr val="FFFFFF"/>
                </a:solidFill>
                <a:latin typeface="맑은 고딕"/>
              </a:rPr>
              <a:t>959</a:t>
            </a:r>
          </a:p>
        </p:txBody>
      </p:sp>
      <p:sp>
        <p:nvSpPr>
          <p:cNvPr id="29" name="Rectangle 28"/>
          <p:cNvSpPr/>
          <p:nvPr/>
        </p:nvSpPr>
        <p:spPr>
          <a:xfrm>
            <a:off x="2651760" y="5029200"/>
            <a:ext cx="9052560" cy="502920"/>
          </a:xfrm>
          <a:prstGeom prst="rect">
            <a:avLst/>
          </a:prstGeom>
          <a:solidFill>
            <a:srgbClr val="F5EED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TextBox 29"/>
          <p:cNvSpPr txBox="1"/>
          <p:nvPr/>
        </p:nvSpPr>
        <p:spPr>
          <a:xfrm>
            <a:off x="2834640" y="5148072"/>
            <a:ext cx="877824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300" b="0">
                <a:solidFill>
                  <a:srgbClr val="1F2A44"/>
                </a:solidFill>
                <a:latin typeface="맑은 고딕"/>
              </a:rPr>
              <a:t>후주 세종 사망 — 통감의 끝점</a:t>
            </a:r>
          </a:p>
        </p:txBody>
      </p:sp>
      <p:sp>
        <p:nvSpPr>
          <p:cNvPr id="31" name="Rectangle 30"/>
          <p:cNvSpPr/>
          <p:nvPr/>
        </p:nvSpPr>
        <p:spPr>
          <a:xfrm>
            <a:off x="548640" y="5596128"/>
            <a:ext cx="2011680" cy="502920"/>
          </a:xfrm>
          <a:prstGeom prst="rect">
            <a:avLst/>
          </a:prstGeom>
          <a:solidFill>
            <a:srgbClr val="8B1A1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TextBox 31"/>
          <p:cNvSpPr txBox="1"/>
          <p:nvPr/>
        </p:nvSpPr>
        <p:spPr>
          <a:xfrm>
            <a:off x="548640" y="5715000"/>
            <a:ext cx="201168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/>
            <a:r>
              <a:rPr sz="1300" b="1">
                <a:solidFill>
                  <a:srgbClr val="FFFFFF"/>
                </a:solidFill>
                <a:latin typeface="맑은 고딕"/>
              </a:rPr>
              <a:t>960</a:t>
            </a:r>
          </a:p>
        </p:txBody>
      </p:sp>
      <p:sp>
        <p:nvSpPr>
          <p:cNvPr id="33" name="Rectangle 32"/>
          <p:cNvSpPr/>
          <p:nvPr/>
        </p:nvSpPr>
        <p:spPr>
          <a:xfrm>
            <a:off x="2651760" y="5596128"/>
            <a:ext cx="9052560" cy="502920"/>
          </a:xfrm>
          <a:prstGeom prst="rect">
            <a:avLst/>
          </a:prstGeom>
          <a:solidFill>
            <a:srgbClr val="F5EED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TextBox 33"/>
          <p:cNvSpPr txBox="1"/>
          <p:nvPr/>
        </p:nvSpPr>
        <p:spPr>
          <a:xfrm>
            <a:off x="2834640" y="5715000"/>
            <a:ext cx="877824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300" b="0">
                <a:solidFill>
                  <a:srgbClr val="1F2A44"/>
                </a:solidFill>
                <a:latin typeface="맑은 고딕"/>
              </a:rPr>
              <a:t>조광윤 — 송(宋) 건국 (통감 이후)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457200" y="6355080"/>
            <a:ext cx="1124712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/>
            <a:r>
              <a:rPr sz="1300" b="1">
                <a:solidFill>
                  <a:srgbClr val="8B1A1A"/>
                </a:solidFill>
                <a:latin typeface="맑은 고딕"/>
              </a:rPr>
              <a:t>통감의 마지막 사평 — "무인의 시대를 끝낼 문치(文治)의 출현을 기대"</a:t>
            </a:r>
          </a:p>
        </p:txBody>
      </p:sp>
    </p:spTree>
  </p:cSld>
  <p:clrMapOvr>
    <a:masterClrMapping/>
  </p:clrMapOvr>
</p:sld>
</file>

<file path=ppt/slides/slide3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91440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100" b="1">
                <a:solidFill>
                  <a:srgbClr val="556070"/>
                </a:solidFill>
                <a:latin typeface="맑은 고딕"/>
              </a:rPr>
              <a:t>Ⅵ. 사평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10972800" y="274320"/>
            <a:ext cx="118872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/>
            <a:r>
              <a:rPr sz="1000" b="0">
                <a:solidFill>
                  <a:srgbClr val="556070"/>
                </a:solidFill>
                <a:latin typeface="맑은 고딕"/>
              </a:rPr>
              <a:t>31 / 70</a:t>
            </a:r>
          </a:p>
        </p:txBody>
      </p:sp>
      <p:cxnSp>
        <p:nvCxnSpPr>
          <p:cNvPr id="4" name="Connector 3"/>
          <p:cNvCxnSpPr/>
          <p:nvPr/>
        </p:nvCxnSpPr>
        <p:spPr>
          <a:xfrm>
            <a:off x="457200" y="594360"/>
            <a:ext cx="11704320" cy="0"/>
          </a:xfrm>
          <a:prstGeom prst="line">
            <a:avLst/>
          </a:prstGeom>
          <a:ln w="25400">
            <a:solidFill>
              <a:srgbClr val="C8A25B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5" name="TextBox 4"/>
          <p:cNvSpPr txBox="1"/>
          <p:nvPr/>
        </p:nvSpPr>
        <p:spPr>
          <a:xfrm>
            <a:off x="457200" y="777240"/>
            <a:ext cx="11704320" cy="6400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3000" b="1">
                <a:solidFill>
                  <a:srgbClr val="1F2A44"/>
                </a:solidFill>
                <a:latin typeface="맑은 고딕"/>
              </a:rPr>
              <a:t>"신광왈(臣光曰)" — 사평이란 무엇인가</a:t>
            </a:r>
          </a:p>
        </p:txBody>
      </p:sp>
      <p:sp>
        <p:nvSpPr>
          <p:cNvPr id="6" name="Rectangle 5"/>
          <p:cNvSpPr/>
          <p:nvPr/>
        </p:nvSpPr>
        <p:spPr>
          <a:xfrm>
            <a:off x="457200" y="2103120"/>
            <a:ext cx="11247120" cy="1828800"/>
          </a:xfrm>
          <a:prstGeom prst="rect">
            <a:avLst/>
          </a:prstGeom>
          <a:solidFill>
            <a:srgbClr val="F5EED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731520" y="2286000"/>
            <a:ext cx="10698480" cy="155448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ctr">
              <a:lnSpc>
                <a:spcPct val="130000"/>
              </a:lnSpc>
            </a:pPr>
            <a:r>
              <a:rPr sz="1900" b="1">
                <a:solidFill>
                  <a:srgbClr val="8B1A1A"/>
                </a:solidFill>
                <a:latin typeface="맑은 고딕"/>
              </a:rPr>
              <a:t>사평(史評) = 사서(史書) 안의 사가(史家) 해석</a:t>
            </a:r>
          </a:p>
          <a:p>
            <a:pPr algn="l">
              <a:lnSpc>
                <a:spcPct val="130000"/>
              </a:lnSpc>
            </a:pPr>
            <a:r>
              <a:rPr sz="400" b="0">
                <a:solidFill>
                  <a:srgbClr val="1F2A44"/>
                </a:solidFill>
                <a:latin typeface="맑은 고딕"/>
              </a:rPr>
              <a:t/>
            </a:r>
          </a:p>
          <a:p>
            <a:pPr algn="ctr">
              <a:lnSpc>
                <a:spcPct val="130000"/>
              </a:lnSpc>
              <a:spcBef>
                <a:spcPts val="600"/>
              </a:spcBef>
            </a:pPr>
            <a:r>
              <a:rPr sz="1500" b="0">
                <a:solidFill>
                  <a:srgbClr val="1F2A44"/>
                </a:solidFill>
                <a:latin typeface="맑은 고딕"/>
              </a:rPr>
              <a:t>단순 사건 나열이 아닌 "왜 그러했는가"의 해명</a:t>
            </a:r>
          </a:p>
          <a:p>
            <a:pPr algn="ctr">
              <a:lnSpc>
                <a:spcPct val="130000"/>
              </a:lnSpc>
            </a:pPr>
            <a:r>
              <a:rPr sz="1400" b="0">
                <a:solidFill>
                  <a:srgbClr val="556070"/>
                </a:solidFill>
                <a:latin typeface="맑은 고딕"/>
              </a:rPr>
              <a:t>편자의 사관(史觀)·세계관·도덕적 판단의 결정체</a:t>
            </a:r>
          </a:p>
        </p:txBody>
      </p:sp>
      <p:sp>
        <p:nvSpPr>
          <p:cNvPr id="8" name="Rectangle 7"/>
          <p:cNvSpPr/>
          <p:nvPr/>
        </p:nvSpPr>
        <p:spPr>
          <a:xfrm>
            <a:off x="457200" y="4114800"/>
            <a:ext cx="11247120" cy="2286000"/>
          </a:xfrm>
          <a:prstGeom prst="rect">
            <a:avLst/>
          </a:prstGeom>
          <a:solidFill>
            <a:srgbClr val="FAFA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731520" y="4251960"/>
            <a:ext cx="10698480" cy="201168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ctr">
              <a:lnSpc>
                <a:spcPct val="130000"/>
              </a:lnSpc>
            </a:pPr>
            <a:r>
              <a:rPr sz="1800" b="1">
                <a:solidFill>
                  <a:srgbClr val="8B1A1A"/>
                </a:solidFill>
                <a:latin typeface="맑은 고딕"/>
              </a:rPr>
              <a:t>사평의 전통</a:t>
            </a:r>
          </a:p>
          <a:p>
            <a:pPr algn="l">
              <a:lnSpc>
                <a:spcPct val="130000"/>
              </a:lnSpc>
            </a:pPr>
            <a:r>
              <a:rPr sz="400" b="0">
                <a:solidFill>
                  <a:srgbClr val="1F2A44"/>
                </a:solidFill>
                <a:latin typeface="맑은 고딕"/>
              </a:rPr>
              <a:t/>
            </a:r>
          </a:p>
          <a:p>
            <a:pPr algn="l">
              <a:lnSpc>
                <a:spcPct val="130000"/>
              </a:lnSpc>
              <a:spcBef>
                <a:spcPts val="600"/>
              </a:spcBef>
            </a:pPr>
            <a:r>
              <a:rPr sz="1400" b="0">
                <a:solidFill>
                  <a:srgbClr val="1F2A44"/>
                </a:solidFill>
                <a:latin typeface="맑은 고딕"/>
              </a:rPr>
              <a:t>• 좌전 — "군자왈(君子曰)"</a:t>
            </a:r>
          </a:p>
          <a:p>
            <a:pPr algn="l">
              <a:lnSpc>
                <a:spcPct val="130000"/>
              </a:lnSpc>
              <a:spcBef>
                <a:spcPts val="400"/>
              </a:spcBef>
            </a:pPr>
            <a:r>
              <a:rPr sz="1400" b="0">
                <a:solidFill>
                  <a:srgbClr val="1F2A44"/>
                </a:solidFill>
                <a:latin typeface="맑은 고딕"/>
              </a:rPr>
              <a:t>• 사기 — "태사공왈(太史公曰)"</a:t>
            </a:r>
          </a:p>
          <a:p>
            <a:pPr algn="l">
              <a:lnSpc>
                <a:spcPct val="130000"/>
              </a:lnSpc>
              <a:spcBef>
                <a:spcPts val="400"/>
              </a:spcBef>
            </a:pPr>
            <a:r>
              <a:rPr sz="1400" b="0">
                <a:solidFill>
                  <a:srgbClr val="1F2A44"/>
                </a:solidFill>
                <a:latin typeface="맑은 고딕"/>
              </a:rPr>
              <a:t>• 한서 — "찬왈(贊曰)"</a:t>
            </a:r>
          </a:p>
          <a:p>
            <a:pPr algn="l">
              <a:lnSpc>
                <a:spcPct val="130000"/>
              </a:lnSpc>
              <a:spcBef>
                <a:spcPts val="400"/>
              </a:spcBef>
            </a:pPr>
            <a:r>
              <a:rPr sz="1400" b="1">
                <a:solidFill>
                  <a:srgbClr val="8B1A1A"/>
                </a:solidFill>
                <a:latin typeface="맑은 고딕"/>
              </a:rPr>
              <a:t>• 자치통감 — "신광왈(臣光曰)" · 219편</a:t>
            </a:r>
          </a:p>
        </p:txBody>
      </p:sp>
    </p:spTree>
  </p:cSld>
  <p:clrMapOvr>
    <a:masterClrMapping/>
  </p:clrMapOvr>
</p:sld>
</file>

<file path=ppt/slides/slide3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91440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100" b="1">
                <a:solidFill>
                  <a:srgbClr val="556070"/>
                </a:solidFill>
                <a:latin typeface="맑은 고딕"/>
              </a:rPr>
              <a:t>Ⅵ. 사평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10972800" y="274320"/>
            <a:ext cx="118872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/>
            <a:r>
              <a:rPr sz="1000" b="0">
                <a:solidFill>
                  <a:srgbClr val="556070"/>
                </a:solidFill>
                <a:latin typeface="맑은 고딕"/>
              </a:rPr>
              <a:t>32 / 70</a:t>
            </a:r>
          </a:p>
        </p:txBody>
      </p:sp>
      <p:cxnSp>
        <p:nvCxnSpPr>
          <p:cNvPr id="4" name="Connector 3"/>
          <p:cNvCxnSpPr/>
          <p:nvPr/>
        </p:nvCxnSpPr>
        <p:spPr>
          <a:xfrm>
            <a:off x="457200" y="594360"/>
            <a:ext cx="11704320" cy="0"/>
          </a:xfrm>
          <a:prstGeom prst="line">
            <a:avLst/>
          </a:prstGeom>
          <a:ln w="25400">
            <a:solidFill>
              <a:srgbClr val="C8A25B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5" name="TextBox 4"/>
          <p:cNvSpPr txBox="1"/>
          <p:nvPr/>
        </p:nvSpPr>
        <p:spPr>
          <a:xfrm>
            <a:off x="457200" y="777240"/>
            <a:ext cx="11704320" cy="6400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3000" b="1">
                <a:solidFill>
                  <a:srgbClr val="1F2A44"/>
                </a:solidFill>
                <a:latin typeface="맑은 고딕"/>
              </a:rPr>
              <a:t>신광왈의 5대 주제</a:t>
            </a:r>
          </a:p>
        </p:txBody>
      </p:sp>
      <p:sp>
        <p:nvSpPr>
          <p:cNvPr id="6" name="Rectangle 5"/>
          <p:cNvSpPr/>
          <p:nvPr/>
        </p:nvSpPr>
        <p:spPr>
          <a:xfrm>
            <a:off x="548640" y="2103120"/>
            <a:ext cx="2286000" cy="777240"/>
          </a:xfrm>
          <a:prstGeom prst="rect">
            <a:avLst/>
          </a:prstGeom>
          <a:solidFill>
            <a:srgbClr val="8B1A1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548640" y="2304288"/>
            <a:ext cx="228600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/>
            <a:r>
              <a:rPr sz="1500" b="1">
                <a:solidFill>
                  <a:srgbClr val="FFFFFF"/>
                </a:solidFill>
                <a:latin typeface="맑은 고딕"/>
              </a:rPr>
              <a:t>정명(正名)</a:t>
            </a:r>
          </a:p>
        </p:txBody>
      </p:sp>
      <p:sp>
        <p:nvSpPr>
          <p:cNvPr id="8" name="Rectangle 7"/>
          <p:cNvSpPr/>
          <p:nvPr/>
        </p:nvSpPr>
        <p:spPr>
          <a:xfrm>
            <a:off x="2926080" y="2103120"/>
            <a:ext cx="4114800" cy="777240"/>
          </a:xfrm>
          <a:prstGeom prst="rect">
            <a:avLst/>
          </a:prstGeom>
          <a:solidFill>
            <a:srgbClr val="F5EED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3063240" y="2304288"/>
            <a:ext cx="393192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300" b="1">
                <a:solidFill>
                  <a:srgbClr val="8B1A1A"/>
                </a:solidFill>
                <a:latin typeface="맑은 고딕"/>
              </a:rPr>
              <a:t>명분과 분(分)의 질서</a:t>
            </a:r>
          </a:p>
        </p:txBody>
      </p:sp>
      <p:sp>
        <p:nvSpPr>
          <p:cNvPr id="10" name="Rectangle 9"/>
          <p:cNvSpPr/>
          <p:nvPr/>
        </p:nvSpPr>
        <p:spPr>
          <a:xfrm>
            <a:off x="7132320" y="2103120"/>
            <a:ext cx="4572000" cy="777240"/>
          </a:xfrm>
          <a:prstGeom prst="rect">
            <a:avLst/>
          </a:prstGeom>
          <a:solidFill>
            <a:srgbClr val="FAFA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7269480" y="2304288"/>
            <a:ext cx="438912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/>
            <a:r>
              <a:rPr sz="1200" b="0">
                <a:solidFill>
                  <a:srgbClr val="1F2A44"/>
                </a:solidFill>
                <a:latin typeface="맑은 고딕"/>
              </a:rPr>
              <a:t>"신하가 제후가 되면 천하가 무너진다"</a:t>
            </a:r>
          </a:p>
        </p:txBody>
      </p:sp>
      <p:sp>
        <p:nvSpPr>
          <p:cNvPr id="12" name="Rectangle 11"/>
          <p:cNvSpPr/>
          <p:nvPr/>
        </p:nvSpPr>
        <p:spPr>
          <a:xfrm>
            <a:off x="548640" y="2990087"/>
            <a:ext cx="2286000" cy="777240"/>
          </a:xfrm>
          <a:prstGeom prst="rect">
            <a:avLst/>
          </a:prstGeom>
          <a:solidFill>
            <a:srgbClr val="8B1A1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548640" y="3191256"/>
            <a:ext cx="228600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/>
            <a:r>
              <a:rPr sz="1500" b="1">
                <a:solidFill>
                  <a:srgbClr val="FFFFFF"/>
                </a:solidFill>
                <a:latin typeface="맑은 고딕"/>
              </a:rPr>
              <a:t>재(才)와 덕(德)</a:t>
            </a:r>
          </a:p>
        </p:txBody>
      </p:sp>
      <p:sp>
        <p:nvSpPr>
          <p:cNvPr id="14" name="Rectangle 13"/>
          <p:cNvSpPr/>
          <p:nvPr/>
        </p:nvSpPr>
        <p:spPr>
          <a:xfrm>
            <a:off x="2926080" y="2990087"/>
            <a:ext cx="4114800" cy="777240"/>
          </a:xfrm>
          <a:prstGeom prst="rect">
            <a:avLst/>
          </a:prstGeom>
          <a:solidFill>
            <a:srgbClr val="F5EED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3063240" y="3191256"/>
            <a:ext cx="393192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300" b="1">
                <a:solidFill>
                  <a:srgbClr val="8B1A1A"/>
                </a:solidFill>
                <a:latin typeface="맑은 고딕"/>
              </a:rPr>
              <a:t>인재의 두 기준 — 덕이 재를 이끌어야</a:t>
            </a:r>
          </a:p>
        </p:txBody>
      </p:sp>
      <p:sp>
        <p:nvSpPr>
          <p:cNvPr id="16" name="Rectangle 15"/>
          <p:cNvSpPr/>
          <p:nvPr/>
        </p:nvSpPr>
        <p:spPr>
          <a:xfrm>
            <a:off x="7132320" y="2990087"/>
            <a:ext cx="4572000" cy="777240"/>
          </a:xfrm>
          <a:prstGeom prst="rect">
            <a:avLst/>
          </a:prstGeom>
          <a:solidFill>
            <a:srgbClr val="FAFA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7269480" y="3191256"/>
            <a:ext cx="438912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/>
            <a:r>
              <a:rPr sz="1200" b="0">
                <a:solidFill>
                  <a:srgbClr val="1F2A44"/>
                </a:solidFill>
                <a:latin typeface="맑은 고딕"/>
              </a:rPr>
              <a:t>"덕이 재의 주인이고, 재는 덕의 보조"</a:t>
            </a:r>
          </a:p>
        </p:txBody>
      </p:sp>
      <p:sp>
        <p:nvSpPr>
          <p:cNvPr id="18" name="Rectangle 17"/>
          <p:cNvSpPr/>
          <p:nvPr/>
        </p:nvSpPr>
        <p:spPr>
          <a:xfrm>
            <a:off x="548640" y="3877055"/>
            <a:ext cx="2286000" cy="777240"/>
          </a:xfrm>
          <a:prstGeom prst="rect">
            <a:avLst/>
          </a:prstGeom>
          <a:solidFill>
            <a:srgbClr val="8B1A1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548640" y="4078223"/>
            <a:ext cx="228600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/>
            <a:r>
              <a:rPr sz="1500" b="1">
                <a:solidFill>
                  <a:srgbClr val="FFFFFF"/>
                </a:solidFill>
                <a:latin typeface="맑은 고딕"/>
              </a:rPr>
              <a:t>간언 수용</a:t>
            </a:r>
          </a:p>
        </p:txBody>
      </p:sp>
      <p:sp>
        <p:nvSpPr>
          <p:cNvPr id="20" name="Rectangle 19"/>
          <p:cNvSpPr/>
          <p:nvPr/>
        </p:nvSpPr>
        <p:spPr>
          <a:xfrm>
            <a:off x="2926080" y="3877055"/>
            <a:ext cx="4114800" cy="777240"/>
          </a:xfrm>
          <a:prstGeom prst="rect">
            <a:avLst/>
          </a:prstGeom>
          <a:solidFill>
            <a:srgbClr val="F5EED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3063240" y="4078223"/>
            <a:ext cx="393192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300" b="1">
                <a:solidFill>
                  <a:srgbClr val="8B1A1A"/>
                </a:solidFill>
                <a:latin typeface="맑은 고딕"/>
              </a:rPr>
              <a:t>직간하는 신하를 보호</a:t>
            </a:r>
          </a:p>
        </p:txBody>
      </p:sp>
      <p:sp>
        <p:nvSpPr>
          <p:cNvPr id="22" name="Rectangle 21"/>
          <p:cNvSpPr/>
          <p:nvPr/>
        </p:nvSpPr>
        <p:spPr>
          <a:xfrm>
            <a:off x="7132320" y="3877055"/>
            <a:ext cx="4572000" cy="777240"/>
          </a:xfrm>
          <a:prstGeom prst="rect">
            <a:avLst/>
          </a:prstGeom>
          <a:solidFill>
            <a:srgbClr val="FAFA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7269480" y="4078223"/>
            <a:ext cx="438912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/>
            <a:r>
              <a:rPr sz="1200" b="0">
                <a:solidFill>
                  <a:srgbClr val="1F2A44"/>
                </a:solidFill>
                <a:latin typeface="맑은 고딕"/>
              </a:rPr>
              <a:t>"군주가 비판을 외면하면 망한다"</a:t>
            </a:r>
          </a:p>
        </p:txBody>
      </p:sp>
      <p:sp>
        <p:nvSpPr>
          <p:cNvPr id="24" name="Rectangle 23"/>
          <p:cNvSpPr/>
          <p:nvPr/>
        </p:nvSpPr>
        <p:spPr>
          <a:xfrm>
            <a:off x="548640" y="4764023"/>
            <a:ext cx="2286000" cy="777240"/>
          </a:xfrm>
          <a:prstGeom prst="rect">
            <a:avLst/>
          </a:prstGeom>
          <a:solidFill>
            <a:srgbClr val="8B1A1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548640" y="4965191"/>
            <a:ext cx="228600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/>
            <a:r>
              <a:rPr sz="1500" b="1">
                <a:solidFill>
                  <a:srgbClr val="FFFFFF"/>
                </a:solidFill>
                <a:latin typeface="맑은 고딕"/>
              </a:rPr>
              <a:t>검약·신중</a:t>
            </a:r>
          </a:p>
        </p:txBody>
      </p:sp>
      <p:sp>
        <p:nvSpPr>
          <p:cNvPr id="26" name="Rectangle 25"/>
          <p:cNvSpPr/>
          <p:nvPr/>
        </p:nvSpPr>
        <p:spPr>
          <a:xfrm>
            <a:off x="2926080" y="4764023"/>
            <a:ext cx="4114800" cy="777240"/>
          </a:xfrm>
          <a:prstGeom prst="rect">
            <a:avLst/>
          </a:prstGeom>
          <a:solidFill>
            <a:srgbClr val="F5EED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3063240" y="4965191"/>
            <a:ext cx="393192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300" b="1">
                <a:solidFill>
                  <a:srgbClr val="8B1A1A"/>
                </a:solidFill>
                <a:latin typeface="맑은 고딕"/>
              </a:rPr>
              <a:t>군주의 자기 절제</a:t>
            </a:r>
          </a:p>
        </p:txBody>
      </p:sp>
      <p:sp>
        <p:nvSpPr>
          <p:cNvPr id="28" name="Rectangle 27"/>
          <p:cNvSpPr/>
          <p:nvPr/>
        </p:nvSpPr>
        <p:spPr>
          <a:xfrm>
            <a:off x="7132320" y="4764023"/>
            <a:ext cx="4572000" cy="777240"/>
          </a:xfrm>
          <a:prstGeom prst="rect">
            <a:avLst/>
          </a:prstGeom>
          <a:solidFill>
            <a:srgbClr val="FAFA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TextBox 28"/>
          <p:cNvSpPr txBox="1"/>
          <p:nvPr/>
        </p:nvSpPr>
        <p:spPr>
          <a:xfrm>
            <a:off x="7269480" y="4965191"/>
            <a:ext cx="438912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/>
            <a:r>
              <a:rPr sz="1200" b="0">
                <a:solidFill>
                  <a:srgbClr val="1F2A44"/>
                </a:solidFill>
                <a:latin typeface="맑은 고딕"/>
              </a:rPr>
              <a:t>"수 양제가 사치로 망했다"</a:t>
            </a:r>
          </a:p>
        </p:txBody>
      </p:sp>
      <p:sp>
        <p:nvSpPr>
          <p:cNvPr id="30" name="Rectangle 29"/>
          <p:cNvSpPr/>
          <p:nvPr/>
        </p:nvSpPr>
        <p:spPr>
          <a:xfrm>
            <a:off x="548640" y="5650991"/>
            <a:ext cx="2286000" cy="777240"/>
          </a:xfrm>
          <a:prstGeom prst="rect">
            <a:avLst/>
          </a:prstGeom>
          <a:solidFill>
            <a:srgbClr val="8B1A1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TextBox 30"/>
          <p:cNvSpPr txBox="1"/>
          <p:nvPr/>
        </p:nvSpPr>
        <p:spPr>
          <a:xfrm>
            <a:off x="548640" y="5852159"/>
            <a:ext cx="228600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/>
            <a:r>
              <a:rPr sz="1500" b="1">
                <a:solidFill>
                  <a:srgbClr val="FFFFFF"/>
                </a:solidFill>
                <a:latin typeface="맑은 고딕"/>
              </a:rPr>
              <a:t>점진(漸進)</a:t>
            </a:r>
          </a:p>
        </p:txBody>
      </p:sp>
      <p:sp>
        <p:nvSpPr>
          <p:cNvPr id="32" name="Rectangle 31"/>
          <p:cNvSpPr/>
          <p:nvPr/>
        </p:nvSpPr>
        <p:spPr>
          <a:xfrm>
            <a:off x="2926080" y="5650991"/>
            <a:ext cx="4114800" cy="777240"/>
          </a:xfrm>
          <a:prstGeom prst="rect">
            <a:avLst/>
          </a:prstGeom>
          <a:solidFill>
            <a:srgbClr val="F5EED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TextBox 32"/>
          <p:cNvSpPr txBox="1"/>
          <p:nvPr/>
        </p:nvSpPr>
        <p:spPr>
          <a:xfrm>
            <a:off x="3063240" y="5852159"/>
            <a:ext cx="393192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300" b="1">
                <a:solidFill>
                  <a:srgbClr val="8B1A1A"/>
                </a:solidFill>
                <a:latin typeface="맑은 고딕"/>
              </a:rPr>
              <a:t>급진적 변화의 위험</a:t>
            </a:r>
          </a:p>
        </p:txBody>
      </p:sp>
      <p:sp>
        <p:nvSpPr>
          <p:cNvPr id="34" name="Rectangle 33"/>
          <p:cNvSpPr/>
          <p:nvPr/>
        </p:nvSpPr>
        <p:spPr>
          <a:xfrm>
            <a:off x="7132320" y="5650991"/>
            <a:ext cx="4572000" cy="777240"/>
          </a:xfrm>
          <a:prstGeom prst="rect">
            <a:avLst/>
          </a:prstGeom>
          <a:solidFill>
            <a:srgbClr val="FAFA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TextBox 34"/>
          <p:cNvSpPr txBox="1"/>
          <p:nvPr/>
        </p:nvSpPr>
        <p:spPr>
          <a:xfrm>
            <a:off x="7269480" y="5852159"/>
            <a:ext cx="438912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/>
            <a:r>
              <a:rPr sz="1200" b="0">
                <a:solidFill>
                  <a:srgbClr val="1F2A44"/>
                </a:solidFill>
                <a:latin typeface="맑은 고딕"/>
              </a:rPr>
              <a:t>"천하는 점차 변하는 것이지 급변하지 않는다"</a:t>
            </a:r>
          </a:p>
        </p:txBody>
      </p:sp>
    </p:spTree>
  </p:cSld>
  <p:clrMapOvr>
    <a:masterClrMapping/>
  </p:clrMapOvr>
</p:sld>
</file>

<file path=ppt/slides/slide3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91440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100" b="1">
                <a:solidFill>
                  <a:srgbClr val="556070"/>
                </a:solidFill>
                <a:latin typeface="맑은 고딕"/>
              </a:rPr>
              <a:t>Ⅵ. 사평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10972800" y="274320"/>
            <a:ext cx="118872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/>
            <a:r>
              <a:rPr sz="1000" b="0">
                <a:solidFill>
                  <a:srgbClr val="556070"/>
                </a:solidFill>
                <a:latin typeface="맑은 고딕"/>
              </a:rPr>
              <a:t>33 / 70</a:t>
            </a:r>
          </a:p>
        </p:txBody>
      </p:sp>
      <p:cxnSp>
        <p:nvCxnSpPr>
          <p:cNvPr id="4" name="Connector 3"/>
          <p:cNvCxnSpPr/>
          <p:nvPr/>
        </p:nvCxnSpPr>
        <p:spPr>
          <a:xfrm>
            <a:off x="457200" y="594360"/>
            <a:ext cx="11704320" cy="0"/>
          </a:xfrm>
          <a:prstGeom prst="line">
            <a:avLst/>
          </a:prstGeom>
          <a:ln w="25400">
            <a:solidFill>
              <a:srgbClr val="C8A25B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5" name="TextBox 4"/>
          <p:cNvSpPr txBox="1"/>
          <p:nvPr/>
        </p:nvSpPr>
        <p:spPr>
          <a:xfrm>
            <a:off x="457200" y="777240"/>
            <a:ext cx="11704320" cy="6400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3000" b="1">
                <a:solidFill>
                  <a:srgbClr val="1F2A44"/>
                </a:solidFill>
                <a:latin typeface="맑은 고딕"/>
              </a:rPr>
              <a:t>대표 사평 ① — 첫 사평: "예(禮)·분(分)·명(名)"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57200" y="1417320"/>
            <a:ext cx="1170432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400" b="0">
                <a:solidFill>
                  <a:srgbClr val="556070"/>
                </a:solidFill>
                <a:latin typeface="맑은 고딕"/>
              </a:rPr>
              <a:t>"BC 403 삼가분진에 대한 사마광의 첫 평론 — 통감 전체의 사상적 출발점"</a:t>
            </a:r>
          </a:p>
        </p:txBody>
      </p:sp>
      <p:sp>
        <p:nvSpPr>
          <p:cNvPr id="7" name="Rectangle 6"/>
          <p:cNvSpPr/>
          <p:nvPr/>
        </p:nvSpPr>
        <p:spPr>
          <a:xfrm>
            <a:off x="457200" y="2103120"/>
            <a:ext cx="11247120" cy="2468880"/>
          </a:xfrm>
          <a:prstGeom prst="rect">
            <a:avLst/>
          </a:prstGeom>
          <a:solidFill>
            <a:srgbClr val="F5EED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731520" y="2286000"/>
            <a:ext cx="10698480" cy="21945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ctr">
              <a:lnSpc>
                <a:spcPct val="125000"/>
              </a:lnSpc>
            </a:pPr>
            <a:r>
              <a:rPr sz="1700" b="1">
                <a:solidFill>
                  <a:srgbClr val="8B1A1A"/>
                </a:solidFill>
                <a:latin typeface="맑은 고딕"/>
              </a:rPr>
              <a:t>"臣光曰: 天子之職 莫大於禮</a:t>
            </a:r>
          </a:p>
          <a:p>
            <a:pPr algn="ctr">
              <a:lnSpc>
                <a:spcPct val="125000"/>
              </a:lnSpc>
            </a:pPr>
            <a:r>
              <a:rPr sz="1700" b="1">
                <a:solidFill>
                  <a:srgbClr val="8B1A1A"/>
                </a:solidFill>
                <a:latin typeface="맑은 고딕"/>
              </a:rPr>
              <a:t> 禮莫大於分 分莫大於名"</a:t>
            </a:r>
          </a:p>
          <a:p>
            <a:pPr algn="l">
              <a:lnSpc>
                <a:spcPct val="125000"/>
              </a:lnSpc>
            </a:pPr>
            <a:r>
              <a:rPr sz="400" b="0">
                <a:solidFill>
                  <a:srgbClr val="1F2A44"/>
                </a:solidFill>
                <a:latin typeface="맑은 고딕"/>
              </a:rPr>
              <a:t/>
            </a:r>
          </a:p>
          <a:p>
            <a:pPr algn="ctr">
              <a:lnSpc>
                <a:spcPct val="125000"/>
              </a:lnSpc>
              <a:spcBef>
                <a:spcPts val="600"/>
              </a:spcBef>
            </a:pPr>
            <a:r>
              <a:rPr sz="1400" b="0">
                <a:solidFill>
                  <a:srgbClr val="1F2A44"/>
                </a:solidFill>
                <a:latin typeface="맑은 고딕"/>
              </a:rPr>
              <a:t>"신광이 말하기를: 천자의 직무 중 예(禮)보다 큰 것이 없고</a:t>
            </a:r>
          </a:p>
          <a:p>
            <a:pPr algn="ctr">
              <a:lnSpc>
                <a:spcPct val="125000"/>
              </a:lnSpc>
            </a:pPr>
            <a:r>
              <a:rPr sz="1400" b="0">
                <a:solidFill>
                  <a:srgbClr val="1F2A44"/>
                </a:solidFill>
                <a:latin typeface="맑은 고딕"/>
              </a:rPr>
              <a:t> 예에서는 분(分, 분별)보다 큰 것이 없으며</a:t>
            </a:r>
          </a:p>
          <a:p>
            <a:pPr algn="ctr">
              <a:lnSpc>
                <a:spcPct val="125000"/>
              </a:lnSpc>
            </a:pPr>
            <a:r>
              <a:rPr sz="1400" b="1">
                <a:solidFill>
                  <a:srgbClr val="1F2A44"/>
                </a:solidFill>
                <a:latin typeface="맑은 고딕"/>
              </a:rPr>
              <a:t> 분에서는 명(名, 명분)보다 큰 것이 없다"</a:t>
            </a:r>
          </a:p>
        </p:txBody>
      </p:sp>
      <p:sp>
        <p:nvSpPr>
          <p:cNvPr id="9" name="Rectangle 8"/>
          <p:cNvSpPr/>
          <p:nvPr/>
        </p:nvSpPr>
        <p:spPr>
          <a:xfrm>
            <a:off x="457200" y="4754880"/>
            <a:ext cx="11247120" cy="1737360"/>
          </a:xfrm>
          <a:prstGeom prst="rect">
            <a:avLst/>
          </a:prstGeom>
          <a:solidFill>
            <a:srgbClr val="FAE5E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731520" y="4892040"/>
            <a:ext cx="10698480" cy="155448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ctr">
              <a:lnSpc>
                <a:spcPct val="130000"/>
              </a:lnSpc>
            </a:pPr>
            <a:r>
              <a:rPr sz="1600" b="1">
                <a:solidFill>
                  <a:srgbClr val="8B1A1A"/>
                </a:solidFill>
                <a:latin typeface="맑은 고딕"/>
              </a:rPr>
              <a:t>해석</a:t>
            </a:r>
          </a:p>
          <a:p>
            <a:pPr algn="ctr">
              <a:lnSpc>
                <a:spcPct val="130000"/>
              </a:lnSpc>
              <a:spcBef>
                <a:spcPts val="400"/>
              </a:spcBef>
            </a:pPr>
            <a:r>
              <a:rPr sz="1400" b="0">
                <a:solidFill>
                  <a:srgbClr val="1F2A44"/>
                </a:solidFill>
                <a:latin typeface="맑은 고딕"/>
              </a:rPr>
              <a:t>"군신의 분(分)이 무너지면 — 예가 무너지고 — 천하가 무너진다"</a:t>
            </a:r>
          </a:p>
          <a:p>
            <a:pPr algn="ctr">
              <a:lnSpc>
                <a:spcPct val="130000"/>
              </a:lnSpc>
              <a:spcBef>
                <a:spcPts val="400"/>
              </a:spcBef>
            </a:pPr>
            <a:r>
              <a:rPr sz="1300" b="1">
                <a:solidFill>
                  <a:srgbClr val="1F2A44"/>
                </a:solidFill>
                <a:latin typeface="맑은 고딕"/>
              </a:rPr>
              <a:t>주왕이 신하(한·위·조)를 제후로 책봉한 것이 1,500년 분열의 시작</a:t>
            </a:r>
          </a:p>
        </p:txBody>
      </p:sp>
    </p:spTree>
  </p:cSld>
  <p:clrMapOvr>
    <a:masterClrMapping/>
  </p:clrMapOvr>
</p:sld>
</file>

<file path=ppt/slides/slide3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91440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100" b="1">
                <a:solidFill>
                  <a:srgbClr val="556070"/>
                </a:solidFill>
                <a:latin typeface="맑은 고딕"/>
              </a:rPr>
              <a:t>Ⅵ. 사평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10972800" y="274320"/>
            <a:ext cx="118872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/>
            <a:r>
              <a:rPr sz="1000" b="0">
                <a:solidFill>
                  <a:srgbClr val="556070"/>
                </a:solidFill>
                <a:latin typeface="맑은 고딕"/>
              </a:rPr>
              <a:t>34 / 70</a:t>
            </a:r>
          </a:p>
        </p:txBody>
      </p:sp>
      <p:cxnSp>
        <p:nvCxnSpPr>
          <p:cNvPr id="4" name="Connector 3"/>
          <p:cNvCxnSpPr/>
          <p:nvPr/>
        </p:nvCxnSpPr>
        <p:spPr>
          <a:xfrm>
            <a:off x="457200" y="594360"/>
            <a:ext cx="11704320" cy="0"/>
          </a:xfrm>
          <a:prstGeom prst="line">
            <a:avLst/>
          </a:prstGeom>
          <a:ln w="25400">
            <a:solidFill>
              <a:srgbClr val="C8A25B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5" name="TextBox 4"/>
          <p:cNvSpPr txBox="1"/>
          <p:nvPr/>
        </p:nvSpPr>
        <p:spPr>
          <a:xfrm>
            <a:off x="457200" y="777240"/>
            <a:ext cx="11704320" cy="6400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3000" b="1">
                <a:solidFill>
                  <a:srgbClr val="1F2A44"/>
                </a:solidFill>
                <a:latin typeface="맑은 고딕"/>
              </a:rPr>
              <a:t>대표 사평 ② — "재(才)와 덕(德)"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57200" y="1417320"/>
            <a:ext cx="1170432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400" b="0">
                <a:solidFill>
                  <a:srgbClr val="556070"/>
                </a:solidFill>
                <a:latin typeface="맑은 고딕"/>
              </a:rPr>
              <a:t>"인재 평가의 두 축 — 진(晉)의 지백(智伯)에 대한 사평"</a:t>
            </a:r>
          </a:p>
        </p:txBody>
      </p:sp>
      <p:sp>
        <p:nvSpPr>
          <p:cNvPr id="7" name="Rectangle 6"/>
          <p:cNvSpPr/>
          <p:nvPr/>
        </p:nvSpPr>
        <p:spPr>
          <a:xfrm>
            <a:off x="457200" y="2103120"/>
            <a:ext cx="11247120" cy="2468880"/>
          </a:xfrm>
          <a:prstGeom prst="rect">
            <a:avLst/>
          </a:prstGeom>
          <a:solidFill>
            <a:srgbClr val="F5EED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731520" y="2286000"/>
            <a:ext cx="10698480" cy="21945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ctr">
              <a:lnSpc>
                <a:spcPct val="125000"/>
              </a:lnSpc>
            </a:pPr>
            <a:r>
              <a:rPr sz="2200" b="1">
                <a:solidFill>
                  <a:srgbClr val="8B1A1A"/>
                </a:solidFill>
                <a:latin typeface="맑은 고딕"/>
              </a:rPr>
              <a:t>"才者 德之資也   德者 才之帥也"</a:t>
            </a:r>
          </a:p>
          <a:p>
            <a:pPr algn="ctr">
              <a:lnSpc>
                <a:spcPct val="125000"/>
              </a:lnSpc>
              <a:spcBef>
                <a:spcPts val="400"/>
              </a:spcBef>
            </a:pPr>
            <a:r>
              <a:rPr sz="1400" b="0">
                <a:solidFill>
                  <a:srgbClr val="556070"/>
                </a:solidFill>
                <a:latin typeface="맑은 고딕"/>
              </a:rPr>
              <a:t>재자 덕지자야 · 덕자 재지수야</a:t>
            </a:r>
          </a:p>
          <a:p>
            <a:pPr algn="l">
              <a:lnSpc>
                <a:spcPct val="125000"/>
              </a:lnSpc>
            </a:pPr>
            <a:r>
              <a:rPr sz="400" b="0">
                <a:solidFill>
                  <a:srgbClr val="1F2A44"/>
                </a:solidFill>
                <a:latin typeface="맑은 고딕"/>
              </a:rPr>
              <a:t/>
            </a:r>
          </a:p>
          <a:p>
            <a:pPr algn="ctr">
              <a:lnSpc>
                <a:spcPct val="125000"/>
              </a:lnSpc>
              <a:spcBef>
                <a:spcPts val="600"/>
              </a:spcBef>
            </a:pPr>
            <a:r>
              <a:rPr sz="1600" b="1">
                <a:solidFill>
                  <a:srgbClr val="1F2A44"/>
                </a:solidFill>
                <a:latin typeface="맑은 고딕"/>
              </a:rPr>
              <a:t>"재(才)는 덕(德)의 보조요, 덕은 재의 장수(將帥)다"</a:t>
            </a:r>
          </a:p>
        </p:txBody>
      </p:sp>
      <p:sp>
        <p:nvSpPr>
          <p:cNvPr id="9" name="Rectangle 8"/>
          <p:cNvSpPr/>
          <p:nvPr/>
        </p:nvSpPr>
        <p:spPr>
          <a:xfrm>
            <a:off x="457200" y="4754880"/>
            <a:ext cx="11247120" cy="1737360"/>
          </a:xfrm>
          <a:prstGeom prst="rect">
            <a:avLst/>
          </a:prstGeom>
          <a:solidFill>
            <a:srgbClr val="FAE5E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731520" y="4892040"/>
            <a:ext cx="10698480" cy="155448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ctr">
              <a:lnSpc>
                <a:spcPct val="130000"/>
              </a:lnSpc>
            </a:pPr>
            <a:r>
              <a:rPr sz="1600" b="1">
                <a:solidFill>
                  <a:srgbClr val="8B1A1A"/>
                </a:solidFill>
                <a:latin typeface="맑은 고딕"/>
              </a:rPr>
              <a:t>4종류의 인간</a:t>
            </a:r>
          </a:p>
          <a:p>
            <a:pPr algn="ctr">
              <a:lnSpc>
                <a:spcPct val="130000"/>
              </a:lnSpc>
              <a:spcBef>
                <a:spcPts val="400"/>
              </a:spcBef>
            </a:pPr>
            <a:r>
              <a:rPr sz="1400" b="0">
                <a:solidFill>
                  <a:srgbClr val="1F2A44"/>
                </a:solidFill>
                <a:latin typeface="맑은 고딕"/>
              </a:rPr>
              <a:t>성인(德才兼全) → 군자(德勝才) → 우인(才德皆無) → 소인(才勝德)</a:t>
            </a:r>
          </a:p>
          <a:p>
            <a:pPr algn="ctr">
              <a:lnSpc>
                <a:spcPct val="130000"/>
              </a:lnSpc>
              <a:spcBef>
                <a:spcPts val="400"/>
              </a:spcBef>
            </a:pPr>
            <a:r>
              <a:rPr sz="1300" b="1">
                <a:solidFill>
                  <a:srgbClr val="1F2A44"/>
                </a:solidFill>
                <a:latin typeface="맑은 고딕"/>
              </a:rPr>
              <a:t>"소인 — 재능이 덕을 능가 — 가장 위험" (지백의 멸문 사례)</a:t>
            </a:r>
          </a:p>
        </p:txBody>
      </p:sp>
    </p:spTree>
  </p:cSld>
  <p:clrMapOvr>
    <a:masterClrMapping/>
  </p:clrMapOvr>
</p:sld>
</file>

<file path=ppt/slides/slide3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91440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100" b="1">
                <a:solidFill>
                  <a:srgbClr val="556070"/>
                </a:solidFill>
                <a:latin typeface="맑은 고딕"/>
              </a:rPr>
              <a:t>Ⅵ. 사평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10972800" y="274320"/>
            <a:ext cx="118872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/>
            <a:r>
              <a:rPr sz="1000" b="0">
                <a:solidFill>
                  <a:srgbClr val="556070"/>
                </a:solidFill>
                <a:latin typeface="맑은 고딕"/>
              </a:rPr>
              <a:t>35 / 70</a:t>
            </a:r>
          </a:p>
        </p:txBody>
      </p:sp>
      <p:cxnSp>
        <p:nvCxnSpPr>
          <p:cNvPr id="4" name="Connector 3"/>
          <p:cNvCxnSpPr/>
          <p:nvPr/>
        </p:nvCxnSpPr>
        <p:spPr>
          <a:xfrm>
            <a:off x="457200" y="594360"/>
            <a:ext cx="11704320" cy="0"/>
          </a:xfrm>
          <a:prstGeom prst="line">
            <a:avLst/>
          </a:prstGeom>
          <a:ln w="25400">
            <a:solidFill>
              <a:srgbClr val="C8A25B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5" name="TextBox 4"/>
          <p:cNvSpPr txBox="1"/>
          <p:nvPr/>
        </p:nvSpPr>
        <p:spPr>
          <a:xfrm>
            <a:off x="457200" y="777240"/>
            <a:ext cx="11704320" cy="6400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3000" b="1">
                <a:solidFill>
                  <a:srgbClr val="1F2A44"/>
                </a:solidFill>
                <a:latin typeface="맑은 고딕"/>
              </a:rPr>
              <a:t>대표 사평 ③ — "당 태종과 위징"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57200" y="1417320"/>
            <a:ext cx="1170432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400" b="0">
                <a:solidFill>
                  <a:srgbClr val="556070"/>
                </a:solidFill>
                <a:latin typeface="맑은 고딕"/>
              </a:rPr>
              <a:t>"통감이 칭찬한 군신 관계의 모범"</a:t>
            </a:r>
          </a:p>
        </p:txBody>
      </p:sp>
      <p:sp>
        <p:nvSpPr>
          <p:cNvPr id="7" name="Rectangle 6"/>
          <p:cNvSpPr/>
          <p:nvPr/>
        </p:nvSpPr>
        <p:spPr>
          <a:xfrm>
            <a:off x="457200" y="2103120"/>
            <a:ext cx="11247120" cy="2468880"/>
          </a:xfrm>
          <a:prstGeom prst="rect">
            <a:avLst/>
          </a:prstGeom>
          <a:solidFill>
            <a:srgbClr val="F5EED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731520" y="2286000"/>
            <a:ext cx="10698480" cy="21945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ctr">
              <a:lnSpc>
                <a:spcPct val="125000"/>
              </a:lnSpc>
            </a:pPr>
            <a:r>
              <a:rPr sz="1700" b="1">
                <a:solidFill>
                  <a:srgbClr val="8B1A1A"/>
                </a:solidFill>
                <a:latin typeface="맑은 고딕"/>
              </a:rPr>
              <a:t>"臣光曰: 古來人臣以諫見尊者多矣</a:t>
            </a:r>
          </a:p>
          <a:p>
            <a:pPr algn="ctr">
              <a:lnSpc>
                <a:spcPct val="125000"/>
              </a:lnSpc>
            </a:pPr>
            <a:r>
              <a:rPr sz="1700" b="1">
                <a:solidFill>
                  <a:srgbClr val="8B1A1A"/>
                </a:solidFill>
                <a:latin typeface="맑은 고딕"/>
              </a:rPr>
              <a:t> 未有如魏徵之得君也"</a:t>
            </a:r>
          </a:p>
          <a:p>
            <a:pPr algn="l">
              <a:lnSpc>
                <a:spcPct val="125000"/>
              </a:lnSpc>
            </a:pPr>
            <a:r>
              <a:rPr sz="400" b="0">
                <a:solidFill>
                  <a:srgbClr val="1F2A44"/>
                </a:solidFill>
                <a:latin typeface="맑은 고딕"/>
              </a:rPr>
              <a:t/>
            </a:r>
          </a:p>
          <a:p>
            <a:pPr algn="ctr">
              <a:lnSpc>
                <a:spcPct val="125000"/>
              </a:lnSpc>
              <a:spcBef>
                <a:spcPts val="600"/>
              </a:spcBef>
            </a:pPr>
            <a:r>
              <a:rPr sz="1400" b="0">
                <a:solidFill>
                  <a:srgbClr val="1F2A44"/>
                </a:solidFill>
                <a:latin typeface="맑은 고딕"/>
              </a:rPr>
              <a:t>"신광이 말하기를: 옛부터 간언으로 존경받은 신하가 많지만</a:t>
            </a:r>
          </a:p>
          <a:p>
            <a:pPr algn="ctr">
              <a:lnSpc>
                <a:spcPct val="125000"/>
              </a:lnSpc>
            </a:pPr>
            <a:r>
              <a:rPr sz="1400" b="1">
                <a:solidFill>
                  <a:srgbClr val="1F2A44"/>
                </a:solidFill>
                <a:latin typeface="맑은 고딕"/>
              </a:rPr>
              <a:t> 위징처럼 군주의 신뢰를 얻은 자는 없었다"</a:t>
            </a:r>
          </a:p>
        </p:txBody>
      </p:sp>
      <p:sp>
        <p:nvSpPr>
          <p:cNvPr id="9" name="Rectangle 8"/>
          <p:cNvSpPr/>
          <p:nvPr/>
        </p:nvSpPr>
        <p:spPr>
          <a:xfrm>
            <a:off x="457200" y="4754880"/>
            <a:ext cx="11247120" cy="1737360"/>
          </a:xfrm>
          <a:prstGeom prst="rect">
            <a:avLst/>
          </a:prstGeom>
          <a:solidFill>
            <a:srgbClr val="FAE5E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731520" y="4892040"/>
            <a:ext cx="10698480" cy="155448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ctr">
              <a:lnSpc>
                <a:spcPct val="130000"/>
              </a:lnSpc>
            </a:pPr>
            <a:r>
              <a:rPr sz="1600" b="1">
                <a:solidFill>
                  <a:srgbClr val="8B1A1A"/>
                </a:solidFill>
                <a:latin typeface="맑은 고딕"/>
              </a:rPr>
              <a:t>통감 사평의 패턴 — 위징·당 태종을 모든 시대의 모범으로</a:t>
            </a:r>
          </a:p>
          <a:p>
            <a:pPr algn="ctr">
              <a:lnSpc>
                <a:spcPct val="130000"/>
              </a:lnSpc>
              <a:spcBef>
                <a:spcPts val="400"/>
              </a:spcBef>
            </a:pPr>
            <a:r>
              <a:rPr sz="1300" b="0">
                <a:solidFill>
                  <a:srgbClr val="1F2A44"/>
                </a:solidFill>
                <a:latin typeface="맑은 고딕"/>
              </a:rPr>
              <a:t>"적이었던 자라도 능력이 있으면 쓴다 + 비판을 끝까지 듣는다"</a:t>
            </a:r>
          </a:p>
          <a:p>
            <a:pPr algn="ctr">
              <a:lnSpc>
                <a:spcPct val="130000"/>
              </a:lnSpc>
              <a:spcBef>
                <a:spcPts val="400"/>
              </a:spcBef>
            </a:pPr>
            <a:r>
              <a:rPr sz="1300" b="1">
                <a:solidFill>
                  <a:srgbClr val="1F2A44"/>
                </a:solidFill>
                <a:latin typeface="맑은 고딕"/>
              </a:rPr>
              <a:t>이것이 정관(貞觀)의 비결이라 사마광이 거듭 강조</a:t>
            </a:r>
          </a:p>
        </p:txBody>
      </p:sp>
    </p:spTree>
  </p:cSld>
  <p:clrMapOvr>
    <a:masterClrMapping/>
  </p:clrMapOvr>
</p:sld>
</file>

<file path=ppt/slides/slide3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91440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100" b="1">
                <a:solidFill>
                  <a:srgbClr val="556070"/>
                </a:solidFill>
                <a:latin typeface="맑은 고딕"/>
              </a:rPr>
              <a:t>Ⅶ. 주요 사건 (1/10)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10972800" y="274320"/>
            <a:ext cx="118872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/>
            <a:r>
              <a:rPr sz="1000" b="0">
                <a:solidFill>
                  <a:srgbClr val="556070"/>
                </a:solidFill>
                <a:latin typeface="맑은 고딕"/>
              </a:rPr>
              <a:t>36 / 70</a:t>
            </a:r>
          </a:p>
        </p:txBody>
      </p:sp>
      <p:cxnSp>
        <p:nvCxnSpPr>
          <p:cNvPr id="4" name="Connector 3"/>
          <p:cNvCxnSpPr/>
          <p:nvPr/>
        </p:nvCxnSpPr>
        <p:spPr>
          <a:xfrm>
            <a:off x="457200" y="594360"/>
            <a:ext cx="11704320" cy="0"/>
          </a:xfrm>
          <a:prstGeom prst="line">
            <a:avLst/>
          </a:prstGeom>
          <a:ln w="25400">
            <a:solidFill>
              <a:srgbClr val="C8A25B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5" name="TextBox 4"/>
          <p:cNvSpPr txBox="1"/>
          <p:nvPr/>
        </p:nvSpPr>
        <p:spPr>
          <a:xfrm>
            <a:off x="457200" y="777240"/>
            <a:ext cx="11704320" cy="6400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3000" b="1">
                <a:solidFill>
                  <a:srgbClr val="1F2A44"/>
                </a:solidFill>
                <a:latin typeface="맑은 고딕"/>
              </a:rPr>
              <a:t>삼가분진(三家分晉)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57200" y="1417320"/>
            <a:ext cx="1170432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400" b="0">
                <a:solidFill>
                  <a:srgbClr val="556070"/>
                </a:solidFill>
                <a:latin typeface="맑은 고딕"/>
              </a:rPr>
              <a:t>BC 403 · 주 위열왕 23년</a:t>
            </a:r>
          </a:p>
        </p:txBody>
      </p:sp>
      <p:sp>
        <p:nvSpPr>
          <p:cNvPr id="7" name="Rectangle 6"/>
          <p:cNvSpPr/>
          <p:nvPr/>
        </p:nvSpPr>
        <p:spPr>
          <a:xfrm>
            <a:off x="457200" y="2103120"/>
            <a:ext cx="11247120" cy="1828800"/>
          </a:xfrm>
          <a:prstGeom prst="rect">
            <a:avLst/>
          </a:prstGeom>
          <a:solidFill>
            <a:srgbClr val="F5EED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457200" y="2240280"/>
            <a:ext cx="1124712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/>
            <a:r>
              <a:rPr sz="1500" b="1">
                <a:solidFill>
                  <a:srgbClr val="8B1A1A"/>
                </a:solidFill>
                <a:latin typeface="맑은 고딕"/>
              </a:rPr>
              <a:t>사건 개요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731520" y="2697480"/>
            <a:ext cx="10698480" cy="118872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/>
            <a:r>
              <a:rPr sz="1400" b="0">
                <a:solidFill>
                  <a:srgbClr val="1F2A44"/>
                </a:solidFill>
                <a:latin typeface="맑은 고딕"/>
              </a:rPr>
              <a:t>진(晉)의 세 대부 한·위·조가 진을 분할 → 주왕이 그들을 제후로 책봉.
"신하가 제후가 되는" 명분의 결정적 붕괴.</a:t>
            </a:r>
          </a:p>
        </p:txBody>
      </p:sp>
      <p:sp>
        <p:nvSpPr>
          <p:cNvPr id="10" name="Rectangle 9"/>
          <p:cNvSpPr/>
          <p:nvPr/>
        </p:nvSpPr>
        <p:spPr>
          <a:xfrm>
            <a:off x="457200" y="4114800"/>
            <a:ext cx="5394960" cy="2194560"/>
          </a:xfrm>
          <a:prstGeom prst="rect">
            <a:avLst/>
          </a:prstGeom>
          <a:solidFill>
            <a:srgbClr val="FAFA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457200" y="4251960"/>
            <a:ext cx="539496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/>
            <a:r>
              <a:rPr sz="1400" b="1">
                <a:solidFill>
                  <a:srgbClr val="8B1A1A"/>
                </a:solidFill>
                <a:latin typeface="맑은 고딕"/>
              </a:rPr>
              <a:t>핵심 인물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40080" y="4663440"/>
            <a:ext cx="5029200" cy="155448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/>
            <a:r>
              <a:rPr sz="1300" b="0">
                <a:solidFill>
                  <a:srgbClr val="1F2A44"/>
                </a:solidFill>
                <a:latin typeface="맑은 고딕"/>
              </a:rPr>
              <a:t>한건자·위환자·조양자
주 위열왕(책봉의 주체)</a:t>
            </a:r>
          </a:p>
        </p:txBody>
      </p:sp>
      <p:sp>
        <p:nvSpPr>
          <p:cNvPr id="13" name="Rectangle 12"/>
          <p:cNvSpPr/>
          <p:nvPr/>
        </p:nvSpPr>
        <p:spPr>
          <a:xfrm>
            <a:off x="6309360" y="4114800"/>
            <a:ext cx="5394960" cy="2194560"/>
          </a:xfrm>
          <a:prstGeom prst="rect">
            <a:avLst/>
          </a:prstGeom>
          <a:solidFill>
            <a:srgbClr val="FAE5E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6309360" y="4251960"/>
            <a:ext cx="539496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/>
            <a:r>
              <a:rPr sz="1400" b="1">
                <a:solidFill>
                  <a:srgbClr val="8B1A1A"/>
                </a:solidFill>
                <a:latin typeface="맑은 고딕"/>
              </a:rPr>
              <a:t>통감의 교훈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6492240" y="4663440"/>
            <a:ext cx="5029200" cy="155448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/>
            <a:r>
              <a:rPr sz="1300" b="0">
                <a:solidFill>
                  <a:srgbClr val="1F2A44"/>
                </a:solidFill>
                <a:latin typeface="맑은 고딕"/>
              </a:rPr>
              <a:t>통감의 첫 사건이자 첫 사평
"명분 붕괴가 1,500년 분열의 시작"</a:t>
            </a:r>
          </a:p>
        </p:txBody>
      </p:sp>
    </p:spTree>
  </p:cSld>
  <p:clrMapOvr>
    <a:masterClrMapping/>
  </p:clrMapOvr>
</p:sld>
</file>

<file path=ppt/slides/slide3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91440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100" b="1">
                <a:solidFill>
                  <a:srgbClr val="556070"/>
                </a:solidFill>
                <a:latin typeface="맑은 고딕"/>
              </a:rPr>
              <a:t>Ⅶ. 주요 사건 (2/10)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10972800" y="274320"/>
            <a:ext cx="118872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/>
            <a:r>
              <a:rPr sz="1000" b="0">
                <a:solidFill>
                  <a:srgbClr val="556070"/>
                </a:solidFill>
                <a:latin typeface="맑은 고딕"/>
              </a:rPr>
              <a:t>37 / 70</a:t>
            </a:r>
          </a:p>
        </p:txBody>
      </p:sp>
      <p:cxnSp>
        <p:nvCxnSpPr>
          <p:cNvPr id="4" name="Connector 3"/>
          <p:cNvCxnSpPr/>
          <p:nvPr/>
        </p:nvCxnSpPr>
        <p:spPr>
          <a:xfrm>
            <a:off x="457200" y="594360"/>
            <a:ext cx="11704320" cy="0"/>
          </a:xfrm>
          <a:prstGeom prst="line">
            <a:avLst/>
          </a:prstGeom>
          <a:ln w="25400">
            <a:solidFill>
              <a:srgbClr val="C8A25B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5" name="TextBox 4"/>
          <p:cNvSpPr txBox="1"/>
          <p:nvPr/>
        </p:nvSpPr>
        <p:spPr>
          <a:xfrm>
            <a:off x="457200" y="777240"/>
            <a:ext cx="11704320" cy="6400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3000" b="1">
                <a:solidFill>
                  <a:srgbClr val="1F2A44"/>
                </a:solidFill>
                <a:latin typeface="맑은 고딕"/>
              </a:rPr>
              <a:t>진(秦)의 통일과 멸망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57200" y="1417320"/>
            <a:ext cx="1170432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400" b="0">
                <a:solidFill>
                  <a:srgbClr val="556070"/>
                </a:solidFill>
                <a:latin typeface="맑은 고딕"/>
              </a:rPr>
              <a:t>BC 221~206 · 15년의 제국</a:t>
            </a:r>
          </a:p>
        </p:txBody>
      </p:sp>
      <p:sp>
        <p:nvSpPr>
          <p:cNvPr id="7" name="Rectangle 6"/>
          <p:cNvSpPr/>
          <p:nvPr/>
        </p:nvSpPr>
        <p:spPr>
          <a:xfrm>
            <a:off x="457200" y="2103120"/>
            <a:ext cx="11247120" cy="1828800"/>
          </a:xfrm>
          <a:prstGeom prst="rect">
            <a:avLst/>
          </a:prstGeom>
          <a:solidFill>
            <a:srgbClr val="F5EED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457200" y="2240280"/>
            <a:ext cx="1124712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/>
            <a:r>
              <a:rPr sz="1500" b="1">
                <a:solidFill>
                  <a:srgbClr val="8B1A1A"/>
                </a:solidFill>
                <a:latin typeface="맑은 고딕"/>
              </a:rPr>
              <a:t>사건 개요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731520" y="2697480"/>
            <a:ext cx="10698480" cy="118872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/>
            <a:r>
              <a:rPr sz="1400" b="0">
                <a:solidFill>
                  <a:srgbClr val="1F2A44"/>
                </a:solidFill>
                <a:latin typeface="맑은 고딕"/>
              </a:rPr>
              <a:t>진시황 6국 통일(221) → 분서갱유 → 대규모 토목 →
사후 14년 만에 농민 봉기로 멸망.</a:t>
            </a:r>
          </a:p>
        </p:txBody>
      </p:sp>
      <p:sp>
        <p:nvSpPr>
          <p:cNvPr id="10" name="Rectangle 9"/>
          <p:cNvSpPr/>
          <p:nvPr/>
        </p:nvSpPr>
        <p:spPr>
          <a:xfrm>
            <a:off x="457200" y="4114800"/>
            <a:ext cx="5394960" cy="2194560"/>
          </a:xfrm>
          <a:prstGeom prst="rect">
            <a:avLst/>
          </a:prstGeom>
          <a:solidFill>
            <a:srgbClr val="FAFA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457200" y="4251960"/>
            <a:ext cx="539496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/>
            <a:r>
              <a:rPr sz="1400" b="1">
                <a:solidFill>
                  <a:srgbClr val="8B1A1A"/>
                </a:solidFill>
                <a:latin typeface="맑은 고딕"/>
              </a:rPr>
              <a:t>핵심 인물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40080" y="4663440"/>
            <a:ext cx="5029200" cy="155448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/>
            <a:r>
              <a:rPr sz="1300" b="0">
                <a:solidFill>
                  <a:srgbClr val="1F2A44"/>
                </a:solidFill>
                <a:latin typeface="맑은 고딕"/>
              </a:rPr>
              <a:t>진시황 · 이사 · 조고
진승·오광 · 항우 · 유방</a:t>
            </a:r>
          </a:p>
        </p:txBody>
      </p:sp>
      <p:sp>
        <p:nvSpPr>
          <p:cNvPr id="13" name="Rectangle 12"/>
          <p:cNvSpPr/>
          <p:nvPr/>
        </p:nvSpPr>
        <p:spPr>
          <a:xfrm>
            <a:off x="6309360" y="4114800"/>
            <a:ext cx="5394960" cy="2194560"/>
          </a:xfrm>
          <a:prstGeom prst="rect">
            <a:avLst/>
          </a:prstGeom>
          <a:solidFill>
            <a:srgbClr val="FAE5E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6309360" y="4251960"/>
            <a:ext cx="539496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/>
            <a:r>
              <a:rPr sz="1400" b="1">
                <a:solidFill>
                  <a:srgbClr val="8B1A1A"/>
                </a:solidFill>
                <a:latin typeface="맑은 고딕"/>
              </a:rPr>
              <a:t>통감의 교훈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6492240" y="4663440"/>
            <a:ext cx="5029200" cy="155448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/>
            <a:r>
              <a:rPr sz="1300" b="0">
                <a:solidFill>
                  <a:srgbClr val="1F2A44"/>
                </a:solidFill>
                <a:latin typeface="맑은 고딕"/>
              </a:rPr>
              <a:t>"무력·법치만으로는 천하를 지킬 수 없다"
— 정관정요·통감의 공통 반면교사</a:t>
            </a:r>
          </a:p>
        </p:txBody>
      </p:sp>
    </p:spTree>
  </p:cSld>
  <p:clrMapOvr>
    <a:masterClrMapping/>
  </p:clrMapOvr>
</p:sld>
</file>

<file path=ppt/slides/slide3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91440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100" b="1">
                <a:solidFill>
                  <a:srgbClr val="556070"/>
                </a:solidFill>
                <a:latin typeface="맑은 고딕"/>
              </a:rPr>
              <a:t>Ⅶ. 주요 사건 (3/10)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10972800" y="274320"/>
            <a:ext cx="118872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/>
            <a:r>
              <a:rPr sz="1000" b="0">
                <a:solidFill>
                  <a:srgbClr val="556070"/>
                </a:solidFill>
                <a:latin typeface="맑은 고딕"/>
              </a:rPr>
              <a:t>38 / 70</a:t>
            </a:r>
          </a:p>
        </p:txBody>
      </p:sp>
      <p:cxnSp>
        <p:nvCxnSpPr>
          <p:cNvPr id="4" name="Connector 3"/>
          <p:cNvCxnSpPr/>
          <p:nvPr/>
        </p:nvCxnSpPr>
        <p:spPr>
          <a:xfrm>
            <a:off x="457200" y="594360"/>
            <a:ext cx="11704320" cy="0"/>
          </a:xfrm>
          <a:prstGeom prst="line">
            <a:avLst/>
          </a:prstGeom>
          <a:ln w="25400">
            <a:solidFill>
              <a:srgbClr val="C8A25B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5" name="TextBox 4"/>
          <p:cNvSpPr txBox="1"/>
          <p:nvPr/>
        </p:nvSpPr>
        <p:spPr>
          <a:xfrm>
            <a:off x="457200" y="777240"/>
            <a:ext cx="11704320" cy="6400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3000" b="1">
                <a:solidFill>
                  <a:srgbClr val="1F2A44"/>
                </a:solidFill>
                <a:latin typeface="맑은 고딕"/>
              </a:rPr>
              <a:t>초한쟁패(楚漢爭覇)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57200" y="1417320"/>
            <a:ext cx="1170432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400" b="0">
                <a:solidFill>
                  <a:srgbClr val="556070"/>
                </a:solidFill>
                <a:latin typeface="맑은 고딕"/>
              </a:rPr>
              <a:t>BC 206~202 · 4년 전쟁</a:t>
            </a:r>
          </a:p>
        </p:txBody>
      </p:sp>
      <p:sp>
        <p:nvSpPr>
          <p:cNvPr id="7" name="Rectangle 6"/>
          <p:cNvSpPr/>
          <p:nvPr/>
        </p:nvSpPr>
        <p:spPr>
          <a:xfrm>
            <a:off x="457200" y="2103120"/>
            <a:ext cx="11247120" cy="1828800"/>
          </a:xfrm>
          <a:prstGeom prst="rect">
            <a:avLst/>
          </a:prstGeom>
          <a:solidFill>
            <a:srgbClr val="F5EED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457200" y="2240280"/>
            <a:ext cx="1124712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/>
            <a:r>
              <a:rPr sz="1500" b="1">
                <a:solidFill>
                  <a:srgbClr val="8B1A1A"/>
                </a:solidFill>
                <a:latin typeface="맑은 고딕"/>
              </a:rPr>
              <a:t>사건 개요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731520" y="2697480"/>
            <a:ext cx="10698480" cy="118872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/>
            <a:r>
              <a:rPr sz="1400" b="0">
                <a:solidFill>
                  <a:srgbClr val="1F2A44"/>
                </a:solidFill>
                <a:latin typeface="맑은 고딕"/>
              </a:rPr>
              <a:t>유방(劉邦) vs 항우(項羽) — 평민과 귀족,
인재 활용과 자기 능력의 대결.</a:t>
            </a:r>
          </a:p>
        </p:txBody>
      </p:sp>
      <p:sp>
        <p:nvSpPr>
          <p:cNvPr id="10" name="Rectangle 9"/>
          <p:cNvSpPr/>
          <p:nvPr/>
        </p:nvSpPr>
        <p:spPr>
          <a:xfrm>
            <a:off x="457200" y="4114800"/>
            <a:ext cx="5394960" cy="2194560"/>
          </a:xfrm>
          <a:prstGeom prst="rect">
            <a:avLst/>
          </a:prstGeom>
          <a:solidFill>
            <a:srgbClr val="FAFA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457200" y="4251960"/>
            <a:ext cx="539496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/>
            <a:r>
              <a:rPr sz="1400" b="1">
                <a:solidFill>
                  <a:srgbClr val="8B1A1A"/>
                </a:solidFill>
                <a:latin typeface="맑은 고딕"/>
              </a:rPr>
              <a:t>핵심 인물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40080" y="4663440"/>
            <a:ext cx="5029200" cy="155448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/>
            <a:r>
              <a:rPr sz="1300" b="0">
                <a:solidFill>
                  <a:srgbClr val="1F2A44"/>
                </a:solidFill>
                <a:latin typeface="맑은 고딕"/>
              </a:rPr>
              <a:t>유방 · 장량 · 소하 · 한신
항우 · 범증 · 우희</a:t>
            </a:r>
          </a:p>
        </p:txBody>
      </p:sp>
      <p:sp>
        <p:nvSpPr>
          <p:cNvPr id="13" name="Rectangle 12"/>
          <p:cNvSpPr/>
          <p:nvPr/>
        </p:nvSpPr>
        <p:spPr>
          <a:xfrm>
            <a:off x="6309360" y="4114800"/>
            <a:ext cx="5394960" cy="2194560"/>
          </a:xfrm>
          <a:prstGeom prst="rect">
            <a:avLst/>
          </a:prstGeom>
          <a:solidFill>
            <a:srgbClr val="FAE5E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6309360" y="4251960"/>
            <a:ext cx="539496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/>
            <a:r>
              <a:rPr sz="1400" b="1">
                <a:solidFill>
                  <a:srgbClr val="8B1A1A"/>
                </a:solidFill>
                <a:latin typeface="맑은 고딕"/>
              </a:rPr>
              <a:t>통감의 교훈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6492240" y="4663440"/>
            <a:ext cx="5029200" cy="155448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/>
            <a:r>
              <a:rPr sz="1300" b="0">
                <a:solidFill>
                  <a:srgbClr val="1F2A44"/>
                </a:solidFill>
                <a:latin typeface="맑은 고딕"/>
              </a:rPr>
              <a:t>"리더십은 능력이 아니라 그릇"
인재를 알아보고 쓰는 자가 천하를 얻는다</a:t>
            </a:r>
          </a:p>
        </p:txBody>
      </p:sp>
    </p:spTree>
  </p:cSld>
  <p:clrMapOvr>
    <a:masterClrMapping/>
  </p:clrMapOvr>
</p:sld>
</file>

<file path=ppt/slides/slide3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91440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100" b="1">
                <a:solidFill>
                  <a:srgbClr val="556070"/>
                </a:solidFill>
                <a:latin typeface="맑은 고딕"/>
              </a:rPr>
              <a:t>Ⅶ. 주요 사건 (4/10)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10972800" y="274320"/>
            <a:ext cx="118872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/>
            <a:r>
              <a:rPr sz="1000" b="0">
                <a:solidFill>
                  <a:srgbClr val="556070"/>
                </a:solidFill>
                <a:latin typeface="맑은 고딕"/>
              </a:rPr>
              <a:t>39 / 70</a:t>
            </a:r>
          </a:p>
        </p:txBody>
      </p:sp>
      <p:cxnSp>
        <p:nvCxnSpPr>
          <p:cNvPr id="4" name="Connector 3"/>
          <p:cNvCxnSpPr/>
          <p:nvPr/>
        </p:nvCxnSpPr>
        <p:spPr>
          <a:xfrm>
            <a:off x="457200" y="594360"/>
            <a:ext cx="11704320" cy="0"/>
          </a:xfrm>
          <a:prstGeom prst="line">
            <a:avLst/>
          </a:prstGeom>
          <a:ln w="25400">
            <a:solidFill>
              <a:srgbClr val="C8A25B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5" name="TextBox 4"/>
          <p:cNvSpPr txBox="1"/>
          <p:nvPr/>
        </p:nvSpPr>
        <p:spPr>
          <a:xfrm>
            <a:off x="457200" y="777240"/>
            <a:ext cx="11704320" cy="6400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3000" b="1">
                <a:solidFill>
                  <a:srgbClr val="1F2A44"/>
                </a:solidFill>
                <a:latin typeface="맑은 고딕"/>
              </a:rPr>
              <a:t>문경의 치(文景之治)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57200" y="1417320"/>
            <a:ext cx="1170432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400" b="0">
                <a:solidFill>
                  <a:srgbClr val="556070"/>
                </a:solidFill>
                <a:latin typeface="맑은 고딕"/>
              </a:rPr>
              <a:t>BC 180~141 · 40년</a:t>
            </a:r>
          </a:p>
        </p:txBody>
      </p:sp>
      <p:sp>
        <p:nvSpPr>
          <p:cNvPr id="7" name="Rectangle 6"/>
          <p:cNvSpPr/>
          <p:nvPr/>
        </p:nvSpPr>
        <p:spPr>
          <a:xfrm>
            <a:off x="457200" y="2103120"/>
            <a:ext cx="11247120" cy="1828800"/>
          </a:xfrm>
          <a:prstGeom prst="rect">
            <a:avLst/>
          </a:prstGeom>
          <a:solidFill>
            <a:srgbClr val="F5EED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457200" y="2240280"/>
            <a:ext cx="1124712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/>
            <a:r>
              <a:rPr sz="1500" b="1">
                <a:solidFill>
                  <a:srgbClr val="8B1A1A"/>
                </a:solidFill>
                <a:latin typeface="맑은 고딕"/>
              </a:rPr>
              <a:t>사건 개요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731520" y="2697480"/>
            <a:ext cx="10698480" cy="118872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/>
            <a:r>
              <a:rPr sz="1400" b="0">
                <a:solidFill>
                  <a:srgbClr val="1F2A44"/>
                </a:solidFill>
                <a:latin typeface="맑은 고딕"/>
              </a:rPr>
              <a:t>한 문제·경제의 무위지치(無爲之治) —
세금 경감·법 완화·검약. 동양 황금기의 원형.</a:t>
            </a:r>
          </a:p>
        </p:txBody>
      </p:sp>
      <p:sp>
        <p:nvSpPr>
          <p:cNvPr id="10" name="Rectangle 9"/>
          <p:cNvSpPr/>
          <p:nvPr/>
        </p:nvSpPr>
        <p:spPr>
          <a:xfrm>
            <a:off x="457200" y="4114800"/>
            <a:ext cx="5394960" cy="2194560"/>
          </a:xfrm>
          <a:prstGeom prst="rect">
            <a:avLst/>
          </a:prstGeom>
          <a:solidFill>
            <a:srgbClr val="FAFA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457200" y="4251960"/>
            <a:ext cx="539496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/>
            <a:r>
              <a:rPr sz="1400" b="1">
                <a:solidFill>
                  <a:srgbClr val="8B1A1A"/>
                </a:solidFill>
                <a:latin typeface="맑은 고딕"/>
              </a:rPr>
              <a:t>핵심 인물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40080" y="4663440"/>
            <a:ext cx="5029200" cy="155448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/>
            <a:r>
              <a:rPr sz="1300" b="0">
                <a:solidFill>
                  <a:srgbClr val="1F2A44"/>
                </a:solidFill>
                <a:latin typeface="맑은 고딕"/>
              </a:rPr>
              <a:t>한 문제 · 한 경제
조조(晁錯) — 삭번책</a:t>
            </a:r>
          </a:p>
        </p:txBody>
      </p:sp>
      <p:sp>
        <p:nvSpPr>
          <p:cNvPr id="13" name="Rectangle 12"/>
          <p:cNvSpPr/>
          <p:nvPr/>
        </p:nvSpPr>
        <p:spPr>
          <a:xfrm>
            <a:off x="6309360" y="4114800"/>
            <a:ext cx="5394960" cy="2194560"/>
          </a:xfrm>
          <a:prstGeom prst="rect">
            <a:avLst/>
          </a:prstGeom>
          <a:solidFill>
            <a:srgbClr val="FAE5E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6309360" y="4251960"/>
            <a:ext cx="539496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/>
            <a:r>
              <a:rPr sz="1400" b="1">
                <a:solidFill>
                  <a:srgbClr val="8B1A1A"/>
                </a:solidFill>
                <a:latin typeface="맑은 고딕"/>
              </a:rPr>
              <a:t>통감의 교훈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6492240" y="4663440"/>
            <a:ext cx="5029200" cy="155448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/>
            <a:r>
              <a:rPr sz="1300" b="0">
                <a:solidFill>
                  <a:srgbClr val="1F2A44"/>
                </a:solidFill>
                <a:latin typeface="맑은 고딕"/>
              </a:rPr>
              <a:t>"무위(無爲)의 정치가 가장 큰 다스림"
검약과 신중이 황금기의 비결</a:t>
            </a:r>
          </a:p>
        </p:txBody>
      </p:sp>
    </p:spTree>
  </p:cSld>
  <p:clrMapOvr>
    <a:masterClrMapping/>
  </p:clrMapOvr>
</p:sld>
</file>

<file path=ppt/slides/slide4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91440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100" b="1">
                <a:solidFill>
                  <a:srgbClr val="556070"/>
                </a:solidFill>
                <a:latin typeface="맑은 고딕"/>
              </a:rPr>
              <a:t>Ⅶ. 주요 사건 (5/10)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10972800" y="274320"/>
            <a:ext cx="118872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/>
            <a:r>
              <a:rPr sz="1000" b="0">
                <a:solidFill>
                  <a:srgbClr val="556070"/>
                </a:solidFill>
                <a:latin typeface="맑은 고딕"/>
              </a:rPr>
              <a:t>40 / 70</a:t>
            </a:r>
          </a:p>
        </p:txBody>
      </p:sp>
      <p:cxnSp>
        <p:nvCxnSpPr>
          <p:cNvPr id="4" name="Connector 3"/>
          <p:cNvCxnSpPr/>
          <p:nvPr/>
        </p:nvCxnSpPr>
        <p:spPr>
          <a:xfrm>
            <a:off x="457200" y="594360"/>
            <a:ext cx="11704320" cy="0"/>
          </a:xfrm>
          <a:prstGeom prst="line">
            <a:avLst/>
          </a:prstGeom>
          <a:ln w="25400">
            <a:solidFill>
              <a:srgbClr val="C8A25B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5" name="TextBox 4"/>
          <p:cNvSpPr txBox="1"/>
          <p:nvPr/>
        </p:nvSpPr>
        <p:spPr>
          <a:xfrm>
            <a:off x="457200" y="777240"/>
            <a:ext cx="11704320" cy="6400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3000" b="1">
                <a:solidFill>
                  <a:srgbClr val="1F2A44"/>
                </a:solidFill>
                <a:latin typeface="맑은 고딕"/>
              </a:rPr>
              <a:t>한 무제와 흉노 정벌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57200" y="1417320"/>
            <a:ext cx="1170432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400" b="0">
                <a:solidFill>
                  <a:srgbClr val="556070"/>
                </a:solidFill>
                <a:latin typeface="맑은 고딕"/>
              </a:rPr>
              <a:t>BC 141~87 · 54년</a:t>
            </a:r>
          </a:p>
        </p:txBody>
      </p:sp>
      <p:sp>
        <p:nvSpPr>
          <p:cNvPr id="7" name="Rectangle 6"/>
          <p:cNvSpPr/>
          <p:nvPr/>
        </p:nvSpPr>
        <p:spPr>
          <a:xfrm>
            <a:off x="457200" y="2103120"/>
            <a:ext cx="11247120" cy="1828800"/>
          </a:xfrm>
          <a:prstGeom prst="rect">
            <a:avLst/>
          </a:prstGeom>
          <a:solidFill>
            <a:srgbClr val="F5EED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457200" y="2240280"/>
            <a:ext cx="1124712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/>
            <a:r>
              <a:rPr sz="1500" b="1">
                <a:solidFill>
                  <a:srgbClr val="8B1A1A"/>
                </a:solidFill>
                <a:latin typeface="맑은 고딕"/>
              </a:rPr>
              <a:t>사건 개요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731520" y="2697480"/>
            <a:ext cx="10698480" cy="118872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/>
            <a:r>
              <a:rPr sz="1400" b="0">
                <a:solidFill>
                  <a:srgbClr val="1F2A44"/>
                </a:solidFill>
                <a:latin typeface="맑은 고딕"/>
              </a:rPr>
              <a:t>무제 — 흉노 정벌·실크로드 개척·유가 국교화.
그러나 만년의 무리한 원정과 신선술로 국력 소진.</a:t>
            </a:r>
          </a:p>
        </p:txBody>
      </p:sp>
      <p:sp>
        <p:nvSpPr>
          <p:cNvPr id="10" name="Rectangle 9"/>
          <p:cNvSpPr/>
          <p:nvPr/>
        </p:nvSpPr>
        <p:spPr>
          <a:xfrm>
            <a:off x="457200" y="4114800"/>
            <a:ext cx="5394960" cy="2194560"/>
          </a:xfrm>
          <a:prstGeom prst="rect">
            <a:avLst/>
          </a:prstGeom>
          <a:solidFill>
            <a:srgbClr val="FAFA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457200" y="4251960"/>
            <a:ext cx="539496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/>
            <a:r>
              <a:rPr sz="1400" b="1">
                <a:solidFill>
                  <a:srgbClr val="8B1A1A"/>
                </a:solidFill>
                <a:latin typeface="맑은 고딕"/>
              </a:rPr>
              <a:t>핵심 인물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40080" y="4663440"/>
            <a:ext cx="5029200" cy="155448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/>
            <a:r>
              <a:rPr sz="1300" b="0">
                <a:solidFill>
                  <a:srgbClr val="1F2A44"/>
                </a:solidFill>
                <a:latin typeface="맑은 고딕"/>
              </a:rPr>
              <a:t>한 무제 · 위청 · 곽거병
동중서 · 사마천</a:t>
            </a:r>
          </a:p>
        </p:txBody>
      </p:sp>
      <p:sp>
        <p:nvSpPr>
          <p:cNvPr id="13" name="Rectangle 12"/>
          <p:cNvSpPr/>
          <p:nvPr/>
        </p:nvSpPr>
        <p:spPr>
          <a:xfrm>
            <a:off x="6309360" y="4114800"/>
            <a:ext cx="5394960" cy="2194560"/>
          </a:xfrm>
          <a:prstGeom prst="rect">
            <a:avLst/>
          </a:prstGeom>
          <a:solidFill>
            <a:srgbClr val="FAE5E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6309360" y="4251960"/>
            <a:ext cx="539496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/>
            <a:r>
              <a:rPr sz="1400" b="1">
                <a:solidFill>
                  <a:srgbClr val="8B1A1A"/>
                </a:solidFill>
                <a:latin typeface="맑은 고딕"/>
              </a:rPr>
              <a:t>통감의 교훈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6492240" y="4663440"/>
            <a:ext cx="5029200" cy="155448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/>
            <a:r>
              <a:rPr sz="1300" b="0">
                <a:solidFill>
                  <a:srgbClr val="1F2A44"/>
                </a:solidFill>
                <a:latin typeface="맑은 고딕"/>
              </a:rPr>
              <a:t>"한 군주의 양면 — 영광과 그림자"
초기의 적극성이 말년의 폐단으로</a:t>
            </a:r>
          </a:p>
        </p:txBody>
      </p:sp>
    </p:spTree>
  </p:cSld>
  <p:clrMapOvr>
    <a:masterClrMapping/>
  </p:clrMapOvr>
</p:sld>
</file>

<file path=ppt/slides/slide4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91440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100" b="1">
                <a:solidFill>
                  <a:srgbClr val="556070"/>
                </a:solidFill>
                <a:latin typeface="맑은 고딕"/>
              </a:rPr>
              <a:t>Ⅶ. 주요 사건 (6/10)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10972800" y="274320"/>
            <a:ext cx="118872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/>
            <a:r>
              <a:rPr sz="1000" b="0">
                <a:solidFill>
                  <a:srgbClr val="556070"/>
                </a:solidFill>
                <a:latin typeface="맑은 고딕"/>
              </a:rPr>
              <a:t>41 / 70</a:t>
            </a:r>
          </a:p>
        </p:txBody>
      </p:sp>
      <p:cxnSp>
        <p:nvCxnSpPr>
          <p:cNvPr id="4" name="Connector 3"/>
          <p:cNvCxnSpPr/>
          <p:nvPr/>
        </p:nvCxnSpPr>
        <p:spPr>
          <a:xfrm>
            <a:off x="457200" y="594360"/>
            <a:ext cx="11704320" cy="0"/>
          </a:xfrm>
          <a:prstGeom prst="line">
            <a:avLst/>
          </a:prstGeom>
          <a:ln w="25400">
            <a:solidFill>
              <a:srgbClr val="C8A25B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5" name="TextBox 4"/>
          <p:cNvSpPr txBox="1"/>
          <p:nvPr/>
        </p:nvSpPr>
        <p:spPr>
          <a:xfrm>
            <a:off x="457200" y="777240"/>
            <a:ext cx="11704320" cy="6400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3000" b="1">
                <a:solidFill>
                  <a:srgbClr val="1F2A44"/>
                </a:solidFill>
                <a:latin typeface="맑은 고딕"/>
              </a:rPr>
              <a:t>광무중흥(光武中興)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57200" y="1417320"/>
            <a:ext cx="1170432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400" b="0">
                <a:solidFill>
                  <a:srgbClr val="556070"/>
                </a:solidFill>
                <a:latin typeface="맑은 고딕"/>
              </a:rPr>
              <a:t>AD 25~57 · 후한 부흥</a:t>
            </a:r>
          </a:p>
        </p:txBody>
      </p:sp>
      <p:sp>
        <p:nvSpPr>
          <p:cNvPr id="7" name="Rectangle 6"/>
          <p:cNvSpPr/>
          <p:nvPr/>
        </p:nvSpPr>
        <p:spPr>
          <a:xfrm>
            <a:off x="457200" y="2103120"/>
            <a:ext cx="11247120" cy="1828800"/>
          </a:xfrm>
          <a:prstGeom prst="rect">
            <a:avLst/>
          </a:prstGeom>
          <a:solidFill>
            <a:srgbClr val="F5EED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457200" y="2240280"/>
            <a:ext cx="1124712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/>
            <a:r>
              <a:rPr sz="1500" b="1">
                <a:solidFill>
                  <a:srgbClr val="8B1A1A"/>
                </a:solidFill>
                <a:latin typeface="맑은 고딕"/>
              </a:rPr>
              <a:t>사건 개요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731520" y="2697480"/>
            <a:ext cx="10698480" cy="118872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/>
            <a:r>
              <a:rPr sz="1400" b="0">
                <a:solidFill>
                  <a:srgbClr val="1F2A44"/>
                </a:solidFill>
                <a:latin typeface="맑은 고딕"/>
              </a:rPr>
              <a:t>왕망의 신(新)을 멸하고 한 부흥. 광무제 유수는
절제·검약·인재 활용의 모범으로 평가.</a:t>
            </a:r>
          </a:p>
        </p:txBody>
      </p:sp>
      <p:sp>
        <p:nvSpPr>
          <p:cNvPr id="10" name="Rectangle 9"/>
          <p:cNvSpPr/>
          <p:nvPr/>
        </p:nvSpPr>
        <p:spPr>
          <a:xfrm>
            <a:off x="457200" y="4114800"/>
            <a:ext cx="5394960" cy="2194560"/>
          </a:xfrm>
          <a:prstGeom prst="rect">
            <a:avLst/>
          </a:prstGeom>
          <a:solidFill>
            <a:srgbClr val="FAFA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457200" y="4251960"/>
            <a:ext cx="539496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/>
            <a:r>
              <a:rPr sz="1400" b="1">
                <a:solidFill>
                  <a:srgbClr val="8B1A1A"/>
                </a:solidFill>
                <a:latin typeface="맑은 고딕"/>
              </a:rPr>
              <a:t>핵심 인물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40080" y="4663440"/>
            <a:ext cx="5029200" cy="155448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/>
            <a:r>
              <a:rPr sz="1300" b="0">
                <a:solidFill>
                  <a:srgbClr val="1F2A44"/>
                </a:solidFill>
                <a:latin typeface="맑은 고딕"/>
              </a:rPr>
              <a:t>광무제 유수
등우 · 풍이 · 마원 등 28장(將)</a:t>
            </a:r>
          </a:p>
        </p:txBody>
      </p:sp>
      <p:sp>
        <p:nvSpPr>
          <p:cNvPr id="13" name="Rectangle 12"/>
          <p:cNvSpPr/>
          <p:nvPr/>
        </p:nvSpPr>
        <p:spPr>
          <a:xfrm>
            <a:off x="6309360" y="4114800"/>
            <a:ext cx="5394960" cy="2194560"/>
          </a:xfrm>
          <a:prstGeom prst="rect">
            <a:avLst/>
          </a:prstGeom>
          <a:solidFill>
            <a:srgbClr val="FAE5E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6309360" y="4251960"/>
            <a:ext cx="539496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/>
            <a:r>
              <a:rPr sz="1400" b="1">
                <a:solidFill>
                  <a:srgbClr val="8B1A1A"/>
                </a:solidFill>
                <a:latin typeface="맑은 고딕"/>
              </a:rPr>
              <a:t>통감의 교훈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6492240" y="4663440"/>
            <a:ext cx="5029200" cy="155448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/>
            <a:r>
              <a:rPr sz="1300" b="0">
                <a:solidFill>
                  <a:srgbClr val="1F2A44"/>
                </a:solidFill>
                <a:latin typeface="맑은 고딕"/>
              </a:rPr>
              <a:t>"명군의 본보기 — 자기 절제"
승리 후에도 겸손함을 잃지 않음</a:t>
            </a:r>
          </a:p>
        </p:txBody>
      </p:sp>
    </p:spTree>
  </p:cSld>
  <p:clrMapOvr>
    <a:masterClrMapping/>
  </p:clrMapOvr>
</p:sld>
</file>

<file path=ppt/slides/slide4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91440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100" b="1">
                <a:solidFill>
                  <a:srgbClr val="556070"/>
                </a:solidFill>
                <a:latin typeface="맑은 고딕"/>
              </a:rPr>
              <a:t>Ⅶ. 주요 사건 (7/10)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10972800" y="274320"/>
            <a:ext cx="118872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/>
            <a:r>
              <a:rPr sz="1000" b="0">
                <a:solidFill>
                  <a:srgbClr val="556070"/>
                </a:solidFill>
                <a:latin typeface="맑은 고딕"/>
              </a:rPr>
              <a:t>42 / 70</a:t>
            </a:r>
          </a:p>
        </p:txBody>
      </p:sp>
      <p:cxnSp>
        <p:nvCxnSpPr>
          <p:cNvPr id="4" name="Connector 3"/>
          <p:cNvCxnSpPr/>
          <p:nvPr/>
        </p:nvCxnSpPr>
        <p:spPr>
          <a:xfrm>
            <a:off x="457200" y="594360"/>
            <a:ext cx="11704320" cy="0"/>
          </a:xfrm>
          <a:prstGeom prst="line">
            <a:avLst/>
          </a:prstGeom>
          <a:ln w="25400">
            <a:solidFill>
              <a:srgbClr val="C8A25B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5" name="TextBox 4"/>
          <p:cNvSpPr txBox="1"/>
          <p:nvPr/>
        </p:nvSpPr>
        <p:spPr>
          <a:xfrm>
            <a:off x="457200" y="777240"/>
            <a:ext cx="11704320" cy="6400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3000" b="1">
                <a:solidFill>
                  <a:srgbClr val="1F2A44"/>
                </a:solidFill>
                <a:latin typeface="맑은 고딕"/>
              </a:rPr>
              <a:t>수 양제의 폭정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57200" y="1417320"/>
            <a:ext cx="1170432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400" b="0">
                <a:solidFill>
                  <a:srgbClr val="556070"/>
                </a:solidFill>
                <a:latin typeface="맑은 고딕"/>
              </a:rPr>
              <a:t>604~618 · 14년</a:t>
            </a:r>
          </a:p>
        </p:txBody>
      </p:sp>
      <p:sp>
        <p:nvSpPr>
          <p:cNvPr id="7" name="Rectangle 6"/>
          <p:cNvSpPr/>
          <p:nvPr/>
        </p:nvSpPr>
        <p:spPr>
          <a:xfrm>
            <a:off x="457200" y="2103120"/>
            <a:ext cx="11247120" cy="1828800"/>
          </a:xfrm>
          <a:prstGeom prst="rect">
            <a:avLst/>
          </a:prstGeom>
          <a:solidFill>
            <a:srgbClr val="F5EED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457200" y="2240280"/>
            <a:ext cx="1124712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/>
            <a:r>
              <a:rPr sz="1500" b="1">
                <a:solidFill>
                  <a:srgbClr val="8B1A1A"/>
                </a:solidFill>
                <a:latin typeface="맑은 고딕"/>
              </a:rPr>
              <a:t>사건 개요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731520" y="2697480"/>
            <a:ext cx="10698480" cy="118872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/>
            <a:r>
              <a:rPr sz="1400" b="0">
                <a:solidFill>
                  <a:srgbClr val="1F2A44"/>
                </a:solidFill>
                <a:latin typeface="맑은 고딕"/>
              </a:rPr>
              <a:t>대운하·만리장성·고구려 3차 원정 동시 추진.
수백만 명 동원 → 농민 봉기 → 14년 만에 멸망.</a:t>
            </a:r>
          </a:p>
        </p:txBody>
      </p:sp>
      <p:sp>
        <p:nvSpPr>
          <p:cNvPr id="10" name="Rectangle 9"/>
          <p:cNvSpPr/>
          <p:nvPr/>
        </p:nvSpPr>
        <p:spPr>
          <a:xfrm>
            <a:off x="457200" y="4114800"/>
            <a:ext cx="5394960" cy="2194560"/>
          </a:xfrm>
          <a:prstGeom prst="rect">
            <a:avLst/>
          </a:prstGeom>
          <a:solidFill>
            <a:srgbClr val="FAFA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457200" y="4251960"/>
            <a:ext cx="539496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/>
            <a:r>
              <a:rPr sz="1400" b="1">
                <a:solidFill>
                  <a:srgbClr val="8B1A1A"/>
                </a:solidFill>
                <a:latin typeface="맑은 고딕"/>
              </a:rPr>
              <a:t>핵심 인물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40080" y="4663440"/>
            <a:ext cx="5029200" cy="155448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/>
            <a:r>
              <a:rPr sz="1300" b="0">
                <a:solidFill>
                  <a:srgbClr val="1F2A44"/>
                </a:solidFill>
                <a:latin typeface="맑은 고딕"/>
              </a:rPr>
              <a:t>수 양제 · 우세기(虞世基)
이세민·유방 등 군웅의 봉기</a:t>
            </a:r>
          </a:p>
        </p:txBody>
      </p:sp>
      <p:sp>
        <p:nvSpPr>
          <p:cNvPr id="13" name="Rectangle 12"/>
          <p:cNvSpPr/>
          <p:nvPr/>
        </p:nvSpPr>
        <p:spPr>
          <a:xfrm>
            <a:off x="6309360" y="4114800"/>
            <a:ext cx="5394960" cy="2194560"/>
          </a:xfrm>
          <a:prstGeom prst="rect">
            <a:avLst/>
          </a:prstGeom>
          <a:solidFill>
            <a:srgbClr val="FAE5E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6309360" y="4251960"/>
            <a:ext cx="539496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/>
            <a:r>
              <a:rPr sz="1400" b="1">
                <a:solidFill>
                  <a:srgbClr val="8B1A1A"/>
                </a:solidFill>
                <a:latin typeface="맑은 고딕"/>
              </a:rPr>
              <a:t>통감의 교훈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6492240" y="4663440"/>
            <a:ext cx="5029200" cy="155448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/>
            <a:r>
              <a:rPr sz="1300" b="0">
                <a:solidFill>
                  <a:srgbClr val="1F2A44"/>
                </a:solidFill>
                <a:latin typeface="맑은 고딕"/>
              </a:rPr>
              <a:t>"진시황과 함께 통감의 양대 반면교사"
자기 욕망의 절제 실패의 원형</a:t>
            </a:r>
          </a:p>
        </p:txBody>
      </p:sp>
    </p:spTree>
  </p:cSld>
  <p:clrMapOvr>
    <a:masterClrMapping/>
  </p:clrMapOvr>
</p:sld>
</file>

<file path=ppt/slides/slide4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91440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100" b="1">
                <a:solidFill>
                  <a:srgbClr val="556070"/>
                </a:solidFill>
                <a:latin typeface="맑은 고딕"/>
              </a:rPr>
              <a:t>Ⅶ. 주요 사건 (8/10)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10972800" y="274320"/>
            <a:ext cx="118872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/>
            <a:r>
              <a:rPr sz="1000" b="0">
                <a:solidFill>
                  <a:srgbClr val="556070"/>
                </a:solidFill>
                <a:latin typeface="맑은 고딕"/>
              </a:rPr>
              <a:t>43 / 70</a:t>
            </a:r>
          </a:p>
        </p:txBody>
      </p:sp>
      <p:cxnSp>
        <p:nvCxnSpPr>
          <p:cNvPr id="4" name="Connector 3"/>
          <p:cNvCxnSpPr/>
          <p:nvPr/>
        </p:nvCxnSpPr>
        <p:spPr>
          <a:xfrm>
            <a:off x="457200" y="594360"/>
            <a:ext cx="11704320" cy="0"/>
          </a:xfrm>
          <a:prstGeom prst="line">
            <a:avLst/>
          </a:prstGeom>
          <a:ln w="25400">
            <a:solidFill>
              <a:srgbClr val="C8A25B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5" name="TextBox 4"/>
          <p:cNvSpPr txBox="1"/>
          <p:nvPr/>
        </p:nvSpPr>
        <p:spPr>
          <a:xfrm>
            <a:off x="457200" y="777240"/>
            <a:ext cx="11704320" cy="6400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3000" b="1">
                <a:solidFill>
                  <a:srgbClr val="1F2A44"/>
                </a:solidFill>
                <a:latin typeface="맑은 고딕"/>
              </a:rPr>
              <a:t>정관(貞觀)의 치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57200" y="1417320"/>
            <a:ext cx="1170432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400" b="0">
                <a:solidFill>
                  <a:srgbClr val="556070"/>
                </a:solidFill>
                <a:latin typeface="맑은 고딕"/>
              </a:rPr>
              <a:t>627~649 · 23년</a:t>
            </a:r>
          </a:p>
        </p:txBody>
      </p:sp>
      <p:sp>
        <p:nvSpPr>
          <p:cNvPr id="7" name="Rectangle 6"/>
          <p:cNvSpPr/>
          <p:nvPr/>
        </p:nvSpPr>
        <p:spPr>
          <a:xfrm>
            <a:off x="457200" y="2103120"/>
            <a:ext cx="11247120" cy="1828800"/>
          </a:xfrm>
          <a:prstGeom prst="rect">
            <a:avLst/>
          </a:prstGeom>
          <a:solidFill>
            <a:srgbClr val="F5EED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457200" y="2240280"/>
            <a:ext cx="1124712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/>
            <a:r>
              <a:rPr sz="1500" b="1">
                <a:solidFill>
                  <a:srgbClr val="8B1A1A"/>
                </a:solidFill>
                <a:latin typeface="맑은 고딕"/>
              </a:rPr>
              <a:t>사건 개요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731520" y="2697480"/>
            <a:ext cx="10698480" cy="118872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/>
            <a:r>
              <a:rPr sz="1400" b="0">
                <a:solidFill>
                  <a:srgbClr val="1F2A44"/>
                </a:solidFill>
                <a:latin typeface="맑은 고딕"/>
              </a:rPr>
              <a:t>당 태종 + 위징·방현령·두여회·이정 등 명신.
중국 역사상 가장 모범적 통치 시대.</a:t>
            </a:r>
          </a:p>
        </p:txBody>
      </p:sp>
      <p:sp>
        <p:nvSpPr>
          <p:cNvPr id="10" name="Rectangle 9"/>
          <p:cNvSpPr/>
          <p:nvPr/>
        </p:nvSpPr>
        <p:spPr>
          <a:xfrm>
            <a:off x="457200" y="4114800"/>
            <a:ext cx="5394960" cy="2194560"/>
          </a:xfrm>
          <a:prstGeom prst="rect">
            <a:avLst/>
          </a:prstGeom>
          <a:solidFill>
            <a:srgbClr val="FAFA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457200" y="4251960"/>
            <a:ext cx="539496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/>
            <a:r>
              <a:rPr sz="1400" b="1">
                <a:solidFill>
                  <a:srgbClr val="8B1A1A"/>
                </a:solidFill>
                <a:latin typeface="맑은 고딕"/>
              </a:rPr>
              <a:t>핵심 인물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40080" y="4663440"/>
            <a:ext cx="5029200" cy="155448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/>
            <a:r>
              <a:rPr sz="1300" b="0">
                <a:solidFill>
                  <a:srgbClr val="1F2A44"/>
                </a:solidFill>
                <a:latin typeface="맑은 고딕"/>
              </a:rPr>
              <a:t>당 태종 이세민
위징 · 방현령 · 두여회</a:t>
            </a:r>
          </a:p>
        </p:txBody>
      </p:sp>
      <p:sp>
        <p:nvSpPr>
          <p:cNvPr id="13" name="Rectangle 12"/>
          <p:cNvSpPr/>
          <p:nvPr/>
        </p:nvSpPr>
        <p:spPr>
          <a:xfrm>
            <a:off x="6309360" y="4114800"/>
            <a:ext cx="5394960" cy="2194560"/>
          </a:xfrm>
          <a:prstGeom prst="rect">
            <a:avLst/>
          </a:prstGeom>
          <a:solidFill>
            <a:srgbClr val="FAE5E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6309360" y="4251960"/>
            <a:ext cx="539496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/>
            <a:r>
              <a:rPr sz="1400" b="1">
                <a:solidFill>
                  <a:srgbClr val="8B1A1A"/>
                </a:solidFill>
                <a:latin typeface="맑은 고딕"/>
              </a:rPr>
              <a:t>통감의 교훈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6492240" y="4663440"/>
            <a:ext cx="5029200" cy="155448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/>
            <a:r>
              <a:rPr sz="1300" b="0">
                <a:solidFill>
                  <a:srgbClr val="1F2A44"/>
                </a:solidFill>
                <a:latin typeface="맑은 고딕"/>
              </a:rPr>
              <a:t>통감 사평의 단골 모범 사례
"비판 수용 + 인재 활용 + 자기 절제"</a:t>
            </a:r>
          </a:p>
        </p:txBody>
      </p:sp>
    </p:spTree>
  </p:cSld>
  <p:clrMapOvr>
    <a:masterClrMapping/>
  </p:clrMapOvr>
</p:sld>
</file>

<file path=ppt/slides/slide4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91440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100" b="1">
                <a:solidFill>
                  <a:srgbClr val="556070"/>
                </a:solidFill>
                <a:latin typeface="맑은 고딕"/>
              </a:rPr>
              <a:t>Ⅶ. 주요 사건 (9/10)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10972800" y="274320"/>
            <a:ext cx="118872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/>
            <a:r>
              <a:rPr sz="1000" b="0">
                <a:solidFill>
                  <a:srgbClr val="556070"/>
                </a:solidFill>
                <a:latin typeface="맑은 고딕"/>
              </a:rPr>
              <a:t>44 / 70</a:t>
            </a:r>
          </a:p>
        </p:txBody>
      </p:sp>
      <p:cxnSp>
        <p:nvCxnSpPr>
          <p:cNvPr id="4" name="Connector 3"/>
          <p:cNvCxnSpPr/>
          <p:nvPr/>
        </p:nvCxnSpPr>
        <p:spPr>
          <a:xfrm>
            <a:off x="457200" y="594360"/>
            <a:ext cx="11704320" cy="0"/>
          </a:xfrm>
          <a:prstGeom prst="line">
            <a:avLst/>
          </a:prstGeom>
          <a:ln w="25400">
            <a:solidFill>
              <a:srgbClr val="C8A25B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5" name="TextBox 4"/>
          <p:cNvSpPr txBox="1"/>
          <p:nvPr/>
        </p:nvSpPr>
        <p:spPr>
          <a:xfrm>
            <a:off x="457200" y="777240"/>
            <a:ext cx="11704320" cy="6400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3000" b="1">
                <a:solidFill>
                  <a:srgbClr val="1F2A44"/>
                </a:solidFill>
                <a:latin typeface="맑은 고딕"/>
              </a:rPr>
              <a:t>안사(安史)의 난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57200" y="1417320"/>
            <a:ext cx="1170432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400" b="0">
                <a:solidFill>
                  <a:srgbClr val="556070"/>
                </a:solidFill>
                <a:latin typeface="맑은 고딕"/>
              </a:rPr>
              <a:t>755~763 · 8년</a:t>
            </a:r>
          </a:p>
        </p:txBody>
      </p:sp>
      <p:sp>
        <p:nvSpPr>
          <p:cNvPr id="7" name="Rectangle 6"/>
          <p:cNvSpPr/>
          <p:nvPr/>
        </p:nvSpPr>
        <p:spPr>
          <a:xfrm>
            <a:off x="457200" y="2103120"/>
            <a:ext cx="11247120" cy="1828800"/>
          </a:xfrm>
          <a:prstGeom prst="rect">
            <a:avLst/>
          </a:prstGeom>
          <a:solidFill>
            <a:srgbClr val="F5EED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457200" y="2240280"/>
            <a:ext cx="1124712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/>
            <a:r>
              <a:rPr sz="1500" b="1">
                <a:solidFill>
                  <a:srgbClr val="8B1A1A"/>
                </a:solidFill>
                <a:latin typeface="맑은 고딕"/>
              </a:rPr>
              <a:t>사건 개요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731520" y="2697480"/>
            <a:ext cx="10698480" cy="118872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/>
            <a:r>
              <a:rPr sz="1400" b="0">
                <a:solidFill>
                  <a:srgbClr val="1F2A44"/>
                </a:solidFill>
                <a:latin typeface="맑은 고딕"/>
              </a:rPr>
              <a:t>현종 만년의 사치·양귀비 총애 → 안녹산·사사명 봉기.
인구 절반 사라짐. 당의 결정적 분기점.</a:t>
            </a:r>
          </a:p>
        </p:txBody>
      </p:sp>
      <p:sp>
        <p:nvSpPr>
          <p:cNvPr id="10" name="Rectangle 9"/>
          <p:cNvSpPr/>
          <p:nvPr/>
        </p:nvSpPr>
        <p:spPr>
          <a:xfrm>
            <a:off x="457200" y="4114800"/>
            <a:ext cx="5394960" cy="2194560"/>
          </a:xfrm>
          <a:prstGeom prst="rect">
            <a:avLst/>
          </a:prstGeom>
          <a:solidFill>
            <a:srgbClr val="FAFA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457200" y="4251960"/>
            <a:ext cx="539496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/>
            <a:r>
              <a:rPr sz="1400" b="1">
                <a:solidFill>
                  <a:srgbClr val="8B1A1A"/>
                </a:solidFill>
                <a:latin typeface="맑은 고딕"/>
              </a:rPr>
              <a:t>핵심 인물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40080" y="4663440"/>
            <a:ext cx="5029200" cy="155448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/>
            <a:r>
              <a:rPr sz="1300" b="0">
                <a:solidFill>
                  <a:srgbClr val="1F2A44"/>
                </a:solidFill>
                <a:latin typeface="맑은 고딕"/>
              </a:rPr>
              <a:t>당 현종 · 양귀비 · 양국충
안녹산 · 사사명 · 곽자의</a:t>
            </a:r>
          </a:p>
        </p:txBody>
      </p:sp>
      <p:sp>
        <p:nvSpPr>
          <p:cNvPr id="13" name="Rectangle 12"/>
          <p:cNvSpPr/>
          <p:nvPr/>
        </p:nvSpPr>
        <p:spPr>
          <a:xfrm>
            <a:off x="6309360" y="4114800"/>
            <a:ext cx="5394960" cy="2194560"/>
          </a:xfrm>
          <a:prstGeom prst="rect">
            <a:avLst/>
          </a:prstGeom>
          <a:solidFill>
            <a:srgbClr val="FAE5E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6309360" y="4251960"/>
            <a:ext cx="539496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/>
            <a:r>
              <a:rPr sz="1400" b="1">
                <a:solidFill>
                  <a:srgbClr val="8B1A1A"/>
                </a:solidFill>
                <a:latin typeface="맑은 고딕"/>
              </a:rPr>
              <a:t>통감의 교훈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6492240" y="4663440"/>
            <a:ext cx="5029200" cy="155448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/>
            <a:r>
              <a:rPr sz="1300" b="0">
                <a:solidFill>
                  <a:srgbClr val="1F2A44"/>
                </a:solidFill>
                <a:latin typeface="맑은 고딕"/>
              </a:rPr>
              <a:t>"늙은 명군의 비극"
초심 상실의 위험성 (정관정요 신종편과 짝)</a:t>
            </a:r>
          </a:p>
        </p:txBody>
      </p:sp>
    </p:spTree>
  </p:cSld>
  <p:clrMapOvr>
    <a:masterClrMapping/>
  </p:clrMapOvr>
</p:sld>
</file>

<file path=ppt/slides/slide4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91440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100" b="1">
                <a:solidFill>
                  <a:srgbClr val="556070"/>
                </a:solidFill>
                <a:latin typeface="맑은 고딕"/>
              </a:rPr>
              <a:t>Ⅶ. 주요 사건 (10/10)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10972800" y="274320"/>
            <a:ext cx="118872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/>
            <a:r>
              <a:rPr sz="1000" b="0">
                <a:solidFill>
                  <a:srgbClr val="556070"/>
                </a:solidFill>
                <a:latin typeface="맑은 고딕"/>
              </a:rPr>
              <a:t>45 / 70</a:t>
            </a:r>
          </a:p>
        </p:txBody>
      </p:sp>
      <p:cxnSp>
        <p:nvCxnSpPr>
          <p:cNvPr id="4" name="Connector 3"/>
          <p:cNvCxnSpPr/>
          <p:nvPr/>
        </p:nvCxnSpPr>
        <p:spPr>
          <a:xfrm>
            <a:off x="457200" y="594360"/>
            <a:ext cx="11704320" cy="0"/>
          </a:xfrm>
          <a:prstGeom prst="line">
            <a:avLst/>
          </a:prstGeom>
          <a:ln w="25400">
            <a:solidFill>
              <a:srgbClr val="C8A25B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5" name="TextBox 4"/>
          <p:cNvSpPr txBox="1"/>
          <p:nvPr/>
        </p:nvSpPr>
        <p:spPr>
          <a:xfrm>
            <a:off x="457200" y="777240"/>
            <a:ext cx="11704320" cy="6400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3000" b="1">
                <a:solidFill>
                  <a:srgbClr val="1F2A44"/>
                </a:solidFill>
                <a:latin typeface="맑은 고딕"/>
              </a:rPr>
              <a:t>오대(五代) 53년의 혼란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57200" y="1417320"/>
            <a:ext cx="1170432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400" b="0">
                <a:solidFill>
                  <a:srgbClr val="556070"/>
                </a:solidFill>
                <a:latin typeface="맑은 고딕"/>
              </a:rPr>
              <a:t>907~960 · 5왕조</a:t>
            </a:r>
          </a:p>
        </p:txBody>
      </p:sp>
      <p:sp>
        <p:nvSpPr>
          <p:cNvPr id="7" name="Rectangle 6"/>
          <p:cNvSpPr/>
          <p:nvPr/>
        </p:nvSpPr>
        <p:spPr>
          <a:xfrm>
            <a:off x="457200" y="2103120"/>
            <a:ext cx="11247120" cy="1828800"/>
          </a:xfrm>
          <a:prstGeom prst="rect">
            <a:avLst/>
          </a:prstGeom>
          <a:solidFill>
            <a:srgbClr val="F5EED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457200" y="2240280"/>
            <a:ext cx="1124712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/>
            <a:r>
              <a:rPr sz="1500" b="1">
                <a:solidFill>
                  <a:srgbClr val="8B1A1A"/>
                </a:solidFill>
                <a:latin typeface="맑은 고딕"/>
              </a:rPr>
              <a:t>사건 개요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731520" y="2697480"/>
            <a:ext cx="10698480" cy="118872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/>
            <a:r>
              <a:rPr sz="1400" b="0">
                <a:solidFill>
                  <a:srgbClr val="1F2A44"/>
                </a:solidFill>
                <a:latin typeface="맑은 고딕"/>
              </a:rPr>
              <a:t>5개 단명 왕조 평균 11년 — 무인 정치의 극치.
후주 세종이 명군이었으나 일찍 죽음.</a:t>
            </a:r>
          </a:p>
        </p:txBody>
      </p:sp>
      <p:sp>
        <p:nvSpPr>
          <p:cNvPr id="10" name="Rectangle 9"/>
          <p:cNvSpPr/>
          <p:nvPr/>
        </p:nvSpPr>
        <p:spPr>
          <a:xfrm>
            <a:off x="457200" y="4114800"/>
            <a:ext cx="5394960" cy="2194560"/>
          </a:xfrm>
          <a:prstGeom prst="rect">
            <a:avLst/>
          </a:prstGeom>
          <a:solidFill>
            <a:srgbClr val="FAFA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457200" y="4251960"/>
            <a:ext cx="539496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/>
            <a:r>
              <a:rPr sz="1400" b="1">
                <a:solidFill>
                  <a:srgbClr val="8B1A1A"/>
                </a:solidFill>
                <a:latin typeface="맑은 고딕"/>
              </a:rPr>
              <a:t>핵심 인물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40080" y="4663440"/>
            <a:ext cx="5029200" cy="155448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/>
            <a:r>
              <a:rPr sz="1300" b="0">
                <a:solidFill>
                  <a:srgbClr val="1F2A44"/>
                </a:solidFill>
                <a:latin typeface="맑은 고딕"/>
              </a:rPr>
              <a:t>주전충·이존욱·석경당
후주 시영(柴榮) · 조광윤</a:t>
            </a:r>
          </a:p>
        </p:txBody>
      </p:sp>
      <p:sp>
        <p:nvSpPr>
          <p:cNvPr id="13" name="Rectangle 12"/>
          <p:cNvSpPr/>
          <p:nvPr/>
        </p:nvSpPr>
        <p:spPr>
          <a:xfrm>
            <a:off x="6309360" y="4114800"/>
            <a:ext cx="5394960" cy="2194560"/>
          </a:xfrm>
          <a:prstGeom prst="rect">
            <a:avLst/>
          </a:prstGeom>
          <a:solidFill>
            <a:srgbClr val="FAE5E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6309360" y="4251960"/>
            <a:ext cx="539496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/>
            <a:r>
              <a:rPr sz="1400" b="1">
                <a:solidFill>
                  <a:srgbClr val="8B1A1A"/>
                </a:solidFill>
                <a:latin typeface="맑은 고딕"/>
              </a:rPr>
              <a:t>통감의 교훈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6492240" y="4663440"/>
            <a:ext cx="5029200" cy="155448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/>
            <a:r>
              <a:rPr sz="1300" b="0">
                <a:solidFill>
                  <a:srgbClr val="1F2A44"/>
                </a:solidFill>
                <a:latin typeface="맑은 고딕"/>
              </a:rPr>
              <a:t>통감의 끝점 = 송 건국 직전
"무인의 시대를 끝낼 문치(文治) 기대"</a:t>
            </a:r>
          </a:p>
        </p:txBody>
      </p:sp>
    </p:spTree>
  </p:cSld>
  <p:clrMapOvr>
    <a:masterClrMapping/>
  </p:clrMapOvr>
</p:sld>
</file>

<file path=ppt/slides/slide4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91440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100" b="1">
                <a:solidFill>
                  <a:srgbClr val="556070"/>
                </a:solidFill>
                <a:latin typeface="맑은 고딕"/>
              </a:rPr>
              <a:t>Ⅷ. 명구 (1/8)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10972800" y="274320"/>
            <a:ext cx="118872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/>
            <a:r>
              <a:rPr sz="1000" b="0">
                <a:solidFill>
                  <a:srgbClr val="556070"/>
                </a:solidFill>
                <a:latin typeface="맑은 고딕"/>
              </a:rPr>
              <a:t>46 / 70</a:t>
            </a:r>
          </a:p>
        </p:txBody>
      </p:sp>
      <p:cxnSp>
        <p:nvCxnSpPr>
          <p:cNvPr id="4" name="Connector 3"/>
          <p:cNvCxnSpPr/>
          <p:nvPr/>
        </p:nvCxnSpPr>
        <p:spPr>
          <a:xfrm>
            <a:off x="457200" y="594360"/>
            <a:ext cx="11704320" cy="0"/>
          </a:xfrm>
          <a:prstGeom prst="line">
            <a:avLst/>
          </a:prstGeom>
          <a:ln w="25400">
            <a:solidFill>
              <a:srgbClr val="C8A25B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5" name="TextBox 4"/>
          <p:cNvSpPr txBox="1"/>
          <p:nvPr/>
        </p:nvSpPr>
        <p:spPr>
          <a:xfrm>
            <a:off x="457200" y="1097280"/>
            <a:ext cx="11247120" cy="219456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/>
            <a:r>
              <a:rPr sz="3000" b="1">
                <a:solidFill>
                  <a:srgbClr val="8B1A1A"/>
                </a:solidFill>
                <a:latin typeface="맑은 고딕"/>
              </a:rPr>
              <a:t>鑑 前 世 之 興 衰
考 當 今 之 得 失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57200" y="3383280"/>
            <a:ext cx="1124712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/>
            <a:r>
              <a:rPr sz="2000" b="0">
                <a:solidFill>
                  <a:srgbClr val="556070"/>
                </a:solidFill>
                <a:latin typeface="맑은 고딕"/>
              </a:rPr>
              <a:t>감전세지흥쇠 · 고당금지득실</a:t>
            </a:r>
          </a:p>
        </p:txBody>
      </p:sp>
      <p:cxnSp>
        <p:nvCxnSpPr>
          <p:cNvPr id="7" name="Connector 6"/>
          <p:cNvCxnSpPr/>
          <p:nvPr/>
        </p:nvCxnSpPr>
        <p:spPr>
          <a:xfrm>
            <a:off x="5029200" y="4023360"/>
            <a:ext cx="2103120" cy="0"/>
          </a:xfrm>
          <a:prstGeom prst="line">
            <a:avLst/>
          </a:prstGeom>
          <a:ln w="19050">
            <a:solidFill>
              <a:srgbClr val="C8A25B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8" name="TextBox 7"/>
          <p:cNvSpPr txBox="1"/>
          <p:nvPr/>
        </p:nvSpPr>
        <p:spPr>
          <a:xfrm>
            <a:off x="457200" y="4297680"/>
            <a:ext cx="11247120" cy="137160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/>
            <a:r>
              <a:rPr sz="2000" b="1">
                <a:solidFill>
                  <a:srgbClr val="1F2A44"/>
                </a:solidFill>
                <a:latin typeface="맑은 고딕"/>
              </a:rPr>
              <a:t>지난 시대의 흥망을 거울 삼아 지금의 득실을 살핀다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57200" y="5943600"/>
            <a:ext cx="1124712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/>
            <a:r>
              <a:rPr sz="1500" b="0">
                <a:solidFill>
                  <a:srgbClr val="556070"/>
                </a:solidFill>
                <a:latin typeface="맑은 고딕"/>
              </a:rPr>
              <a:t>— 사마광 「자치통감서(序)」</a:t>
            </a:r>
          </a:p>
        </p:txBody>
      </p:sp>
    </p:spTree>
  </p:cSld>
  <p:clrMapOvr>
    <a:masterClrMapping/>
  </p:clrMapOvr>
</p:sld>
</file>

<file path=ppt/slides/slide4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91440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100" b="1">
                <a:solidFill>
                  <a:srgbClr val="556070"/>
                </a:solidFill>
                <a:latin typeface="맑은 고딕"/>
              </a:rPr>
              <a:t>Ⅷ. 명구 (2/8)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10972800" y="274320"/>
            <a:ext cx="118872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/>
            <a:r>
              <a:rPr sz="1000" b="0">
                <a:solidFill>
                  <a:srgbClr val="556070"/>
                </a:solidFill>
                <a:latin typeface="맑은 고딕"/>
              </a:rPr>
              <a:t>47 / 70</a:t>
            </a:r>
          </a:p>
        </p:txBody>
      </p:sp>
      <p:cxnSp>
        <p:nvCxnSpPr>
          <p:cNvPr id="4" name="Connector 3"/>
          <p:cNvCxnSpPr/>
          <p:nvPr/>
        </p:nvCxnSpPr>
        <p:spPr>
          <a:xfrm>
            <a:off x="457200" y="594360"/>
            <a:ext cx="11704320" cy="0"/>
          </a:xfrm>
          <a:prstGeom prst="line">
            <a:avLst/>
          </a:prstGeom>
          <a:ln w="25400">
            <a:solidFill>
              <a:srgbClr val="C8A25B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5" name="TextBox 4"/>
          <p:cNvSpPr txBox="1"/>
          <p:nvPr/>
        </p:nvSpPr>
        <p:spPr>
          <a:xfrm>
            <a:off x="457200" y="1097280"/>
            <a:ext cx="11247120" cy="219456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/>
            <a:r>
              <a:rPr sz="2200" b="1">
                <a:solidFill>
                  <a:srgbClr val="8B1A1A"/>
                </a:solidFill>
                <a:latin typeface="맑은 고딕"/>
              </a:rPr>
              <a:t>天 子 之 職 莫 大 於 禮
禮 莫 大 於 分   分 莫 大 於 名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57200" y="3383280"/>
            <a:ext cx="1124712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/>
            <a:r>
              <a:rPr sz="2000" b="0">
                <a:solidFill>
                  <a:srgbClr val="556070"/>
                </a:solidFill>
                <a:latin typeface="맑은 고딕"/>
              </a:rPr>
              <a:t>천자지직 막대어례 · 예 막대어분 분막대어명</a:t>
            </a:r>
          </a:p>
        </p:txBody>
      </p:sp>
      <p:cxnSp>
        <p:nvCxnSpPr>
          <p:cNvPr id="7" name="Connector 6"/>
          <p:cNvCxnSpPr/>
          <p:nvPr/>
        </p:nvCxnSpPr>
        <p:spPr>
          <a:xfrm>
            <a:off x="5029200" y="4023360"/>
            <a:ext cx="2103120" cy="0"/>
          </a:xfrm>
          <a:prstGeom prst="line">
            <a:avLst/>
          </a:prstGeom>
          <a:ln w="19050">
            <a:solidFill>
              <a:srgbClr val="C8A25B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8" name="TextBox 7"/>
          <p:cNvSpPr txBox="1"/>
          <p:nvPr/>
        </p:nvSpPr>
        <p:spPr>
          <a:xfrm>
            <a:off x="457200" y="4297680"/>
            <a:ext cx="11247120" cy="137160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/>
            <a:r>
              <a:rPr sz="2000" b="1">
                <a:solidFill>
                  <a:srgbClr val="1F2A44"/>
                </a:solidFill>
                <a:latin typeface="맑은 고딕"/>
              </a:rPr>
              <a:t>천자의 직무는 예보다 큰 것이 없고, 예는 분(分), 분은 명(名)이 가장 크다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57200" y="5943600"/>
            <a:ext cx="1124712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/>
            <a:r>
              <a:rPr sz="1500" b="0">
                <a:solidFill>
                  <a:srgbClr val="556070"/>
                </a:solidFill>
                <a:latin typeface="맑은 고딕"/>
              </a:rPr>
              <a:t>— 통감 첫 사평 (BC 403 삼가분진)</a:t>
            </a:r>
          </a:p>
        </p:txBody>
      </p:sp>
    </p:spTree>
  </p:cSld>
  <p:clrMapOvr>
    <a:masterClrMapping/>
  </p:clrMapOvr>
</p:sld>
</file>

<file path=ppt/slides/slide4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91440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100" b="1">
                <a:solidFill>
                  <a:srgbClr val="556070"/>
                </a:solidFill>
                <a:latin typeface="맑은 고딕"/>
              </a:rPr>
              <a:t>Ⅷ. 명구 (3/8)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10972800" y="274320"/>
            <a:ext cx="118872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/>
            <a:r>
              <a:rPr sz="1000" b="0">
                <a:solidFill>
                  <a:srgbClr val="556070"/>
                </a:solidFill>
                <a:latin typeface="맑은 고딕"/>
              </a:rPr>
              <a:t>48 / 70</a:t>
            </a:r>
          </a:p>
        </p:txBody>
      </p:sp>
      <p:cxnSp>
        <p:nvCxnSpPr>
          <p:cNvPr id="4" name="Connector 3"/>
          <p:cNvCxnSpPr/>
          <p:nvPr/>
        </p:nvCxnSpPr>
        <p:spPr>
          <a:xfrm>
            <a:off x="457200" y="594360"/>
            <a:ext cx="11704320" cy="0"/>
          </a:xfrm>
          <a:prstGeom prst="line">
            <a:avLst/>
          </a:prstGeom>
          <a:ln w="25400">
            <a:solidFill>
              <a:srgbClr val="C8A25B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5" name="TextBox 4"/>
          <p:cNvSpPr txBox="1"/>
          <p:nvPr/>
        </p:nvSpPr>
        <p:spPr>
          <a:xfrm>
            <a:off x="457200" y="1097280"/>
            <a:ext cx="11247120" cy="219456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/>
            <a:r>
              <a:rPr sz="2800" b="1">
                <a:solidFill>
                  <a:srgbClr val="8B1A1A"/>
                </a:solidFill>
                <a:latin typeface="맑은 고딕"/>
              </a:rPr>
              <a:t>才 者   德 之 資 也
德 者   才 之 帥 也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57200" y="3383280"/>
            <a:ext cx="1124712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/>
            <a:r>
              <a:rPr sz="2000" b="0">
                <a:solidFill>
                  <a:srgbClr val="556070"/>
                </a:solidFill>
                <a:latin typeface="맑은 고딕"/>
              </a:rPr>
              <a:t>재자 덕지자야 · 덕자 재지수야</a:t>
            </a:r>
          </a:p>
        </p:txBody>
      </p:sp>
      <p:cxnSp>
        <p:nvCxnSpPr>
          <p:cNvPr id="7" name="Connector 6"/>
          <p:cNvCxnSpPr/>
          <p:nvPr/>
        </p:nvCxnSpPr>
        <p:spPr>
          <a:xfrm>
            <a:off x="5029200" y="4023360"/>
            <a:ext cx="2103120" cy="0"/>
          </a:xfrm>
          <a:prstGeom prst="line">
            <a:avLst/>
          </a:prstGeom>
          <a:ln w="19050">
            <a:solidFill>
              <a:srgbClr val="C8A25B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8" name="TextBox 7"/>
          <p:cNvSpPr txBox="1"/>
          <p:nvPr/>
        </p:nvSpPr>
        <p:spPr>
          <a:xfrm>
            <a:off x="457200" y="4297680"/>
            <a:ext cx="11247120" cy="137160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/>
            <a:r>
              <a:rPr sz="2000" b="1">
                <a:solidFill>
                  <a:srgbClr val="1F2A44"/>
                </a:solidFill>
                <a:latin typeface="맑은 고딕"/>
              </a:rPr>
              <a:t>재(才)는 덕(德)의 보조요, 덕은 재의 장수(將帥)다 — 인재 평가의 두 축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57200" y="5943600"/>
            <a:ext cx="1124712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/>
            <a:r>
              <a:rPr sz="1500" b="0">
                <a:solidFill>
                  <a:srgbClr val="556070"/>
                </a:solidFill>
                <a:latin typeface="맑은 고딕"/>
              </a:rPr>
              <a:t>— 통감 사평 (진 지백의 멸문에서)</a:t>
            </a:r>
          </a:p>
        </p:txBody>
      </p:sp>
    </p:spTree>
  </p:cSld>
  <p:clrMapOvr>
    <a:masterClrMapping/>
  </p:clrMapOvr>
</p:sld>
</file>

<file path=ppt/slides/slide4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91440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100" b="1">
                <a:solidFill>
                  <a:srgbClr val="556070"/>
                </a:solidFill>
                <a:latin typeface="맑은 고딕"/>
              </a:rPr>
              <a:t>Ⅷ. 명구 (4/8)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10972800" y="274320"/>
            <a:ext cx="118872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/>
            <a:r>
              <a:rPr sz="1000" b="0">
                <a:solidFill>
                  <a:srgbClr val="556070"/>
                </a:solidFill>
                <a:latin typeface="맑은 고딕"/>
              </a:rPr>
              <a:t>49 / 70</a:t>
            </a:r>
          </a:p>
        </p:txBody>
      </p:sp>
      <p:cxnSp>
        <p:nvCxnSpPr>
          <p:cNvPr id="4" name="Connector 3"/>
          <p:cNvCxnSpPr/>
          <p:nvPr/>
        </p:nvCxnSpPr>
        <p:spPr>
          <a:xfrm>
            <a:off x="457200" y="594360"/>
            <a:ext cx="11704320" cy="0"/>
          </a:xfrm>
          <a:prstGeom prst="line">
            <a:avLst/>
          </a:prstGeom>
          <a:ln w="25400">
            <a:solidFill>
              <a:srgbClr val="C8A25B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5" name="TextBox 4"/>
          <p:cNvSpPr txBox="1"/>
          <p:nvPr/>
        </p:nvSpPr>
        <p:spPr>
          <a:xfrm>
            <a:off x="457200" y="1097280"/>
            <a:ext cx="11247120" cy="219456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/>
            <a:r>
              <a:rPr sz="5000" b="1">
                <a:solidFill>
                  <a:srgbClr val="8B1A1A"/>
                </a:solidFill>
                <a:latin typeface="맑은 고딕"/>
              </a:rPr>
              <a:t>兼 聽 則 明   偏 信 則 暗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57200" y="3383280"/>
            <a:ext cx="1124712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/>
            <a:r>
              <a:rPr sz="2000" b="0">
                <a:solidFill>
                  <a:srgbClr val="556070"/>
                </a:solidFill>
                <a:latin typeface="맑은 고딕"/>
              </a:rPr>
              <a:t>겸청즉명 편신즉암</a:t>
            </a:r>
          </a:p>
        </p:txBody>
      </p:sp>
      <p:cxnSp>
        <p:nvCxnSpPr>
          <p:cNvPr id="7" name="Connector 6"/>
          <p:cNvCxnSpPr/>
          <p:nvPr/>
        </p:nvCxnSpPr>
        <p:spPr>
          <a:xfrm>
            <a:off x="5029200" y="4023360"/>
            <a:ext cx="2103120" cy="0"/>
          </a:xfrm>
          <a:prstGeom prst="line">
            <a:avLst/>
          </a:prstGeom>
          <a:ln w="19050">
            <a:solidFill>
              <a:srgbClr val="C8A25B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8" name="TextBox 7"/>
          <p:cNvSpPr txBox="1"/>
          <p:nvPr/>
        </p:nvSpPr>
        <p:spPr>
          <a:xfrm>
            <a:off x="457200" y="4297680"/>
            <a:ext cx="11247120" cy="137160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/>
            <a:r>
              <a:rPr sz="2000" b="1">
                <a:solidFill>
                  <a:srgbClr val="1F2A44"/>
                </a:solidFill>
                <a:latin typeface="맑은 고딕"/>
              </a:rPr>
              <a:t>두루 들으면 밝아지고, 한쪽 말만 믿으면 어두워진다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57200" y="5943600"/>
            <a:ext cx="1124712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/>
            <a:r>
              <a:rPr sz="1500" b="0">
                <a:solidFill>
                  <a:srgbClr val="556070"/>
                </a:solidFill>
                <a:latin typeface="맑은 고딕"/>
              </a:rPr>
              <a:t>— 위징 → 당 태종 (정관정요·통감 한기·당기)</a:t>
            </a:r>
          </a:p>
        </p:txBody>
      </p:sp>
    </p:spTree>
  </p:cSld>
  <p:clrMapOvr>
    <a:masterClrMapping/>
  </p:clrMapOvr>
</p:sld>
</file>

<file path=ppt/slides/slide5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91440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100" b="1">
                <a:solidFill>
                  <a:srgbClr val="556070"/>
                </a:solidFill>
                <a:latin typeface="맑은 고딕"/>
              </a:rPr>
              <a:t>Ⅷ. 명구 (5/8)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10972800" y="274320"/>
            <a:ext cx="118872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/>
            <a:r>
              <a:rPr sz="1000" b="0">
                <a:solidFill>
                  <a:srgbClr val="556070"/>
                </a:solidFill>
                <a:latin typeface="맑은 고딕"/>
              </a:rPr>
              <a:t>50 / 70</a:t>
            </a:r>
          </a:p>
        </p:txBody>
      </p:sp>
      <p:cxnSp>
        <p:nvCxnSpPr>
          <p:cNvPr id="4" name="Connector 3"/>
          <p:cNvCxnSpPr/>
          <p:nvPr/>
        </p:nvCxnSpPr>
        <p:spPr>
          <a:xfrm>
            <a:off x="457200" y="594360"/>
            <a:ext cx="11704320" cy="0"/>
          </a:xfrm>
          <a:prstGeom prst="line">
            <a:avLst/>
          </a:prstGeom>
          <a:ln w="25400">
            <a:solidFill>
              <a:srgbClr val="C8A25B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5" name="TextBox 4"/>
          <p:cNvSpPr txBox="1"/>
          <p:nvPr/>
        </p:nvSpPr>
        <p:spPr>
          <a:xfrm>
            <a:off x="457200" y="1097280"/>
            <a:ext cx="11247120" cy="219456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/>
            <a:r>
              <a:rPr sz="8000" b="1">
                <a:solidFill>
                  <a:srgbClr val="8B1A1A"/>
                </a:solidFill>
                <a:latin typeface="맑은 고딕"/>
              </a:rPr>
              <a:t>民 以 食 爲 天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57200" y="3383280"/>
            <a:ext cx="1124712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/>
            <a:r>
              <a:rPr sz="2000" b="0">
                <a:solidFill>
                  <a:srgbClr val="556070"/>
                </a:solidFill>
                <a:latin typeface="맑은 고딕"/>
              </a:rPr>
              <a:t>민 이 식 위 천</a:t>
            </a:r>
          </a:p>
        </p:txBody>
      </p:sp>
      <p:cxnSp>
        <p:nvCxnSpPr>
          <p:cNvPr id="7" name="Connector 6"/>
          <p:cNvCxnSpPr/>
          <p:nvPr/>
        </p:nvCxnSpPr>
        <p:spPr>
          <a:xfrm>
            <a:off x="5029200" y="4023360"/>
            <a:ext cx="2103120" cy="0"/>
          </a:xfrm>
          <a:prstGeom prst="line">
            <a:avLst/>
          </a:prstGeom>
          <a:ln w="19050">
            <a:solidFill>
              <a:srgbClr val="C8A25B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8" name="TextBox 7"/>
          <p:cNvSpPr txBox="1"/>
          <p:nvPr/>
        </p:nvSpPr>
        <p:spPr>
          <a:xfrm>
            <a:off x="457200" y="4297680"/>
            <a:ext cx="11247120" cy="137160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/>
            <a:r>
              <a:rPr sz="2000" b="1">
                <a:solidFill>
                  <a:srgbClr val="1F2A44"/>
                </a:solidFill>
                <a:latin typeface="맑은 고딕"/>
              </a:rPr>
              <a:t>백성에게는 먹을 것이 곧 하늘 — 한 무제기·여러 사평에 인용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57200" y="5943600"/>
            <a:ext cx="1124712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/>
            <a:r>
              <a:rPr sz="1500" b="0">
                <a:solidFill>
                  <a:srgbClr val="556070"/>
                </a:solidFill>
                <a:latin typeface="맑은 고딕"/>
              </a:rPr>
              <a:t>— 역이기(酈食其) → 한 고조 (한기)</a:t>
            </a:r>
          </a:p>
        </p:txBody>
      </p:sp>
    </p:spTree>
  </p:cSld>
  <p:clrMapOvr>
    <a:masterClrMapping/>
  </p:clrMapOvr>
</p:sld>
</file>

<file path=ppt/slides/slide5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91440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100" b="1">
                <a:solidFill>
                  <a:srgbClr val="556070"/>
                </a:solidFill>
                <a:latin typeface="맑은 고딕"/>
              </a:rPr>
              <a:t>Ⅷ. 명구 (6/8)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10972800" y="274320"/>
            <a:ext cx="118872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/>
            <a:r>
              <a:rPr sz="1000" b="0">
                <a:solidFill>
                  <a:srgbClr val="556070"/>
                </a:solidFill>
                <a:latin typeface="맑은 고딕"/>
              </a:rPr>
              <a:t>51 / 70</a:t>
            </a:r>
          </a:p>
        </p:txBody>
      </p:sp>
      <p:cxnSp>
        <p:nvCxnSpPr>
          <p:cNvPr id="4" name="Connector 3"/>
          <p:cNvCxnSpPr/>
          <p:nvPr/>
        </p:nvCxnSpPr>
        <p:spPr>
          <a:xfrm>
            <a:off x="457200" y="594360"/>
            <a:ext cx="11704320" cy="0"/>
          </a:xfrm>
          <a:prstGeom prst="line">
            <a:avLst/>
          </a:prstGeom>
          <a:ln w="25400">
            <a:solidFill>
              <a:srgbClr val="C8A25B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5" name="TextBox 4"/>
          <p:cNvSpPr txBox="1"/>
          <p:nvPr/>
        </p:nvSpPr>
        <p:spPr>
          <a:xfrm>
            <a:off x="457200" y="1097280"/>
            <a:ext cx="11247120" cy="219456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/>
            <a:r>
              <a:rPr sz="4400" b="1">
                <a:solidFill>
                  <a:srgbClr val="8B1A1A"/>
                </a:solidFill>
                <a:latin typeface="맑은 고딕"/>
              </a:rPr>
              <a:t>上 有 所 好   下 必 甚 焉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57200" y="3383280"/>
            <a:ext cx="1124712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/>
            <a:r>
              <a:rPr sz="2000" b="0">
                <a:solidFill>
                  <a:srgbClr val="556070"/>
                </a:solidFill>
                <a:latin typeface="맑은 고딕"/>
              </a:rPr>
              <a:t>상유소호 하필심언</a:t>
            </a:r>
          </a:p>
        </p:txBody>
      </p:sp>
      <p:cxnSp>
        <p:nvCxnSpPr>
          <p:cNvPr id="7" name="Connector 6"/>
          <p:cNvCxnSpPr/>
          <p:nvPr/>
        </p:nvCxnSpPr>
        <p:spPr>
          <a:xfrm>
            <a:off x="5029200" y="4023360"/>
            <a:ext cx="2103120" cy="0"/>
          </a:xfrm>
          <a:prstGeom prst="line">
            <a:avLst/>
          </a:prstGeom>
          <a:ln w="19050">
            <a:solidFill>
              <a:srgbClr val="C8A25B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8" name="TextBox 7"/>
          <p:cNvSpPr txBox="1"/>
          <p:nvPr/>
        </p:nvSpPr>
        <p:spPr>
          <a:xfrm>
            <a:off x="457200" y="4297680"/>
            <a:ext cx="11247120" cy="137160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/>
            <a:r>
              <a:rPr sz="2000" b="1">
                <a:solidFill>
                  <a:srgbClr val="1F2A44"/>
                </a:solidFill>
                <a:latin typeface="맑은 고딕"/>
              </a:rPr>
              <a:t>윗사람이 좋아하는 바가 있으면 아랫사람이 반드시 그것을 따라 심해진다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57200" y="5943600"/>
            <a:ext cx="1124712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/>
            <a:r>
              <a:rPr sz="1500" b="0">
                <a:solidFill>
                  <a:srgbClr val="556070"/>
                </a:solidFill>
                <a:latin typeface="맑은 고딕"/>
              </a:rPr>
              <a:t>— 통감 사평 — 군주의 호오(好惡)의 위험성</a:t>
            </a:r>
          </a:p>
        </p:txBody>
      </p:sp>
    </p:spTree>
  </p:cSld>
  <p:clrMapOvr>
    <a:masterClrMapping/>
  </p:clrMapOvr>
</p:sld>
</file>

<file path=ppt/slides/slide5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91440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100" b="1">
                <a:solidFill>
                  <a:srgbClr val="556070"/>
                </a:solidFill>
                <a:latin typeface="맑은 고딕"/>
              </a:rPr>
              <a:t>Ⅷ. 명구 (7/8)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10972800" y="274320"/>
            <a:ext cx="118872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/>
            <a:r>
              <a:rPr sz="1000" b="0">
                <a:solidFill>
                  <a:srgbClr val="556070"/>
                </a:solidFill>
                <a:latin typeface="맑은 고딕"/>
              </a:rPr>
              <a:t>52 / 70</a:t>
            </a:r>
          </a:p>
        </p:txBody>
      </p:sp>
      <p:cxnSp>
        <p:nvCxnSpPr>
          <p:cNvPr id="4" name="Connector 3"/>
          <p:cNvCxnSpPr/>
          <p:nvPr/>
        </p:nvCxnSpPr>
        <p:spPr>
          <a:xfrm>
            <a:off x="457200" y="594360"/>
            <a:ext cx="11704320" cy="0"/>
          </a:xfrm>
          <a:prstGeom prst="line">
            <a:avLst/>
          </a:prstGeom>
          <a:ln w="25400">
            <a:solidFill>
              <a:srgbClr val="C8A25B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5" name="TextBox 4"/>
          <p:cNvSpPr txBox="1"/>
          <p:nvPr/>
        </p:nvSpPr>
        <p:spPr>
          <a:xfrm>
            <a:off x="457200" y="1097280"/>
            <a:ext cx="11247120" cy="219456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/>
            <a:r>
              <a:rPr sz="4400" b="1">
                <a:solidFill>
                  <a:srgbClr val="8B1A1A"/>
                </a:solidFill>
                <a:latin typeface="맑은 고딕"/>
              </a:rPr>
              <a:t>禍 福 無 門   惟 人 自 召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57200" y="3383280"/>
            <a:ext cx="1124712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/>
            <a:r>
              <a:rPr sz="2000" b="0">
                <a:solidFill>
                  <a:srgbClr val="556070"/>
                </a:solidFill>
                <a:latin typeface="맑은 고딕"/>
              </a:rPr>
              <a:t>화복무문 유인자소</a:t>
            </a:r>
          </a:p>
        </p:txBody>
      </p:sp>
      <p:cxnSp>
        <p:nvCxnSpPr>
          <p:cNvPr id="7" name="Connector 6"/>
          <p:cNvCxnSpPr/>
          <p:nvPr/>
        </p:nvCxnSpPr>
        <p:spPr>
          <a:xfrm>
            <a:off x="5029200" y="4023360"/>
            <a:ext cx="2103120" cy="0"/>
          </a:xfrm>
          <a:prstGeom prst="line">
            <a:avLst/>
          </a:prstGeom>
          <a:ln w="19050">
            <a:solidFill>
              <a:srgbClr val="C8A25B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8" name="TextBox 7"/>
          <p:cNvSpPr txBox="1"/>
          <p:nvPr/>
        </p:nvSpPr>
        <p:spPr>
          <a:xfrm>
            <a:off x="457200" y="4297680"/>
            <a:ext cx="11247120" cy="137160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/>
            <a:r>
              <a:rPr sz="2000" b="1">
                <a:solidFill>
                  <a:srgbClr val="1F2A44"/>
                </a:solidFill>
                <a:latin typeface="맑은 고딕"/>
              </a:rPr>
              <a:t>화와 복에는 정해진 문이 없다 — 오직 사람이 스스로 부른다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57200" y="5943600"/>
            <a:ext cx="1124712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/>
            <a:r>
              <a:rPr sz="1500" b="0">
                <a:solidFill>
                  <a:srgbClr val="556070"/>
                </a:solidFill>
                <a:latin typeface="맑은 고딕"/>
              </a:rPr>
              <a:t>— 통감의 반복 인용 (좌전 기원)</a:t>
            </a:r>
          </a:p>
        </p:txBody>
      </p:sp>
    </p:spTree>
  </p:cSld>
  <p:clrMapOvr>
    <a:masterClrMapping/>
  </p:clrMapOvr>
</p:sld>
</file>

<file path=ppt/slides/slide5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91440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100" b="1">
                <a:solidFill>
                  <a:srgbClr val="556070"/>
                </a:solidFill>
                <a:latin typeface="맑은 고딕"/>
              </a:rPr>
              <a:t>Ⅷ. 명구 (8/8)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10972800" y="274320"/>
            <a:ext cx="118872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/>
            <a:r>
              <a:rPr sz="1000" b="0">
                <a:solidFill>
                  <a:srgbClr val="556070"/>
                </a:solidFill>
                <a:latin typeface="맑은 고딕"/>
              </a:rPr>
              <a:t>53 / 70</a:t>
            </a:r>
          </a:p>
        </p:txBody>
      </p:sp>
      <p:cxnSp>
        <p:nvCxnSpPr>
          <p:cNvPr id="4" name="Connector 3"/>
          <p:cNvCxnSpPr/>
          <p:nvPr/>
        </p:nvCxnSpPr>
        <p:spPr>
          <a:xfrm>
            <a:off x="457200" y="594360"/>
            <a:ext cx="11704320" cy="0"/>
          </a:xfrm>
          <a:prstGeom prst="line">
            <a:avLst/>
          </a:prstGeom>
          <a:ln w="25400">
            <a:solidFill>
              <a:srgbClr val="C8A25B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5" name="TextBox 4"/>
          <p:cNvSpPr txBox="1"/>
          <p:nvPr/>
        </p:nvSpPr>
        <p:spPr>
          <a:xfrm>
            <a:off x="457200" y="1097280"/>
            <a:ext cx="11247120" cy="219456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/>
            <a:r>
              <a:rPr sz="2200" b="1">
                <a:solidFill>
                  <a:srgbClr val="8B1A1A"/>
                </a:solidFill>
                <a:latin typeface="맑은 고딕"/>
              </a:rPr>
              <a:t>與 善 仁 言   暖 於 布 帛
傷 人 之 言   深 於 矛 戟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57200" y="3383280"/>
            <a:ext cx="1124712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/>
            <a:r>
              <a:rPr sz="2000" b="0">
                <a:solidFill>
                  <a:srgbClr val="556070"/>
                </a:solidFill>
                <a:latin typeface="맑은 고딕"/>
              </a:rPr>
              <a:t>여선인언 난어포백 · 상인지언 심어모극</a:t>
            </a:r>
          </a:p>
        </p:txBody>
      </p:sp>
      <p:cxnSp>
        <p:nvCxnSpPr>
          <p:cNvPr id="7" name="Connector 6"/>
          <p:cNvCxnSpPr/>
          <p:nvPr/>
        </p:nvCxnSpPr>
        <p:spPr>
          <a:xfrm>
            <a:off x="5029200" y="4023360"/>
            <a:ext cx="2103120" cy="0"/>
          </a:xfrm>
          <a:prstGeom prst="line">
            <a:avLst/>
          </a:prstGeom>
          <a:ln w="19050">
            <a:solidFill>
              <a:srgbClr val="C8A25B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8" name="TextBox 7"/>
          <p:cNvSpPr txBox="1"/>
          <p:nvPr/>
        </p:nvSpPr>
        <p:spPr>
          <a:xfrm>
            <a:off x="457200" y="4297680"/>
            <a:ext cx="11247120" cy="137160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/>
            <a:r>
              <a:rPr sz="2000" b="1">
                <a:solidFill>
                  <a:srgbClr val="1F2A44"/>
                </a:solidFill>
                <a:latin typeface="맑은 고딕"/>
              </a:rPr>
              <a:t>선한 말은 비단보다 따뜻하고, 사람을 다치게 하는 말은 창보다 깊다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57200" y="5943600"/>
            <a:ext cx="1124712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/>
            <a:r>
              <a:rPr sz="1500" b="0">
                <a:solidFill>
                  <a:srgbClr val="556070"/>
                </a:solidFill>
                <a:latin typeface="맑은 고딕"/>
              </a:rPr>
              <a:t>— 통감 사평 (순자 인용·언어 신중 강조)</a:t>
            </a:r>
          </a:p>
        </p:txBody>
      </p:sp>
    </p:spTree>
  </p:cSld>
  <p:clrMapOvr>
    <a:masterClrMapping/>
  </p:clrMapOvr>
</p:sld>
</file>

<file path=ppt/slides/slide5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91440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100" b="1">
                <a:solidFill>
                  <a:srgbClr val="556070"/>
                </a:solidFill>
                <a:latin typeface="맑은 고딕"/>
              </a:rPr>
              <a:t>Ⅸ. 정관정요와 비교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10972800" y="274320"/>
            <a:ext cx="118872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/>
            <a:r>
              <a:rPr sz="1000" b="0">
                <a:solidFill>
                  <a:srgbClr val="556070"/>
                </a:solidFill>
                <a:latin typeface="맑은 고딕"/>
              </a:rPr>
              <a:t>54 / 70</a:t>
            </a:r>
          </a:p>
        </p:txBody>
      </p:sp>
      <p:cxnSp>
        <p:nvCxnSpPr>
          <p:cNvPr id="4" name="Connector 3"/>
          <p:cNvCxnSpPr/>
          <p:nvPr/>
        </p:nvCxnSpPr>
        <p:spPr>
          <a:xfrm>
            <a:off x="457200" y="594360"/>
            <a:ext cx="11704320" cy="0"/>
          </a:xfrm>
          <a:prstGeom prst="line">
            <a:avLst/>
          </a:prstGeom>
          <a:ln w="25400">
            <a:solidFill>
              <a:srgbClr val="C8A25B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5" name="TextBox 4"/>
          <p:cNvSpPr txBox="1"/>
          <p:nvPr/>
        </p:nvSpPr>
        <p:spPr>
          <a:xfrm>
            <a:off x="457200" y="777240"/>
            <a:ext cx="11704320" cy="6400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3000" b="1">
                <a:solidFill>
                  <a:srgbClr val="1F2A44"/>
                </a:solidFill>
                <a:latin typeface="맑은 고딕"/>
              </a:rPr>
              <a:t>정관정요 vs 자치통감 — 양대 기둥의 비교</a:t>
            </a:r>
          </a:p>
        </p:txBody>
      </p:sp>
      <p:sp>
        <p:nvSpPr>
          <p:cNvPr id="6" name="Rectangle 5"/>
          <p:cNvSpPr/>
          <p:nvPr/>
        </p:nvSpPr>
        <p:spPr>
          <a:xfrm>
            <a:off x="457200" y="1783080"/>
            <a:ext cx="1828800" cy="502920"/>
          </a:xfrm>
          <a:prstGeom prst="rect">
            <a:avLst/>
          </a:prstGeom>
          <a:solidFill>
            <a:srgbClr val="55607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457200" y="1874519"/>
            <a:ext cx="182880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/>
            <a:r>
              <a:rPr sz="1500" b="1">
                <a:solidFill>
                  <a:srgbClr val="FFFFFF"/>
                </a:solidFill>
                <a:latin typeface="맑은 고딕"/>
              </a:rPr>
              <a:t>항목</a:t>
            </a:r>
          </a:p>
        </p:txBody>
      </p:sp>
      <p:sp>
        <p:nvSpPr>
          <p:cNvPr id="8" name="Rectangle 7"/>
          <p:cNvSpPr/>
          <p:nvPr/>
        </p:nvSpPr>
        <p:spPr>
          <a:xfrm>
            <a:off x="2331720" y="1783080"/>
            <a:ext cx="4572000" cy="502920"/>
          </a:xfrm>
          <a:prstGeom prst="rect">
            <a:avLst/>
          </a:prstGeom>
          <a:solidFill>
            <a:srgbClr val="55607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2331720" y="1874519"/>
            <a:ext cx="457200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/>
            <a:r>
              <a:rPr sz="1500" b="1">
                <a:solidFill>
                  <a:srgbClr val="FFFFFF"/>
                </a:solidFill>
                <a:latin typeface="맑은 고딕"/>
              </a:rPr>
              <a:t>정관정요</a:t>
            </a:r>
          </a:p>
        </p:txBody>
      </p:sp>
      <p:sp>
        <p:nvSpPr>
          <p:cNvPr id="10" name="Rectangle 9"/>
          <p:cNvSpPr/>
          <p:nvPr/>
        </p:nvSpPr>
        <p:spPr>
          <a:xfrm>
            <a:off x="6949440" y="1783080"/>
            <a:ext cx="4754880" cy="502920"/>
          </a:xfrm>
          <a:prstGeom prst="rect">
            <a:avLst/>
          </a:prstGeom>
          <a:solidFill>
            <a:srgbClr val="8B1A1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6949440" y="1874519"/>
            <a:ext cx="475488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/>
            <a:r>
              <a:rPr sz="1500" b="1">
                <a:solidFill>
                  <a:srgbClr val="FFFFFF"/>
                </a:solidFill>
                <a:latin typeface="맑은 고딕"/>
              </a:rPr>
              <a:t>자치통감</a:t>
            </a:r>
          </a:p>
        </p:txBody>
      </p:sp>
      <p:sp>
        <p:nvSpPr>
          <p:cNvPr id="12" name="Rectangle 11"/>
          <p:cNvSpPr/>
          <p:nvPr/>
        </p:nvSpPr>
        <p:spPr>
          <a:xfrm>
            <a:off x="457200" y="2286000"/>
            <a:ext cx="1828800" cy="548640"/>
          </a:xfrm>
          <a:prstGeom prst="rect">
            <a:avLst/>
          </a:prstGeom>
          <a:solidFill>
            <a:srgbClr val="F5EED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502920" y="2423160"/>
            <a:ext cx="173736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/>
            <a:r>
              <a:rPr sz="1400" b="1">
                <a:solidFill>
                  <a:srgbClr val="1F2A44"/>
                </a:solidFill>
                <a:latin typeface="맑은 고딕"/>
              </a:rPr>
              <a:t>편자</a:t>
            </a:r>
          </a:p>
        </p:txBody>
      </p:sp>
      <p:sp>
        <p:nvSpPr>
          <p:cNvPr id="14" name="Rectangle 13"/>
          <p:cNvSpPr/>
          <p:nvPr/>
        </p:nvSpPr>
        <p:spPr>
          <a:xfrm>
            <a:off x="2331720" y="2286000"/>
            <a:ext cx="4572000" cy="548640"/>
          </a:xfrm>
          <a:prstGeom prst="rect">
            <a:avLst/>
          </a:prstGeom>
          <a:solidFill>
            <a:srgbClr val="FAFA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2468880" y="2423160"/>
            <a:ext cx="429768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/>
            <a:r>
              <a:rPr sz="1300" b="0">
                <a:solidFill>
                  <a:srgbClr val="1F2A44"/>
                </a:solidFill>
                <a:latin typeface="맑은 고딕"/>
              </a:rPr>
              <a:t>오긍(吳兢) · 사관</a:t>
            </a:r>
          </a:p>
        </p:txBody>
      </p:sp>
      <p:sp>
        <p:nvSpPr>
          <p:cNvPr id="16" name="Rectangle 15"/>
          <p:cNvSpPr/>
          <p:nvPr/>
        </p:nvSpPr>
        <p:spPr>
          <a:xfrm>
            <a:off x="6949440" y="2286000"/>
            <a:ext cx="4754880" cy="548640"/>
          </a:xfrm>
          <a:prstGeom prst="rect">
            <a:avLst/>
          </a:prstGeom>
          <a:solidFill>
            <a:srgbClr val="FAFA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7086600" y="2423160"/>
            <a:ext cx="448056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/>
            <a:r>
              <a:rPr sz="1300" b="1">
                <a:solidFill>
                  <a:srgbClr val="8B1A1A"/>
                </a:solidFill>
                <a:latin typeface="맑은 고딕"/>
              </a:rPr>
              <a:t>사마광(司馬光) · 재상·학자</a:t>
            </a:r>
          </a:p>
        </p:txBody>
      </p:sp>
      <p:sp>
        <p:nvSpPr>
          <p:cNvPr id="18" name="Rectangle 17"/>
          <p:cNvSpPr/>
          <p:nvPr/>
        </p:nvSpPr>
        <p:spPr>
          <a:xfrm>
            <a:off x="457200" y="2834640"/>
            <a:ext cx="1828800" cy="548640"/>
          </a:xfrm>
          <a:prstGeom prst="rect">
            <a:avLst/>
          </a:prstGeom>
          <a:solidFill>
            <a:srgbClr val="F5EED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502920" y="2971800"/>
            <a:ext cx="173736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/>
            <a:r>
              <a:rPr sz="1400" b="1">
                <a:solidFill>
                  <a:srgbClr val="1F2A44"/>
                </a:solidFill>
                <a:latin typeface="맑은 고딕"/>
              </a:rPr>
              <a:t>완성</a:t>
            </a:r>
          </a:p>
        </p:txBody>
      </p:sp>
      <p:sp>
        <p:nvSpPr>
          <p:cNvPr id="20" name="Rectangle 19"/>
          <p:cNvSpPr/>
          <p:nvPr/>
        </p:nvSpPr>
        <p:spPr>
          <a:xfrm>
            <a:off x="2331720" y="2834640"/>
            <a:ext cx="4572000" cy="54864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2468880" y="2971800"/>
            <a:ext cx="429768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/>
            <a:r>
              <a:rPr sz="1300" b="0">
                <a:solidFill>
                  <a:srgbClr val="1F2A44"/>
                </a:solidFill>
                <a:latin typeface="맑은 고딕"/>
              </a:rPr>
              <a:t>8세기 초</a:t>
            </a:r>
          </a:p>
        </p:txBody>
      </p:sp>
      <p:sp>
        <p:nvSpPr>
          <p:cNvPr id="22" name="Rectangle 21"/>
          <p:cNvSpPr/>
          <p:nvPr/>
        </p:nvSpPr>
        <p:spPr>
          <a:xfrm>
            <a:off x="6949440" y="2834640"/>
            <a:ext cx="4754880" cy="54864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7086600" y="2971800"/>
            <a:ext cx="448056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/>
            <a:r>
              <a:rPr sz="1300" b="1">
                <a:solidFill>
                  <a:srgbClr val="8B1A1A"/>
                </a:solidFill>
                <a:latin typeface="맑은 고딕"/>
              </a:rPr>
              <a:t>1084년</a:t>
            </a:r>
          </a:p>
        </p:txBody>
      </p:sp>
      <p:sp>
        <p:nvSpPr>
          <p:cNvPr id="24" name="Rectangle 23"/>
          <p:cNvSpPr/>
          <p:nvPr/>
        </p:nvSpPr>
        <p:spPr>
          <a:xfrm>
            <a:off x="457200" y="3383280"/>
            <a:ext cx="1828800" cy="548640"/>
          </a:xfrm>
          <a:prstGeom prst="rect">
            <a:avLst/>
          </a:prstGeom>
          <a:solidFill>
            <a:srgbClr val="F5EED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502920" y="3520440"/>
            <a:ext cx="173736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/>
            <a:r>
              <a:rPr sz="1400" b="1">
                <a:solidFill>
                  <a:srgbClr val="1F2A44"/>
                </a:solidFill>
                <a:latin typeface="맑은 고딕"/>
              </a:rPr>
              <a:t>분량</a:t>
            </a:r>
          </a:p>
        </p:txBody>
      </p:sp>
      <p:sp>
        <p:nvSpPr>
          <p:cNvPr id="26" name="Rectangle 25"/>
          <p:cNvSpPr/>
          <p:nvPr/>
        </p:nvSpPr>
        <p:spPr>
          <a:xfrm>
            <a:off x="2331720" y="3383280"/>
            <a:ext cx="4572000" cy="548640"/>
          </a:xfrm>
          <a:prstGeom prst="rect">
            <a:avLst/>
          </a:prstGeom>
          <a:solidFill>
            <a:srgbClr val="FAFA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2468880" y="3520440"/>
            <a:ext cx="429768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/>
            <a:r>
              <a:rPr sz="1300" b="0">
                <a:solidFill>
                  <a:srgbClr val="1F2A44"/>
                </a:solidFill>
                <a:latin typeface="맑은 고딕"/>
              </a:rPr>
              <a:t>10권 40편 · 약 460장</a:t>
            </a:r>
          </a:p>
        </p:txBody>
      </p:sp>
      <p:sp>
        <p:nvSpPr>
          <p:cNvPr id="28" name="Rectangle 27"/>
          <p:cNvSpPr/>
          <p:nvPr/>
        </p:nvSpPr>
        <p:spPr>
          <a:xfrm>
            <a:off x="6949440" y="3383280"/>
            <a:ext cx="4754880" cy="548640"/>
          </a:xfrm>
          <a:prstGeom prst="rect">
            <a:avLst/>
          </a:prstGeom>
          <a:solidFill>
            <a:srgbClr val="FAFA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TextBox 28"/>
          <p:cNvSpPr txBox="1"/>
          <p:nvPr/>
        </p:nvSpPr>
        <p:spPr>
          <a:xfrm>
            <a:off x="7086600" y="3520440"/>
            <a:ext cx="448056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/>
            <a:r>
              <a:rPr sz="1300" b="1">
                <a:solidFill>
                  <a:srgbClr val="8B1A1A"/>
                </a:solidFill>
                <a:latin typeface="맑은 고딕"/>
              </a:rPr>
              <a:t>294권 · 약 300만 자</a:t>
            </a:r>
          </a:p>
        </p:txBody>
      </p:sp>
      <p:sp>
        <p:nvSpPr>
          <p:cNvPr id="30" name="Rectangle 29"/>
          <p:cNvSpPr/>
          <p:nvPr/>
        </p:nvSpPr>
        <p:spPr>
          <a:xfrm>
            <a:off x="457200" y="3931920"/>
            <a:ext cx="1828800" cy="548640"/>
          </a:xfrm>
          <a:prstGeom prst="rect">
            <a:avLst/>
          </a:prstGeom>
          <a:solidFill>
            <a:srgbClr val="F5EED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TextBox 30"/>
          <p:cNvSpPr txBox="1"/>
          <p:nvPr/>
        </p:nvSpPr>
        <p:spPr>
          <a:xfrm>
            <a:off x="502920" y="4069080"/>
            <a:ext cx="173736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/>
            <a:r>
              <a:rPr sz="1400" b="1">
                <a:solidFill>
                  <a:srgbClr val="1F2A44"/>
                </a:solidFill>
                <a:latin typeface="맑은 고딕"/>
              </a:rPr>
              <a:t>형식</a:t>
            </a:r>
          </a:p>
        </p:txBody>
      </p:sp>
      <p:sp>
        <p:nvSpPr>
          <p:cNvPr id="32" name="Rectangle 31"/>
          <p:cNvSpPr/>
          <p:nvPr/>
        </p:nvSpPr>
        <p:spPr>
          <a:xfrm>
            <a:off x="2331720" y="3931920"/>
            <a:ext cx="4572000" cy="54864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TextBox 32"/>
          <p:cNvSpPr txBox="1"/>
          <p:nvPr/>
        </p:nvSpPr>
        <p:spPr>
          <a:xfrm>
            <a:off x="2468880" y="4069080"/>
            <a:ext cx="429768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/>
            <a:r>
              <a:rPr sz="1300" b="0">
                <a:solidFill>
                  <a:srgbClr val="1F2A44"/>
                </a:solidFill>
                <a:latin typeface="맑은 고딕"/>
              </a:rPr>
              <a:t>주제별 분류</a:t>
            </a:r>
          </a:p>
        </p:txBody>
      </p:sp>
      <p:sp>
        <p:nvSpPr>
          <p:cNvPr id="34" name="Rectangle 33"/>
          <p:cNvSpPr/>
          <p:nvPr/>
        </p:nvSpPr>
        <p:spPr>
          <a:xfrm>
            <a:off x="6949440" y="3931920"/>
            <a:ext cx="4754880" cy="54864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TextBox 34"/>
          <p:cNvSpPr txBox="1"/>
          <p:nvPr/>
        </p:nvSpPr>
        <p:spPr>
          <a:xfrm>
            <a:off x="7086600" y="4069080"/>
            <a:ext cx="448056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/>
            <a:r>
              <a:rPr sz="1300" b="1">
                <a:solidFill>
                  <a:srgbClr val="8B1A1A"/>
                </a:solidFill>
                <a:latin typeface="맑은 고딕"/>
              </a:rPr>
              <a:t>편년체 통사</a:t>
            </a:r>
          </a:p>
        </p:txBody>
      </p:sp>
      <p:sp>
        <p:nvSpPr>
          <p:cNvPr id="36" name="Rectangle 35"/>
          <p:cNvSpPr/>
          <p:nvPr/>
        </p:nvSpPr>
        <p:spPr>
          <a:xfrm>
            <a:off x="457200" y="4480560"/>
            <a:ext cx="1828800" cy="548640"/>
          </a:xfrm>
          <a:prstGeom prst="rect">
            <a:avLst/>
          </a:prstGeom>
          <a:solidFill>
            <a:srgbClr val="F5EED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" name="TextBox 36"/>
          <p:cNvSpPr txBox="1"/>
          <p:nvPr/>
        </p:nvSpPr>
        <p:spPr>
          <a:xfrm>
            <a:off x="502920" y="4617720"/>
            <a:ext cx="173736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/>
            <a:r>
              <a:rPr sz="1400" b="1">
                <a:solidFill>
                  <a:srgbClr val="1F2A44"/>
                </a:solidFill>
                <a:latin typeface="맑은 고딕"/>
              </a:rPr>
              <a:t>수록 기간</a:t>
            </a:r>
          </a:p>
        </p:txBody>
      </p:sp>
      <p:sp>
        <p:nvSpPr>
          <p:cNvPr id="38" name="Rectangle 37"/>
          <p:cNvSpPr/>
          <p:nvPr/>
        </p:nvSpPr>
        <p:spPr>
          <a:xfrm>
            <a:off x="2331720" y="4480560"/>
            <a:ext cx="4572000" cy="548640"/>
          </a:xfrm>
          <a:prstGeom prst="rect">
            <a:avLst/>
          </a:prstGeom>
          <a:solidFill>
            <a:srgbClr val="FAFA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9" name="TextBox 38"/>
          <p:cNvSpPr txBox="1"/>
          <p:nvPr/>
        </p:nvSpPr>
        <p:spPr>
          <a:xfrm>
            <a:off x="2468880" y="4617720"/>
            <a:ext cx="429768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/>
            <a:r>
              <a:rPr sz="1300" b="0">
                <a:solidFill>
                  <a:srgbClr val="1F2A44"/>
                </a:solidFill>
                <a:latin typeface="맑은 고딕"/>
              </a:rPr>
              <a:t>당 태종 23년</a:t>
            </a:r>
          </a:p>
        </p:txBody>
      </p:sp>
      <p:sp>
        <p:nvSpPr>
          <p:cNvPr id="40" name="Rectangle 39"/>
          <p:cNvSpPr/>
          <p:nvPr/>
        </p:nvSpPr>
        <p:spPr>
          <a:xfrm>
            <a:off x="6949440" y="4480560"/>
            <a:ext cx="4754880" cy="548640"/>
          </a:xfrm>
          <a:prstGeom prst="rect">
            <a:avLst/>
          </a:prstGeom>
          <a:solidFill>
            <a:srgbClr val="FAFA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1" name="TextBox 40"/>
          <p:cNvSpPr txBox="1"/>
          <p:nvPr/>
        </p:nvSpPr>
        <p:spPr>
          <a:xfrm>
            <a:off x="7086600" y="4617720"/>
            <a:ext cx="448056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/>
            <a:r>
              <a:rPr sz="1300" b="1">
                <a:solidFill>
                  <a:srgbClr val="8B1A1A"/>
                </a:solidFill>
                <a:latin typeface="맑은 고딕"/>
              </a:rPr>
              <a:t>1,362년</a:t>
            </a:r>
          </a:p>
        </p:txBody>
      </p:sp>
      <p:sp>
        <p:nvSpPr>
          <p:cNvPr id="42" name="Rectangle 41"/>
          <p:cNvSpPr/>
          <p:nvPr/>
        </p:nvSpPr>
        <p:spPr>
          <a:xfrm>
            <a:off x="457200" y="5029200"/>
            <a:ext cx="1828800" cy="548640"/>
          </a:xfrm>
          <a:prstGeom prst="rect">
            <a:avLst/>
          </a:prstGeom>
          <a:solidFill>
            <a:srgbClr val="F5EED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3" name="TextBox 42"/>
          <p:cNvSpPr txBox="1"/>
          <p:nvPr/>
        </p:nvSpPr>
        <p:spPr>
          <a:xfrm>
            <a:off x="502920" y="5166360"/>
            <a:ext cx="173736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/>
            <a:r>
              <a:rPr sz="1400" b="1">
                <a:solidFill>
                  <a:srgbClr val="1F2A44"/>
                </a:solidFill>
                <a:latin typeface="맑은 고딕"/>
              </a:rPr>
              <a:t>초점</a:t>
            </a:r>
          </a:p>
        </p:txBody>
      </p:sp>
      <p:sp>
        <p:nvSpPr>
          <p:cNvPr id="44" name="Rectangle 43"/>
          <p:cNvSpPr/>
          <p:nvPr/>
        </p:nvSpPr>
        <p:spPr>
          <a:xfrm>
            <a:off x="2331720" y="5029200"/>
            <a:ext cx="4572000" cy="54864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5" name="TextBox 44"/>
          <p:cNvSpPr txBox="1"/>
          <p:nvPr/>
        </p:nvSpPr>
        <p:spPr>
          <a:xfrm>
            <a:off x="2468880" y="5166360"/>
            <a:ext cx="429768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/>
            <a:r>
              <a:rPr sz="1300" b="0">
                <a:solidFill>
                  <a:srgbClr val="1F2A44"/>
                </a:solidFill>
                <a:latin typeface="맑은 고딕"/>
              </a:rPr>
              <a:t>"What" — 사례 중심</a:t>
            </a:r>
          </a:p>
        </p:txBody>
      </p:sp>
      <p:sp>
        <p:nvSpPr>
          <p:cNvPr id="46" name="Rectangle 45"/>
          <p:cNvSpPr/>
          <p:nvPr/>
        </p:nvSpPr>
        <p:spPr>
          <a:xfrm>
            <a:off x="6949440" y="5029200"/>
            <a:ext cx="4754880" cy="54864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7" name="TextBox 46"/>
          <p:cNvSpPr txBox="1"/>
          <p:nvPr/>
        </p:nvSpPr>
        <p:spPr>
          <a:xfrm>
            <a:off x="7086600" y="5166360"/>
            <a:ext cx="448056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/>
            <a:r>
              <a:rPr sz="1300" b="1">
                <a:solidFill>
                  <a:srgbClr val="8B1A1A"/>
                </a:solidFill>
                <a:latin typeface="맑은 고딕"/>
              </a:rPr>
              <a:t>"Why" — 패턴·구조 중심</a:t>
            </a:r>
          </a:p>
        </p:txBody>
      </p:sp>
      <p:sp>
        <p:nvSpPr>
          <p:cNvPr id="48" name="Rectangle 47"/>
          <p:cNvSpPr/>
          <p:nvPr/>
        </p:nvSpPr>
        <p:spPr>
          <a:xfrm>
            <a:off x="457200" y="5577840"/>
            <a:ext cx="1828800" cy="548640"/>
          </a:xfrm>
          <a:prstGeom prst="rect">
            <a:avLst/>
          </a:prstGeom>
          <a:solidFill>
            <a:srgbClr val="F5EED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9" name="TextBox 48"/>
          <p:cNvSpPr txBox="1"/>
          <p:nvPr/>
        </p:nvSpPr>
        <p:spPr>
          <a:xfrm>
            <a:off x="502920" y="5715000"/>
            <a:ext cx="173736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/>
            <a:r>
              <a:rPr sz="1400" b="1">
                <a:solidFill>
                  <a:srgbClr val="1F2A44"/>
                </a:solidFill>
                <a:latin typeface="맑은 고딕"/>
              </a:rPr>
              <a:t>성격</a:t>
            </a:r>
          </a:p>
        </p:txBody>
      </p:sp>
      <p:sp>
        <p:nvSpPr>
          <p:cNvPr id="50" name="Rectangle 49"/>
          <p:cNvSpPr/>
          <p:nvPr/>
        </p:nvSpPr>
        <p:spPr>
          <a:xfrm>
            <a:off x="2331720" y="5577840"/>
            <a:ext cx="4572000" cy="548640"/>
          </a:xfrm>
          <a:prstGeom prst="rect">
            <a:avLst/>
          </a:prstGeom>
          <a:solidFill>
            <a:srgbClr val="FAFA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1" name="TextBox 50"/>
          <p:cNvSpPr txBox="1"/>
          <p:nvPr/>
        </p:nvSpPr>
        <p:spPr>
          <a:xfrm>
            <a:off x="2468880" y="5715000"/>
            <a:ext cx="429768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/>
            <a:r>
              <a:rPr sz="1300" b="0">
                <a:solidFill>
                  <a:srgbClr val="1F2A44"/>
                </a:solidFill>
                <a:latin typeface="맑은 고딕"/>
              </a:rPr>
              <a:t>경영 핸드북</a:t>
            </a:r>
          </a:p>
        </p:txBody>
      </p:sp>
      <p:sp>
        <p:nvSpPr>
          <p:cNvPr id="52" name="Rectangle 51"/>
          <p:cNvSpPr/>
          <p:nvPr/>
        </p:nvSpPr>
        <p:spPr>
          <a:xfrm>
            <a:off x="6949440" y="5577840"/>
            <a:ext cx="4754880" cy="548640"/>
          </a:xfrm>
          <a:prstGeom prst="rect">
            <a:avLst/>
          </a:prstGeom>
          <a:solidFill>
            <a:srgbClr val="FAFA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3" name="TextBox 52"/>
          <p:cNvSpPr txBox="1"/>
          <p:nvPr/>
        </p:nvSpPr>
        <p:spPr>
          <a:xfrm>
            <a:off x="7086600" y="5715000"/>
            <a:ext cx="448056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/>
            <a:r>
              <a:rPr sz="1300" b="1">
                <a:solidFill>
                  <a:srgbClr val="8B1A1A"/>
                </a:solidFill>
                <a:latin typeface="맑은 고딕"/>
              </a:rPr>
              <a:t>거시 통사</a:t>
            </a:r>
          </a:p>
        </p:txBody>
      </p:sp>
      <p:sp>
        <p:nvSpPr>
          <p:cNvPr id="54" name="Rectangle 53"/>
          <p:cNvSpPr/>
          <p:nvPr/>
        </p:nvSpPr>
        <p:spPr>
          <a:xfrm>
            <a:off x="457200" y="6126480"/>
            <a:ext cx="1828800" cy="548640"/>
          </a:xfrm>
          <a:prstGeom prst="rect">
            <a:avLst/>
          </a:prstGeom>
          <a:solidFill>
            <a:srgbClr val="F5EED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5" name="TextBox 54"/>
          <p:cNvSpPr txBox="1"/>
          <p:nvPr/>
        </p:nvSpPr>
        <p:spPr>
          <a:xfrm>
            <a:off x="502920" y="6263640"/>
            <a:ext cx="173736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/>
            <a:r>
              <a:rPr sz="1400" b="1">
                <a:solidFill>
                  <a:srgbClr val="1F2A44"/>
                </a:solidFill>
                <a:latin typeface="맑은 고딕"/>
              </a:rPr>
              <a:t>짝짓기</a:t>
            </a:r>
          </a:p>
        </p:txBody>
      </p:sp>
      <p:sp>
        <p:nvSpPr>
          <p:cNvPr id="56" name="Rectangle 55"/>
          <p:cNvSpPr/>
          <p:nvPr/>
        </p:nvSpPr>
        <p:spPr>
          <a:xfrm>
            <a:off x="2331720" y="6126480"/>
            <a:ext cx="4572000" cy="54864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7" name="TextBox 56"/>
          <p:cNvSpPr txBox="1"/>
          <p:nvPr/>
        </p:nvSpPr>
        <p:spPr>
          <a:xfrm>
            <a:off x="2468880" y="6263640"/>
            <a:ext cx="429768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/>
            <a:r>
              <a:rPr sz="1300" b="0">
                <a:solidFill>
                  <a:srgbClr val="1F2A44"/>
                </a:solidFill>
                <a:latin typeface="맑은 고딕"/>
              </a:rPr>
              <a:t>실용 사례집</a:t>
            </a:r>
          </a:p>
        </p:txBody>
      </p:sp>
      <p:sp>
        <p:nvSpPr>
          <p:cNvPr id="58" name="Rectangle 57"/>
          <p:cNvSpPr/>
          <p:nvPr/>
        </p:nvSpPr>
        <p:spPr>
          <a:xfrm>
            <a:off x="6949440" y="6126480"/>
            <a:ext cx="4754880" cy="54864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9" name="TextBox 58"/>
          <p:cNvSpPr txBox="1"/>
          <p:nvPr/>
        </p:nvSpPr>
        <p:spPr>
          <a:xfrm>
            <a:off x="7086600" y="6263640"/>
            <a:ext cx="448056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/>
            <a:r>
              <a:rPr sz="1300" b="1">
                <a:solidFill>
                  <a:srgbClr val="8B1A1A"/>
                </a:solidFill>
                <a:latin typeface="맑은 고딕"/>
              </a:rPr>
              <a:t>체계적 분석서</a:t>
            </a:r>
          </a:p>
        </p:txBody>
      </p:sp>
    </p:spTree>
  </p:cSld>
  <p:clrMapOvr>
    <a:masterClrMapping/>
  </p:clrMapOvr>
</p:sld>
</file>

<file path=ppt/slides/slide5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91440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100" b="1">
                <a:solidFill>
                  <a:srgbClr val="556070"/>
                </a:solidFill>
                <a:latin typeface="맑은 고딕"/>
              </a:rPr>
              <a:t>Ⅸ. 정관정요와 비교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10972800" y="274320"/>
            <a:ext cx="118872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/>
            <a:r>
              <a:rPr sz="1000" b="0">
                <a:solidFill>
                  <a:srgbClr val="556070"/>
                </a:solidFill>
                <a:latin typeface="맑은 고딕"/>
              </a:rPr>
              <a:t>55 / 70</a:t>
            </a:r>
          </a:p>
        </p:txBody>
      </p:sp>
      <p:cxnSp>
        <p:nvCxnSpPr>
          <p:cNvPr id="4" name="Connector 3"/>
          <p:cNvCxnSpPr/>
          <p:nvPr/>
        </p:nvCxnSpPr>
        <p:spPr>
          <a:xfrm>
            <a:off x="457200" y="594360"/>
            <a:ext cx="11704320" cy="0"/>
          </a:xfrm>
          <a:prstGeom prst="line">
            <a:avLst/>
          </a:prstGeom>
          <a:ln w="25400">
            <a:solidFill>
              <a:srgbClr val="C8A25B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5" name="TextBox 4"/>
          <p:cNvSpPr txBox="1"/>
          <p:nvPr/>
        </p:nvSpPr>
        <p:spPr>
          <a:xfrm>
            <a:off x="457200" y="777240"/>
            <a:ext cx="11704320" cy="6400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3000" b="1">
                <a:solidFill>
                  <a:srgbClr val="1F2A44"/>
                </a:solidFill>
                <a:latin typeface="맑은 고딕"/>
              </a:rPr>
              <a:t>두 책의 본질 — "사례"와 "통사"의 짝</a:t>
            </a:r>
          </a:p>
        </p:txBody>
      </p:sp>
      <p:sp>
        <p:nvSpPr>
          <p:cNvPr id="6" name="Rectangle 5"/>
          <p:cNvSpPr/>
          <p:nvPr/>
        </p:nvSpPr>
        <p:spPr>
          <a:xfrm>
            <a:off x="457200" y="2103120"/>
            <a:ext cx="11247120" cy="1828800"/>
          </a:xfrm>
          <a:prstGeom prst="rect">
            <a:avLst/>
          </a:prstGeom>
          <a:solidFill>
            <a:srgbClr val="F5EED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731520" y="2286000"/>
            <a:ext cx="10698480" cy="155448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ctr">
              <a:lnSpc>
                <a:spcPct val="130000"/>
              </a:lnSpc>
            </a:pPr>
            <a:r>
              <a:rPr sz="1900" b="1">
                <a:solidFill>
                  <a:srgbClr val="8B1A1A"/>
                </a:solidFill>
                <a:latin typeface="맑은 고딕"/>
              </a:rPr>
              <a:t>"정관정요는 백과사전, 자치통감은 통사"</a:t>
            </a:r>
          </a:p>
          <a:p>
            <a:pPr algn="l">
              <a:lnSpc>
                <a:spcPct val="130000"/>
              </a:lnSpc>
            </a:pPr>
            <a:r>
              <a:rPr sz="400" b="0">
                <a:solidFill>
                  <a:srgbClr val="1F2A44"/>
                </a:solidFill>
                <a:latin typeface="맑은 고딕"/>
              </a:rPr>
              <a:t/>
            </a:r>
          </a:p>
          <a:p>
            <a:pPr algn="ctr">
              <a:lnSpc>
                <a:spcPct val="130000"/>
              </a:lnSpc>
              <a:spcBef>
                <a:spcPts val="600"/>
              </a:spcBef>
            </a:pPr>
            <a:r>
              <a:rPr sz="1500" b="0">
                <a:solidFill>
                  <a:srgbClr val="1F2A44"/>
                </a:solidFill>
                <a:latin typeface="맑은 고딕"/>
              </a:rPr>
              <a:t>정관정요 — 주제별로 펼쳐보는 사례집</a:t>
            </a:r>
          </a:p>
          <a:p>
            <a:pPr algn="ctr">
              <a:lnSpc>
                <a:spcPct val="130000"/>
              </a:lnSpc>
            </a:pPr>
            <a:r>
              <a:rPr sz="1500" b="0">
                <a:solidFill>
                  <a:srgbClr val="1F2A44"/>
                </a:solidFill>
                <a:latin typeface="맑은 고딕"/>
              </a:rPr>
              <a:t>자치통감 — 시간순으로 읽는 큰 강물</a:t>
            </a:r>
          </a:p>
        </p:txBody>
      </p:sp>
      <p:sp>
        <p:nvSpPr>
          <p:cNvPr id="8" name="Rectangle 7"/>
          <p:cNvSpPr/>
          <p:nvPr/>
        </p:nvSpPr>
        <p:spPr>
          <a:xfrm>
            <a:off x="457200" y="4114800"/>
            <a:ext cx="11247120" cy="2286000"/>
          </a:xfrm>
          <a:prstGeom prst="rect">
            <a:avLst/>
          </a:prstGeom>
          <a:solidFill>
            <a:srgbClr val="FAE5E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731520" y="4251960"/>
            <a:ext cx="10698480" cy="201168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ctr">
              <a:lnSpc>
                <a:spcPct val="130000"/>
              </a:lnSpc>
            </a:pPr>
            <a:r>
              <a:rPr sz="1800" b="1">
                <a:solidFill>
                  <a:srgbClr val="8B1A1A"/>
                </a:solidFill>
                <a:latin typeface="맑은 고딕"/>
              </a:rPr>
              <a:t>이상적 학습 순서</a:t>
            </a:r>
          </a:p>
          <a:p>
            <a:pPr algn="l">
              <a:lnSpc>
                <a:spcPct val="130000"/>
              </a:lnSpc>
            </a:pPr>
            <a:r>
              <a:rPr sz="400" b="0">
                <a:solidFill>
                  <a:srgbClr val="1F2A44"/>
                </a:solidFill>
                <a:latin typeface="맑은 고딕"/>
              </a:rPr>
              <a:t/>
            </a:r>
          </a:p>
          <a:p>
            <a:pPr algn="l">
              <a:lnSpc>
                <a:spcPct val="130000"/>
              </a:lnSpc>
              <a:spcBef>
                <a:spcPts val="600"/>
              </a:spcBef>
            </a:pPr>
            <a:r>
              <a:rPr sz="1400" b="0">
                <a:solidFill>
                  <a:srgbClr val="1F2A44"/>
                </a:solidFill>
                <a:latin typeface="맑은 고딕"/>
              </a:rPr>
              <a:t>① 정관정요 — 한 주제씩 펼쳐 구체 사례를 익힘</a:t>
            </a:r>
          </a:p>
          <a:p>
            <a:pPr algn="l">
              <a:lnSpc>
                <a:spcPct val="130000"/>
              </a:lnSpc>
              <a:spcBef>
                <a:spcPts val="400"/>
              </a:spcBef>
            </a:pPr>
            <a:r>
              <a:rPr sz="1400" b="0">
                <a:solidFill>
                  <a:srgbClr val="1F2A44"/>
                </a:solidFill>
                <a:latin typeface="맑은 고딕"/>
              </a:rPr>
              <a:t>② 자치통감 — 1,362년의 큰 흐름 안에서 그 사례를 재배치</a:t>
            </a:r>
          </a:p>
          <a:p>
            <a:pPr algn="l">
              <a:lnSpc>
                <a:spcPct val="130000"/>
              </a:lnSpc>
              <a:spcBef>
                <a:spcPts val="400"/>
              </a:spcBef>
            </a:pPr>
            <a:r>
              <a:rPr sz="1400" b="0">
                <a:solidFill>
                  <a:srgbClr val="1F2A44"/>
                </a:solidFill>
                <a:latin typeface="맑은 고딕"/>
              </a:rPr>
              <a:t>③ 정관정요로 돌아가 더 깊이 음미</a:t>
            </a:r>
          </a:p>
          <a:p>
            <a:pPr algn="ctr">
              <a:lnSpc>
                <a:spcPct val="130000"/>
              </a:lnSpc>
              <a:spcBef>
                <a:spcPts val="600"/>
              </a:spcBef>
            </a:pPr>
            <a:r>
              <a:rPr sz="1300" b="1">
                <a:solidFill>
                  <a:srgbClr val="556070"/>
                </a:solidFill>
                <a:latin typeface="맑은 고딕"/>
              </a:rPr>
              <a:t>— 세종이 평생 두 책을 짝지어 학습한 이유 —</a:t>
            </a:r>
          </a:p>
        </p:txBody>
      </p:sp>
    </p:spTree>
  </p:cSld>
  <p:clrMapOvr>
    <a:masterClrMapping/>
  </p:clrMapOvr>
</p:sld>
</file>

<file path=ppt/slides/slide5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91440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100" b="1">
                <a:solidFill>
                  <a:srgbClr val="556070"/>
                </a:solidFill>
                <a:latin typeface="맑은 고딕"/>
              </a:rPr>
              <a:t>Ⅹ. 후대 영향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10972800" y="274320"/>
            <a:ext cx="118872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/>
            <a:r>
              <a:rPr sz="1000" b="0">
                <a:solidFill>
                  <a:srgbClr val="556070"/>
                </a:solidFill>
                <a:latin typeface="맑은 고딕"/>
              </a:rPr>
              <a:t>56 / 70</a:t>
            </a:r>
          </a:p>
        </p:txBody>
      </p:sp>
      <p:cxnSp>
        <p:nvCxnSpPr>
          <p:cNvPr id="4" name="Connector 3"/>
          <p:cNvCxnSpPr/>
          <p:nvPr/>
        </p:nvCxnSpPr>
        <p:spPr>
          <a:xfrm>
            <a:off x="457200" y="594360"/>
            <a:ext cx="11704320" cy="0"/>
          </a:xfrm>
          <a:prstGeom prst="line">
            <a:avLst/>
          </a:prstGeom>
          <a:ln w="25400">
            <a:solidFill>
              <a:srgbClr val="C8A25B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5" name="TextBox 4"/>
          <p:cNvSpPr txBox="1"/>
          <p:nvPr/>
        </p:nvSpPr>
        <p:spPr>
          <a:xfrm>
            <a:off x="457200" y="777240"/>
            <a:ext cx="11704320" cy="6400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3000" b="1">
                <a:solidFill>
                  <a:srgbClr val="1F2A44"/>
                </a:solidFill>
                <a:latin typeface="맑은 고딕"/>
              </a:rPr>
              <a:t>주희(朱熹)의 『자치통감강목(綱目)』 — 도덕적 재해석</a:t>
            </a:r>
          </a:p>
        </p:txBody>
      </p:sp>
      <p:sp>
        <p:nvSpPr>
          <p:cNvPr id="6" name="Rectangle 5"/>
          <p:cNvSpPr/>
          <p:nvPr/>
        </p:nvSpPr>
        <p:spPr>
          <a:xfrm>
            <a:off x="457200" y="2103120"/>
            <a:ext cx="11247120" cy="731520"/>
          </a:xfrm>
          <a:prstGeom prst="rect">
            <a:avLst/>
          </a:prstGeom>
          <a:solidFill>
            <a:srgbClr val="8B1A1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457200" y="2240280"/>
            <a:ext cx="11247120" cy="5029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/>
            <a:r>
              <a:rPr sz="1800" b="1">
                <a:solidFill>
                  <a:srgbClr val="FFFFFF"/>
                </a:solidFill>
                <a:latin typeface="맑은 고딕"/>
              </a:rPr>
              <a:t>주희(朱熹, 1130~1200) · 1172년 완성 · 59권</a:t>
            </a:r>
          </a:p>
        </p:txBody>
      </p:sp>
      <p:sp>
        <p:nvSpPr>
          <p:cNvPr id="8" name="Rectangle 7"/>
          <p:cNvSpPr/>
          <p:nvPr/>
        </p:nvSpPr>
        <p:spPr>
          <a:xfrm>
            <a:off x="457200" y="3017520"/>
            <a:ext cx="11247120" cy="1645920"/>
          </a:xfrm>
          <a:prstGeom prst="rect">
            <a:avLst/>
          </a:prstGeom>
          <a:solidFill>
            <a:srgbClr val="F5EED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731520" y="3154680"/>
            <a:ext cx="10698480" cy="14630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ctr">
              <a:lnSpc>
                <a:spcPct val="130000"/>
              </a:lnSpc>
            </a:pPr>
            <a:r>
              <a:rPr sz="1800" b="1">
                <a:solidFill>
                  <a:srgbClr val="8B1A1A"/>
                </a:solidFill>
                <a:latin typeface="맑은 고딕"/>
              </a:rPr>
              <a:t>"강(綱)"과 "목(目)"의 이중 구조</a:t>
            </a:r>
          </a:p>
          <a:p>
            <a:pPr algn="l">
              <a:lnSpc>
                <a:spcPct val="130000"/>
              </a:lnSpc>
            </a:pPr>
            <a:r>
              <a:rPr sz="400" b="0">
                <a:solidFill>
                  <a:srgbClr val="1F2A44"/>
                </a:solidFill>
                <a:latin typeface="맑은 고딕"/>
              </a:rPr>
              <a:t/>
            </a:r>
          </a:p>
          <a:p>
            <a:pPr algn="l">
              <a:lnSpc>
                <a:spcPct val="130000"/>
              </a:lnSpc>
              <a:spcBef>
                <a:spcPts val="400"/>
              </a:spcBef>
            </a:pPr>
            <a:r>
              <a:rPr sz="1400" b="0">
                <a:solidFill>
                  <a:srgbClr val="1F2A44"/>
                </a:solidFill>
                <a:latin typeface="맑은 고딕"/>
              </a:rPr>
              <a:t>• 강(綱) — 큰 사건의 도덕적 판단 (춘추 필법)</a:t>
            </a:r>
          </a:p>
          <a:p>
            <a:pPr algn="l">
              <a:lnSpc>
                <a:spcPct val="130000"/>
              </a:lnSpc>
              <a:spcBef>
                <a:spcPts val="200"/>
              </a:spcBef>
            </a:pPr>
            <a:r>
              <a:rPr sz="1400" b="0">
                <a:solidFill>
                  <a:srgbClr val="1F2A44"/>
                </a:solidFill>
                <a:latin typeface="맑은 고딕"/>
              </a:rPr>
              <a:t>• 목(目) — 세부 사실의 서술</a:t>
            </a:r>
          </a:p>
        </p:txBody>
      </p:sp>
      <p:sp>
        <p:nvSpPr>
          <p:cNvPr id="10" name="Rectangle 9"/>
          <p:cNvSpPr/>
          <p:nvPr/>
        </p:nvSpPr>
        <p:spPr>
          <a:xfrm>
            <a:off x="457200" y="4846320"/>
            <a:ext cx="11247120" cy="1554480"/>
          </a:xfrm>
          <a:prstGeom prst="rect">
            <a:avLst/>
          </a:prstGeom>
          <a:solidFill>
            <a:srgbClr val="FAE5E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731520" y="4983480"/>
            <a:ext cx="10698480" cy="13716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ctr">
              <a:lnSpc>
                <a:spcPct val="130000"/>
              </a:lnSpc>
            </a:pPr>
            <a:r>
              <a:rPr sz="1700" b="1">
                <a:solidFill>
                  <a:srgbClr val="8B1A1A"/>
                </a:solidFill>
                <a:latin typeface="맑은 고딕"/>
              </a:rPr>
              <a:t>성리학적 재해석</a:t>
            </a:r>
          </a:p>
          <a:p>
            <a:pPr algn="ctr">
              <a:lnSpc>
                <a:spcPct val="130000"/>
              </a:lnSpc>
              <a:spcBef>
                <a:spcPts val="400"/>
              </a:spcBef>
            </a:pPr>
            <a:r>
              <a:rPr sz="1400" b="0">
                <a:solidFill>
                  <a:srgbClr val="1F2A44"/>
                </a:solidFill>
                <a:latin typeface="맑은 고딕"/>
              </a:rPr>
              <a:t>"통감이 사실 중심이라면, 강목은 도덕적 평가"</a:t>
            </a:r>
          </a:p>
          <a:p>
            <a:pPr algn="ctr">
              <a:lnSpc>
                <a:spcPct val="130000"/>
              </a:lnSpc>
              <a:spcBef>
                <a:spcPts val="400"/>
              </a:spcBef>
            </a:pPr>
            <a:r>
              <a:rPr sz="1300" b="1">
                <a:solidFill>
                  <a:srgbClr val="1F2A44"/>
                </a:solidFill>
                <a:latin typeface="맑은 고딕"/>
              </a:rPr>
              <a:t>조선에서 더 널리 읽힌 책 — 세종의 경연 교재</a:t>
            </a:r>
          </a:p>
        </p:txBody>
      </p:sp>
    </p:spTree>
  </p:cSld>
  <p:clrMapOvr>
    <a:masterClrMapping/>
  </p:clrMapOvr>
</p:sld>
</file>

<file path=ppt/slides/slide5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91440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100" b="1">
                <a:solidFill>
                  <a:srgbClr val="556070"/>
                </a:solidFill>
                <a:latin typeface="맑은 고딕"/>
              </a:rPr>
              <a:t>Ⅹ. 후대 영향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10972800" y="274320"/>
            <a:ext cx="118872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/>
            <a:r>
              <a:rPr sz="1000" b="0">
                <a:solidFill>
                  <a:srgbClr val="556070"/>
                </a:solidFill>
                <a:latin typeface="맑은 고딕"/>
              </a:rPr>
              <a:t>57 / 70</a:t>
            </a:r>
          </a:p>
        </p:txBody>
      </p:sp>
      <p:cxnSp>
        <p:nvCxnSpPr>
          <p:cNvPr id="4" name="Connector 3"/>
          <p:cNvCxnSpPr/>
          <p:nvPr/>
        </p:nvCxnSpPr>
        <p:spPr>
          <a:xfrm>
            <a:off x="457200" y="594360"/>
            <a:ext cx="11704320" cy="0"/>
          </a:xfrm>
          <a:prstGeom prst="line">
            <a:avLst/>
          </a:prstGeom>
          <a:ln w="25400">
            <a:solidFill>
              <a:srgbClr val="C8A25B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5" name="TextBox 4"/>
          <p:cNvSpPr txBox="1"/>
          <p:nvPr/>
        </p:nvSpPr>
        <p:spPr>
          <a:xfrm>
            <a:off x="457200" y="777240"/>
            <a:ext cx="11704320" cy="6400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3000" b="1">
                <a:solidFill>
                  <a:srgbClr val="1F2A44"/>
                </a:solidFill>
                <a:latin typeface="맑은 고딕"/>
              </a:rPr>
              <a:t>진덕수의 『대학연의』 — 통감 사례의 체계화 (1264)</a:t>
            </a:r>
          </a:p>
        </p:txBody>
      </p:sp>
      <p:sp>
        <p:nvSpPr>
          <p:cNvPr id="6" name="Rectangle 5"/>
          <p:cNvSpPr/>
          <p:nvPr/>
        </p:nvSpPr>
        <p:spPr>
          <a:xfrm>
            <a:off x="457200" y="2103120"/>
            <a:ext cx="11247120" cy="1828800"/>
          </a:xfrm>
          <a:prstGeom prst="rect">
            <a:avLst/>
          </a:prstGeom>
          <a:solidFill>
            <a:srgbClr val="F5EED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731520" y="2286000"/>
            <a:ext cx="10698480" cy="155448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ctr">
              <a:lnSpc>
                <a:spcPct val="130000"/>
              </a:lnSpc>
            </a:pPr>
            <a:r>
              <a:rPr sz="1800" b="1">
                <a:solidFill>
                  <a:srgbClr val="8B1A1A"/>
                </a:solidFill>
                <a:latin typeface="맑은 고딕"/>
              </a:rPr>
              <a:t>진덕수(眞德秀, 1178~1235) — 송 후기 학자</a:t>
            </a:r>
          </a:p>
          <a:p>
            <a:pPr algn="l">
              <a:lnSpc>
                <a:spcPct val="130000"/>
              </a:lnSpc>
            </a:pPr>
            <a:r>
              <a:rPr sz="400" b="0">
                <a:solidFill>
                  <a:srgbClr val="1F2A44"/>
                </a:solidFill>
                <a:latin typeface="맑은 고딕"/>
              </a:rPr>
              <a:t/>
            </a:r>
          </a:p>
          <a:p>
            <a:pPr algn="ctr">
              <a:lnSpc>
                <a:spcPct val="130000"/>
              </a:lnSpc>
              <a:spcBef>
                <a:spcPts val="600"/>
              </a:spcBef>
            </a:pPr>
            <a:r>
              <a:rPr sz="1500" b="0">
                <a:solidFill>
                  <a:srgbClr val="1F2A44"/>
                </a:solidFill>
                <a:latin typeface="맑은 고딕"/>
              </a:rPr>
              <a:t>『대학연의』 43권 — 『대학』의 8조목을 자치통감 사례로 풀어냄</a:t>
            </a:r>
          </a:p>
          <a:p>
            <a:pPr algn="ctr">
              <a:lnSpc>
                <a:spcPct val="130000"/>
              </a:lnSpc>
            </a:pPr>
            <a:r>
              <a:rPr sz="1400" b="0">
                <a:solidFill>
                  <a:srgbClr val="556070"/>
                </a:solidFill>
                <a:latin typeface="맑은 고딕"/>
              </a:rPr>
              <a:t>통감의 통사적 흐름 + 대학의 체계적 이론 = 황제 교과서</a:t>
            </a:r>
          </a:p>
        </p:txBody>
      </p:sp>
      <p:sp>
        <p:nvSpPr>
          <p:cNvPr id="8" name="Rectangle 7"/>
          <p:cNvSpPr/>
          <p:nvPr/>
        </p:nvSpPr>
        <p:spPr>
          <a:xfrm>
            <a:off x="457200" y="4114800"/>
            <a:ext cx="11247120" cy="2286000"/>
          </a:xfrm>
          <a:prstGeom prst="rect">
            <a:avLst/>
          </a:prstGeom>
          <a:solidFill>
            <a:srgbClr val="FAE5E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731520" y="4251960"/>
            <a:ext cx="10698480" cy="201168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ctr">
              <a:lnSpc>
                <a:spcPct val="125000"/>
              </a:lnSpc>
            </a:pPr>
            <a:r>
              <a:rPr sz="1800" b="1">
                <a:solidFill>
                  <a:srgbClr val="8B1A1A"/>
                </a:solidFill>
                <a:latin typeface="맑은 고딕"/>
              </a:rPr>
              <a:t>조선에서의 위상</a:t>
            </a:r>
          </a:p>
          <a:p>
            <a:pPr algn="l">
              <a:lnSpc>
                <a:spcPct val="125000"/>
              </a:lnSpc>
            </a:pPr>
            <a:r>
              <a:rPr sz="400" b="0">
                <a:solidFill>
                  <a:srgbClr val="1F2A44"/>
                </a:solidFill>
                <a:latin typeface="맑은 고딕"/>
              </a:rPr>
              <a:t/>
            </a:r>
          </a:p>
          <a:p>
            <a:pPr algn="ctr">
              <a:lnSpc>
                <a:spcPct val="125000"/>
              </a:lnSpc>
              <a:spcBef>
                <a:spcPts val="600"/>
              </a:spcBef>
            </a:pPr>
            <a:r>
              <a:rPr sz="1500" b="1">
                <a:solidFill>
                  <a:srgbClr val="1F2A44"/>
                </a:solidFill>
                <a:latin typeface="맑은 고딕"/>
              </a:rPr>
              <a:t>세종이 100번 이상 완독 · 숙종·정조도 평생 학습</a:t>
            </a:r>
          </a:p>
          <a:p>
            <a:pPr algn="ctr">
              <a:lnSpc>
                <a:spcPct val="125000"/>
              </a:lnSpc>
            </a:pPr>
            <a:r>
              <a:rPr sz="1400" b="0">
                <a:solidFill>
                  <a:srgbClr val="556070"/>
                </a:solidFill>
                <a:latin typeface="맑은 고딕"/>
              </a:rPr>
              <a:t>"임금이 반드시 공부해야 하는 책"</a:t>
            </a:r>
          </a:p>
          <a:p>
            <a:pPr algn="l">
              <a:lnSpc>
                <a:spcPct val="125000"/>
              </a:lnSpc>
            </a:pPr>
            <a:r>
              <a:rPr sz="400" b="0">
                <a:solidFill>
                  <a:srgbClr val="1F2A44"/>
                </a:solidFill>
                <a:latin typeface="맑은 고딕"/>
              </a:rPr>
              <a:t/>
            </a:r>
          </a:p>
          <a:p>
            <a:pPr algn="ctr">
              <a:lnSpc>
                <a:spcPct val="125000"/>
              </a:lnSpc>
              <a:spcBef>
                <a:spcPts val="600"/>
              </a:spcBef>
            </a:pPr>
            <a:r>
              <a:rPr sz="1300" b="1">
                <a:solidFill>
                  <a:srgbClr val="8B1A1A"/>
                </a:solidFill>
                <a:latin typeface="맑은 고딕"/>
              </a:rPr>
              <a:t>통감의 사례가 대학연의를 통해 동아시아 황실 표준이 됨</a:t>
            </a:r>
          </a:p>
        </p:txBody>
      </p:sp>
    </p:spTree>
  </p:cSld>
  <p:clrMapOvr>
    <a:masterClrMapping/>
  </p:clrMapOvr>
</p:sld>
</file>

<file path=ppt/slides/slide5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91440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100" b="1">
                <a:solidFill>
                  <a:srgbClr val="556070"/>
                </a:solidFill>
                <a:latin typeface="맑은 고딕"/>
              </a:rPr>
              <a:t>Ⅹ. 후대 영향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10972800" y="274320"/>
            <a:ext cx="118872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/>
            <a:r>
              <a:rPr sz="1000" b="0">
                <a:solidFill>
                  <a:srgbClr val="556070"/>
                </a:solidFill>
                <a:latin typeface="맑은 고딕"/>
              </a:rPr>
              <a:t>58 / 70</a:t>
            </a:r>
          </a:p>
        </p:txBody>
      </p:sp>
      <p:cxnSp>
        <p:nvCxnSpPr>
          <p:cNvPr id="4" name="Connector 3"/>
          <p:cNvCxnSpPr/>
          <p:nvPr/>
        </p:nvCxnSpPr>
        <p:spPr>
          <a:xfrm>
            <a:off x="457200" y="594360"/>
            <a:ext cx="11704320" cy="0"/>
          </a:xfrm>
          <a:prstGeom prst="line">
            <a:avLst/>
          </a:prstGeom>
          <a:ln w="25400">
            <a:solidFill>
              <a:srgbClr val="C8A25B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5" name="TextBox 4"/>
          <p:cNvSpPr txBox="1"/>
          <p:nvPr/>
        </p:nvSpPr>
        <p:spPr>
          <a:xfrm>
            <a:off x="457200" y="777240"/>
            <a:ext cx="11704320" cy="6400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3000" b="1">
                <a:solidFill>
                  <a:srgbClr val="1F2A44"/>
                </a:solidFill>
                <a:latin typeface="맑은 고딕"/>
              </a:rPr>
              <a:t>청대 황제들 — 강희·옹정·건륭의 평생 학습서</a:t>
            </a:r>
          </a:p>
        </p:txBody>
      </p:sp>
      <p:sp>
        <p:nvSpPr>
          <p:cNvPr id="6" name="Rectangle 5"/>
          <p:cNvSpPr/>
          <p:nvPr/>
        </p:nvSpPr>
        <p:spPr>
          <a:xfrm>
            <a:off x="548640" y="2194560"/>
            <a:ext cx="2286000" cy="1188720"/>
          </a:xfrm>
          <a:prstGeom prst="rect">
            <a:avLst/>
          </a:prstGeom>
          <a:solidFill>
            <a:srgbClr val="8B1A1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548640" y="2487168"/>
            <a:ext cx="228600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/>
            <a:r>
              <a:rPr sz="1500" b="1">
                <a:solidFill>
                  <a:srgbClr val="FFFFFF"/>
                </a:solidFill>
                <a:latin typeface="맑은 고딕"/>
              </a:rPr>
              <a:t>강희제(康熙)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48640" y="2926080"/>
            <a:ext cx="228600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/>
            <a:r>
              <a:rPr sz="1200" b="0">
                <a:solidFill>
                  <a:srgbClr val="FFFFFF"/>
                </a:solidFill>
                <a:latin typeface="맑은 고딕"/>
              </a:rPr>
              <a:t>1654~1722</a:t>
            </a:r>
          </a:p>
        </p:txBody>
      </p:sp>
      <p:sp>
        <p:nvSpPr>
          <p:cNvPr id="9" name="Rectangle 8"/>
          <p:cNvSpPr/>
          <p:nvPr/>
        </p:nvSpPr>
        <p:spPr>
          <a:xfrm>
            <a:off x="2926080" y="2194560"/>
            <a:ext cx="8778240" cy="1188720"/>
          </a:xfrm>
          <a:prstGeom prst="rect">
            <a:avLst/>
          </a:prstGeom>
          <a:solidFill>
            <a:srgbClr val="F5EED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3063240" y="2359152"/>
            <a:ext cx="8503920" cy="4114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300" b="1">
                <a:solidFill>
                  <a:srgbClr val="1F2A44"/>
                </a:solidFill>
                <a:latin typeface="맑은 고딕"/>
              </a:rPr>
              <a:t>8세 즉위 · 61년 재위 · 청 황금기의 시작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3063240" y="2788920"/>
            <a:ext cx="850392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200" b="1">
                <a:solidFill>
                  <a:srgbClr val="8B1A1A"/>
                </a:solidFill>
                <a:latin typeface="맑은 고딕"/>
              </a:rPr>
              <a:t>"통감을 매일 한 권씩 읽었다" — 어전 강의 기록</a:t>
            </a:r>
          </a:p>
        </p:txBody>
      </p:sp>
      <p:sp>
        <p:nvSpPr>
          <p:cNvPr id="12" name="Rectangle 11"/>
          <p:cNvSpPr/>
          <p:nvPr/>
        </p:nvSpPr>
        <p:spPr>
          <a:xfrm>
            <a:off x="548640" y="3520439"/>
            <a:ext cx="2286000" cy="1188720"/>
          </a:xfrm>
          <a:prstGeom prst="rect">
            <a:avLst/>
          </a:prstGeom>
          <a:solidFill>
            <a:srgbClr val="8B1A1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548640" y="3813048"/>
            <a:ext cx="228600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/>
            <a:r>
              <a:rPr sz="1500" b="1">
                <a:solidFill>
                  <a:srgbClr val="FFFFFF"/>
                </a:solidFill>
                <a:latin typeface="맑은 고딕"/>
              </a:rPr>
              <a:t>옹정제(雍正)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548640" y="4251959"/>
            <a:ext cx="228600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/>
            <a:r>
              <a:rPr sz="1200" b="0">
                <a:solidFill>
                  <a:srgbClr val="FFFFFF"/>
                </a:solidFill>
                <a:latin typeface="맑은 고딕"/>
              </a:rPr>
              <a:t>1678~1735</a:t>
            </a:r>
          </a:p>
        </p:txBody>
      </p:sp>
      <p:sp>
        <p:nvSpPr>
          <p:cNvPr id="15" name="Rectangle 14"/>
          <p:cNvSpPr/>
          <p:nvPr/>
        </p:nvSpPr>
        <p:spPr>
          <a:xfrm>
            <a:off x="2926080" y="3520439"/>
            <a:ext cx="8778240" cy="1188720"/>
          </a:xfrm>
          <a:prstGeom prst="rect">
            <a:avLst/>
          </a:prstGeom>
          <a:solidFill>
            <a:srgbClr val="F5EED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3063240" y="3685031"/>
            <a:ext cx="8503920" cy="4114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300" b="1">
                <a:solidFill>
                  <a:srgbClr val="1F2A44"/>
                </a:solidFill>
                <a:latin typeface="맑은 고딕"/>
              </a:rPr>
              <a:t>강희의 학습 전통 계승 · 율법 정비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3063240" y="4114800"/>
            <a:ext cx="850392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200" b="1">
                <a:solidFill>
                  <a:srgbClr val="8B1A1A"/>
                </a:solidFill>
                <a:latin typeface="맑은 고딕"/>
              </a:rPr>
              <a:t>"통감의 사평을 자기 정치 판단의 기준으로"</a:t>
            </a:r>
          </a:p>
        </p:txBody>
      </p:sp>
      <p:sp>
        <p:nvSpPr>
          <p:cNvPr id="18" name="Rectangle 17"/>
          <p:cNvSpPr/>
          <p:nvPr/>
        </p:nvSpPr>
        <p:spPr>
          <a:xfrm>
            <a:off x="548640" y="4846320"/>
            <a:ext cx="2286000" cy="1188720"/>
          </a:xfrm>
          <a:prstGeom prst="rect">
            <a:avLst/>
          </a:prstGeom>
          <a:solidFill>
            <a:srgbClr val="8B1A1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548640" y="5138928"/>
            <a:ext cx="228600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/>
            <a:r>
              <a:rPr sz="1500" b="1">
                <a:solidFill>
                  <a:srgbClr val="FFFFFF"/>
                </a:solidFill>
                <a:latin typeface="맑은 고딕"/>
              </a:rPr>
              <a:t>건륭제(乾隆)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548640" y="5577840"/>
            <a:ext cx="228600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/>
            <a:r>
              <a:rPr sz="1200" b="0">
                <a:solidFill>
                  <a:srgbClr val="FFFFFF"/>
                </a:solidFill>
                <a:latin typeface="맑은 고딕"/>
              </a:rPr>
              <a:t>1711~1799</a:t>
            </a:r>
          </a:p>
        </p:txBody>
      </p:sp>
      <p:sp>
        <p:nvSpPr>
          <p:cNvPr id="21" name="Rectangle 20"/>
          <p:cNvSpPr/>
          <p:nvPr/>
        </p:nvSpPr>
        <p:spPr>
          <a:xfrm>
            <a:off x="2926080" y="4846320"/>
            <a:ext cx="8778240" cy="1188720"/>
          </a:xfrm>
          <a:prstGeom prst="rect">
            <a:avLst/>
          </a:prstGeom>
          <a:solidFill>
            <a:srgbClr val="F5EED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3063240" y="5010912"/>
            <a:ext cx="8503920" cy="4114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300" b="1">
                <a:solidFill>
                  <a:srgbClr val="1F2A44"/>
                </a:solidFill>
                <a:latin typeface="맑은 고딕"/>
              </a:rPr>
              <a:t>60년 재위 · 청 최성기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3063240" y="5440680"/>
            <a:ext cx="850392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200" b="1">
                <a:solidFill>
                  <a:srgbClr val="8B1A1A"/>
                </a:solidFill>
                <a:latin typeface="맑은 고딕"/>
              </a:rPr>
              <a:t>『어비통감집람』 — 건륭이 친히 평한 통감 주석본</a:t>
            </a:r>
          </a:p>
        </p:txBody>
      </p:sp>
    </p:spTree>
  </p:cSld>
  <p:clrMapOvr>
    <a:masterClrMapping/>
  </p:clrMapOvr>
</p:sld>
</file>

<file path=ppt/slides/slide5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91440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100" b="1">
                <a:solidFill>
                  <a:srgbClr val="556070"/>
                </a:solidFill>
                <a:latin typeface="맑은 고딕"/>
              </a:rPr>
              <a:t>Ⅹ. 후대 영향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10972800" y="274320"/>
            <a:ext cx="118872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/>
            <a:r>
              <a:rPr sz="1000" b="0">
                <a:solidFill>
                  <a:srgbClr val="556070"/>
                </a:solidFill>
                <a:latin typeface="맑은 고딕"/>
              </a:rPr>
              <a:t>59 / 70</a:t>
            </a:r>
          </a:p>
        </p:txBody>
      </p:sp>
      <p:cxnSp>
        <p:nvCxnSpPr>
          <p:cNvPr id="4" name="Connector 3"/>
          <p:cNvCxnSpPr/>
          <p:nvPr/>
        </p:nvCxnSpPr>
        <p:spPr>
          <a:xfrm>
            <a:off x="457200" y="594360"/>
            <a:ext cx="11704320" cy="0"/>
          </a:xfrm>
          <a:prstGeom prst="line">
            <a:avLst/>
          </a:prstGeom>
          <a:ln w="25400">
            <a:solidFill>
              <a:srgbClr val="C8A25B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5" name="TextBox 4"/>
          <p:cNvSpPr txBox="1"/>
          <p:nvPr/>
        </p:nvSpPr>
        <p:spPr>
          <a:xfrm>
            <a:off x="457200" y="777240"/>
            <a:ext cx="11704320" cy="6400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3000" b="1">
                <a:solidFill>
                  <a:srgbClr val="1F2A44"/>
                </a:solidFill>
                <a:latin typeface="맑은 고딕"/>
              </a:rPr>
              <a:t>조선 세종(世宗) — 통감 학습의 모범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57200" y="1417320"/>
            <a:ext cx="1170432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400" b="0">
                <a:solidFill>
                  <a:srgbClr val="556070"/>
                </a:solidFill>
                <a:latin typeface="맑은 고딕"/>
              </a:rPr>
              <a:t>"즉위 직후 집현전에 통감 강독을 명함"</a:t>
            </a:r>
          </a:p>
        </p:txBody>
      </p:sp>
      <p:sp>
        <p:nvSpPr>
          <p:cNvPr id="7" name="Rectangle 6"/>
          <p:cNvSpPr/>
          <p:nvPr/>
        </p:nvSpPr>
        <p:spPr>
          <a:xfrm>
            <a:off x="457200" y="2103120"/>
            <a:ext cx="11247120" cy="1828800"/>
          </a:xfrm>
          <a:prstGeom prst="rect">
            <a:avLst/>
          </a:prstGeom>
          <a:solidFill>
            <a:srgbClr val="FAE5E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731520" y="2286000"/>
            <a:ext cx="10698480" cy="155448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ctr">
              <a:lnSpc>
                <a:spcPct val="130000"/>
              </a:lnSpc>
            </a:pPr>
            <a:r>
              <a:rPr sz="1900" b="1">
                <a:solidFill>
                  <a:srgbClr val="8B1A1A"/>
                </a:solidFill>
                <a:latin typeface="맑은 고딕"/>
              </a:rPr>
              <a:t>세종의 통감 학습</a:t>
            </a:r>
          </a:p>
          <a:p>
            <a:pPr algn="l">
              <a:lnSpc>
                <a:spcPct val="130000"/>
              </a:lnSpc>
            </a:pPr>
            <a:r>
              <a:rPr sz="400" b="0">
                <a:solidFill>
                  <a:srgbClr val="1F2A44"/>
                </a:solidFill>
                <a:latin typeface="맑은 고딕"/>
              </a:rPr>
              <a:t/>
            </a:r>
          </a:p>
          <a:p>
            <a:pPr algn="l">
              <a:lnSpc>
                <a:spcPct val="130000"/>
              </a:lnSpc>
              <a:spcBef>
                <a:spcPts val="400"/>
              </a:spcBef>
            </a:pPr>
            <a:r>
              <a:rPr sz="1400" b="0">
                <a:solidFill>
                  <a:srgbClr val="1F2A44"/>
                </a:solidFill>
                <a:latin typeface="맑은 고딕"/>
              </a:rPr>
              <a:t>• 경연(經筵)에서 통감강목·대학연의를 가장 많이 강독</a:t>
            </a:r>
          </a:p>
          <a:p>
            <a:pPr algn="l">
              <a:lnSpc>
                <a:spcPct val="130000"/>
              </a:lnSpc>
              <a:spcBef>
                <a:spcPts val="400"/>
              </a:spcBef>
            </a:pPr>
            <a:r>
              <a:rPr sz="1400" b="0">
                <a:solidFill>
                  <a:srgbClr val="1F2A44"/>
                </a:solidFill>
                <a:latin typeface="맑은 고딕"/>
              </a:rPr>
              <a:t>• 집현전 학자들과 함께 통감 정독</a:t>
            </a:r>
          </a:p>
          <a:p>
            <a:pPr algn="l">
              <a:lnSpc>
                <a:spcPct val="130000"/>
              </a:lnSpc>
              <a:spcBef>
                <a:spcPts val="400"/>
              </a:spcBef>
            </a:pPr>
            <a:r>
              <a:rPr sz="1400" b="1">
                <a:solidFill>
                  <a:srgbClr val="8B1A1A"/>
                </a:solidFill>
                <a:latin typeface="맑은 고딕"/>
              </a:rPr>
              <a:t>• "통감의 사례가 곧 정치의 거울"</a:t>
            </a:r>
          </a:p>
        </p:txBody>
      </p:sp>
      <p:sp>
        <p:nvSpPr>
          <p:cNvPr id="9" name="Rectangle 8"/>
          <p:cNvSpPr/>
          <p:nvPr/>
        </p:nvSpPr>
        <p:spPr>
          <a:xfrm>
            <a:off x="457200" y="4114800"/>
            <a:ext cx="11247120" cy="2286000"/>
          </a:xfrm>
          <a:prstGeom prst="rect">
            <a:avLst/>
          </a:prstGeom>
          <a:solidFill>
            <a:srgbClr val="F5EED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731520" y="4251960"/>
            <a:ext cx="10698480" cy="201168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ctr">
              <a:lnSpc>
                <a:spcPct val="125000"/>
              </a:lnSpc>
            </a:pPr>
            <a:r>
              <a:rPr sz="1800" b="1">
                <a:solidFill>
                  <a:srgbClr val="8B1A1A"/>
                </a:solidFill>
                <a:latin typeface="맑은 고딕"/>
              </a:rPr>
              <a:t>『자치통감훈의(資治通鑑訓義)』 (1438) — 세종의 명저</a:t>
            </a:r>
          </a:p>
          <a:p>
            <a:pPr algn="l">
              <a:lnSpc>
                <a:spcPct val="125000"/>
              </a:lnSpc>
            </a:pPr>
            <a:r>
              <a:rPr sz="400" b="0">
                <a:solidFill>
                  <a:srgbClr val="1F2A44"/>
                </a:solidFill>
                <a:latin typeface="맑은 고딕"/>
              </a:rPr>
              <a:t/>
            </a:r>
          </a:p>
          <a:p>
            <a:pPr algn="ctr">
              <a:lnSpc>
                <a:spcPct val="125000"/>
              </a:lnSpc>
              <a:spcBef>
                <a:spcPts val="600"/>
              </a:spcBef>
            </a:pPr>
            <a:r>
              <a:rPr sz="1500" b="0">
                <a:solidFill>
                  <a:srgbClr val="1F2A44"/>
                </a:solidFill>
                <a:latin typeface="맑은 고딕"/>
              </a:rPr>
              <a:t>세종이 직접 명령 · 집현전이 편찬</a:t>
            </a:r>
          </a:p>
          <a:p>
            <a:pPr algn="ctr">
              <a:lnSpc>
                <a:spcPct val="125000"/>
              </a:lnSpc>
            </a:pPr>
            <a:r>
              <a:rPr sz="1400" b="0">
                <a:solidFill>
                  <a:srgbClr val="556070"/>
                </a:solidFill>
                <a:latin typeface="맑은 고딕"/>
              </a:rPr>
              <a:t>통감의 한국어(이두) 주석본 — 조선 학자의 필독서</a:t>
            </a:r>
          </a:p>
          <a:p>
            <a:pPr algn="ctr">
              <a:lnSpc>
                <a:spcPct val="125000"/>
              </a:lnSpc>
              <a:spcBef>
                <a:spcPts val="600"/>
              </a:spcBef>
            </a:pPr>
            <a:r>
              <a:rPr sz="1300" b="1">
                <a:solidFill>
                  <a:srgbClr val="8B1A1A"/>
                </a:solidFill>
                <a:latin typeface="맑은 고딕"/>
              </a:rPr>
              <a:t>"동양 통감 연구사에서 한국이 남긴 가장 큰 발자국"</a:t>
            </a:r>
          </a:p>
        </p:txBody>
      </p:sp>
    </p:spTree>
  </p:cSld>
  <p:clrMapOvr>
    <a:masterClrMapping/>
  </p:clrMapOvr>
</p:sld>
</file>

<file path=ppt/slides/slide6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91440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100" b="1">
                <a:solidFill>
                  <a:srgbClr val="556070"/>
                </a:solidFill>
                <a:latin typeface="맑은 고딕"/>
              </a:rPr>
              <a:t>Ⅹ. 후대 영향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10972800" y="274320"/>
            <a:ext cx="118872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/>
            <a:r>
              <a:rPr sz="1000" b="0">
                <a:solidFill>
                  <a:srgbClr val="556070"/>
                </a:solidFill>
                <a:latin typeface="맑은 고딕"/>
              </a:rPr>
              <a:t>60 / 70</a:t>
            </a:r>
          </a:p>
        </p:txBody>
      </p:sp>
      <p:cxnSp>
        <p:nvCxnSpPr>
          <p:cNvPr id="4" name="Connector 3"/>
          <p:cNvCxnSpPr/>
          <p:nvPr/>
        </p:nvCxnSpPr>
        <p:spPr>
          <a:xfrm>
            <a:off x="457200" y="594360"/>
            <a:ext cx="11704320" cy="0"/>
          </a:xfrm>
          <a:prstGeom prst="line">
            <a:avLst/>
          </a:prstGeom>
          <a:ln w="25400">
            <a:solidFill>
              <a:srgbClr val="C8A25B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5" name="TextBox 4"/>
          <p:cNvSpPr txBox="1"/>
          <p:nvPr/>
        </p:nvSpPr>
        <p:spPr>
          <a:xfrm>
            <a:off x="457200" y="777240"/>
            <a:ext cx="11704320" cy="6400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3000" b="1">
                <a:solidFill>
                  <a:srgbClr val="1F2A44"/>
                </a:solidFill>
                <a:latin typeface="맑은 고딕"/>
              </a:rPr>
              <a:t>일본 — 막부 교육의 핵심 텍스트</a:t>
            </a:r>
          </a:p>
        </p:txBody>
      </p:sp>
      <p:sp>
        <p:nvSpPr>
          <p:cNvPr id="6" name="Rectangle 5"/>
          <p:cNvSpPr/>
          <p:nvPr/>
        </p:nvSpPr>
        <p:spPr>
          <a:xfrm>
            <a:off x="548640" y="2194560"/>
            <a:ext cx="2286000" cy="868680"/>
          </a:xfrm>
          <a:prstGeom prst="rect">
            <a:avLst/>
          </a:prstGeom>
          <a:solidFill>
            <a:srgbClr val="8B1A1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548640" y="2359152"/>
            <a:ext cx="228600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/>
            <a:r>
              <a:rPr sz="1300" b="1">
                <a:solidFill>
                  <a:srgbClr val="FFFFFF"/>
                </a:solidFill>
                <a:latin typeface="맑은 고딕"/>
              </a:rPr>
              <a:t>도쿠가와 이에야스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48640" y="2724912"/>
            <a:ext cx="22860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/>
            <a:r>
              <a:rPr sz="1100" b="0">
                <a:solidFill>
                  <a:srgbClr val="FFFFFF"/>
                </a:solidFill>
                <a:latin typeface="맑은 고딕"/>
              </a:rPr>
              <a:t>1543~1616</a:t>
            </a:r>
          </a:p>
        </p:txBody>
      </p:sp>
      <p:sp>
        <p:nvSpPr>
          <p:cNvPr id="9" name="Rectangle 8"/>
          <p:cNvSpPr/>
          <p:nvPr/>
        </p:nvSpPr>
        <p:spPr>
          <a:xfrm>
            <a:off x="2926080" y="2194560"/>
            <a:ext cx="3657600" cy="868680"/>
          </a:xfrm>
          <a:prstGeom prst="rect">
            <a:avLst/>
          </a:prstGeom>
          <a:solidFill>
            <a:srgbClr val="F5EED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3063240" y="2450591"/>
            <a:ext cx="347472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/>
            <a:r>
              <a:rPr sz="1200" b="1">
                <a:solidFill>
                  <a:srgbClr val="8B1A1A"/>
                </a:solidFill>
                <a:latin typeface="맑은 고딕"/>
              </a:rPr>
              <a:t>『정관정요』·『자치통감』을 통치의 거울로</a:t>
            </a:r>
          </a:p>
        </p:txBody>
      </p:sp>
      <p:sp>
        <p:nvSpPr>
          <p:cNvPr id="11" name="Rectangle 10"/>
          <p:cNvSpPr/>
          <p:nvPr/>
        </p:nvSpPr>
        <p:spPr>
          <a:xfrm>
            <a:off x="6675120" y="2194560"/>
            <a:ext cx="5029200" cy="868680"/>
          </a:xfrm>
          <a:prstGeom prst="rect">
            <a:avLst/>
          </a:prstGeom>
          <a:solidFill>
            <a:srgbClr val="FAFA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6812280" y="2450591"/>
            <a:ext cx="484632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200" b="0">
                <a:solidFill>
                  <a:srgbClr val="1F2A44"/>
                </a:solidFill>
                <a:latin typeface="맑은 고딕"/>
              </a:rPr>
              <a:t>"치도(治道)의 두 책" — 막부 300년 평화의 사상적 토대</a:t>
            </a:r>
          </a:p>
        </p:txBody>
      </p:sp>
      <p:sp>
        <p:nvSpPr>
          <p:cNvPr id="13" name="Rectangle 12"/>
          <p:cNvSpPr/>
          <p:nvPr/>
        </p:nvSpPr>
        <p:spPr>
          <a:xfrm>
            <a:off x="548640" y="3172968"/>
            <a:ext cx="2286000" cy="868680"/>
          </a:xfrm>
          <a:prstGeom prst="rect">
            <a:avLst/>
          </a:prstGeom>
          <a:solidFill>
            <a:srgbClr val="8B1A1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548640" y="3337560"/>
            <a:ext cx="228600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/>
            <a:r>
              <a:rPr sz="1300" b="1">
                <a:solidFill>
                  <a:srgbClr val="FFFFFF"/>
                </a:solidFill>
                <a:latin typeface="맑은 고딕"/>
              </a:rPr>
              <a:t>하야시 라잔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548640" y="3703320"/>
            <a:ext cx="22860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/>
            <a:r>
              <a:rPr sz="1100" b="0">
                <a:solidFill>
                  <a:srgbClr val="FFFFFF"/>
                </a:solidFill>
                <a:latin typeface="맑은 고딕"/>
              </a:rPr>
              <a:t>1583~1657</a:t>
            </a:r>
          </a:p>
        </p:txBody>
      </p:sp>
      <p:sp>
        <p:nvSpPr>
          <p:cNvPr id="16" name="Rectangle 15"/>
          <p:cNvSpPr/>
          <p:nvPr/>
        </p:nvSpPr>
        <p:spPr>
          <a:xfrm>
            <a:off x="2926080" y="3172968"/>
            <a:ext cx="3657600" cy="868680"/>
          </a:xfrm>
          <a:prstGeom prst="rect">
            <a:avLst/>
          </a:prstGeom>
          <a:solidFill>
            <a:srgbClr val="F5EED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3063240" y="3429000"/>
            <a:ext cx="347472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/>
            <a:r>
              <a:rPr sz="1200" b="1">
                <a:solidFill>
                  <a:srgbClr val="8B1A1A"/>
                </a:solidFill>
                <a:latin typeface="맑은 고딕"/>
              </a:rPr>
              <a:t>도쿠가와 시대 막부 어용 학자</a:t>
            </a:r>
          </a:p>
        </p:txBody>
      </p:sp>
      <p:sp>
        <p:nvSpPr>
          <p:cNvPr id="18" name="Rectangle 17"/>
          <p:cNvSpPr/>
          <p:nvPr/>
        </p:nvSpPr>
        <p:spPr>
          <a:xfrm>
            <a:off x="6675120" y="3172968"/>
            <a:ext cx="5029200" cy="868680"/>
          </a:xfrm>
          <a:prstGeom prst="rect">
            <a:avLst/>
          </a:prstGeom>
          <a:solidFill>
            <a:srgbClr val="FAFA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6812280" y="3429000"/>
            <a:ext cx="484632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200" b="0">
                <a:solidFill>
                  <a:srgbClr val="1F2A44"/>
                </a:solidFill>
                <a:latin typeface="맑은 고딕"/>
              </a:rPr>
              <a:t>에도 막부 관료에게 통감 강독</a:t>
            </a:r>
          </a:p>
        </p:txBody>
      </p:sp>
      <p:sp>
        <p:nvSpPr>
          <p:cNvPr id="20" name="Rectangle 19"/>
          <p:cNvSpPr/>
          <p:nvPr/>
        </p:nvSpPr>
        <p:spPr>
          <a:xfrm>
            <a:off x="548640" y="4151376"/>
            <a:ext cx="2286000" cy="868680"/>
          </a:xfrm>
          <a:prstGeom prst="rect">
            <a:avLst/>
          </a:prstGeom>
          <a:solidFill>
            <a:srgbClr val="8B1A1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548640" y="4315968"/>
            <a:ext cx="228600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/>
            <a:r>
              <a:rPr sz="1300" b="1">
                <a:solidFill>
                  <a:srgbClr val="FFFFFF"/>
                </a:solidFill>
                <a:latin typeface="맑은 고딕"/>
              </a:rPr>
              <a:t>아라이 하쿠세키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548640" y="4681728"/>
            <a:ext cx="22860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/>
            <a:r>
              <a:rPr sz="1100" b="0">
                <a:solidFill>
                  <a:srgbClr val="FFFFFF"/>
                </a:solidFill>
                <a:latin typeface="맑은 고딕"/>
              </a:rPr>
              <a:t>1657~1725</a:t>
            </a:r>
          </a:p>
        </p:txBody>
      </p:sp>
      <p:sp>
        <p:nvSpPr>
          <p:cNvPr id="23" name="Rectangle 22"/>
          <p:cNvSpPr/>
          <p:nvPr/>
        </p:nvSpPr>
        <p:spPr>
          <a:xfrm>
            <a:off x="2926080" y="4151376"/>
            <a:ext cx="3657600" cy="868680"/>
          </a:xfrm>
          <a:prstGeom prst="rect">
            <a:avLst/>
          </a:prstGeom>
          <a:solidFill>
            <a:srgbClr val="F5EED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3063240" y="4407408"/>
            <a:ext cx="347472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/>
            <a:r>
              <a:rPr sz="1200" b="1">
                <a:solidFill>
                  <a:srgbClr val="8B1A1A"/>
                </a:solidFill>
                <a:latin typeface="맑은 고딕"/>
              </a:rPr>
              <a:t>6대 쇼군 이에노부의 시강(侍講)</a:t>
            </a:r>
          </a:p>
        </p:txBody>
      </p:sp>
      <p:sp>
        <p:nvSpPr>
          <p:cNvPr id="25" name="Rectangle 24"/>
          <p:cNvSpPr/>
          <p:nvPr/>
        </p:nvSpPr>
        <p:spPr>
          <a:xfrm>
            <a:off x="6675120" y="4151376"/>
            <a:ext cx="5029200" cy="868680"/>
          </a:xfrm>
          <a:prstGeom prst="rect">
            <a:avLst/>
          </a:prstGeom>
          <a:solidFill>
            <a:srgbClr val="FAFA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6812280" y="4407408"/>
            <a:ext cx="484632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200" b="0">
                <a:solidFill>
                  <a:srgbClr val="1F2A44"/>
                </a:solidFill>
                <a:latin typeface="맑은 고딕"/>
              </a:rPr>
              <a:t>통감의 사평을 그대로 막부 정치에 응용</a:t>
            </a:r>
          </a:p>
        </p:txBody>
      </p:sp>
      <p:sp>
        <p:nvSpPr>
          <p:cNvPr id="27" name="Rectangle 26"/>
          <p:cNvSpPr/>
          <p:nvPr/>
        </p:nvSpPr>
        <p:spPr>
          <a:xfrm>
            <a:off x="548640" y="5129784"/>
            <a:ext cx="2286000" cy="868680"/>
          </a:xfrm>
          <a:prstGeom prst="rect">
            <a:avLst/>
          </a:prstGeom>
          <a:solidFill>
            <a:srgbClr val="8B1A1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548640" y="5294376"/>
            <a:ext cx="228600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/>
            <a:r>
              <a:rPr sz="1300" b="1">
                <a:solidFill>
                  <a:srgbClr val="FFFFFF"/>
                </a:solidFill>
                <a:latin typeface="맑은 고딕"/>
              </a:rPr>
              <a:t>요시다 쇼인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548640" y="5660136"/>
            <a:ext cx="22860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/>
            <a:r>
              <a:rPr sz="1100" b="0">
                <a:solidFill>
                  <a:srgbClr val="FFFFFF"/>
                </a:solidFill>
                <a:latin typeface="맑은 고딕"/>
              </a:rPr>
              <a:t>1830~1859</a:t>
            </a:r>
          </a:p>
        </p:txBody>
      </p:sp>
      <p:sp>
        <p:nvSpPr>
          <p:cNvPr id="30" name="Rectangle 29"/>
          <p:cNvSpPr/>
          <p:nvPr/>
        </p:nvSpPr>
        <p:spPr>
          <a:xfrm>
            <a:off x="2926080" y="5129784"/>
            <a:ext cx="3657600" cy="868680"/>
          </a:xfrm>
          <a:prstGeom prst="rect">
            <a:avLst/>
          </a:prstGeom>
          <a:solidFill>
            <a:srgbClr val="F5EED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TextBox 30"/>
          <p:cNvSpPr txBox="1"/>
          <p:nvPr/>
        </p:nvSpPr>
        <p:spPr>
          <a:xfrm>
            <a:off x="3063240" y="5385816"/>
            <a:ext cx="347472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/>
            <a:r>
              <a:rPr sz="1200" b="1">
                <a:solidFill>
                  <a:srgbClr val="8B1A1A"/>
                </a:solidFill>
                <a:latin typeface="맑은 고딕"/>
              </a:rPr>
              <a:t>막부 말기 사상가 · 메이지 유신의 정신적 스승</a:t>
            </a:r>
          </a:p>
        </p:txBody>
      </p:sp>
      <p:sp>
        <p:nvSpPr>
          <p:cNvPr id="32" name="Rectangle 31"/>
          <p:cNvSpPr/>
          <p:nvPr/>
        </p:nvSpPr>
        <p:spPr>
          <a:xfrm>
            <a:off x="6675120" y="5129784"/>
            <a:ext cx="5029200" cy="868680"/>
          </a:xfrm>
          <a:prstGeom prst="rect">
            <a:avLst/>
          </a:prstGeom>
          <a:solidFill>
            <a:srgbClr val="FAFA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TextBox 32"/>
          <p:cNvSpPr txBox="1"/>
          <p:nvPr/>
        </p:nvSpPr>
        <p:spPr>
          <a:xfrm>
            <a:off x="6812280" y="5385816"/>
            <a:ext cx="484632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200" b="0">
                <a:solidFill>
                  <a:srgbClr val="1F2A44"/>
                </a:solidFill>
                <a:latin typeface="맑은 고딕"/>
              </a:rPr>
              <a:t>제자들에게 통감을 반복 강의</a:t>
            </a:r>
          </a:p>
        </p:txBody>
      </p:sp>
    </p:spTree>
  </p:cSld>
  <p:clrMapOvr>
    <a:masterClrMapping/>
  </p:clrMapOvr>
</p:sld>
</file>

<file path=ppt/slides/slide6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91440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100" b="1">
                <a:solidFill>
                  <a:srgbClr val="556070"/>
                </a:solidFill>
                <a:latin typeface="맑은 고딕"/>
              </a:rPr>
              <a:t>Ⅹ. 후대 영향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10972800" y="274320"/>
            <a:ext cx="118872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/>
            <a:r>
              <a:rPr sz="1000" b="0">
                <a:solidFill>
                  <a:srgbClr val="556070"/>
                </a:solidFill>
                <a:latin typeface="맑은 고딕"/>
              </a:rPr>
              <a:t>61 / 70</a:t>
            </a:r>
          </a:p>
        </p:txBody>
      </p:sp>
      <p:cxnSp>
        <p:nvCxnSpPr>
          <p:cNvPr id="4" name="Connector 3"/>
          <p:cNvCxnSpPr/>
          <p:nvPr/>
        </p:nvCxnSpPr>
        <p:spPr>
          <a:xfrm>
            <a:off x="457200" y="594360"/>
            <a:ext cx="11704320" cy="0"/>
          </a:xfrm>
          <a:prstGeom prst="line">
            <a:avLst/>
          </a:prstGeom>
          <a:ln w="25400">
            <a:solidFill>
              <a:srgbClr val="C8A25B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5" name="TextBox 4"/>
          <p:cNvSpPr txBox="1"/>
          <p:nvPr/>
        </p:nvSpPr>
        <p:spPr>
          <a:xfrm>
            <a:off x="457200" y="777240"/>
            <a:ext cx="11704320" cy="6400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3000" b="1">
                <a:solidFill>
                  <a:srgbClr val="1F2A44"/>
                </a:solidFill>
                <a:latin typeface="맑은 고딕"/>
              </a:rPr>
              <a:t>동아시아 후속 통사 — 통감 형식의 확산</a:t>
            </a:r>
          </a:p>
        </p:txBody>
      </p:sp>
      <p:sp>
        <p:nvSpPr>
          <p:cNvPr id="6" name="Rectangle 5"/>
          <p:cNvSpPr/>
          <p:nvPr/>
        </p:nvSpPr>
        <p:spPr>
          <a:xfrm>
            <a:off x="548640" y="2103120"/>
            <a:ext cx="3200400" cy="502920"/>
          </a:xfrm>
          <a:prstGeom prst="rect">
            <a:avLst/>
          </a:prstGeom>
          <a:solidFill>
            <a:srgbClr val="8B1A1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548640" y="2221991"/>
            <a:ext cx="320040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/>
            <a:r>
              <a:rPr sz="1300" b="1">
                <a:solidFill>
                  <a:srgbClr val="FFFFFF"/>
                </a:solidFill>
                <a:latin typeface="맑은 고딕"/>
              </a:rPr>
              <a:t>통감기사본말(通鑑紀事本末)</a:t>
            </a:r>
          </a:p>
        </p:txBody>
      </p:sp>
      <p:sp>
        <p:nvSpPr>
          <p:cNvPr id="8" name="Rectangle 7"/>
          <p:cNvSpPr/>
          <p:nvPr/>
        </p:nvSpPr>
        <p:spPr>
          <a:xfrm>
            <a:off x="3840480" y="2103120"/>
            <a:ext cx="2560320" cy="502920"/>
          </a:xfrm>
          <a:prstGeom prst="rect">
            <a:avLst/>
          </a:prstGeom>
          <a:solidFill>
            <a:srgbClr val="F5EED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3977639" y="2221991"/>
            <a:ext cx="237744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200" b="1">
                <a:solidFill>
                  <a:srgbClr val="8B1A1A"/>
                </a:solidFill>
                <a:latin typeface="맑은 고딕"/>
              </a:rPr>
              <a:t>원추 · 1174</a:t>
            </a:r>
          </a:p>
        </p:txBody>
      </p:sp>
      <p:sp>
        <p:nvSpPr>
          <p:cNvPr id="10" name="Rectangle 9"/>
          <p:cNvSpPr/>
          <p:nvPr/>
        </p:nvSpPr>
        <p:spPr>
          <a:xfrm>
            <a:off x="6492240" y="2103120"/>
            <a:ext cx="5212080" cy="502920"/>
          </a:xfrm>
          <a:prstGeom prst="rect">
            <a:avLst/>
          </a:prstGeom>
          <a:solidFill>
            <a:srgbClr val="FAFA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6629400" y="2221991"/>
            <a:ext cx="502920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200" b="0">
                <a:solidFill>
                  <a:srgbClr val="1F2A44"/>
                </a:solidFill>
                <a:latin typeface="맑은 고딕"/>
              </a:rPr>
              <a:t>사건별 재편 → 기사본말체 시조</a:t>
            </a:r>
          </a:p>
        </p:txBody>
      </p:sp>
      <p:sp>
        <p:nvSpPr>
          <p:cNvPr id="12" name="Rectangle 11"/>
          <p:cNvSpPr/>
          <p:nvPr/>
        </p:nvSpPr>
        <p:spPr>
          <a:xfrm>
            <a:off x="548640" y="2670048"/>
            <a:ext cx="3200400" cy="502920"/>
          </a:xfrm>
          <a:prstGeom prst="rect">
            <a:avLst/>
          </a:prstGeom>
          <a:solidFill>
            <a:srgbClr val="8B1A1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548640" y="2788920"/>
            <a:ext cx="320040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/>
            <a:r>
              <a:rPr sz="1300" b="1">
                <a:solidFill>
                  <a:srgbClr val="FFFFFF"/>
                </a:solidFill>
                <a:latin typeface="맑은 고딕"/>
              </a:rPr>
              <a:t>통감강목(通鑑綱目)</a:t>
            </a:r>
          </a:p>
        </p:txBody>
      </p:sp>
      <p:sp>
        <p:nvSpPr>
          <p:cNvPr id="14" name="Rectangle 13"/>
          <p:cNvSpPr/>
          <p:nvPr/>
        </p:nvSpPr>
        <p:spPr>
          <a:xfrm>
            <a:off x="3840480" y="2670048"/>
            <a:ext cx="2560320" cy="502920"/>
          </a:xfrm>
          <a:prstGeom prst="rect">
            <a:avLst/>
          </a:prstGeom>
          <a:solidFill>
            <a:srgbClr val="F5EED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3977639" y="2788920"/>
            <a:ext cx="237744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200" b="1">
                <a:solidFill>
                  <a:srgbClr val="8B1A1A"/>
                </a:solidFill>
                <a:latin typeface="맑은 고딕"/>
              </a:rPr>
              <a:t>주희 · 1172</a:t>
            </a:r>
          </a:p>
        </p:txBody>
      </p:sp>
      <p:sp>
        <p:nvSpPr>
          <p:cNvPr id="16" name="Rectangle 15"/>
          <p:cNvSpPr/>
          <p:nvPr/>
        </p:nvSpPr>
        <p:spPr>
          <a:xfrm>
            <a:off x="6492240" y="2670048"/>
            <a:ext cx="5212080" cy="502920"/>
          </a:xfrm>
          <a:prstGeom prst="rect">
            <a:avLst/>
          </a:prstGeom>
          <a:solidFill>
            <a:srgbClr val="FAFA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6629400" y="2788920"/>
            <a:ext cx="502920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200" b="0">
                <a:solidFill>
                  <a:srgbClr val="1F2A44"/>
                </a:solidFill>
                <a:latin typeface="맑은 고딕"/>
              </a:rPr>
              <a:t>강(綱)·목(目) 구조 · 도덕적 재해석</a:t>
            </a:r>
          </a:p>
        </p:txBody>
      </p:sp>
      <p:sp>
        <p:nvSpPr>
          <p:cNvPr id="18" name="Rectangle 17"/>
          <p:cNvSpPr/>
          <p:nvPr/>
        </p:nvSpPr>
        <p:spPr>
          <a:xfrm>
            <a:off x="548640" y="3236976"/>
            <a:ext cx="3200400" cy="502920"/>
          </a:xfrm>
          <a:prstGeom prst="rect">
            <a:avLst/>
          </a:prstGeom>
          <a:solidFill>
            <a:srgbClr val="8B1A1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548640" y="3355848"/>
            <a:ext cx="320040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/>
            <a:r>
              <a:rPr sz="1300" b="1">
                <a:solidFill>
                  <a:srgbClr val="FFFFFF"/>
                </a:solidFill>
                <a:latin typeface="맑은 고딕"/>
              </a:rPr>
              <a:t>속자치통감장편(續資治通鑑長編)</a:t>
            </a:r>
          </a:p>
        </p:txBody>
      </p:sp>
      <p:sp>
        <p:nvSpPr>
          <p:cNvPr id="20" name="Rectangle 19"/>
          <p:cNvSpPr/>
          <p:nvPr/>
        </p:nvSpPr>
        <p:spPr>
          <a:xfrm>
            <a:off x="3840480" y="3236976"/>
            <a:ext cx="2560320" cy="502920"/>
          </a:xfrm>
          <a:prstGeom prst="rect">
            <a:avLst/>
          </a:prstGeom>
          <a:solidFill>
            <a:srgbClr val="F5EED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3977639" y="3355848"/>
            <a:ext cx="237744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200" b="1">
                <a:solidFill>
                  <a:srgbClr val="8B1A1A"/>
                </a:solidFill>
                <a:latin typeface="맑은 고딕"/>
              </a:rPr>
              <a:t>이도(李燾) · 1183</a:t>
            </a:r>
          </a:p>
        </p:txBody>
      </p:sp>
      <p:sp>
        <p:nvSpPr>
          <p:cNvPr id="22" name="Rectangle 21"/>
          <p:cNvSpPr/>
          <p:nvPr/>
        </p:nvSpPr>
        <p:spPr>
          <a:xfrm>
            <a:off x="6492240" y="3236976"/>
            <a:ext cx="5212080" cy="502920"/>
          </a:xfrm>
          <a:prstGeom prst="rect">
            <a:avLst/>
          </a:prstGeom>
          <a:solidFill>
            <a:srgbClr val="FAFA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6629400" y="3355848"/>
            <a:ext cx="502920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200" b="0">
                <a:solidFill>
                  <a:srgbClr val="1F2A44"/>
                </a:solidFill>
                <a:latin typeface="맑은 고딕"/>
              </a:rPr>
              <a:t>북송 시대(960~1100)를 자치통감 형식으로</a:t>
            </a:r>
          </a:p>
        </p:txBody>
      </p:sp>
      <p:sp>
        <p:nvSpPr>
          <p:cNvPr id="24" name="Rectangle 23"/>
          <p:cNvSpPr/>
          <p:nvPr/>
        </p:nvSpPr>
        <p:spPr>
          <a:xfrm>
            <a:off x="548640" y="3803904"/>
            <a:ext cx="3200400" cy="502920"/>
          </a:xfrm>
          <a:prstGeom prst="rect">
            <a:avLst/>
          </a:prstGeom>
          <a:solidFill>
            <a:srgbClr val="8B1A1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548640" y="3922776"/>
            <a:ext cx="320040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/>
            <a:r>
              <a:rPr sz="1300" b="1">
                <a:solidFill>
                  <a:srgbClr val="FFFFFF"/>
                </a:solidFill>
                <a:latin typeface="맑은 고딕"/>
              </a:rPr>
              <a:t>속자치통감(續資治通鑑)</a:t>
            </a:r>
          </a:p>
        </p:txBody>
      </p:sp>
      <p:sp>
        <p:nvSpPr>
          <p:cNvPr id="26" name="Rectangle 25"/>
          <p:cNvSpPr/>
          <p:nvPr/>
        </p:nvSpPr>
        <p:spPr>
          <a:xfrm>
            <a:off x="3840480" y="3803904"/>
            <a:ext cx="2560320" cy="502920"/>
          </a:xfrm>
          <a:prstGeom prst="rect">
            <a:avLst/>
          </a:prstGeom>
          <a:solidFill>
            <a:srgbClr val="F5EED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3977639" y="3922776"/>
            <a:ext cx="237744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200" b="1">
                <a:solidFill>
                  <a:srgbClr val="8B1A1A"/>
                </a:solidFill>
                <a:latin typeface="맑은 고딕"/>
              </a:rPr>
              <a:t>필원(畢沅) · 청대</a:t>
            </a:r>
          </a:p>
        </p:txBody>
      </p:sp>
      <p:sp>
        <p:nvSpPr>
          <p:cNvPr id="28" name="Rectangle 27"/>
          <p:cNvSpPr/>
          <p:nvPr/>
        </p:nvSpPr>
        <p:spPr>
          <a:xfrm>
            <a:off x="6492240" y="3803904"/>
            <a:ext cx="5212080" cy="502920"/>
          </a:xfrm>
          <a:prstGeom prst="rect">
            <a:avLst/>
          </a:prstGeom>
          <a:solidFill>
            <a:srgbClr val="FAFA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TextBox 28"/>
          <p:cNvSpPr txBox="1"/>
          <p:nvPr/>
        </p:nvSpPr>
        <p:spPr>
          <a:xfrm>
            <a:off x="6629400" y="3922776"/>
            <a:ext cx="502920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200" b="0">
                <a:solidFill>
                  <a:srgbClr val="1F2A44"/>
                </a:solidFill>
                <a:latin typeface="맑은 고딕"/>
              </a:rPr>
              <a:t>송~원(960~1370) 411년을 통감 형식으로</a:t>
            </a:r>
          </a:p>
        </p:txBody>
      </p:sp>
      <p:sp>
        <p:nvSpPr>
          <p:cNvPr id="30" name="Rectangle 29"/>
          <p:cNvSpPr/>
          <p:nvPr/>
        </p:nvSpPr>
        <p:spPr>
          <a:xfrm>
            <a:off x="548640" y="4370832"/>
            <a:ext cx="3200400" cy="502920"/>
          </a:xfrm>
          <a:prstGeom prst="rect">
            <a:avLst/>
          </a:prstGeom>
          <a:solidFill>
            <a:srgbClr val="8B1A1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TextBox 30"/>
          <p:cNvSpPr txBox="1"/>
          <p:nvPr/>
        </p:nvSpPr>
        <p:spPr>
          <a:xfrm>
            <a:off x="548640" y="4489704"/>
            <a:ext cx="320040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/>
            <a:r>
              <a:rPr sz="1300" b="1">
                <a:solidFill>
                  <a:srgbClr val="FFFFFF"/>
                </a:solidFill>
                <a:latin typeface="맑은 고딕"/>
              </a:rPr>
              <a:t>명통감(明通鑑)</a:t>
            </a:r>
          </a:p>
        </p:txBody>
      </p:sp>
      <p:sp>
        <p:nvSpPr>
          <p:cNvPr id="32" name="Rectangle 31"/>
          <p:cNvSpPr/>
          <p:nvPr/>
        </p:nvSpPr>
        <p:spPr>
          <a:xfrm>
            <a:off x="3840480" y="4370832"/>
            <a:ext cx="2560320" cy="502920"/>
          </a:xfrm>
          <a:prstGeom prst="rect">
            <a:avLst/>
          </a:prstGeom>
          <a:solidFill>
            <a:srgbClr val="F5EED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TextBox 32"/>
          <p:cNvSpPr txBox="1"/>
          <p:nvPr/>
        </p:nvSpPr>
        <p:spPr>
          <a:xfrm>
            <a:off x="3977639" y="4489704"/>
            <a:ext cx="237744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200" b="1">
                <a:solidFill>
                  <a:srgbClr val="8B1A1A"/>
                </a:solidFill>
                <a:latin typeface="맑은 고딕"/>
              </a:rPr>
              <a:t>하섭 · 청대</a:t>
            </a:r>
          </a:p>
        </p:txBody>
      </p:sp>
      <p:sp>
        <p:nvSpPr>
          <p:cNvPr id="34" name="Rectangle 33"/>
          <p:cNvSpPr/>
          <p:nvPr/>
        </p:nvSpPr>
        <p:spPr>
          <a:xfrm>
            <a:off x="6492240" y="4370832"/>
            <a:ext cx="5212080" cy="502920"/>
          </a:xfrm>
          <a:prstGeom prst="rect">
            <a:avLst/>
          </a:prstGeom>
          <a:solidFill>
            <a:srgbClr val="FAFA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TextBox 34"/>
          <p:cNvSpPr txBox="1"/>
          <p:nvPr/>
        </p:nvSpPr>
        <p:spPr>
          <a:xfrm>
            <a:off x="6629400" y="4489704"/>
            <a:ext cx="502920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200" b="0">
                <a:solidFill>
                  <a:srgbClr val="1F2A44"/>
                </a:solidFill>
                <a:latin typeface="맑은 고딕"/>
              </a:rPr>
              <a:t>명대(1368~1644) 277년을 통감 형식으로</a:t>
            </a:r>
          </a:p>
        </p:txBody>
      </p:sp>
      <p:sp>
        <p:nvSpPr>
          <p:cNvPr id="36" name="Rectangle 35"/>
          <p:cNvSpPr/>
          <p:nvPr/>
        </p:nvSpPr>
        <p:spPr>
          <a:xfrm>
            <a:off x="548640" y="4937760"/>
            <a:ext cx="3200400" cy="502920"/>
          </a:xfrm>
          <a:prstGeom prst="rect">
            <a:avLst/>
          </a:prstGeom>
          <a:solidFill>
            <a:srgbClr val="8B1A1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" name="TextBox 36"/>
          <p:cNvSpPr txBox="1"/>
          <p:nvPr/>
        </p:nvSpPr>
        <p:spPr>
          <a:xfrm>
            <a:off x="548640" y="5056632"/>
            <a:ext cx="320040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/>
            <a:r>
              <a:rPr sz="1300" b="1">
                <a:solidFill>
                  <a:srgbClr val="FFFFFF"/>
                </a:solidFill>
                <a:latin typeface="맑은 고딕"/>
              </a:rPr>
              <a:t>대일본사(大日本史)</a:t>
            </a:r>
          </a:p>
        </p:txBody>
      </p:sp>
      <p:sp>
        <p:nvSpPr>
          <p:cNvPr id="38" name="Rectangle 37"/>
          <p:cNvSpPr/>
          <p:nvPr/>
        </p:nvSpPr>
        <p:spPr>
          <a:xfrm>
            <a:off x="3840480" y="4937760"/>
            <a:ext cx="2560320" cy="502920"/>
          </a:xfrm>
          <a:prstGeom prst="rect">
            <a:avLst/>
          </a:prstGeom>
          <a:solidFill>
            <a:srgbClr val="F5EED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9" name="TextBox 38"/>
          <p:cNvSpPr txBox="1"/>
          <p:nvPr/>
        </p:nvSpPr>
        <p:spPr>
          <a:xfrm>
            <a:off x="3977639" y="5056632"/>
            <a:ext cx="237744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200" b="1">
                <a:solidFill>
                  <a:srgbClr val="8B1A1A"/>
                </a:solidFill>
                <a:latin typeface="맑은 고딕"/>
              </a:rPr>
              <a:t>미토 · 1657~1906</a:t>
            </a:r>
          </a:p>
        </p:txBody>
      </p:sp>
      <p:sp>
        <p:nvSpPr>
          <p:cNvPr id="40" name="Rectangle 39"/>
          <p:cNvSpPr/>
          <p:nvPr/>
        </p:nvSpPr>
        <p:spPr>
          <a:xfrm>
            <a:off x="6492240" y="4937760"/>
            <a:ext cx="5212080" cy="502920"/>
          </a:xfrm>
          <a:prstGeom prst="rect">
            <a:avLst/>
          </a:prstGeom>
          <a:solidFill>
            <a:srgbClr val="FAFA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1" name="TextBox 40"/>
          <p:cNvSpPr txBox="1"/>
          <p:nvPr/>
        </p:nvSpPr>
        <p:spPr>
          <a:xfrm>
            <a:off x="6629400" y="5056632"/>
            <a:ext cx="502920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200" b="0">
                <a:solidFill>
                  <a:srgbClr val="1F2A44"/>
                </a:solidFill>
                <a:latin typeface="맑은 고딕"/>
              </a:rPr>
              <a:t>일본 황통(皇統) 통사 · 통감 영향</a:t>
            </a:r>
          </a:p>
        </p:txBody>
      </p:sp>
    </p:spTree>
  </p:cSld>
  <p:clrMapOvr>
    <a:masterClrMapping/>
  </p:clrMapOvr>
</p:sld>
</file>

<file path=ppt/slides/slide6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91440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100" b="1">
                <a:solidFill>
                  <a:srgbClr val="556070"/>
                </a:solidFill>
                <a:latin typeface="맑은 고딕"/>
              </a:rPr>
              <a:t>Ⅺ. 현대 의의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10972800" y="274320"/>
            <a:ext cx="118872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/>
            <a:r>
              <a:rPr sz="1000" b="0">
                <a:solidFill>
                  <a:srgbClr val="556070"/>
                </a:solidFill>
                <a:latin typeface="맑은 고딕"/>
              </a:rPr>
              <a:t>62 / 70</a:t>
            </a:r>
          </a:p>
        </p:txBody>
      </p:sp>
      <p:cxnSp>
        <p:nvCxnSpPr>
          <p:cNvPr id="4" name="Connector 3"/>
          <p:cNvCxnSpPr/>
          <p:nvPr/>
        </p:nvCxnSpPr>
        <p:spPr>
          <a:xfrm>
            <a:off x="457200" y="594360"/>
            <a:ext cx="11704320" cy="0"/>
          </a:xfrm>
          <a:prstGeom prst="line">
            <a:avLst/>
          </a:prstGeom>
          <a:ln w="25400">
            <a:solidFill>
              <a:srgbClr val="C8A25B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5" name="TextBox 4"/>
          <p:cNvSpPr txBox="1"/>
          <p:nvPr/>
        </p:nvSpPr>
        <p:spPr>
          <a:xfrm>
            <a:off x="457200" y="777240"/>
            <a:ext cx="11704320" cy="6400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3000" b="1">
                <a:solidFill>
                  <a:srgbClr val="1F2A44"/>
                </a:solidFill>
                <a:latin typeface="맑은 고딕"/>
              </a:rPr>
              <a:t>현대 ① — 통사적(macro) 시각의 회복</a:t>
            </a:r>
          </a:p>
        </p:txBody>
      </p:sp>
      <p:sp>
        <p:nvSpPr>
          <p:cNvPr id="6" name="Rectangle 5"/>
          <p:cNvSpPr/>
          <p:nvPr/>
        </p:nvSpPr>
        <p:spPr>
          <a:xfrm>
            <a:off x="457200" y="2103120"/>
            <a:ext cx="11247120" cy="1828800"/>
          </a:xfrm>
          <a:prstGeom prst="rect">
            <a:avLst/>
          </a:prstGeom>
          <a:solidFill>
            <a:srgbClr val="F5EED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731520" y="2286000"/>
            <a:ext cx="10698480" cy="155448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ctr">
              <a:lnSpc>
                <a:spcPct val="130000"/>
              </a:lnSpc>
            </a:pPr>
            <a:r>
              <a:rPr sz="1900" b="1">
                <a:solidFill>
                  <a:srgbClr val="8B1A1A"/>
                </a:solidFill>
                <a:latin typeface="맑은 고딕"/>
              </a:rPr>
              <a:t>"단편적 정보 시대에 통사의 시각이 가장 결핍"</a:t>
            </a:r>
          </a:p>
          <a:p>
            <a:pPr algn="l">
              <a:lnSpc>
                <a:spcPct val="130000"/>
              </a:lnSpc>
            </a:pPr>
            <a:r>
              <a:rPr sz="400" b="0">
                <a:solidFill>
                  <a:srgbClr val="1F2A44"/>
                </a:solidFill>
                <a:latin typeface="맑은 고딕"/>
              </a:rPr>
              <a:t/>
            </a:r>
          </a:p>
          <a:p>
            <a:pPr algn="ctr">
              <a:lnSpc>
                <a:spcPct val="130000"/>
              </a:lnSpc>
              <a:spcBef>
                <a:spcPts val="600"/>
              </a:spcBef>
            </a:pPr>
            <a:r>
              <a:rPr sz="1500" b="0">
                <a:solidFill>
                  <a:srgbClr val="1F2A44"/>
                </a:solidFill>
                <a:latin typeface="맑은 고딕"/>
              </a:rPr>
              <a:t>SNS·뉴스·블로그 — 짧고 자극적인 단편이 지배</a:t>
            </a:r>
          </a:p>
          <a:p>
            <a:pPr algn="ctr">
              <a:lnSpc>
                <a:spcPct val="130000"/>
              </a:lnSpc>
            </a:pPr>
            <a:r>
              <a:rPr sz="1400" b="1">
                <a:solidFill>
                  <a:srgbClr val="556070"/>
                </a:solidFill>
                <a:latin typeface="맑은 고딕"/>
              </a:rPr>
              <a:t>1,362년의 큰 강물을 본 자만이 오늘의 작은 물결을 읽는다</a:t>
            </a:r>
          </a:p>
        </p:txBody>
      </p:sp>
      <p:sp>
        <p:nvSpPr>
          <p:cNvPr id="8" name="Rectangle 7"/>
          <p:cNvSpPr/>
          <p:nvPr/>
        </p:nvSpPr>
        <p:spPr>
          <a:xfrm>
            <a:off x="457200" y="4114800"/>
            <a:ext cx="11247120" cy="2286000"/>
          </a:xfrm>
          <a:prstGeom prst="rect">
            <a:avLst/>
          </a:prstGeom>
          <a:solidFill>
            <a:srgbClr val="FAE5E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731520" y="4251960"/>
            <a:ext cx="10698480" cy="201168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ctr">
              <a:lnSpc>
                <a:spcPct val="130000"/>
              </a:lnSpc>
            </a:pPr>
            <a:r>
              <a:rPr sz="1800" b="1">
                <a:solidFill>
                  <a:srgbClr val="8B1A1A"/>
                </a:solidFill>
                <a:latin typeface="맑은 고딕"/>
              </a:rPr>
              <a:t>통사적 시각의 실용성</a:t>
            </a:r>
          </a:p>
          <a:p>
            <a:pPr algn="l">
              <a:lnSpc>
                <a:spcPct val="130000"/>
              </a:lnSpc>
            </a:pPr>
            <a:r>
              <a:rPr sz="400" b="0">
                <a:solidFill>
                  <a:srgbClr val="1F2A44"/>
                </a:solidFill>
                <a:latin typeface="맑은 고딕"/>
              </a:rPr>
              <a:t/>
            </a:r>
          </a:p>
          <a:p>
            <a:pPr algn="l">
              <a:lnSpc>
                <a:spcPct val="130000"/>
              </a:lnSpc>
              <a:spcBef>
                <a:spcPts val="600"/>
              </a:spcBef>
            </a:pPr>
            <a:r>
              <a:rPr sz="1400" b="0">
                <a:solidFill>
                  <a:srgbClr val="1F2A44"/>
                </a:solidFill>
                <a:latin typeface="맑은 고딕"/>
              </a:rPr>
              <a:t>• 패턴 인식 — "이번에는 다르다"는 착각의 해독제</a:t>
            </a:r>
          </a:p>
          <a:p>
            <a:pPr algn="l">
              <a:lnSpc>
                <a:spcPct val="130000"/>
              </a:lnSpc>
              <a:spcBef>
                <a:spcPts val="400"/>
              </a:spcBef>
            </a:pPr>
            <a:r>
              <a:rPr sz="1400" b="0">
                <a:solidFill>
                  <a:srgbClr val="1F2A44"/>
                </a:solidFill>
                <a:latin typeface="맑은 고딕"/>
              </a:rPr>
              <a:t>• 인과 추적 — 즉각적 사건의 멀고 깊은 원인</a:t>
            </a:r>
          </a:p>
          <a:p>
            <a:pPr algn="l">
              <a:lnSpc>
                <a:spcPct val="130000"/>
              </a:lnSpc>
              <a:spcBef>
                <a:spcPts val="400"/>
              </a:spcBef>
            </a:pPr>
            <a:r>
              <a:rPr sz="1400" b="0">
                <a:solidFill>
                  <a:srgbClr val="1F2A44"/>
                </a:solidFill>
                <a:latin typeface="맑은 고딕"/>
              </a:rPr>
              <a:t>• 사이클 인식 — 흥(興)과 쇠(衰)의 반복 구조</a:t>
            </a:r>
          </a:p>
          <a:p>
            <a:pPr algn="l">
              <a:lnSpc>
                <a:spcPct val="130000"/>
              </a:lnSpc>
              <a:spcBef>
                <a:spcPts val="400"/>
              </a:spcBef>
            </a:pPr>
            <a:r>
              <a:rPr sz="1400" b="1">
                <a:solidFill>
                  <a:srgbClr val="8B1A1A"/>
                </a:solidFill>
                <a:latin typeface="맑은 고딕"/>
              </a:rPr>
              <a:t>• 경영의 long-term thinking · 정치의 100년 안목</a:t>
            </a:r>
          </a:p>
        </p:txBody>
      </p:sp>
    </p:spTree>
  </p:cSld>
  <p:clrMapOvr>
    <a:masterClrMapping/>
  </p:clrMapOvr>
</p:sld>
</file>

<file path=ppt/slides/slide6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91440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100" b="1">
                <a:solidFill>
                  <a:srgbClr val="556070"/>
                </a:solidFill>
                <a:latin typeface="맑은 고딕"/>
              </a:rPr>
              <a:t>Ⅺ. 현대 의의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10972800" y="274320"/>
            <a:ext cx="118872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/>
            <a:r>
              <a:rPr sz="1000" b="0">
                <a:solidFill>
                  <a:srgbClr val="556070"/>
                </a:solidFill>
                <a:latin typeface="맑은 고딕"/>
              </a:rPr>
              <a:t>63 / 70</a:t>
            </a:r>
          </a:p>
        </p:txBody>
      </p:sp>
      <p:cxnSp>
        <p:nvCxnSpPr>
          <p:cNvPr id="4" name="Connector 3"/>
          <p:cNvCxnSpPr/>
          <p:nvPr/>
        </p:nvCxnSpPr>
        <p:spPr>
          <a:xfrm>
            <a:off x="457200" y="594360"/>
            <a:ext cx="11704320" cy="0"/>
          </a:xfrm>
          <a:prstGeom prst="line">
            <a:avLst/>
          </a:prstGeom>
          <a:ln w="25400">
            <a:solidFill>
              <a:srgbClr val="C8A25B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5" name="TextBox 4"/>
          <p:cNvSpPr txBox="1"/>
          <p:nvPr/>
        </p:nvSpPr>
        <p:spPr>
          <a:xfrm>
            <a:off x="457200" y="777240"/>
            <a:ext cx="11704320" cy="6400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3000" b="1">
                <a:solidFill>
                  <a:srgbClr val="1F2A44"/>
                </a:solidFill>
                <a:latin typeface="맑은 고딕"/>
              </a:rPr>
              <a:t>현대 ② — "신광왈" — 사례에 평론을 더하는 사고법</a:t>
            </a:r>
          </a:p>
        </p:txBody>
      </p:sp>
      <p:sp>
        <p:nvSpPr>
          <p:cNvPr id="6" name="Rectangle 5"/>
          <p:cNvSpPr/>
          <p:nvPr/>
        </p:nvSpPr>
        <p:spPr>
          <a:xfrm>
            <a:off x="457200" y="2103120"/>
            <a:ext cx="11247120" cy="1828800"/>
          </a:xfrm>
          <a:prstGeom prst="rect">
            <a:avLst/>
          </a:prstGeom>
          <a:solidFill>
            <a:srgbClr val="F5EED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731520" y="2286000"/>
            <a:ext cx="10698480" cy="155448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ctr">
              <a:lnSpc>
                <a:spcPct val="130000"/>
              </a:lnSpc>
            </a:pPr>
            <a:r>
              <a:rPr sz="1800" b="1">
                <a:solidFill>
                  <a:srgbClr val="8B1A1A"/>
                </a:solidFill>
                <a:latin typeface="맑은 고딕"/>
              </a:rPr>
              <a:t>"사실 → 평론" — 정보를 지혜로 바꾸는 사고 회로</a:t>
            </a:r>
          </a:p>
          <a:p>
            <a:pPr algn="l">
              <a:lnSpc>
                <a:spcPct val="130000"/>
              </a:lnSpc>
            </a:pPr>
            <a:r>
              <a:rPr sz="400" b="0">
                <a:solidFill>
                  <a:srgbClr val="1F2A44"/>
                </a:solidFill>
                <a:latin typeface="맑은 고딕"/>
              </a:rPr>
              <a:t/>
            </a:r>
          </a:p>
          <a:p>
            <a:pPr algn="ctr">
              <a:lnSpc>
                <a:spcPct val="130000"/>
              </a:lnSpc>
              <a:spcBef>
                <a:spcPts val="600"/>
              </a:spcBef>
            </a:pPr>
            <a:r>
              <a:rPr sz="1500" b="0">
                <a:solidFill>
                  <a:srgbClr val="1F2A44"/>
                </a:solidFill>
                <a:latin typeface="맑은 고딕"/>
              </a:rPr>
              <a:t>자치통감은 단순 기록이 아니라 219편의 사평이 동반된 책</a:t>
            </a:r>
          </a:p>
          <a:p>
            <a:pPr algn="ctr">
              <a:lnSpc>
                <a:spcPct val="130000"/>
              </a:lnSpc>
            </a:pPr>
            <a:r>
              <a:rPr sz="1400" b="1">
                <a:solidFill>
                  <a:srgbClr val="556070"/>
                </a:solidFill>
                <a:latin typeface="맑은 고딕"/>
              </a:rPr>
              <a:t>"읽고 생각하지 않으면 통감이 아니다"</a:t>
            </a:r>
          </a:p>
        </p:txBody>
      </p:sp>
      <p:sp>
        <p:nvSpPr>
          <p:cNvPr id="8" name="Rectangle 7"/>
          <p:cNvSpPr/>
          <p:nvPr/>
        </p:nvSpPr>
        <p:spPr>
          <a:xfrm>
            <a:off x="457200" y="4114800"/>
            <a:ext cx="11247120" cy="2286000"/>
          </a:xfrm>
          <a:prstGeom prst="rect">
            <a:avLst/>
          </a:prstGeom>
          <a:solidFill>
            <a:srgbClr val="FAE5E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731520" y="4251960"/>
            <a:ext cx="10698480" cy="201168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ctr">
              <a:lnSpc>
                <a:spcPct val="130000"/>
              </a:lnSpc>
            </a:pPr>
            <a:r>
              <a:rPr sz="1800" b="1">
                <a:solidFill>
                  <a:srgbClr val="8B1A1A"/>
                </a:solidFill>
                <a:latin typeface="맑은 고딕"/>
              </a:rPr>
              <a:t>현대 적용 — "사평의 습관"</a:t>
            </a:r>
          </a:p>
          <a:p>
            <a:pPr algn="l">
              <a:lnSpc>
                <a:spcPct val="130000"/>
              </a:lnSpc>
            </a:pPr>
            <a:r>
              <a:rPr sz="400" b="0">
                <a:solidFill>
                  <a:srgbClr val="1F2A44"/>
                </a:solidFill>
                <a:latin typeface="맑은 고딕"/>
              </a:rPr>
              <a:t/>
            </a:r>
          </a:p>
          <a:p>
            <a:pPr algn="l">
              <a:lnSpc>
                <a:spcPct val="130000"/>
              </a:lnSpc>
              <a:spcBef>
                <a:spcPts val="600"/>
              </a:spcBef>
            </a:pPr>
            <a:r>
              <a:rPr sz="1400" b="0">
                <a:solidFill>
                  <a:srgbClr val="1F2A44"/>
                </a:solidFill>
                <a:latin typeface="맑은 고딕"/>
              </a:rPr>
              <a:t>• 뉴스 — "왜 이런 일이?"를 자문</a:t>
            </a:r>
          </a:p>
          <a:p>
            <a:pPr algn="l">
              <a:lnSpc>
                <a:spcPct val="130000"/>
              </a:lnSpc>
              <a:spcBef>
                <a:spcPts val="400"/>
              </a:spcBef>
            </a:pPr>
            <a:r>
              <a:rPr sz="1400" b="0">
                <a:solidFill>
                  <a:srgbClr val="1F2A44"/>
                </a:solidFill>
                <a:latin typeface="맑은 고딕"/>
              </a:rPr>
              <a:t>• 사건 — "이전에 같은 패턴이?"를 자문</a:t>
            </a:r>
          </a:p>
          <a:p>
            <a:pPr algn="l">
              <a:lnSpc>
                <a:spcPct val="130000"/>
              </a:lnSpc>
              <a:spcBef>
                <a:spcPts val="400"/>
              </a:spcBef>
            </a:pPr>
            <a:r>
              <a:rPr sz="1400" b="1">
                <a:solidFill>
                  <a:srgbClr val="8B1A1A"/>
                </a:solidFill>
                <a:latin typeface="맑은 고딕"/>
              </a:rPr>
              <a:t>• 결정 — "이 결정이 5년 후 어떻게 평가될까?"</a:t>
            </a:r>
          </a:p>
        </p:txBody>
      </p:sp>
    </p:spTree>
  </p:cSld>
  <p:clrMapOvr>
    <a:masterClrMapping/>
  </p:clrMapOvr>
</p:sld>
</file>

<file path=ppt/slides/slide6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91440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100" b="1">
                <a:solidFill>
                  <a:srgbClr val="556070"/>
                </a:solidFill>
                <a:latin typeface="맑은 고딕"/>
              </a:rPr>
              <a:t>Ⅺ. 현대 의의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10972800" y="274320"/>
            <a:ext cx="118872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/>
            <a:r>
              <a:rPr sz="1000" b="0">
                <a:solidFill>
                  <a:srgbClr val="556070"/>
                </a:solidFill>
                <a:latin typeface="맑은 고딕"/>
              </a:rPr>
              <a:t>64 / 70</a:t>
            </a:r>
          </a:p>
        </p:txBody>
      </p:sp>
      <p:cxnSp>
        <p:nvCxnSpPr>
          <p:cNvPr id="4" name="Connector 3"/>
          <p:cNvCxnSpPr/>
          <p:nvPr/>
        </p:nvCxnSpPr>
        <p:spPr>
          <a:xfrm>
            <a:off x="457200" y="594360"/>
            <a:ext cx="11704320" cy="0"/>
          </a:xfrm>
          <a:prstGeom prst="line">
            <a:avLst/>
          </a:prstGeom>
          <a:ln w="25400">
            <a:solidFill>
              <a:srgbClr val="C8A25B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5" name="TextBox 4"/>
          <p:cNvSpPr txBox="1"/>
          <p:nvPr/>
        </p:nvSpPr>
        <p:spPr>
          <a:xfrm>
            <a:off x="457200" y="777240"/>
            <a:ext cx="11704320" cy="6400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3000" b="1">
                <a:solidFill>
                  <a:srgbClr val="1F2A44"/>
                </a:solidFill>
                <a:latin typeface="맑은 고딕"/>
              </a:rPr>
              <a:t>현대 ③ — "감(鑑)" — 거울로서의 역사</a:t>
            </a:r>
          </a:p>
        </p:txBody>
      </p:sp>
      <p:sp>
        <p:nvSpPr>
          <p:cNvPr id="6" name="Rectangle 5"/>
          <p:cNvSpPr/>
          <p:nvPr/>
        </p:nvSpPr>
        <p:spPr>
          <a:xfrm>
            <a:off x="457200" y="2103120"/>
            <a:ext cx="11247120" cy="1828800"/>
          </a:xfrm>
          <a:prstGeom prst="rect">
            <a:avLst/>
          </a:prstGeom>
          <a:solidFill>
            <a:srgbClr val="F5EED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731520" y="2286000"/>
            <a:ext cx="10698480" cy="155448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ctr">
              <a:lnSpc>
                <a:spcPct val="130000"/>
              </a:lnSpc>
            </a:pPr>
            <a:r>
              <a:rPr sz="1800" b="1">
                <a:solidFill>
                  <a:srgbClr val="8B1A1A"/>
                </a:solidFill>
                <a:latin typeface="맑은 고딕"/>
              </a:rPr>
              <a:t>"역사는 단순 과거의 기록이 아니라 현재를 비추는 거울"</a:t>
            </a:r>
          </a:p>
          <a:p>
            <a:pPr algn="l">
              <a:lnSpc>
                <a:spcPct val="130000"/>
              </a:lnSpc>
            </a:pPr>
            <a:r>
              <a:rPr sz="400" b="0">
                <a:solidFill>
                  <a:srgbClr val="1F2A44"/>
                </a:solidFill>
                <a:latin typeface="맑은 고딕"/>
              </a:rPr>
              <a:t/>
            </a:r>
          </a:p>
          <a:p>
            <a:pPr algn="ctr">
              <a:lnSpc>
                <a:spcPct val="130000"/>
              </a:lnSpc>
              <a:spcBef>
                <a:spcPts val="600"/>
              </a:spcBef>
            </a:pPr>
            <a:r>
              <a:rPr sz="1500" b="0">
                <a:solidFill>
                  <a:srgbClr val="1F2A44"/>
                </a:solidFill>
                <a:latin typeface="맑은 고딕"/>
              </a:rPr>
              <a:t>당 태종의 "三鏡" · 사마광의 "鑑" — 같은 사상</a:t>
            </a:r>
          </a:p>
          <a:p>
            <a:pPr algn="ctr">
              <a:lnSpc>
                <a:spcPct val="130000"/>
              </a:lnSpc>
            </a:pPr>
            <a:r>
              <a:rPr sz="1400" b="0">
                <a:solidFill>
                  <a:srgbClr val="556070"/>
                </a:solidFill>
                <a:latin typeface="맑은 고딕"/>
              </a:rPr>
              <a:t>현재를 객관화하는 가장 강력한 도구 — 시간적 거리</a:t>
            </a:r>
          </a:p>
        </p:txBody>
      </p:sp>
      <p:sp>
        <p:nvSpPr>
          <p:cNvPr id="8" name="Rectangle 7"/>
          <p:cNvSpPr/>
          <p:nvPr/>
        </p:nvSpPr>
        <p:spPr>
          <a:xfrm>
            <a:off x="457200" y="4114800"/>
            <a:ext cx="11247120" cy="2286000"/>
          </a:xfrm>
          <a:prstGeom prst="rect">
            <a:avLst/>
          </a:prstGeom>
          <a:solidFill>
            <a:srgbClr val="FAE5E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731520" y="4251960"/>
            <a:ext cx="10698480" cy="201168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ctr">
              <a:lnSpc>
                <a:spcPct val="130000"/>
              </a:lnSpc>
            </a:pPr>
            <a:r>
              <a:rPr sz="1800" b="1">
                <a:solidFill>
                  <a:srgbClr val="8B1A1A"/>
                </a:solidFill>
                <a:latin typeface="맑은 고딕"/>
              </a:rPr>
              <a:t>현대 응용 — "역사가 보여주는 거울"</a:t>
            </a:r>
          </a:p>
          <a:p>
            <a:pPr algn="l">
              <a:lnSpc>
                <a:spcPct val="130000"/>
              </a:lnSpc>
            </a:pPr>
            <a:r>
              <a:rPr sz="400" b="0">
                <a:solidFill>
                  <a:srgbClr val="1F2A44"/>
                </a:solidFill>
                <a:latin typeface="맑은 고딕"/>
              </a:rPr>
              <a:t/>
            </a:r>
          </a:p>
          <a:p>
            <a:pPr algn="l">
              <a:lnSpc>
                <a:spcPct val="130000"/>
              </a:lnSpc>
              <a:spcBef>
                <a:spcPts val="600"/>
              </a:spcBef>
            </a:pPr>
            <a:r>
              <a:rPr sz="1400" b="0">
                <a:solidFill>
                  <a:srgbClr val="1F2A44"/>
                </a:solidFill>
                <a:latin typeface="맑은 고딕"/>
              </a:rPr>
              <a:t>• 경영 — "코닥·노키아·블랙베리는 왜 무너졌나"</a:t>
            </a:r>
          </a:p>
          <a:p>
            <a:pPr algn="l">
              <a:lnSpc>
                <a:spcPct val="130000"/>
              </a:lnSpc>
              <a:spcBef>
                <a:spcPts val="400"/>
              </a:spcBef>
            </a:pPr>
            <a:r>
              <a:rPr sz="1400" b="0">
                <a:solidFill>
                  <a:srgbClr val="1F2A44"/>
                </a:solidFill>
                <a:latin typeface="맑은 고딕"/>
              </a:rPr>
              <a:t>• 조직 — "엔론·리먼은 왜 망했나"</a:t>
            </a:r>
          </a:p>
          <a:p>
            <a:pPr algn="l">
              <a:lnSpc>
                <a:spcPct val="130000"/>
              </a:lnSpc>
              <a:spcBef>
                <a:spcPts val="400"/>
              </a:spcBef>
            </a:pPr>
            <a:r>
              <a:rPr sz="1400" b="1">
                <a:solidFill>
                  <a:srgbClr val="8B1A1A"/>
                </a:solidFill>
                <a:latin typeface="맑은 고딕"/>
              </a:rPr>
              <a:t>• 개인 — "지난 5년의 나는 어떤 군주였나"</a:t>
            </a:r>
          </a:p>
        </p:txBody>
      </p:sp>
    </p:spTree>
  </p:cSld>
  <p:clrMapOvr>
    <a:masterClrMapping/>
  </p:clrMapOvr>
</p:sld>
</file>

<file path=ppt/slides/slide6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91440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100" b="1">
                <a:solidFill>
                  <a:srgbClr val="556070"/>
                </a:solidFill>
                <a:latin typeface="맑은 고딕"/>
              </a:rPr>
              <a:t>Ⅺ. 현대 의의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10972800" y="274320"/>
            <a:ext cx="118872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/>
            <a:r>
              <a:rPr sz="1000" b="0">
                <a:solidFill>
                  <a:srgbClr val="556070"/>
                </a:solidFill>
                <a:latin typeface="맑은 고딕"/>
              </a:rPr>
              <a:t>65 / 70</a:t>
            </a:r>
          </a:p>
        </p:txBody>
      </p:sp>
      <p:cxnSp>
        <p:nvCxnSpPr>
          <p:cNvPr id="4" name="Connector 3"/>
          <p:cNvCxnSpPr/>
          <p:nvPr/>
        </p:nvCxnSpPr>
        <p:spPr>
          <a:xfrm>
            <a:off x="457200" y="594360"/>
            <a:ext cx="11704320" cy="0"/>
          </a:xfrm>
          <a:prstGeom prst="line">
            <a:avLst/>
          </a:prstGeom>
          <a:ln w="25400">
            <a:solidFill>
              <a:srgbClr val="C8A25B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5" name="TextBox 4"/>
          <p:cNvSpPr txBox="1"/>
          <p:nvPr/>
        </p:nvSpPr>
        <p:spPr>
          <a:xfrm>
            <a:off x="457200" y="777240"/>
            <a:ext cx="11704320" cy="6400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3000" b="1">
                <a:solidFill>
                  <a:srgbClr val="1F2A44"/>
                </a:solidFill>
                <a:latin typeface="맑은 고딕"/>
              </a:rPr>
              <a:t>현대 ④ — "고이(考異)" — 사료 비판의 정신</a:t>
            </a:r>
          </a:p>
        </p:txBody>
      </p:sp>
      <p:sp>
        <p:nvSpPr>
          <p:cNvPr id="6" name="Rectangle 5"/>
          <p:cNvSpPr/>
          <p:nvPr/>
        </p:nvSpPr>
        <p:spPr>
          <a:xfrm>
            <a:off x="457200" y="2103120"/>
            <a:ext cx="11247120" cy="1828800"/>
          </a:xfrm>
          <a:prstGeom prst="rect">
            <a:avLst/>
          </a:prstGeom>
          <a:solidFill>
            <a:srgbClr val="F5EED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731520" y="2286000"/>
            <a:ext cx="10698480" cy="155448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ctr">
              <a:lnSpc>
                <a:spcPct val="130000"/>
              </a:lnSpc>
            </a:pPr>
            <a:r>
              <a:rPr sz="1900" b="1">
                <a:solidFill>
                  <a:srgbClr val="8B1A1A"/>
                </a:solidFill>
                <a:latin typeface="맑은 고딕"/>
              </a:rPr>
              <a:t>사마광의 『통감고이(通鑑考異)』 30권</a:t>
            </a:r>
          </a:p>
          <a:p>
            <a:pPr algn="l">
              <a:lnSpc>
                <a:spcPct val="130000"/>
              </a:lnSpc>
            </a:pPr>
            <a:r>
              <a:rPr sz="400" b="0">
                <a:solidFill>
                  <a:srgbClr val="1F2A44"/>
                </a:solidFill>
                <a:latin typeface="맑은 고딕"/>
              </a:rPr>
              <a:t/>
            </a:r>
          </a:p>
          <a:p>
            <a:pPr algn="ctr">
              <a:lnSpc>
                <a:spcPct val="130000"/>
              </a:lnSpc>
              <a:spcBef>
                <a:spcPts val="600"/>
              </a:spcBef>
            </a:pPr>
            <a:r>
              <a:rPr sz="1500" b="0">
                <a:solidFill>
                  <a:srgbClr val="1F2A44"/>
                </a:solidFill>
                <a:latin typeface="맑은 고딕"/>
              </a:rPr>
              <a:t>"왜 이 사료를 채택했는가" — 모든 채택의 근거를 명시</a:t>
            </a:r>
          </a:p>
          <a:p>
            <a:pPr algn="ctr">
              <a:lnSpc>
                <a:spcPct val="130000"/>
              </a:lnSpc>
            </a:pPr>
            <a:r>
              <a:rPr sz="1400" b="1">
                <a:solidFill>
                  <a:srgbClr val="556070"/>
                </a:solidFill>
                <a:latin typeface="맑은 고딕"/>
              </a:rPr>
              <a:t>동양 사학의 가장 엄밀한 사료 비판의 원형</a:t>
            </a:r>
          </a:p>
        </p:txBody>
      </p:sp>
      <p:sp>
        <p:nvSpPr>
          <p:cNvPr id="8" name="Rectangle 7"/>
          <p:cNvSpPr/>
          <p:nvPr/>
        </p:nvSpPr>
        <p:spPr>
          <a:xfrm>
            <a:off x="457200" y="4114800"/>
            <a:ext cx="11247120" cy="2286000"/>
          </a:xfrm>
          <a:prstGeom prst="rect">
            <a:avLst/>
          </a:prstGeom>
          <a:solidFill>
            <a:srgbClr val="FAE5E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731520" y="4251960"/>
            <a:ext cx="10698480" cy="201168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ctr">
              <a:lnSpc>
                <a:spcPct val="130000"/>
              </a:lnSpc>
            </a:pPr>
            <a:r>
              <a:rPr sz="1800" b="1">
                <a:solidFill>
                  <a:srgbClr val="8B1A1A"/>
                </a:solidFill>
                <a:latin typeface="맑은 고딕"/>
              </a:rPr>
              <a:t>현대 응용 — "정보 비판의 습관"</a:t>
            </a:r>
          </a:p>
          <a:p>
            <a:pPr algn="l">
              <a:lnSpc>
                <a:spcPct val="130000"/>
              </a:lnSpc>
            </a:pPr>
            <a:r>
              <a:rPr sz="400" b="0">
                <a:solidFill>
                  <a:srgbClr val="1F2A44"/>
                </a:solidFill>
                <a:latin typeface="맑은 고딕"/>
              </a:rPr>
              <a:t/>
            </a:r>
          </a:p>
          <a:p>
            <a:pPr algn="l">
              <a:lnSpc>
                <a:spcPct val="130000"/>
              </a:lnSpc>
              <a:spcBef>
                <a:spcPts val="600"/>
              </a:spcBef>
            </a:pPr>
            <a:r>
              <a:rPr sz="1400" b="0">
                <a:solidFill>
                  <a:srgbClr val="1F2A44"/>
                </a:solidFill>
                <a:latin typeface="맑은 고딕"/>
              </a:rPr>
              <a:t>• 가짜 뉴스 시대의 사료 비판 — 출처·교차 검증</a:t>
            </a:r>
          </a:p>
          <a:p>
            <a:pPr algn="l">
              <a:lnSpc>
                <a:spcPct val="130000"/>
              </a:lnSpc>
              <a:spcBef>
                <a:spcPts val="400"/>
              </a:spcBef>
            </a:pPr>
            <a:r>
              <a:rPr sz="1400" b="0">
                <a:solidFill>
                  <a:srgbClr val="1F2A44"/>
                </a:solidFill>
                <a:latin typeface="맑은 고딕"/>
              </a:rPr>
              <a:t>• AI 답변의 검증 — 환각(hallucination) 식별</a:t>
            </a:r>
          </a:p>
          <a:p>
            <a:pPr algn="l">
              <a:lnSpc>
                <a:spcPct val="130000"/>
              </a:lnSpc>
              <a:spcBef>
                <a:spcPts val="400"/>
              </a:spcBef>
            </a:pPr>
            <a:r>
              <a:rPr sz="1400" b="1">
                <a:solidFill>
                  <a:srgbClr val="8B1A1A"/>
                </a:solidFill>
                <a:latin typeface="맑은 고딕"/>
              </a:rPr>
              <a:t>• "왜 이 사료/정보를 채택했는가"의 사고 습관</a:t>
            </a:r>
          </a:p>
        </p:txBody>
      </p:sp>
    </p:spTree>
  </p:cSld>
  <p:clrMapOvr>
    <a:masterClrMapping/>
  </p:clrMapOvr>
</p:sld>
</file>

<file path=ppt/slides/slide6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91440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100" b="1">
                <a:solidFill>
                  <a:srgbClr val="556070"/>
                </a:solidFill>
                <a:latin typeface="맑은 고딕"/>
              </a:rPr>
              <a:t>Ⅺ. 현대 의의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10972800" y="274320"/>
            <a:ext cx="118872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/>
            <a:r>
              <a:rPr sz="1000" b="0">
                <a:solidFill>
                  <a:srgbClr val="556070"/>
                </a:solidFill>
                <a:latin typeface="맑은 고딕"/>
              </a:rPr>
              <a:t>66 / 70</a:t>
            </a:r>
          </a:p>
        </p:txBody>
      </p:sp>
      <p:cxnSp>
        <p:nvCxnSpPr>
          <p:cNvPr id="4" name="Connector 3"/>
          <p:cNvCxnSpPr/>
          <p:nvPr/>
        </p:nvCxnSpPr>
        <p:spPr>
          <a:xfrm>
            <a:off x="457200" y="594360"/>
            <a:ext cx="11704320" cy="0"/>
          </a:xfrm>
          <a:prstGeom prst="line">
            <a:avLst/>
          </a:prstGeom>
          <a:ln w="25400">
            <a:solidFill>
              <a:srgbClr val="C8A25B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5" name="TextBox 4"/>
          <p:cNvSpPr txBox="1"/>
          <p:nvPr/>
        </p:nvSpPr>
        <p:spPr>
          <a:xfrm>
            <a:off x="457200" y="777240"/>
            <a:ext cx="11704320" cy="6400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3000" b="1">
                <a:solidFill>
                  <a:srgbClr val="1F2A44"/>
                </a:solidFill>
                <a:latin typeface="맑은 고딕"/>
              </a:rPr>
              <a:t>현대 ⑤ — "점진(漸進)" — 급진적 개혁에 대한 신중</a:t>
            </a:r>
          </a:p>
        </p:txBody>
      </p:sp>
      <p:sp>
        <p:nvSpPr>
          <p:cNvPr id="6" name="Rectangle 5"/>
          <p:cNvSpPr/>
          <p:nvPr/>
        </p:nvSpPr>
        <p:spPr>
          <a:xfrm>
            <a:off x="457200" y="2103120"/>
            <a:ext cx="11247120" cy="1828800"/>
          </a:xfrm>
          <a:prstGeom prst="rect">
            <a:avLst/>
          </a:prstGeom>
          <a:solidFill>
            <a:srgbClr val="F5EED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731520" y="2286000"/>
            <a:ext cx="10698480" cy="155448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ctr">
              <a:lnSpc>
                <a:spcPct val="130000"/>
              </a:lnSpc>
            </a:pPr>
            <a:r>
              <a:rPr sz="1900" b="1">
                <a:solidFill>
                  <a:srgbClr val="8B1A1A"/>
                </a:solidFill>
                <a:latin typeface="맑은 고딕"/>
              </a:rPr>
              <a:t>사마광의 평생 사상 — "점진의 정치"</a:t>
            </a:r>
          </a:p>
          <a:p>
            <a:pPr algn="l">
              <a:lnSpc>
                <a:spcPct val="130000"/>
              </a:lnSpc>
            </a:pPr>
            <a:r>
              <a:rPr sz="400" b="0">
                <a:solidFill>
                  <a:srgbClr val="1F2A44"/>
                </a:solidFill>
                <a:latin typeface="맑은 고딕"/>
              </a:rPr>
              <a:t/>
            </a:r>
          </a:p>
          <a:p>
            <a:pPr algn="ctr">
              <a:lnSpc>
                <a:spcPct val="130000"/>
              </a:lnSpc>
              <a:spcBef>
                <a:spcPts val="600"/>
              </a:spcBef>
            </a:pPr>
            <a:r>
              <a:rPr sz="1500" b="0">
                <a:solidFill>
                  <a:srgbClr val="1F2A44"/>
                </a:solidFill>
                <a:latin typeface="맑은 고딕"/>
              </a:rPr>
              <a:t>왕안석 신법과의 대립이 통감의 사관(史觀)에 영향</a:t>
            </a:r>
          </a:p>
          <a:p>
            <a:pPr algn="ctr">
              <a:lnSpc>
                <a:spcPct val="130000"/>
              </a:lnSpc>
            </a:pPr>
            <a:r>
              <a:rPr sz="1400" b="1">
                <a:solidFill>
                  <a:srgbClr val="556070"/>
                </a:solidFill>
                <a:latin typeface="맑은 고딕"/>
              </a:rPr>
              <a:t>"역사는 점차 변하는 것이지 급변하지 않는다"</a:t>
            </a:r>
          </a:p>
        </p:txBody>
      </p:sp>
      <p:sp>
        <p:nvSpPr>
          <p:cNvPr id="8" name="Rectangle 7"/>
          <p:cNvSpPr/>
          <p:nvPr/>
        </p:nvSpPr>
        <p:spPr>
          <a:xfrm>
            <a:off x="457200" y="4114800"/>
            <a:ext cx="11247120" cy="2286000"/>
          </a:xfrm>
          <a:prstGeom prst="rect">
            <a:avLst/>
          </a:prstGeom>
          <a:solidFill>
            <a:srgbClr val="FAE5E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731520" y="4251960"/>
            <a:ext cx="10698480" cy="201168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ctr">
              <a:lnSpc>
                <a:spcPct val="130000"/>
              </a:lnSpc>
            </a:pPr>
            <a:r>
              <a:rPr sz="1800" b="1">
                <a:solidFill>
                  <a:srgbClr val="8B1A1A"/>
                </a:solidFill>
                <a:latin typeface="맑은 고딕"/>
              </a:rPr>
              <a:t>현대 적용 — 변화 관리의 지혜</a:t>
            </a:r>
          </a:p>
          <a:p>
            <a:pPr algn="l">
              <a:lnSpc>
                <a:spcPct val="130000"/>
              </a:lnSpc>
            </a:pPr>
            <a:r>
              <a:rPr sz="400" b="0">
                <a:solidFill>
                  <a:srgbClr val="1F2A44"/>
                </a:solidFill>
                <a:latin typeface="맑은 고딕"/>
              </a:rPr>
              <a:t/>
            </a:r>
          </a:p>
          <a:p>
            <a:pPr algn="l">
              <a:lnSpc>
                <a:spcPct val="130000"/>
              </a:lnSpc>
              <a:spcBef>
                <a:spcPts val="600"/>
              </a:spcBef>
            </a:pPr>
            <a:r>
              <a:rPr sz="1400" b="0">
                <a:solidFill>
                  <a:srgbClr val="1F2A44"/>
                </a:solidFill>
                <a:latin typeface="맑은 고딕"/>
              </a:rPr>
              <a:t>• 조직 변화 — 급진보다 점진의 효과</a:t>
            </a:r>
          </a:p>
          <a:p>
            <a:pPr algn="l">
              <a:lnSpc>
                <a:spcPct val="130000"/>
              </a:lnSpc>
              <a:spcBef>
                <a:spcPts val="400"/>
              </a:spcBef>
            </a:pPr>
            <a:r>
              <a:rPr sz="1400" b="0">
                <a:solidFill>
                  <a:srgbClr val="1F2A44"/>
                </a:solidFill>
                <a:latin typeface="맑은 고딕"/>
              </a:rPr>
              <a:t>• "왕안석의 실패 — 옳은 이상이 잘못된 실행으로 무산"</a:t>
            </a:r>
          </a:p>
          <a:p>
            <a:pPr algn="l">
              <a:lnSpc>
                <a:spcPct val="130000"/>
              </a:lnSpc>
              <a:spcBef>
                <a:spcPts val="400"/>
              </a:spcBef>
            </a:pPr>
            <a:r>
              <a:rPr sz="1400" b="1">
                <a:solidFill>
                  <a:srgbClr val="8B1A1A"/>
                </a:solidFill>
                <a:latin typeface="맑은 고딕"/>
              </a:rPr>
              <a:t>• 진(秦)·수(隋)의 폐망 — 통감의 점진 사상의 실증</a:t>
            </a:r>
          </a:p>
        </p:txBody>
      </p:sp>
    </p:spTree>
  </p:cSld>
  <p:clrMapOvr>
    <a:masterClrMapping/>
  </p:clrMapOvr>
</p:sld>
</file>

<file path=ppt/slides/slide6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91440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100" b="1">
                <a:solidFill>
                  <a:srgbClr val="556070"/>
                </a:solidFill>
                <a:latin typeface="맑은 고딕"/>
              </a:rPr>
              <a:t>Ⅺ. 현대 의의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10972800" y="274320"/>
            <a:ext cx="118872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/>
            <a:r>
              <a:rPr sz="1000" b="0">
                <a:solidFill>
                  <a:srgbClr val="556070"/>
                </a:solidFill>
                <a:latin typeface="맑은 고딕"/>
              </a:rPr>
              <a:t>67 / 70</a:t>
            </a:r>
          </a:p>
        </p:txBody>
      </p:sp>
      <p:cxnSp>
        <p:nvCxnSpPr>
          <p:cNvPr id="4" name="Connector 3"/>
          <p:cNvCxnSpPr/>
          <p:nvPr/>
        </p:nvCxnSpPr>
        <p:spPr>
          <a:xfrm>
            <a:off x="457200" y="594360"/>
            <a:ext cx="11704320" cy="0"/>
          </a:xfrm>
          <a:prstGeom prst="line">
            <a:avLst/>
          </a:prstGeom>
          <a:ln w="25400">
            <a:solidFill>
              <a:srgbClr val="C8A25B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5" name="TextBox 4"/>
          <p:cNvSpPr txBox="1"/>
          <p:nvPr/>
        </p:nvSpPr>
        <p:spPr>
          <a:xfrm>
            <a:off x="457200" y="777240"/>
            <a:ext cx="11704320" cy="6400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3000" b="1">
                <a:solidFill>
                  <a:srgbClr val="1F2A44"/>
                </a:solidFill>
                <a:latin typeface="맑은 고딕"/>
              </a:rPr>
              <a:t>현대 ⑥ — 우리 시대의 자치통감은 누가 쓰는가</a:t>
            </a:r>
          </a:p>
        </p:txBody>
      </p:sp>
      <p:sp>
        <p:nvSpPr>
          <p:cNvPr id="6" name="Rectangle 5"/>
          <p:cNvSpPr/>
          <p:nvPr/>
        </p:nvSpPr>
        <p:spPr>
          <a:xfrm>
            <a:off x="457200" y="2103120"/>
            <a:ext cx="11247120" cy="1828800"/>
          </a:xfrm>
          <a:prstGeom prst="rect">
            <a:avLst/>
          </a:prstGeom>
          <a:solidFill>
            <a:srgbClr val="F5EED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731520" y="2286000"/>
            <a:ext cx="10698480" cy="155448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ctr">
              <a:lnSpc>
                <a:spcPct val="130000"/>
              </a:lnSpc>
            </a:pPr>
            <a:r>
              <a:rPr sz="1900" b="1">
                <a:solidFill>
                  <a:srgbClr val="8B1A1A"/>
                </a:solidFill>
                <a:latin typeface="맑은 고딕"/>
              </a:rPr>
              <a:t>"우리 시대도 1,362년의 통감을 갖고 싶다"</a:t>
            </a:r>
          </a:p>
          <a:p>
            <a:pPr algn="l">
              <a:lnSpc>
                <a:spcPct val="130000"/>
              </a:lnSpc>
            </a:pPr>
            <a:r>
              <a:rPr sz="400" b="0">
                <a:solidFill>
                  <a:srgbClr val="1F2A44"/>
                </a:solidFill>
                <a:latin typeface="맑은 고딕"/>
              </a:rPr>
              <a:t/>
            </a:r>
          </a:p>
          <a:p>
            <a:pPr algn="ctr">
              <a:lnSpc>
                <a:spcPct val="130000"/>
              </a:lnSpc>
              <a:spcBef>
                <a:spcPts val="600"/>
              </a:spcBef>
            </a:pPr>
            <a:r>
              <a:rPr sz="1500" b="0">
                <a:solidFill>
                  <a:srgbClr val="1F2A44"/>
                </a:solidFill>
                <a:latin typeface="맑은 고딕"/>
              </a:rPr>
              <a:t>19년간 사학에 몰두한 사마광 같은 학자가 필요한 시대</a:t>
            </a:r>
          </a:p>
          <a:p>
            <a:pPr algn="ctr">
              <a:lnSpc>
                <a:spcPct val="130000"/>
              </a:lnSpc>
            </a:pPr>
            <a:r>
              <a:rPr sz="1400" b="0">
                <a:solidFill>
                  <a:srgbClr val="556070"/>
                </a:solidFill>
                <a:latin typeface="맑은 고딕"/>
              </a:rPr>
              <a:t>단편 정보의 홍수 속에 통합적 시각이 점점 희소</a:t>
            </a:r>
          </a:p>
        </p:txBody>
      </p:sp>
      <p:sp>
        <p:nvSpPr>
          <p:cNvPr id="8" name="Rectangle 7"/>
          <p:cNvSpPr/>
          <p:nvPr/>
        </p:nvSpPr>
        <p:spPr>
          <a:xfrm>
            <a:off x="457200" y="4114800"/>
            <a:ext cx="11247120" cy="2286000"/>
          </a:xfrm>
          <a:prstGeom prst="rect">
            <a:avLst/>
          </a:prstGeom>
          <a:solidFill>
            <a:srgbClr val="FAE5E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731520" y="4251960"/>
            <a:ext cx="10698480" cy="201168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ctr">
              <a:lnSpc>
                <a:spcPct val="125000"/>
              </a:lnSpc>
            </a:pPr>
            <a:r>
              <a:rPr sz="1800" b="1">
                <a:solidFill>
                  <a:srgbClr val="8B1A1A"/>
                </a:solidFill>
                <a:latin typeface="맑은 고딕"/>
              </a:rPr>
              <a:t>우리 각자의 "작은 통감"</a:t>
            </a:r>
          </a:p>
          <a:p>
            <a:pPr algn="l">
              <a:lnSpc>
                <a:spcPct val="125000"/>
              </a:lnSpc>
            </a:pPr>
            <a:r>
              <a:rPr sz="400" b="0">
                <a:solidFill>
                  <a:srgbClr val="1F2A44"/>
                </a:solidFill>
                <a:latin typeface="맑은 고딕"/>
              </a:rPr>
              <a:t/>
            </a:r>
          </a:p>
          <a:p>
            <a:pPr algn="l">
              <a:lnSpc>
                <a:spcPct val="125000"/>
              </a:lnSpc>
              <a:spcBef>
                <a:spcPts val="600"/>
              </a:spcBef>
            </a:pPr>
            <a:r>
              <a:rPr sz="1400" b="0">
                <a:solidFill>
                  <a:srgbClr val="1F2A44"/>
                </a:solidFill>
                <a:latin typeface="맑은 고딕"/>
              </a:rPr>
              <a:t>• 자기 인생의 통감 — 지난 30년을 거울로</a:t>
            </a:r>
          </a:p>
          <a:p>
            <a:pPr algn="l">
              <a:lnSpc>
                <a:spcPct val="125000"/>
              </a:lnSpc>
              <a:spcBef>
                <a:spcPts val="400"/>
              </a:spcBef>
            </a:pPr>
            <a:r>
              <a:rPr sz="1400" b="0">
                <a:solidFill>
                  <a:srgbClr val="1F2A44"/>
                </a:solidFill>
                <a:latin typeface="맑은 고딕"/>
              </a:rPr>
              <a:t>• 조직의 통감 — 회사 10년사를 거울로</a:t>
            </a:r>
          </a:p>
          <a:p>
            <a:pPr algn="l">
              <a:lnSpc>
                <a:spcPct val="125000"/>
              </a:lnSpc>
              <a:spcBef>
                <a:spcPts val="400"/>
              </a:spcBef>
            </a:pPr>
            <a:r>
              <a:rPr sz="1400" b="0">
                <a:solidFill>
                  <a:srgbClr val="1F2A44"/>
                </a:solidFill>
                <a:latin typeface="맑은 고딕"/>
              </a:rPr>
              <a:t>• 가족의 통감 — 3대(代)의 거울로</a:t>
            </a:r>
          </a:p>
          <a:p>
            <a:pPr algn="ctr">
              <a:lnSpc>
                <a:spcPct val="125000"/>
              </a:lnSpc>
              <a:spcBef>
                <a:spcPts val="600"/>
              </a:spcBef>
            </a:pPr>
            <a:r>
              <a:rPr sz="1300" b="1">
                <a:solidFill>
                  <a:srgbClr val="8B1A1A"/>
                </a:solidFill>
                <a:latin typeface="맑은 고딕"/>
              </a:rPr>
              <a:t>"통감의 정신은 누구나 자기 시대의 사관(史官)이 되는 일"</a:t>
            </a:r>
          </a:p>
        </p:txBody>
      </p:sp>
    </p:spTree>
  </p:cSld>
  <p:clrMapOvr>
    <a:masterClrMapping/>
  </p:clrMapOvr>
</p:sld>
</file>

<file path=ppt/slides/slide6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91440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100" b="1">
                <a:solidFill>
                  <a:srgbClr val="556070"/>
                </a:solidFill>
                <a:latin typeface="맑은 고딕"/>
              </a:rPr>
              <a:t>Ⅻ. 마무리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10972800" y="274320"/>
            <a:ext cx="118872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/>
            <a:r>
              <a:rPr sz="1000" b="0">
                <a:solidFill>
                  <a:srgbClr val="556070"/>
                </a:solidFill>
                <a:latin typeface="맑은 고딕"/>
              </a:rPr>
              <a:t>68 / 70</a:t>
            </a:r>
          </a:p>
        </p:txBody>
      </p:sp>
      <p:cxnSp>
        <p:nvCxnSpPr>
          <p:cNvPr id="4" name="Connector 3"/>
          <p:cNvCxnSpPr/>
          <p:nvPr/>
        </p:nvCxnSpPr>
        <p:spPr>
          <a:xfrm>
            <a:off x="457200" y="594360"/>
            <a:ext cx="11704320" cy="0"/>
          </a:xfrm>
          <a:prstGeom prst="line">
            <a:avLst/>
          </a:prstGeom>
          <a:ln w="25400">
            <a:solidFill>
              <a:srgbClr val="C8A25B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5" name="TextBox 4"/>
          <p:cNvSpPr txBox="1"/>
          <p:nvPr/>
        </p:nvSpPr>
        <p:spPr>
          <a:xfrm>
            <a:off x="457200" y="777240"/>
            <a:ext cx="11704320" cy="6400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3000" b="1">
                <a:solidFill>
                  <a:srgbClr val="1F2A44"/>
                </a:solidFill>
                <a:latin typeface="맑은 고딕"/>
              </a:rPr>
              <a:t>한 문장으로 정리하는 자치통감</a:t>
            </a:r>
          </a:p>
        </p:txBody>
      </p:sp>
      <p:sp>
        <p:nvSpPr>
          <p:cNvPr id="6" name="Rectangle 5"/>
          <p:cNvSpPr/>
          <p:nvPr/>
        </p:nvSpPr>
        <p:spPr>
          <a:xfrm>
            <a:off x="640080" y="1828800"/>
            <a:ext cx="10881360" cy="4572000"/>
          </a:xfrm>
          <a:prstGeom prst="rect">
            <a:avLst/>
          </a:prstGeom>
          <a:solidFill>
            <a:srgbClr val="F5EED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1005840" y="2011680"/>
            <a:ext cx="10149840" cy="429768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ctr">
              <a:lnSpc>
                <a:spcPct val="120000"/>
              </a:lnSpc>
            </a:pPr>
            <a:r>
              <a:rPr sz="1700" b="0">
                <a:solidFill>
                  <a:srgbClr val="1F2A44"/>
                </a:solidFill>
                <a:latin typeface="맑은 고딕"/>
              </a:rPr>
              <a:t>사마광이 19년 낙양 사학(史學)에서</a:t>
            </a:r>
          </a:p>
          <a:p>
            <a:pPr algn="ctr">
              <a:lnSpc>
                <a:spcPct val="120000"/>
              </a:lnSpc>
            </a:pPr>
            <a:r>
              <a:rPr sz="1700" b="0">
                <a:solidFill>
                  <a:srgbClr val="1F2A44"/>
                </a:solidFill>
                <a:latin typeface="맑은 고딕"/>
              </a:rPr>
              <a:t>류반·류서·범조우와 함께 편찬한</a:t>
            </a:r>
          </a:p>
          <a:p>
            <a:pPr algn="l">
              <a:lnSpc>
                <a:spcPct val="120000"/>
              </a:lnSpc>
            </a:pPr>
            <a:r>
              <a:rPr sz="600" b="0">
                <a:solidFill>
                  <a:srgbClr val="1F2A44"/>
                </a:solidFill>
                <a:latin typeface="맑은 고딕"/>
              </a:rPr>
              <a:t/>
            </a:r>
          </a:p>
          <a:p>
            <a:pPr algn="ctr">
              <a:lnSpc>
                <a:spcPct val="120000"/>
              </a:lnSpc>
              <a:spcBef>
                <a:spcPts val="800"/>
              </a:spcBef>
            </a:pPr>
            <a:r>
              <a:rPr sz="1700" b="1">
                <a:solidFill>
                  <a:srgbClr val="8B1A1A"/>
                </a:solidFill>
                <a:latin typeface="맑은 고딕"/>
              </a:rPr>
              <a:t>주(周) 위열왕 BC 403 — 후주 세종 959</a:t>
            </a:r>
          </a:p>
          <a:p>
            <a:pPr algn="ctr">
              <a:lnSpc>
                <a:spcPct val="120000"/>
              </a:lnSpc>
              <a:spcBef>
                <a:spcPts val="400"/>
              </a:spcBef>
            </a:pPr>
            <a:r>
              <a:rPr sz="1800" b="1">
                <a:solidFill>
                  <a:srgbClr val="8B1A1A"/>
                </a:solidFill>
                <a:latin typeface="맑은 고딕"/>
              </a:rPr>
              <a:t>1,362년의 16기 294권 약 300만 자 통사</a:t>
            </a:r>
          </a:p>
          <a:p>
            <a:pPr algn="l">
              <a:lnSpc>
                <a:spcPct val="120000"/>
              </a:lnSpc>
            </a:pPr>
            <a:r>
              <a:rPr sz="600" b="0">
                <a:solidFill>
                  <a:srgbClr val="1F2A44"/>
                </a:solidFill>
                <a:latin typeface="맑은 고딕"/>
              </a:rPr>
              <a:t/>
            </a:r>
          </a:p>
          <a:p>
            <a:pPr algn="ctr">
              <a:lnSpc>
                <a:spcPct val="120000"/>
              </a:lnSpc>
              <a:spcBef>
                <a:spcPts val="800"/>
              </a:spcBef>
            </a:pPr>
            <a:r>
              <a:rPr sz="1700" b="0">
                <a:solidFill>
                  <a:srgbClr val="1F2A44"/>
                </a:solidFill>
                <a:latin typeface="맑은 고딕"/>
              </a:rPr>
              <a:t>219편의 "신광왈" 사평으로</a:t>
            </a:r>
          </a:p>
          <a:p>
            <a:pPr algn="ctr">
              <a:lnSpc>
                <a:spcPct val="120000"/>
              </a:lnSpc>
              <a:spcBef>
                <a:spcPts val="400"/>
              </a:spcBef>
            </a:pPr>
            <a:r>
              <a:rPr sz="1900" b="1">
                <a:solidFill>
                  <a:srgbClr val="8B1A1A"/>
                </a:solidFill>
                <a:latin typeface="맑은 고딕"/>
              </a:rPr>
              <a:t>역사를 거울 삼아 정치의 도(道)를 비추는</a:t>
            </a:r>
          </a:p>
          <a:p>
            <a:pPr algn="l">
              <a:lnSpc>
                <a:spcPct val="120000"/>
              </a:lnSpc>
            </a:pPr>
            <a:r>
              <a:rPr sz="400" b="0">
                <a:solidFill>
                  <a:srgbClr val="1F2A44"/>
                </a:solidFill>
                <a:latin typeface="맑은 고딕"/>
              </a:rPr>
              <a:t/>
            </a:r>
          </a:p>
          <a:p>
            <a:pPr algn="ctr">
              <a:lnSpc>
                <a:spcPct val="120000"/>
              </a:lnSpc>
              <a:spcBef>
                <a:spcPts val="800"/>
              </a:spcBef>
            </a:pPr>
            <a:r>
              <a:rPr sz="2400" b="1">
                <a:solidFill>
                  <a:srgbClr val="1F2A44"/>
                </a:solidFill>
                <a:latin typeface="맑은 고딕"/>
              </a:rPr>
              <a:t>동양 통사(通史)의 최고봉</a:t>
            </a:r>
          </a:p>
          <a:p>
            <a:pPr algn="l">
              <a:lnSpc>
                <a:spcPct val="120000"/>
              </a:lnSpc>
            </a:pPr>
            <a:r>
              <a:rPr sz="400" b="0">
                <a:solidFill>
                  <a:srgbClr val="1F2A44"/>
                </a:solidFill>
                <a:latin typeface="맑은 고딕"/>
              </a:rPr>
              <a:t/>
            </a:r>
          </a:p>
          <a:p>
            <a:pPr algn="ctr">
              <a:lnSpc>
                <a:spcPct val="120000"/>
              </a:lnSpc>
              <a:spcBef>
                <a:spcPts val="1200"/>
              </a:spcBef>
            </a:pPr>
            <a:r>
              <a:rPr sz="1500" b="1">
                <a:solidFill>
                  <a:srgbClr val="556070"/>
                </a:solidFill>
                <a:latin typeface="맑은 고딕"/>
              </a:rPr>
              <a:t>— 정관정요와 함께 동양 제왕학의 양대 기둥 —</a:t>
            </a:r>
          </a:p>
        </p:txBody>
      </p:sp>
    </p:spTree>
  </p:cSld>
  <p:clrMapOvr>
    <a:masterClrMapping/>
  </p:clrMapOvr>
</p:sld>
</file>

<file path=ppt/slides/slide6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91440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100" b="1">
                <a:solidFill>
                  <a:srgbClr val="556070"/>
                </a:solidFill>
                <a:latin typeface="맑은 고딕"/>
              </a:rPr>
              <a:t>Ⅻ. 마무리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10972800" y="274320"/>
            <a:ext cx="118872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/>
            <a:r>
              <a:rPr sz="1000" b="0">
                <a:solidFill>
                  <a:srgbClr val="556070"/>
                </a:solidFill>
                <a:latin typeface="맑은 고딕"/>
              </a:rPr>
              <a:t>69 / 70</a:t>
            </a:r>
          </a:p>
        </p:txBody>
      </p:sp>
      <p:cxnSp>
        <p:nvCxnSpPr>
          <p:cNvPr id="4" name="Connector 3"/>
          <p:cNvCxnSpPr/>
          <p:nvPr/>
        </p:nvCxnSpPr>
        <p:spPr>
          <a:xfrm>
            <a:off x="457200" y="594360"/>
            <a:ext cx="11704320" cy="0"/>
          </a:xfrm>
          <a:prstGeom prst="line">
            <a:avLst/>
          </a:prstGeom>
          <a:ln w="25400">
            <a:solidFill>
              <a:srgbClr val="C8A25B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5" name="TextBox 4"/>
          <p:cNvSpPr txBox="1"/>
          <p:nvPr/>
        </p:nvSpPr>
        <p:spPr>
          <a:xfrm>
            <a:off x="457200" y="777240"/>
            <a:ext cx="11704320" cy="6400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3000" b="1">
                <a:solidFill>
                  <a:srgbClr val="1F2A44"/>
                </a:solidFill>
                <a:latin typeface="맑은 고딕"/>
              </a:rPr>
              <a:t>책 이름이 답이다 — "자치통감"의 사명</a:t>
            </a:r>
          </a:p>
        </p:txBody>
      </p:sp>
      <p:sp>
        <p:nvSpPr>
          <p:cNvPr id="6" name="Rectangle 5"/>
          <p:cNvSpPr/>
          <p:nvPr/>
        </p:nvSpPr>
        <p:spPr>
          <a:xfrm>
            <a:off x="457200" y="2103120"/>
            <a:ext cx="11247120" cy="4206240"/>
          </a:xfrm>
          <a:prstGeom prst="rect">
            <a:avLst/>
          </a:prstGeom>
          <a:solidFill>
            <a:srgbClr val="FAE5E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731520" y="2286000"/>
            <a:ext cx="10698480" cy="39319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ctr">
              <a:lnSpc>
                <a:spcPct val="125000"/>
              </a:lnSpc>
            </a:pPr>
            <a:r>
              <a:rPr sz="5000" b="1">
                <a:solidFill>
                  <a:srgbClr val="8B1A1A"/>
                </a:solidFill>
                <a:latin typeface="맑은 고딕"/>
              </a:rPr>
              <a:t>資 治 通 鑑</a:t>
            </a:r>
          </a:p>
          <a:p>
            <a:pPr algn="l">
              <a:lnSpc>
                <a:spcPct val="125000"/>
              </a:lnSpc>
            </a:pPr>
            <a:r>
              <a:rPr sz="800" b="0">
                <a:solidFill>
                  <a:srgbClr val="1F2A44"/>
                </a:solidFill>
                <a:latin typeface="맑은 고딕"/>
              </a:rPr>
              <a:t/>
            </a:r>
          </a:p>
          <a:p>
            <a:pPr algn="ctr">
              <a:lnSpc>
                <a:spcPct val="125000"/>
              </a:lnSpc>
              <a:spcBef>
                <a:spcPts val="1000"/>
              </a:spcBef>
            </a:pPr>
            <a:r>
              <a:rPr sz="1800" b="1">
                <a:solidFill>
                  <a:srgbClr val="1F2A44"/>
                </a:solidFill>
                <a:latin typeface="맑은 고딕"/>
              </a:rPr>
              <a:t>資 — 도움이 되는</a:t>
            </a:r>
          </a:p>
          <a:p>
            <a:pPr algn="ctr">
              <a:lnSpc>
                <a:spcPct val="125000"/>
              </a:lnSpc>
              <a:spcBef>
                <a:spcPts val="400"/>
              </a:spcBef>
            </a:pPr>
            <a:r>
              <a:rPr sz="1800" b="1">
                <a:solidFill>
                  <a:srgbClr val="1F2A44"/>
                </a:solidFill>
                <a:latin typeface="맑은 고딕"/>
              </a:rPr>
              <a:t>治 — 다스림에</a:t>
            </a:r>
          </a:p>
          <a:p>
            <a:pPr algn="ctr">
              <a:lnSpc>
                <a:spcPct val="125000"/>
              </a:lnSpc>
              <a:spcBef>
                <a:spcPts val="400"/>
              </a:spcBef>
            </a:pPr>
            <a:r>
              <a:rPr sz="1800" b="1">
                <a:solidFill>
                  <a:srgbClr val="1F2A44"/>
                </a:solidFill>
                <a:latin typeface="맑은 고딕"/>
              </a:rPr>
              <a:t>通 — 역대(歷代)에 통하는</a:t>
            </a:r>
          </a:p>
          <a:p>
            <a:pPr algn="ctr">
              <a:lnSpc>
                <a:spcPct val="125000"/>
              </a:lnSpc>
              <a:spcBef>
                <a:spcPts val="400"/>
              </a:spcBef>
            </a:pPr>
            <a:r>
              <a:rPr sz="2200" b="1">
                <a:solidFill>
                  <a:srgbClr val="8B1A1A"/>
                </a:solidFill>
                <a:latin typeface="맑은 고딕"/>
              </a:rPr>
              <a:t>鑑 — 거울</a:t>
            </a:r>
          </a:p>
          <a:p>
            <a:pPr algn="l">
              <a:lnSpc>
                <a:spcPct val="125000"/>
              </a:lnSpc>
            </a:pPr>
            <a:r>
              <a:rPr sz="600" b="0">
                <a:solidFill>
                  <a:srgbClr val="1F2A44"/>
                </a:solidFill>
                <a:latin typeface="맑은 고딕"/>
              </a:rPr>
              <a:t/>
            </a:r>
          </a:p>
          <a:p>
            <a:pPr algn="ctr">
              <a:lnSpc>
                <a:spcPct val="125000"/>
              </a:lnSpc>
              <a:spcBef>
                <a:spcPts val="1200"/>
              </a:spcBef>
            </a:pPr>
            <a:r>
              <a:rPr sz="1600" b="1">
                <a:solidFill>
                  <a:srgbClr val="8B1A1A"/>
                </a:solidFill>
                <a:latin typeface="맑은 고딕"/>
              </a:rPr>
              <a:t>"다스림에 도움이 되고, 역대에 통하여, 거울이 되는 책"</a:t>
            </a:r>
          </a:p>
          <a:p>
            <a:pPr algn="ctr">
              <a:lnSpc>
                <a:spcPct val="125000"/>
              </a:lnSpc>
              <a:spcBef>
                <a:spcPts val="400"/>
              </a:spcBef>
            </a:pPr>
            <a:r>
              <a:rPr sz="1400" b="1">
                <a:solidFill>
                  <a:srgbClr val="556070"/>
                </a:solidFill>
                <a:latin typeface="맑은 고딕"/>
              </a:rPr>
              <a:t>— 송 신종이 직접 명명한 사명 —</a:t>
            </a:r>
          </a:p>
        </p:txBody>
      </p:sp>
    </p:spTree>
  </p:cSld>
  <p:clrMapOvr>
    <a:masterClrMapping/>
  </p:clrMapOvr>
</p:sld>
</file>

<file path=ppt/slides/slide7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365760"/>
          </a:xfrm>
          <a:prstGeom prst="rect">
            <a:avLst/>
          </a:prstGeom>
          <a:solidFill>
            <a:srgbClr val="C8A25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1371600"/>
            <a:ext cx="11247120" cy="13716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/>
            <a:r>
              <a:rPr sz="13000" b="1">
                <a:solidFill>
                  <a:srgbClr val="8B1A1A"/>
                </a:solidFill>
                <a:latin typeface="맑은 고딕"/>
              </a:rPr>
              <a:t>臣 光 曰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2926080"/>
            <a:ext cx="1124712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/>
            <a:r>
              <a:rPr sz="2400" b="0">
                <a:solidFill>
                  <a:srgbClr val="556070"/>
                </a:solidFill>
                <a:latin typeface="맑은 고딕"/>
              </a:rPr>
              <a:t>신 광 왈</a:t>
            </a:r>
          </a:p>
        </p:txBody>
      </p:sp>
      <p:cxnSp>
        <p:nvCxnSpPr>
          <p:cNvPr id="5" name="Connector 4"/>
          <p:cNvCxnSpPr/>
          <p:nvPr/>
        </p:nvCxnSpPr>
        <p:spPr>
          <a:xfrm>
            <a:off x="5029200" y="3657600"/>
            <a:ext cx="2103120" cy="0"/>
          </a:xfrm>
          <a:prstGeom prst="line">
            <a:avLst/>
          </a:prstGeom>
          <a:ln w="19050">
            <a:solidFill>
              <a:srgbClr val="C8A25B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6" name="TextBox 5"/>
          <p:cNvSpPr txBox="1"/>
          <p:nvPr/>
        </p:nvSpPr>
        <p:spPr>
          <a:xfrm>
            <a:off x="457200" y="3931920"/>
            <a:ext cx="11247120" cy="6400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/>
            <a:r>
              <a:rPr sz="2200" b="1">
                <a:solidFill>
                  <a:srgbClr val="1F2A44"/>
                </a:solidFill>
                <a:latin typeface="맑은 고딕"/>
              </a:rPr>
              <a:t>"신하 사마광이 아룁니다"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57200" y="4663440"/>
            <a:ext cx="1124712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/>
            <a:r>
              <a:rPr sz="1400" b="1">
                <a:solidFill>
                  <a:srgbClr val="8B1A1A"/>
                </a:solidFill>
                <a:latin typeface="맑은 고딕"/>
              </a:rPr>
              <a:t>— 219편의 사평이 1,362년의 흥망을 비추는 한 마디로 시작 —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57200" y="5303520"/>
            <a:ext cx="1124712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/>
            <a:r>
              <a:rPr sz="1500" b="1">
                <a:solidFill>
                  <a:srgbClr val="8B1A1A"/>
                </a:solidFill>
                <a:latin typeface="맑은 고딕"/>
              </a:rPr>
              <a:t>"역사는 단순한 과거가 아니라 지금을 비추는 거울이다"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57200" y="5897880"/>
            <a:ext cx="1124712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/>
            <a:r>
              <a:rPr sz="1300" b="0">
                <a:solidFill>
                  <a:srgbClr val="556070"/>
                </a:solidFill>
                <a:latin typeface="맑은 고딕"/>
              </a:rPr>
              <a:t>— 사마광의 "鑑前世之興衰, 考當今之得失" —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457200" y="6400800"/>
            <a:ext cx="1124712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/>
            <a:r>
              <a:rPr sz="2400" b="1">
                <a:solidFill>
                  <a:srgbClr val="1F2A44"/>
                </a:solidFill>
                <a:latin typeface="맑은 고딕"/>
              </a:rPr>
              <a:t>감사합니다</a:t>
            </a:r>
          </a:p>
        </p:txBody>
      </p:sp>
      <p:sp>
        <p:nvSpPr>
          <p:cNvPr id="11" name="Rectangle 10"/>
          <p:cNvSpPr/>
          <p:nvPr/>
        </p:nvSpPr>
        <p:spPr>
          <a:xfrm>
            <a:off x="0" y="6492240"/>
            <a:ext cx="12191695" cy="365760"/>
          </a:xfrm>
          <a:prstGeom prst="rect">
            <a:avLst/>
          </a:prstGeom>
          <a:solidFill>
            <a:srgbClr val="C8A25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