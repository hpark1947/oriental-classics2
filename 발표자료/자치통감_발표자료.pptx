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제왕학의 절대 교본 · 동양 1,000년의 「판단의 학교」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1F2A44"/>
                </a:solidFill>
                <a:latin typeface="Batang"/>
              </a:rPr>
              <a:t>資 治 通 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0">
                <a:solidFill>
                  <a:srgbClr val="8B1A1A"/>
                </a:solidFill>
                <a:latin typeface="맑은 고딕"/>
              </a:rPr>
              <a:t>자 치 통 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0" y="4663440"/>
            <a:ext cx="39319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Batang"/>
              </a:rPr>
              <a:t>鑑 於 往 事  有 資 於 治 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사마광(司馬光, 1019~1086) · 19년 편찬 · 294권 · 1,362년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주(周) 위열왕 BC 403 → 후주(後周) 세종 AD 959 · 「臣光曰」 218회의 직접 평론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목 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1945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개요 — 자치통감이란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974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편자 사마광 — 19년의 침잠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편찬 과정 — 「叢目 → 長編 → 定本」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03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033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16편의 흐름 — 1,362년 한눈에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2062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16편 각 부분 깊이 읽기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사관 — 「資治」와 「鑑」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19456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Ⅶ.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1945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「臣光曰」 218회의 직접 평론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9748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Ⅷ.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6974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명장면 10선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00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2004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명구 12선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703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7033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후대 영향과 한국 수용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062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Ⅺ.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2062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0916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4709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마무리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한눈에 보는 자치통감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편자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1031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사마광(司馬光, 1019~1086) — 송 명재상·사학자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보조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65176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유서(劉恕)·유반(劉攽)·범조우(范祖禹)·사마강(사마광 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편찬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2004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1066~1084 · 19년 — 영종이 명, 신종이 책명 하사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분량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74903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294권 + 목록 30권 + 고이(考異) 30권 · 약 300만 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시대 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29767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주 위열왕 23년(BC 403) ~ 후주 세종 6년(AD 959) · 1,362년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체제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8463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편년체(編年體) · 16개 왕조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서명 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39495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「治에 도움 되도록(資) 옛일을 통합적으로(通) 거울 삼음(鑑)」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사평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59436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「신광왈(臣光曰)」 218회 — 사마광의 직접 평론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서명의 뜻 — 「資 · 治 · 通 · 鑑」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신종(神宗)이 직접 명명·御製序 작성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8B1A1A"/>
                </a:solidFill>
                <a:latin typeface="Batang"/>
              </a:rPr>
              <a:t>鑑 於 往 事  有 資 於 治 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옛일을 거울 삼아 다스림의 도에 도움이 있게 한다 — 신종 御製序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14800"/>
            <a:ext cx="26517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Batang"/>
              </a:rPr>
              <a:t>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도움이 되다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4114800"/>
            <a:ext cx="26517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411480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Batang"/>
              </a:rPr>
              <a:t>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029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54864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다스림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114800"/>
            <a:ext cx="26517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11480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Batang"/>
              </a:rPr>
              <a:t>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029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4864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통하다 — 통사(通史)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4114800"/>
            <a:ext cx="26517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411480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Batang"/>
              </a:rPr>
              <a:t>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50292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54864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F2A44"/>
                </a:solidFill>
                <a:latin typeface="맑은 고딕"/>
              </a:rPr>
              <a:t>거울 — 以史爲鑑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사기 vs 자치통감 — 두 정점의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「인간의 역사」 vs 「통치의 역사」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949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Batang"/>
              </a:rPr>
              <a:t>史 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사기 (사마천)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기전체(紀傳體)
인물 중심 — 본기·세가·열전
BC 2600 ~ BC 100
130권 약 52만 자
「인간의 역사」
태사공왈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3949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Batang"/>
              </a:rPr>
              <a:t>資 治 通 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자치통감 (사마광)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29184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편년체(編年體)
시간 중심 — 연·월·일 순
BC 403 ~ AD 959 (1,362년)
294권 약 300만 자
「통치의 역사」
신광왈 (218회)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사마광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사마광(司馬光) — 송 명재상·사학자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시호 「文正」 — 신하 최고의 시호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자(字)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1031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군실(君實)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호(號)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65176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우수(迂叟) — 자호 「우원한 노인」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시호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2004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문정(文正) — 신하가 받을 수 있는 최고의 시호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생몰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74903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1019~1086 (향년 68세)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출생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29767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산서성 하현(夏縣)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관직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8463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한림학사·어사중승·추밀부사·재상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대표 일화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539495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7세 때 「사마광 격옹(擊甕)」 — 친구 구함의 결단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별명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59436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「司馬君子」 — 군자다움의 화신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사마광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7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7세의 결단 — 「사마광 격옹(司馬光擊甕)」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한 사람의 평생 성격을 어린 시절 한 장면으로 압축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사마광이 7세 때 친구들과 정원에서 놂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800" b="0">
                <a:solidFill>
                  <a:srgbClr val="556070"/>
                </a:solidFill>
                <a:latin typeface="맑은 고딕"/>
              </a:rPr>
              <a:t>● 한 아이가 큰 물독에 빠짐 — 다른 아이들은 모두 놀라 도망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800" b="1">
                <a:solidFill>
                  <a:srgbClr val="8B1A1A"/>
                </a:solidFill>
                <a:latin typeface="맑은 고딕"/>
              </a:rPr>
              <a:t>● 어린 사마광 — 큰 돌을 들어 독을 깨뜨려 친구 구함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1F2A44"/>
                </a:solidFill>
                <a:latin typeface="Batang"/>
              </a:rPr>
              <a:t>● 「순간의 판단과 결단」의 표상 — 「**격옹구우(擊甕救友)**」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0">
                <a:solidFill>
                  <a:srgbClr val="1F2A44"/>
                </a:solidFill>
                <a:latin typeface="맑은 고딕"/>
              </a:rPr>
              <a:t>● 송대 이래 중국 어린이 교과서의 단골 이야기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0">
                <a:solidFill>
                  <a:srgbClr val="556070"/>
                </a:solidFill>
                <a:latin typeface="Batang"/>
              </a:rPr>
              <a:t>● 오늘날에도 중국·한국·일본 초등 교재에 「司馬光擊甕」으로 실림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한 인물의 평생 성격을 어린 시절의 한 장면으로 압축한 동양적 인물 묘사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사마광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8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왕안석과의 대립 — 「19년 침잠」의 토대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정치적 좌절이 곧 자치통감의 탄생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1069년 — 신종(神宗) 즉위, 왕안석(王安石)을 등용해 신법(新法) 추진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600" b="0">
                <a:solidFill>
                  <a:srgbClr val="556070"/>
                </a:solidFill>
                <a:latin typeface="맑은 고딕"/>
              </a:rPr>
              <a:t>● 청묘법·모역법·시역법·보갑법·균수법 — 부국강병의 거대한 개혁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사마광의 비판 — 「개혁의 의도는 좋으나 실행 방식이 백성을 해친다」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0">
                <a:solidFill>
                  <a:srgbClr val="556070"/>
                </a:solidFill>
                <a:latin typeface="Batang"/>
              </a:rPr>
              <a:t>● 두 거인은 본래 친구 — 「**여왕개보서(與王介甫書)**」 세 편이 동양 정치 서신의 명문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1071년 — 사마광이 정치적으로 패배 → 변경 떠나 낙양(洛陽) 칩거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15년간 통감 편찬에만 몰두 — 자호 「우수(迂叟)」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사마천이 궁형을 사기로 승화시켰듯, 사마광은 정치 패배를 통감으로 승화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0">
                <a:solidFill>
                  <a:srgbClr val="556070"/>
                </a:solidFill>
                <a:latin typeface="맑은 고딕"/>
              </a:rPr>
              <a:t>● 1086년 — 통감 완성 2년 후 재상 복귀 8개월 만에 사망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편찬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9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3단계 작업법 — 「叢目 → 長編 → 定本」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현대 역사학의 「실증 → 종합 → 해석」을 11세기에 체계화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0" cy="12344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72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1단계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194560"/>
            <a:ext cx="3108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2194560"/>
            <a:ext cx="3108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Batang"/>
              </a:rPr>
              <a:t>叢目 총목 (자료 카드)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33172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F2A44"/>
                </a:solidFill>
                <a:latin typeface="맑은 고딕"/>
              </a:rPr>
              <a:t>각 분담 학자가 자기 시대의 모든 사료에서 사건을 카드로 만듦.
출전 명확히 — 카드 하나가 한 사건.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1097280" cy="12344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972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2단계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3611880"/>
            <a:ext cx="3108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3611880"/>
            <a:ext cx="3108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Batang"/>
              </a:rPr>
              <a:t>長編 장편 (풍성한 초고)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74904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F2A44"/>
                </a:solidFill>
                <a:latin typeface="맑은 고딕"/>
              </a:rPr>
              <a:t>총목 카드들을 시간 순으로 배열해 풍성한 초고로.
모든 자료 일단 포함 — 모순이 있으면 「考異」로 따로.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29200"/>
            <a:ext cx="1097280" cy="12344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10972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3단계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5029200"/>
            <a:ext cx="3108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5029200"/>
            <a:ext cx="3108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Batang"/>
              </a:rPr>
              <a:t>定本 정본 (사마광의 최종 정리)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516636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F2A44"/>
                </a:solidFill>
                <a:latin typeface="맑은 고딕"/>
              </a:rPr>
              <a:t>사마광이 장편을 모두 읽고 직접 압축·정리.
중복 제거·문장 통일·「臣光曰」 사평 추가.
300만 자 장편이 약 100만 자 정본으로.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편찬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10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보조 편찬자들 — 「사학 드림팀」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당대 최고의 전문가 4인의 분업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56032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Batang"/>
              </a:rPr>
              <a:t>劉恕 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1032~1078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194560"/>
            <a:ext cx="22860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194560"/>
            <a:ext cx="2286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위진남북조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286000"/>
            <a:ext cx="5943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가장 광범위한 사료 박학자 · 평생 친구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256032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546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Batang"/>
              </a:rPr>
              <a:t>劉攽 유반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2044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1023~1089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08960"/>
            <a:ext cx="22860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3108960"/>
            <a:ext cx="2286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양한(兩漢)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200400"/>
            <a:ext cx="5943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한대(漢代) 연구의 전문가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256032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690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Batang"/>
              </a:rPr>
              <a:t>范祖禹 범조우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3484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1041~1098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4023360"/>
            <a:ext cx="22860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4023360"/>
            <a:ext cx="2286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당(唐)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114800"/>
            <a:ext cx="5943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당사 연구의 권위자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937760"/>
            <a:ext cx="256032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9834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Batang"/>
              </a:rPr>
              <a:t>司馬康 사마강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34924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? ~ 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937760"/>
            <a:ext cx="228600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4937760"/>
            <a:ext cx="2286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정리·교정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5029200"/>
            <a:ext cx="5943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사마광의 친아들 — 부친의 손발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편찬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11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考異(고이) — 사료 비판의 정점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독일 랑케보다 800년 앞선 실증 사학의 정수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800" b="1">
                <a:solidFill>
                  <a:srgbClr val="8B1A1A"/>
                </a:solidFill>
                <a:latin typeface="맑은 고딕"/>
              </a:rPr>
              <a:t>● 『통감고이(通鑑考異) 30권』 — 자치통감의 핵심 부록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같은 사건에 여러 사료가 다른 기록 → 어떤 자료를 채택했고 왜 버렸는지 일일이 밝힘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현대 「사료 비판(source criticism)」의 11세기 체계화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0">
                <a:solidFill>
                  <a:srgbClr val="1F2A44"/>
                </a:solidFill>
                <a:latin typeface="맑은 고딕"/>
              </a:rPr>
              <a:t>● 독일 랑케(Leopold von Ranke)의 실증주의 역사학보다 800년 앞섬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0">
                <a:solidFill>
                  <a:srgbClr val="556070"/>
                </a:solidFill>
                <a:latin typeface="맑은 고딕"/>
              </a:rPr>
              <a:t>● 모택동의 평 — 「고이가 통감의 가장 위대한 부분이다」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「한 줄을 쓰기 위해 사마광이 얼마나 많은 자료를 읽었는지를 보여준다」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사마광 — 「사료가 다르면 옳고 그름을 가려야 한다. 가리지 않으면 사학이 아니다」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16편의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12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16편 1,362년 — 한 폭으로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주 위열왕 BC 403 → 후주 세종 AD 959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4114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11680"/>
            <a:ext cx="2194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편명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01168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권수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011680"/>
            <a:ext cx="30175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시대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011680"/>
            <a:ext cx="42976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핵심 사건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23160"/>
            <a:ext cx="10972800" cy="265176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23160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23160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周紀 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423160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423160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BC 403~256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423160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삼가분진·상앙·소진장의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88336"/>
            <a:ext cx="10972800" cy="265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688336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688336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秦紀 진기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2688336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688336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BC 255~207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688336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진시황·분서갱유·항우유방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953512"/>
            <a:ext cx="10972800" cy="265176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953512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953512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漢紀 한기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2953512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953512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BC 206~AD 219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2953512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초한쟁패·문경의 치·왕망·삼국 정립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218687"/>
            <a:ext cx="10972800" cy="265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218687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3218687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魏紀 위기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3218687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218687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220~265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3218687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백제성 탁고·제갈량 출사표·사마의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3483863"/>
            <a:ext cx="10972800" cy="265176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483863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3483863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晉紀 진기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483863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3483863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266~419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3483863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팔왕의 난·영가의 난·비수대전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3749039"/>
            <a:ext cx="10972800" cy="265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3749039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3749039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宋紀 송기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3749039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3749039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420~478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3749039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원가의 치·종친 살육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4014215"/>
            <a:ext cx="10972800" cy="265176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014215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" y="4014215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齊紀 제기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4720" y="4014215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4014215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479~501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4014215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영명체·동혼후 광기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279392"/>
            <a:ext cx="10972800" cy="265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4279392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4279392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梁紀 양기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4279392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4279392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502~556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0" y="4279392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양 무제 48년·후경의 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4544568"/>
            <a:ext cx="10972800" cy="265176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544568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544568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陳紀 진기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74720" y="4544568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97680" y="4544568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557~588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0" y="4544568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옥수후정화·수의 통일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4809744"/>
            <a:ext cx="10972800" cy="265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4809744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80160" y="4809744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隋紀 수기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74720" y="4809744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4809744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589~617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0" y="4809744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개원의 치·대운하·고구려 정벌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5074920"/>
            <a:ext cx="10972800" cy="265176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0080" y="5074920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80160" y="5074920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唐紀 당기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74720" y="5074920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81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97680" y="5074920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618~906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5074920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정관·측천·개원·안사·번진환관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5340096"/>
            <a:ext cx="10972800" cy="265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0080" y="5340096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80160" y="5340096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後梁紀 후량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74720" y="5340096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97680" y="5340096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907~922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0" y="5340096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주온의 당 시해·골육상잔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0080" y="5605271"/>
            <a:ext cx="10972800" cy="265176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5605271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0160" y="5605271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後唐紀 후당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74720" y="5605271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97680" y="5605271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923~935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0" y="5605271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이존욱·석경당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" y="5870448"/>
            <a:ext cx="10972800" cy="265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0080" y="5870448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80160" y="5870448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後晉紀 후진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870448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97680" y="5870448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936~946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15200" y="5870448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兒皇帝·연운16주 양도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0080" y="6135623"/>
            <a:ext cx="10972800" cy="265176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0080" y="6135623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15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80160" y="6135623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後漢紀 후한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74720" y="6135623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97680" y="6135623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947~950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15200" y="6135623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가장 짧은 왕조·황포가신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0080" y="6400800"/>
            <a:ext cx="10972800" cy="265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0080" y="6400800"/>
            <a:ext cx="6400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8B1A1A"/>
                </a:solidFill>
                <a:latin typeface="맑은 고딕"/>
              </a:rPr>
              <a:t>16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80160" y="6400800"/>
            <a:ext cx="21945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2A44"/>
                </a:solidFill>
                <a:latin typeface="Batang"/>
              </a:rPr>
              <a:t>後周紀 후주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74720" y="6400800"/>
            <a:ext cx="82296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56070"/>
                </a:solidFill>
                <a:latin typeface="맑은 고딕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97680" y="6400800"/>
            <a:ext cx="301752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56070"/>
                </a:solidFill>
                <a:latin typeface="맑은 고딕"/>
              </a:rPr>
              <a:t>AD 951~959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15200" y="6400800"/>
            <a:ext cx="4297680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1F2A44"/>
                </a:solidFill>
                <a:latin typeface="맑은 고딕"/>
              </a:rPr>
              <a:t>곽위·세종 시영의 30년 계획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(1/16)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13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周 紀 주기  (주기)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권1~5 · 5권 · BC 403~256 · 148년 — 전국시대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천자의 직책은 예보다 크지 않고, 예는 분(分), 분은 명(名)보다 크지 않다 — 권1 첫 사평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삼가분진(三家分晉) · 위 문후·상앙의 변법 · 소진장의 합종연횡 · 인상여염파 문경지교 · 범저 원교근공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天 子 之 職 莫 大 於 禮  禮 莫 大 於 分  分 莫 大 於 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권1 첫 「臣光曰」 — 정명(正名)의 위대한 선언. 「예가 무너진 시작이 곧 천하 혼란의 시작」. 자치통감 전체 사관의 출발.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(2/16)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14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秦 紀 진기  (진기)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권6~8 · 3권 · BC 255~207 · 49년 — 통일과 멸망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망한 나라는 되살릴 수 없고, 죽은 자는 다시 살릴 수 없다 — 사마광이 진의 빠른 멸망을 평하며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여불위 「기화가거」 · 한비자의 죽음 · 형가의 진왕 암살 · 진 통일 BC 221 · 분서갱유 · 진승오광 · 항우·유방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亡 國 不 可 以 復 存  死 者 不 可 以 復 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「정복은 무력으로, 통치는 인덕(仁德)으로 — 시황제가 이 한 마디를 몰랐다」. 빠른 영광이 곧 빠른 멸망.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(3/16)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15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漢 紀 한기  (한기)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권9~68 · 60권 · BC 206~AD 219 · 425년 — 한 왕조 전체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장막 안에서 계책을 짜 천 리 밖의 승부를 결정한다 — 한고조의 장량 평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초한쟁패 · 한고조 삼걸(장량·소하·한신) · 한신 토사구팽 · 문경의 치 · 한 무제·죄기조 · 사마천 사기 · 왕망의 가면 · 광무제·후한 · 십상시·황건적·동탁·관도·적벽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夫 運 籌 帷 幄 之 中  決 勝 千 里 之 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60권에 한 왕조 전체. 「창업·수성·부패·멸망」의 완벽한 사이클. 송이 가장 두려워한 「외척·환관」의 가장 큰 거울.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(4/16)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16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魏 紀 위기  (위기)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권69~78 · 10권 · AD 220~265 · 46년 — 삼국 정립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지금부터 군문에 이르기까지는 장군이 제어한다 — 사마광의 「위 정통」 변호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백제성 탁고 · 제갈량 「출사표」·5차 북벌·오장원 · 사마의 10년 잠복·고평릉 사변 · 司馬昭之心 路人皆知 · 樂不思蜀 · 위·진 찬탈의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從 此 以 往  至 于 軍 門  則 將 軍 制 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사마광 「위(魏) 정통」 선언 — 「**실질이 명분에 앞선다**」. 후에 주희가 「촉 정통」으로 바꿈 — 동양 사학사 가장 큰 논쟁.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(5/16)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17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晉 紀 진기  (진기)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권79~118 · 40권 · AD 266~419 · 155년 — 짧은 통일·긴 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어찌 고기죽을 먹지 않느냐 — 진 혜제의 무지의 결정판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진 무제 통일과 사치 · 혜제 「何不食肉糜」 · 팔왕의 난 16년 · 영가의 난·낙양 함락 · 5호16국 · 왕도 「王與馬 共天下」 · 비수대전·사안의 침착 · 유유의 진 찬탈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何 不 食 肉 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40권의 비극. 「자기 종친의 내전이 외적보다 무섭다」·「검소함은 한 세대를 못 넘긴다」. 가장 슬픈 부분.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(6/16)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18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宋 紀 송기  (송기)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권119~134 · 16권 · AD 420~478 · 59년 — 남조 첫 왕조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기노 — 유유의 어린 시절 별명 / 가난에서 황제로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유유의 가난·송 건국 · 문제 「원가의 치」 24년 · 친아들 유소의 부친 시해 · 효무제·전폐제 종친 살육 · 소도성의 찬탈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寄 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「검소함은 한 세대를 못 넘긴다」·「가족 안의 의심이 곧 왕조의 무덤」. 남조 첫 왕조부터 살육의 패턴.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(7/16)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19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齊 紀 제기  (제기)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권135~144 · 10권 · AD 479~501 · 23년 — 가장 짧은 남조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영명체 — 시문의 황금기 / 그러나 정치는 잔혹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소도성 검소 · 무제 「영명의 치」·심약·사조의 영명체 시문 · 명제 종친 살육 · 동혼후의 「금련 위 미녀」 · 소연의 양 건국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永 明 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23년에 4단계 패턴 압축 — 「죄가 빨리 자기를 죽인다」. 시문은 자라되 정치는 잔혹.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(8/16)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20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梁 紀 양기  (양기)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권145~166 · 22권 · AD 502~556 · 55년 — 학문 군주의 비극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내가 얻었고, 내가 잃었으니, 또 무슨 한이 있겠는가 — 양 무제의 마지막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양 무제 소연 48년 · 소명문선·심약·종영 · 만년 불교 광신 · 4차 사신·황제 보살 · 후경의 난 · 사찰에서 굶어 죽은 황제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自 我 得 之  自 我 失 之  亦 復 何 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「자비롭되 어리석지 말라」·「한 번의 잘못된 자비가 48년의 영광을 지운다」. 「自我得之 自我失之」.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(9/16)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21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陳 紀 진기  (진기)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권167~176 · 10권 · AD 557~588 · 33년 — 남조 마지막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옥수후정화 — 진 후주가 직접 지은 망국 음악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진패선의 건국 · 문제·선제의 짧은 안정 · 진 후주의 「옥수후정화」·금련경양정 · 수 양견의 통일 (AD 589) · 280년 분열 종언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玉 樹 後 庭 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「사치에 빠진 황제는 자기 발밑의 위기를 보지 못한다」. 두목의 「商女不知亡國恨」의 출전.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(10/16)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22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隋 紀 수기  (수기)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권177~184 · 8권 · AD 589~617 · 29년 — 짧은 통일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내가 무슨 죄가 있느냐 — 강도에서 시해당하기 직전 수 양제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양견 통일·개황의 치·3성6부·과거제 · 양광 시해·즉위 · 대운하·동도 낙양·만리장성 재건 · 고구려 3차 정벌·살수대첩 · 강도에서 친위대에 시해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何 罪 之 有  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「큰 공을 한 시대에 다 하면 그 시대가 무너진다」. 진(秦)과 같은 패턴 — 통일 후 짧은 멸망.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(11/16)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23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唐 紀 당기  (당기)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권185~265 · 81권 · AD 618~906 · 290년 — 자치통감 최대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두루 들으면 밝고, 치우치게 믿으면 어둡다 — 위징이 당 태종에게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현무문의 변 · 태종 「정관의 치」·위징·방현령·두여회·이정 · 측천무후·무자비 · 현종 개원의 치 · 양귀비·이임보·안록산 · 안사의 난·번진·환관 · 황소의 난·주온 찬탈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兼 聽 則 明  偏 信 則 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81권의 거대한 흐름. 「겸청·인재·여색 절제·변경 군권 통제·환관 금지」 5대 원리. 송이 가장 두려워한 「번진과 환관」의 가장 큰 거울.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(12/16)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24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後 梁 紀 후량기  (후량기)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권266~271 · 6권 · AD 907~922 · 16년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「全忠(완전한 충성)」이라는 이름을 받은 자가 황제를 시해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주온(주전충)의 당 시해 (AD 904) · 후량 건국 (AD 907) · 백마역의 화·사대부 학살 · 친아들에게 시해됨 · 16년 4황제 가족 살육 · 이존욱의 후당에 멸망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全 忠 → 弑 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「이름과 행동의 정반대」가 가장 큰 비극을 부른다. 한 가문의 자기 파괴.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(13/16)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25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後 唐 紀 후당기  (후당기)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권272~279 · 8권 · AD 923~935 · 13년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연운16주 — 석경당이 거란에 양도한 영토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이존욱 후량 멸·후당 건국 · 「의자(伶人) 정치」·흥교문의 변에 시해 · 명종의 짧은 안정 · 석경당이 거란에 의존·후진 건국 · 연운16주 양도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燕 雲 十 六 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「창업과 수성의 다름」·「영토를 판 자의 죄」. 사마광이 가장 길게 한탄한 연운16주 양도 — 송 200년 짊어진 슬픔.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(14/16)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26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後 晉 紀 후진기  (후진기)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권280~285 · 6권 · AD 936~946 · 11년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아황제 — 석경당이 거란 야율덕광을 「부황제」로 모시며 자처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석경당 「兒皇帝」의 굴종 · 연운16주 양도 · 매년 비단 30만 필 · 출제의 거란 결렬 · 두중위 배신 · 거란의 변경 함락 · 야율덕광의 짧은 중원 통치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兒 皇 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「한 사람의 권력욕이 천 년의 비극」. 가장 굴욕적인 왕조. 송이 200년 회복하지 못한 슬픔의 원천.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(15/16)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27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後 漢 紀 후한기  (후한기)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권286~289 · 4권 · AD 947~950 · 4년 — 가장 짧음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황포가신 — 군사들이 황색 도포로 곽위를 황제로 만듦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유지원 거란 회군 후 즉위·1년 통치·사망 · 18세 은제 즉위 · 측근에 휘둘려 곽위 가족 학살 · 곽위 분노·진군·은제 살해 · 곽위 「황포가신」으로 후주 건국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黃 袍 加 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4권으로 끝나는 가장 짧은 부분. 「신하의 가족을 죽인 황제는 자기 가족도 잃는다」. 송 태조 「진교병변」의 예행 연습.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16편 깊이 읽기 (16/16)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28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後 周 紀 후주기  (후주기)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권290~294 · 5권 · AD 951~959 · 9년 — 자치통감 마지막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8B1A1A"/>
                </a:solidFill>
                <a:latin typeface="Batang"/>
              </a:rPr>
              <a:t>10년 정복·10년 부국·10년 화평 — 후주 세종의 30년 계획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곽위 검소·시영을 후계자로 · 세종 시영 「30년 계획」 · 고평전투 · 회창 폐불 · 회남 평정 · 연운16주 회복 시도 · 39세 요절 · 자치통감 AD 959에서 끝남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핵심 사건·인물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十 年 開 拓  十 年 養 民  十 年 致 太 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신광왈(臣光曰)·시대의 교훈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오대 가장 영명한 황제. 「한 사람의 수명이 한 시대를 결정한다」. 「현재 왕조의 역사는 쓰지 않는다」 — 사마광의 마지막 원칙.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사관 — 「資治」와 「鑑」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29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「以史爲鑑」 — 거울론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당 태종의 세 가지 거울에서 책명까지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20116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Batang"/>
              </a:rPr>
              <a:t>以 銅 爲 鏡  可 以 正 衣 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Batang"/>
              </a:rPr>
              <a:t>以 古 爲 鏡  可 以 知 興 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8B1A1A"/>
                </a:solidFill>
                <a:latin typeface="Batang"/>
              </a:rPr>
              <a:t>以 人 爲 鏡  可 以 明 得 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구리·옛것·사람 — 세 가지 거울 (당 태종이 위징 사후 한 탄식)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자치통감 「**鑑**」의 사상적 원천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사마광 — 「**옛일에서 군주에게 유익한 거울을 보여드리려 했을 뿐**」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Batang"/>
              </a:rPr>
              <a:t>● 신종 御製序 — 「**鑑於往事 有資於治道**」가 곧 책명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사관 — 「資治」와 「鑑」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30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정통론(正統論) — 「실질로 본 정통」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사마광 vs 주희의 영원한 논쟁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949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사마광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실질로 본 정통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위(魏)를 정통
— 천하의 7할을 차지
「**실질이 명분에 앞선다**」
현실적·합리적
사학의 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3949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주희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명분으로 본 정통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29184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촉(蜀)을 정통
— 한 황실 후예 유비
「**명분이 실질에 앞선다**」
도덕적·도통적
도학의 안목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주희의 『자치통감강목』 — 사마광의 위 정통을 촉 정통으로 변경 · 동양 사학사 최대 논쟁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사관 — 「資治」와 「鑑」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31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사마광의 7대 정치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218개의 「신광왈」을 종합하면 드러나는 7가지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64008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103120"/>
            <a:ext cx="146304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0312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B1A1A"/>
                </a:solidFill>
                <a:latin typeface="Batang"/>
              </a:rPr>
              <a:t>正 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4884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556070"/>
                </a:solidFill>
                <a:latin typeface="맑은 고딕"/>
              </a:rPr>
              <a:t>정명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4884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이름이 흔들리면 모든 것이 흔들린다 — 권1 첫 사평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97479"/>
            <a:ext cx="64008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697479"/>
            <a:ext cx="146304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2697479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B1A1A"/>
                </a:solidFill>
                <a:latin typeface="Batang"/>
              </a:rPr>
              <a:t>民 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743199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556070"/>
                </a:solidFill>
                <a:latin typeface="맑은 고딕"/>
              </a:rPr>
              <a:t>민본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743199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백성이 흩어지면 왕조가 망한다 — 民惟邦本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91839"/>
            <a:ext cx="64008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91839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291839"/>
            <a:ext cx="146304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3291839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B1A1A"/>
                </a:solidFill>
                <a:latin typeface="Batang"/>
              </a:rPr>
              <a:t>人 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337559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556070"/>
                </a:solidFill>
                <a:latin typeface="맑은 고딕"/>
              </a:rPr>
              <a:t>인재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337559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누구를 등용하는가가 시대의 운명 — 蓄人才者 國家大本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886200"/>
            <a:ext cx="64008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88620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3886200"/>
            <a:ext cx="146304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388620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B1A1A"/>
                </a:solidFill>
                <a:latin typeface="Batang"/>
              </a:rPr>
              <a:t>兼 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93192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556070"/>
                </a:solidFill>
                <a:latin typeface="맑은 고딕"/>
              </a:rPr>
              <a:t>겸청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93192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두루 듣는 자가 밝다 — 兼聽則明 偏信則暗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480560"/>
            <a:ext cx="64008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48056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4480560"/>
            <a:ext cx="146304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0" y="448056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B1A1A"/>
                </a:solidFill>
                <a:latin typeface="Batang"/>
              </a:rPr>
              <a:t>賞 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452628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556070"/>
                </a:solidFill>
                <a:latin typeface="맑은 고딕"/>
              </a:rPr>
              <a:t>상벌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452628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공정함이 곧 권위 — 信賞必罰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074920"/>
            <a:ext cx="64008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07492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5074920"/>
            <a:ext cx="146304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07492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B1A1A"/>
                </a:solidFill>
                <a:latin typeface="Batang"/>
              </a:rPr>
              <a:t>節 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512064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556070"/>
                </a:solidFill>
                <a:latin typeface="맑은 고딕"/>
              </a:rPr>
              <a:t>절제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512064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황제 자신이 절제하지 못하면 모든 것이 무너진다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669280"/>
            <a:ext cx="640080" cy="5029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66928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5669280"/>
            <a:ext cx="146304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0" y="566928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8B1A1A"/>
                </a:solidFill>
                <a:latin typeface="Batang"/>
              </a:rPr>
              <a:t>守 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5715000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556070"/>
                </a:solidFill>
                <a:latin typeface="맑은 고딕"/>
              </a:rPr>
              <a:t>수성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0" y="571500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창업보다 어려운 지킴 — 진짜 시험은 2~3대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「臣光曰」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32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가장 유명한 「臣光曰」 — 권1 첫 사평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삼가분진 사건에 대한 약 1,000자의 긴 사평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Batang"/>
              </a:rPr>
              <a:t>天 子 之 職 莫 大 於 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Batang"/>
              </a:rPr>
              <a:t>禮 莫 大 於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Batang"/>
              </a:rPr>
              <a:t>分 莫 大 於 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● 천자의 직책은 예(禮)보다 큰 것이 없고, 예는 분(分, 신분 질서)보다 큰 것이 없으며, 분은 명(名, 명분)보다 큰 것이 없다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「**예 → 분 → 명**」의 위계가 무너지면 천하가 무너진다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공자의 「**정명(正名)**」 사상의 송학적 부활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자치통감 294권 전체의 사관(史觀)을 한 권 첫 페이지에서 명백히 선언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「臣光曰」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33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두루 들음 — 「兼聽則明 偏信則暗」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당 태종과 위징의 대화 · 자치통감의 가장 자주 인용된 명제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8B1A1A"/>
                </a:solidFill>
                <a:latin typeface="Batang"/>
              </a:rPr>
              <a:t>兼 聽 則 明   偏 信 則 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56070"/>
                </a:solidFill>
                <a:latin typeface="맑은 고딕"/>
              </a:rPr>
              <a:t>두루 들으면 밝고, 치우치게 믿으면 어둡다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0">
                <a:solidFill>
                  <a:srgbClr val="1F2A44"/>
                </a:solidFill>
                <a:latin typeface="Batang"/>
              </a:rPr>
              <a:t>● 당 태종: 「人主何以爲明 何以爲暗」(군주가 어떻게 밝고 어떻게 어두워지는가)?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Batang"/>
              </a:rPr>
              <a:t>● 위징: 「**兼聽則明 偏信則暗**」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0">
                <a:solidFill>
                  <a:srgbClr val="1F2A44"/>
                </a:solidFill>
                <a:latin typeface="맑은 고딕"/>
              </a:rPr>
              <a:t>● 자치통감 전체에서 가장 자주 인용된 정치 원리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500" b="0">
                <a:solidFill>
                  <a:srgbClr val="556070"/>
                </a:solidFill>
                <a:latin typeface="맑은 고딕"/>
              </a:rPr>
              <a:t>● 사마광 — 「**여러 신하의 의견을 두루 듣는 군주가 밝고, 한 사람의 말만 믿는 군주는 어둡다**」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「臣光曰」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34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사마광이 송(宋)에 던진 5대 경고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218개 「신광왈」의 가장 깊은 메시지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7315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2103120"/>
            <a:ext cx="429768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103120"/>
            <a:ext cx="4297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맑은 고딕"/>
              </a:rPr>
              <a:t>번진(藩鎭)을 통제하라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194560"/>
            <a:ext cx="5760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당 멸망의 첫째 원인 — 안사의 난·번진 할거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26079"/>
            <a:ext cx="7315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26079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4480" y="2926079"/>
            <a:ext cx="429768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2926079"/>
            <a:ext cx="4297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맑은 고딕"/>
              </a:rPr>
              <a:t>환관에게 권력을 주지 말라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017519"/>
            <a:ext cx="5760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후한·당 멸망의 둘째 원인 — 십상시·감로의 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49039"/>
            <a:ext cx="7315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49039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3749039"/>
            <a:ext cx="429768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3749039"/>
            <a:ext cx="4297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맑은 고딕"/>
              </a:rPr>
              <a:t>외척을 견제하라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840479"/>
            <a:ext cx="5760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 멸망의 원인 — 왕망의 30년 가면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72000"/>
            <a:ext cx="7315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54480" y="4572000"/>
            <a:ext cx="429768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572000"/>
            <a:ext cx="4297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맑은 고딕"/>
              </a:rPr>
              <a:t>이민족에 영토를 팔지 말라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63440"/>
            <a:ext cx="5760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석경당의 연운16주 양도 — 송이 200년 짊어진 슬픔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394960"/>
            <a:ext cx="73152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54480" y="5394960"/>
            <a:ext cx="429768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4297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맑은 고딕"/>
              </a:rPr>
              <a:t>창업의 잔혹을 수성에 이어가지 말라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5486400"/>
            <a:ext cx="5760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진·수의 짧은 멸망 — 인덕 없는 통일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명장면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35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자치통감 명장면 10선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1,362년의 거대한 흐름에서 가장 극적인 장면들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103120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0312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BC 403 · 三家分晉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194560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권1 첫 사평의 출발 — 정명의 붕괴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103120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2103120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210312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BC 206 · 鴻門宴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194560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항우와 유방의 운명을 가른 연회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71800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71800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2971800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297180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BC 202 · 垓下歌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063240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항우의 「力拔山兮氣蓋世」 마지막 노래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971800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71800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2971800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297180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AD 9 · 왕망의 30년 가면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3063240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한실 찬탈·신(新) 건국·15년 멸망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840479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840479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840479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3840479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AD 23 · 곤양 전투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931919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광무제 1만이 왕망 40만 격파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840479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79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3840479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3840479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AD 223 · 백제성 탁고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3931919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유비가 제갈량에게 천하를 맡김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709159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709159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4709159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4709159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AD 383 · 비수대전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4800599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동진 8만이 전진 80만 격파 — 「草木皆兵」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709159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709159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4709159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0" y="4709159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AD 626 · 玄武門의 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4800599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이세민이 형제 사살·당 태종 즉위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5577840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577840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371600" y="5577840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71600" y="55778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AD 755 · 安史의 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49040" y="5669280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당의 결정적 분기점 — 양귀비 죽음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5577840"/>
            <a:ext cx="640080" cy="7315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577840"/>
            <a:ext cx="640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32320" y="5577840"/>
            <a:ext cx="2286000" cy="7315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0" y="55778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B1A1A"/>
                </a:solidFill>
                <a:latin typeface="Batang"/>
              </a:rPr>
              <a:t>AD 936 · 연운16주 양도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5669280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맑은 고딕"/>
              </a:rPr>
              <a:t>석경당이 거란에 영토 양도 — 사마광 최대 한탄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36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권1 첫 사평 · 삼가분진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天 子 之 職 莫 大 於 禮  禮 莫 大 於 分  分 莫 大 於 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천자의 직책은 예, 예는 분, 분은 명보다 크지 않다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자치통감 전체의 첫 정치 원리 — 「정명(正名)」의 송학적 부활. 권1 첫 「臣光曰」.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37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한고조 자평 · 한기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夫 運 籌 帷 幄 之 中  決 勝 千 里 之 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장막 안에서 책략을 짜 천 리 밖에서 승부를 결정한다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장량(張良)에 대한 한고조 평. 「**내가 능력은 그들만 못하나, 그들을 쓸 수 있어 천하를 얻었다**」 — 인재 등용술의 정점.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(3/12)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38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한신의 한탄 · 한기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狡 兎 死  良 狗 烹  高 鳥 盡  良 弓 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교활한 토끼가 죽으면 좋은 사냥개를 삶고, 높은 새가 사라지면 좋은 활을 감춘다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「**토사구팽**」의 출전. 공신의 영원한 운명 — 송 태조의 「배주석병권」과 정반대의 길.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(4/12)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39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백제성 탁고 · 위기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君 才 十 倍 曹 丕  必 能 安 國  終 定 大 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그대의 재주는 조비의 10배이니 반드시 나라를 안정시키고 대업을 이룰 것이오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유비의 제갈량 탁고. 「**천하를 맡길 만큼 신뢰한 군주와 죽음까지 충성을 지킨 신하**」 — 동양 군신 관계의 정점.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(5/12)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40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제갈량 출사표 · 위기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鞠 躬 盡 瘁  死 而 後 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몸을 굽혀 마음을 다하고, 죽은 뒤에야 그칩니다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제갈량의 「출사표」. 동양 충신의 정수 — 후한~송대까지 가장 자주 인용된 글.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(6/12)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41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진 혜제 · 진기晉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何 不 食 肉 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어찌 고기죽을 먹지 않느냐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백성이 굶주린다는 보고에 진 혜제의 답. 「**부유한 자의 무지**」의 영원한 표상.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(7/12)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42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당 태종 · 당기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以 銅 爲 鏡 可 以 正 衣 冠  以 古 爲 鏡 可 以 知 興 替  以 人 爲 鏡 可 以 明 得 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구리·옛것·사람 — 세 가지 거울로 의관·흥망·득실을 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위징 사후 당 태종의 탄식. 「**내가 거울 하나를 잃었다**」 — 자치통감 책명 「鑑」의 원천.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(8/12)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43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위징 · 당기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兼 聽 則 明  偏 信 則 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두루 들으면 밝고, 치우치게 믿으면 어둡다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당 태종에게 위징의 답. 자치통감 전체에서 가장 자주 인용된 정치 원리.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(9/12)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44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당 태종 · 당기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凡 創 業 之 難 已 往  守 成 之 難 方 當 與 諸 公 愼 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창업의 어려움은 지났으나, 수성의 어려움은 지금부터 신중해야 한다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정관(貞觀)의 치를 만든 자세. **창업과 수성 중 어느 것이 어려운가**의 토론의 답.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(10/12)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45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한신 인용·통감 곳곳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當 斷 不 斷  反 受 其 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결단해야 할 때 결단하지 않으면 오히려 화를 입는다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한기 누경의 말. **결단의 타이밍** — 망설임이 오히려 더 큰 혼란을 부른다.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(11/12)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46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서경 인용·통감 곳곳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民 惟 邦 本  本 固 邦 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백성이 곧 나라의 근본이니, 근본이 굳어야 나라가 평안하다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신광왈에서 반복 환기되는 동양 민본주의의 절대 명제. 사마광이 가장 자주 강조한 원리.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12선 (12/12)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47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신종 御製序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鑑 於 往 事  有 資 於 治 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옛일을 거울 삼아 다스림의 도에 도움이 있게 한다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신종의 「자치통감」 명명 사유. 「**자치통감**」 네 글자의 풀이. 책 전체의 정신을 한 줄로 압축.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후대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48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중국 — 호삼성·주희·왕부지·모택동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900년의 주석과 비평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남송 호삼성(胡三省, 1230~1302) — 30년 작업의 표준 주석 『資治通鑑音注』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송이 망한 뒤 원 시대에 작업 — 망국의 슬픔을 학문에 쏟음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남송 주희(朱熹) — 『資治通鑑綱目』으로 압축·재편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사마광의 「위 정통」을 「촉 정통」으로 변경 — 도통론 적용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명말청초 왕부지(王夫之) — 『讀通鑑論』 — 청 초의 깊은 비평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모택동(毛澤東) — 「**17번 읽었다**」 · 베갯머리 책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「**내가 정치를 배운 것은 자치통감에서다**」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「**통감 안에는 정치의 모든 것이 있다. 신광왈을 특히 깊이 읽어야**」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후대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49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한국 — 조선 경연의 핵심 텍스트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권근·정도전·세종·영조·정조의 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고려 중기 도입 → 조선 초 사서삼경과 함께 사대부 필독서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태종·세종 — 경연에서 자주 진강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권근·정도전 — 통감의 정명·민본 사상으로 조선 건국 이념 형성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영조 — 경연에서 통감을 가장 자주 진강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정조 — 통감을 깊이 연구 · 『통감강목속편』 편찬 관심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0">
                <a:solidFill>
                  <a:srgbClr val="556070"/>
                </a:solidFill>
                <a:latin typeface="맑은 고딕"/>
              </a:rPr>
              <a:t>● 조선 시대는 통감 원문 294권보다 주희의 『자치통감강목』이 더 자주 읽힘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권중달 역 『자치통감』 전31권 — 한국에서 가장 권위 있는 완역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후대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50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일본 — 막부의 정치 교과서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도쿠가와·시부사와 에이이치·도쿠토미 소호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헤이안 시대부터 한학자들이 통감 학습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에도 막부 — 도쿠가와가 통감강목을 정치 교과서로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시부사와 에이이치(澁澤榮一) — 메이지 자본주의의 아버지 · 통감 애독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도쿠토미 소호(德富蘇峰) — 통감을 평생의 책으로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0">
                <a:solidFill>
                  <a:srgbClr val="556070"/>
                </a:solidFill>
                <a:latin typeface="맑은 고딕"/>
              </a:rPr>
              <a:t>● 일본 한학자가 작성한 『통감대전』·『통감의해』 등 주석서 다수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통감의 「**거울론**」이 메이지 유신 사상의 한 토대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오늘 우리에게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51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자치통감이 오늘 우리에게 일러주는 10가지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1. 이름이 흔들리면 질서가 무너진다 — 정명(正名)의 첫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2. 두루 들어야 밝다 — 兼聽則明 偏信則暗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79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3. 창업보다 수성이 어렵다 — 「유종의 미」의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4. 인재가 곧 시대다 — 누구를 곁에 두는가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5. 민이 흩어지면 모든 것이 끝난다 — 民惟邦本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6. 절정에서 내려올 줄 알아야 한다 — 안사의 난·당 현종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7. 위선의 정치는 반드시 무너진다 — 왕망의 30년 가면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83479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8. 상벌이 흔들리면 신뢰가 사라진다 — 신상필벌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9. 결단의 순간을 놓치면 화를 입는다 — 當斷不斷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10. 사례는 옷을 바꿔 다시 등장한다 — 鑑於往事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Ⅻ.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52 / 53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자치통감, 한 폭으로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800" b="1">
                <a:solidFill>
                  <a:srgbClr val="8B1A1A"/>
                </a:solidFill>
                <a:latin typeface="맑은 고딕"/>
              </a:rPr>
              <a:t>● 사마광이 19년에 걸쳐 1,362년의 중국사를 294권 약 300만 자로 정리.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16편 — 주·진·한·위·진·송·제·양·진·수·당·후량·후당·후진·후한·후주.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방법론 — 叢目·長編·定本의 3단계 작업법 + 「考異」의 사료 비판.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「臣光曰」 218회 — 사마광의 직접 정치 평론 · 7대 원리 (정명·민본·인재·겸청·상벌·절제·수성).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후대 — 호삼성·주희·왕부지·모택동의 베갯머리 책 · 조선 경연·일본 막부의 교과서.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900" b="1">
                <a:solidFill>
                  <a:srgbClr val="8B1A1A"/>
                </a:solidFill>
                <a:latin typeface="맑은 고딕"/>
              </a:rPr>
              <a:t>● 그리고 무엇보다, 「鑑於往事 有資於治道」 — 동양 1,000년의 「판단의 학교」.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400" b="1">
                <a:solidFill>
                  <a:srgbClr val="1F2A44"/>
                </a:solidFill>
                <a:latin typeface="Batang"/>
              </a:rPr>
              <a:t>臣 光 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657600" y="3200400"/>
            <a:ext cx="4846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33832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8B1A1A"/>
                </a:solidFill>
                <a:latin typeface="맑은 고딕"/>
              </a:rPr>
              <a:t>신 광 이  말 씀 드 립 니 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0">
                <a:solidFill>
                  <a:srgbClr val="1F2A44"/>
                </a:solidFill>
                <a:latin typeface="Batang"/>
              </a:rPr>
              <a:t>鑑 於 往 事  有 資 於 治 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56070"/>
                </a:solidFill>
                <a:latin typeface="맑은 고딕"/>
              </a:rPr>
              <a:t>옛일을 거울 삼아 다스림의 도에 도움이 있게 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— 신종(神宗) 어제서(御製序) · 1084년 12월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1F2A44"/>
                </a:solidFill>
                <a:latin typeface="Batang"/>
              </a:rPr>
              <a:t>資  治  通  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