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09728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60"/>
              </a:lnSpc>
              <a:spcAft>
                <a:spcPts val="0"/>
              </a:spcAft>
              <a:defRPr sz="5200" b="1">
                <a:solidFill>
                  <a:srgbClr val="D4AF37"/>
                </a:solidFill>
                <a:latin typeface="맑은 고딕"/>
              </a:defRPr>
            </a:pPr>
            <a:r>
              <a:t>孫子兵法 (The Art of War)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손자병법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383280"/>
            <a:ext cx="484632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A0B8D8"/>
                </a:solidFill>
                <a:latin typeface="맑은 고딕"/>
              </a:defRPr>
            </a:pPr>
            <a:r>
              <a:t>저자: 손무(孫武)  |  시대: 춘추시대 말기 (BC 6~5세기)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맑은 고딕"/>
              </a:defRPr>
            </a:pPr>
            <a:r>
              <a:t>13편 약 6,000자 · 동양 최고(最古)의 군사 전략서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76072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D4AF37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01   개요 — 손자병법이란 무엇인가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02   구성 — 13편의 구조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03   핵심 사상 ① 부전승과 오사칠계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04   핵심 사상 ② 허실·기정·세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05   핵심 사상 ③ 지피지기와 변화의 철학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06   명구절 (상)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07   명구절 (하)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08   구조적 특징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09   현대적 의의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10   다른 사상과의 비교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11   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손자병법이란 무엇인가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정의: 동양에서 가장 오래되고 가장 영향력 있는 군사 전략서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13편, 약 6,000자의 간결한 철학적 서술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전쟁 기술서를 넘어 전략적 사고의 교과서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손무(孫武)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제(齊)나라 출신, 오(吳)나라 장군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오왕 합려(闔閭)에게 병법 13편을 올려 장군 임명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초(楚)나라 수도 영(郢) 함락 등 혁혁한 전공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판본의 역사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조조(曹操): 최초의 주석서 편찬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1972년 은작산(銀雀山) 한묘 죽간본 출토 → 연구의 전환점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18세기 유럽 전파 → 20세기 서구 군사학교 필독서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손자병법의 구성 — 13편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편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편명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핵심 주제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전략론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시계(始計)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전쟁의 기본 계산, 오사칠계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전략론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작전(作戰)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전쟁 비용과 속전속결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전략론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모공(謀攻)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부전승, 지피지기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전략론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4~5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군형·병세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선승이후구전, 기정, 세(勢)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전략론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허실(虛實)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주도권 장악, 물의 비유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전술론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7~8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군쟁·구변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풍림화산, 변통, 장수의 위험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전술론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9~11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행군~구지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지형 활용, 사지즉전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특수전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12~13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화공·용간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화공, 정보전, 다섯 간첩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핵심 사상 ① — 부전승(不戰勝)과 오사칠계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t>百戰百勝 非善之善者也 不戰而屈人之兵 善之善者也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→ 백전백승은 최선이 아니다. 싸우지 않고 적을 굴복시키는 것이 최선이다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승리의 등급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최상: 벌모(伐謀) — 적의 전략을 무력화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차선: 벌교(伐交) — 적의 동맹을 와해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그 다음: 벌병(伐兵) — 적의 군대를 공격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최하: 공성(攻城) — 적의 성을 공격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오사(五事) — 전쟁의 다섯 근본 요소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도(道): 군주와 백성의 일체감, 대의명분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천(天): 기후, 계절, 타이밍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지(地): 지형, 거리, 경쟁 환경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장(將): 지·신·인·용·엄 — 리더십의 자질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법(法): 편제, 규율, 보급 — 조직 시스템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핵심 사상 ② — 허실(虛實)·기정(奇正)·세(勢)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허실(虛實) — 적의 빈곳을 치고, 내 빈곳을 감춰라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避實而擊虛 — 실한 곳을 피하고 허한 곳을 치라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致人而不致於人 — 적을 끌어오지, 끌려가지 않는다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맑은 고딕"/>
              </a:defRPr>
            </a:pPr>
            <a:r>
              <a:t>  • 핵심은 주도권(initiative)의 장악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기정(奇正) — 정공법과 기습의 조화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以正合 以奇勝 — 정으로 맞서고, 기로 이긴다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기정상생(奇正相生) — 끝없는 순환, 무한한 변화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정(正): 정규적, 적을 묶어두는 주력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기(奇): 비정규적, 결정적 승리의 별동대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세(勢) — 형세를 만들어 압도하라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激水之疾 至於漂石者 勢也 — 급류가 돌을 떠내려 보내는 것이 세(勢)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求之於勢 不責於人 — 세에서 승리를 구하지, 개인에게 책임 돌리지 않는다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맑은 고딕"/>
              </a:defRPr>
            </a:pPr>
            <a:r>
              <a:t>  • 좋은 리더는 시스템을 설계하여 평범한 사람도 탁월한 성과를 내게 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핵심 사상 ③ — 지피지기와 변화의 철학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D4AF37"/>
                </a:solidFill>
                <a:latin typeface="맑은 고딕"/>
              </a:defRPr>
            </a:pPr>
            <a:r>
              <a:t>知彼知己 百戰不殆 — 적을 알고 나를 알면 백 번 싸워도 위태롭지 않다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지(知)의 세 수준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지피지기(知彼知己) → 백전불태 — 백 번 싸워도 위태롭지 않다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부지피이지기 → 일승일부 — 한 번 이기고 한 번 진다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부지피부지기 → 매전필태 — 매번 위태롭다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맑은 고딕"/>
              </a:defRPr>
            </a:pPr>
            <a:r>
              <a:t>  ※ '백전백승'이 아니라 '백전불태' — 화려한 승리보다 안전을 추구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물의 비유 — 유연한 변화의 철학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兵形象水 — 군대의 형태는 물과 같다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높은 곳을 피하고 낮은 곳으로 → 강한 곳 피하고 약한 곳 공격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지형에 따라 형태가 변한다 → 상황에 따라 전략을 바꾼다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兵無常勢 水無常形 — 일정한 형태가 없는 것이 최고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선승이후구전(先勝而後求戰) — 준비의 철학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이기는 군대는 먼저 이겨놓고 싸우고, 지는 군대는 먼저 싸운 뒤 이기려 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명구절 (상)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9640" y="1020184"/>
            <a:ext cx="10332720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兵者</a:t>
            </a:r>
            <a:r>
              <a:rPr dirty="0"/>
              <a:t> </a:t>
            </a:r>
            <a:r>
              <a:rPr dirty="0" err="1"/>
              <a:t>國之大事</a:t>
            </a:r>
            <a:r>
              <a:rPr dirty="0"/>
              <a:t> </a:t>
            </a:r>
            <a:r>
              <a:rPr dirty="0" err="1"/>
              <a:t>死生之地</a:t>
            </a:r>
            <a:r>
              <a:rPr dirty="0"/>
              <a:t> </a:t>
            </a:r>
            <a:r>
              <a:rPr dirty="0" err="1"/>
              <a:t>存亡之道</a:t>
            </a:r>
            <a:r>
              <a:rPr dirty="0"/>
              <a:t> </a:t>
            </a:r>
            <a:r>
              <a:rPr dirty="0" err="1"/>
              <a:t>不可不察也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병자</a:t>
            </a:r>
            <a:r>
              <a:rPr dirty="0"/>
              <a:t> </a:t>
            </a:r>
            <a:r>
              <a:rPr dirty="0" err="1"/>
              <a:t>국지대사</a:t>
            </a:r>
            <a:r>
              <a:rPr dirty="0"/>
              <a:t> </a:t>
            </a:r>
            <a:r>
              <a:rPr dirty="0" err="1"/>
              <a:t>사생지지</a:t>
            </a:r>
            <a:r>
              <a:rPr dirty="0"/>
              <a:t> </a:t>
            </a:r>
            <a:r>
              <a:rPr dirty="0" err="1"/>
              <a:t>존망지도</a:t>
            </a:r>
            <a:r>
              <a:rPr dirty="0"/>
              <a:t> </a:t>
            </a:r>
            <a:r>
              <a:rPr dirty="0" err="1"/>
              <a:t>불가불찰야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전쟁은</a:t>
            </a:r>
            <a:r>
              <a:rPr dirty="0"/>
              <a:t> </a:t>
            </a:r>
            <a:r>
              <a:rPr dirty="0" err="1"/>
              <a:t>나라의</a:t>
            </a:r>
            <a:r>
              <a:rPr dirty="0"/>
              <a:t> </a:t>
            </a:r>
            <a:r>
              <a:rPr dirty="0" err="1"/>
              <a:t>중대한</a:t>
            </a:r>
            <a:r>
              <a:rPr dirty="0"/>
              <a:t> </a:t>
            </a:r>
            <a:r>
              <a:rPr dirty="0" err="1"/>
              <a:t>일이니</a:t>
            </a:r>
            <a:r>
              <a:rPr dirty="0"/>
              <a:t> </a:t>
            </a:r>
            <a:r>
              <a:rPr dirty="0" err="1"/>
              <a:t>살피지</a:t>
            </a:r>
            <a:r>
              <a:rPr dirty="0"/>
              <a:t> </a:t>
            </a:r>
            <a:r>
              <a:rPr dirty="0" err="1"/>
              <a:t>않을</a:t>
            </a:r>
            <a:r>
              <a:rPr dirty="0"/>
              <a:t> 수 </a:t>
            </a:r>
            <a:r>
              <a:rPr dirty="0" err="1"/>
              <a:t>없다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시계</a:t>
            </a:r>
            <a:r>
              <a:rPr dirty="0"/>
              <a:t> 제1편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百戰百勝</a:t>
            </a:r>
            <a:r>
              <a:rPr dirty="0"/>
              <a:t> </a:t>
            </a:r>
            <a:r>
              <a:rPr dirty="0" err="1"/>
              <a:t>非善之善者也</a:t>
            </a:r>
            <a:r>
              <a:rPr dirty="0"/>
              <a:t> </a:t>
            </a:r>
            <a:r>
              <a:rPr dirty="0" err="1"/>
              <a:t>不戰而屈人之兵</a:t>
            </a:r>
            <a:r>
              <a:rPr dirty="0"/>
              <a:t> </a:t>
            </a:r>
            <a:r>
              <a:rPr dirty="0" err="1"/>
              <a:t>善之善者也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백전백승</a:t>
            </a:r>
            <a:r>
              <a:rPr dirty="0"/>
              <a:t> </a:t>
            </a:r>
            <a:r>
              <a:rPr dirty="0" err="1"/>
              <a:t>비선지선자야</a:t>
            </a:r>
            <a:r>
              <a:rPr dirty="0"/>
              <a:t> </a:t>
            </a:r>
            <a:r>
              <a:rPr dirty="0" err="1"/>
              <a:t>부전이굴인지병</a:t>
            </a:r>
            <a:r>
              <a:rPr dirty="0"/>
              <a:t> </a:t>
            </a:r>
            <a:r>
              <a:rPr dirty="0" err="1"/>
              <a:t>선지선자야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백전백승은</a:t>
            </a:r>
            <a:r>
              <a:rPr dirty="0"/>
              <a:t> </a:t>
            </a:r>
            <a:r>
              <a:rPr dirty="0" err="1"/>
              <a:t>최선이</a:t>
            </a:r>
            <a:r>
              <a:rPr dirty="0"/>
              <a:t> </a:t>
            </a:r>
            <a:r>
              <a:rPr dirty="0" err="1"/>
              <a:t>아니다</a:t>
            </a:r>
            <a:r>
              <a:rPr dirty="0"/>
              <a:t>. </a:t>
            </a:r>
            <a:r>
              <a:rPr dirty="0" err="1"/>
              <a:t>싸우지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이기는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최선이다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모공</a:t>
            </a:r>
            <a:r>
              <a:rPr dirty="0"/>
              <a:t> 제3편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知彼知己</a:t>
            </a:r>
            <a:r>
              <a:rPr dirty="0"/>
              <a:t> </a:t>
            </a:r>
            <a:r>
              <a:rPr dirty="0" err="1"/>
              <a:t>百戰不殆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지피지기</a:t>
            </a:r>
            <a:r>
              <a:rPr dirty="0"/>
              <a:t> </a:t>
            </a:r>
            <a:r>
              <a:rPr dirty="0" err="1"/>
              <a:t>백전불태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적을</a:t>
            </a:r>
            <a:r>
              <a:rPr dirty="0"/>
              <a:t> </a:t>
            </a:r>
            <a:r>
              <a:rPr dirty="0" err="1"/>
              <a:t>알고</a:t>
            </a:r>
            <a:r>
              <a:rPr dirty="0"/>
              <a:t> </a:t>
            </a:r>
            <a:r>
              <a:rPr dirty="0" err="1"/>
              <a:t>나를</a:t>
            </a:r>
            <a:r>
              <a:rPr dirty="0"/>
              <a:t> </a:t>
            </a:r>
            <a:r>
              <a:rPr dirty="0" err="1"/>
              <a:t>알면</a:t>
            </a:r>
            <a:r>
              <a:rPr dirty="0"/>
              <a:t> 백 번 </a:t>
            </a:r>
            <a:r>
              <a:rPr dirty="0" err="1"/>
              <a:t>싸워도</a:t>
            </a:r>
            <a:r>
              <a:rPr dirty="0"/>
              <a:t> </a:t>
            </a:r>
            <a:r>
              <a:rPr dirty="0" err="1"/>
              <a:t>위태롭지</a:t>
            </a:r>
            <a:r>
              <a:rPr dirty="0"/>
              <a:t> </a:t>
            </a:r>
            <a:r>
              <a:rPr dirty="0" err="1"/>
              <a:t>않다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모공</a:t>
            </a:r>
            <a:r>
              <a:rPr dirty="0"/>
              <a:t> 제3편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勝兵先勝而後求戰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승병선승이후구전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이기는</a:t>
            </a:r>
            <a:r>
              <a:rPr dirty="0"/>
              <a:t> </a:t>
            </a:r>
            <a:r>
              <a:rPr dirty="0" err="1"/>
              <a:t>군대는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이겨놓고</a:t>
            </a:r>
            <a:r>
              <a:rPr dirty="0"/>
              <a:t> </a:t>
            </a:r>
            <a:r>
              <a:rPr dirty="0" err="1"/>
              <a:t>싸운다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군형</a:t>
            </a:r>
            <a:r>
              <a:rPr dirty="0"/>
              <a:t> 제4편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凡戰者</a:t>
            </a:r>
            <a:r>
              <a:rPr dirty="0"/>
              <a:t> </a:t>
            </a:r>
            <a:r>
              <a:rPr dirty="0" err="1"/>
              <a:t>以正合</a:t>
            </a:r>
            <a:r>
              <a:rPr dirty="0"/>
              <a:t> </a:t>
            </a:r>
            <a:r>
              <a:rPr dirty="0" err="1"/>
              <a:t>以奇勝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범전자</a:t>
            </a:r>
            <a:r>
              <a:rPr dirty="0"/>
              <a:t> </a:t>
            </a:r>
            <a:r>
              <a:rPr dirty="0" err="1"/>
              <a:t>이정합</a:t>
            </a:r>
            <a:r>
              <a:rPr dirty="0"/>
              <a:t> </a:t>
            </a:r>
            <a:r>
              <a:rPr dirty="0" err="1"/>
              <a:t>이기승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전투는</a:t>
            </a:r>
            <a:r>
              <a:rPr dirty="0"/>
              <a:t> 정(正)</a:t>
            </a:r>
            <a:r>
              <a:rPr dirty="0" err="1"/>
              <a:t>으로</a:t>
            </a:r>
            <a:r>
              <a:rPr dirty="0"/>
              <a:t> </a:t>
            </a:r>
            <a:r>
              <a:rPr dirty="0" err="1"/>
              <a:t>맞서고</a:t>
            </a:r>
            <a:r>
              <a:rPr dirty="0"/>
              <a:t> 기(奇)로 </a:t>
            </a:r>
            <a:r>
              <a:rPr dirty="0" err="1"/>
              <a:t>이긴다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병세</a:t>
            </a:r>
            <a:r>
              <a:rPr dirty="0"/>
              <a:t> 제5편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명구절 (하)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11219"/>
            <a:ext cx="10332720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故善戰者</a:t>
            </a:r>
            <a:r>
              <a:rPr dirty="0"/>
              <a:t> </a:t>
            </a:r>
            <a:r>
              <a:rPr dirty="0" err="1"/>
              <a:t>致人而不致於人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고선전자</a:t>
            </a:r>
            <a:r>
              <a:rPr dirty="0"/>
              <a:t> </a:t>
            </a:r>
            <a:r>
              <a:rPr dirty="0" err="1"/>
              <a:t>치인이부치어인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전쟁을</a:t>
            </a:r>
            <a:r>
              <a:rPr dirty="0"/>
              <a:t> </a:t>
            </a:r>
            <a:r>
              <a:rPr dirty="0" err="1"/>
              <a:t>잘하는</a:t>
            </a:r>
            <a:r>
              <a:rPr dirty="0"/>
              <a:t> </a:t>
            </a:r>
            <a:r>
              <a:rPr dirty="0" err="1"/>
              <a:t>자는</a:t>
            </a:r>
            <a:r>
              <a:rPr dirty="0"/>
              <a:t> </a:t>
            </a:r>
            <a:r>
              <a:rPr dirty="0" err="1"/>
              <a:t>적을</a:t>
            </a:r>
            <a:r>
              <a:rPr dirty="0"/>
              <a:t> </a:t>
            </a:r>
            <a:r>
              <a:rPr dirty="0" err="1"/>
              <a:t>끌어오지</a:t>
            </a:r>
            <a:r>
              <a:rPr dirty="0"/>
              <a:t>, </a:t>
            </a:r>
            <a:r>
              <a:rPr dirty="0" err="1"/>
              <a:t>끌려가지</a:t>
            </a:r>
            <a:r>
              <a:rPr dirty="0"/>
              <a:t> </a:t>
            </a:r>
            <a:r>
              <a:rPr dirty="0" err="1"/>
              <a:t>않는다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허실</a:t>
            </a:r>
            <a:r>
              <a:rPr dirty="0"/>
              <a:t> 제6편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其疾如風</a:t>
            </a:r>
            <a:r>
              <a:rPr dirty="0"/>
              <a:t> </a:t>
            </a:r>
            <a:r>
              <a:rPr dirty="0" err="1"/>
              <a:t>其徐如林</a:t>
            </a:r>
            <a:r>
              <a:rPr dirty="0"/>
              <a:t> </a:t>
            </a:r>
            <a:r>
              <a:rPr dirty="0" err="1"/>
              <a:t>侵掠如火</a:t>
            </a:r>
            <a:r>
              <a:rPr dirty="0"/>
              <a:t> </a:t>
            </a:r>
            <a:r>
              <a:rPr dirty="0" err="1"/>
              <a:t>不動如山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기질여풍</a:t>
            </a:r>
            <a:r>
              <a:rPr dirty="0"/>
              <a:t> </a:t>
            </a:r>
            <a:r>
              <a:rPr dirty="0" err="1"/>
              <a:t>기서여림</a:t>
            </a:r>
            <a:r>
              <a:rPr dirty="0"/>
              <a:t> </a:t>
            </a:r>
            <a:r>
              <a:rPr dirty="0" err="1"/>
              <a:t>침략여화</a:t>
            </a:r>
            <a:r>
              <a:rPr dirty="0"/>
              <a:t> </a:t>
            </a:r>
            <a:r>
              <a:rPr dirty="0" err="1"/>
              <a:t>부동여산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바람처럼</a:t>
            </a:r>
            <a:r>
              <a:rPr dirty="0"/>
              <a:t> </a:t>
            </a:r>
            <a:r>
              <a:rPr dirty="0" err="1"/>
              <a:t>빠르고</a:t>
            </a:r>
            <a:r>
              <a:rPr dirty="0"/>
              <a:t>, </a:t>
            </a:r>
            <a:r>
              <a:rPr dirty="0" err="1"/>
              <a:t>숲처럼</a:t>
            </a:r>
            <a:r>
              <a:rPr dirty="0"/>
              <a:t> </a:t>
            </a:r>
            <a:r>
              <a:rPr dirty="0" err="1"/>
              <a:t>고요하며</a:t>
            </a:r>
            <a:r>
              <a:rPr dirty="0"/>
              <a:t>, </a:t>
            </a:r>
            <a:r>
              <a:rPr dirty="0" err="1"/>
              <a:t>불처럼</a:t>
            </a:r>
            <a:r>
              <a:rPr dirty="0"/>
              <a:t> </a:t>
            </a:r>
            <a:r>
              <a:rPr dirty="0" err="1"/>
              <a:t>공격하고</a:t>
            </a:r>
            <a:r>
              <a:rPr dirty="0"/>
              <a:t>, </a:t>
            </a:r>
            <a:r>
              <a:rPr dirty="0" err="1"/>
              <a:t>산처럼</a:t>
            </a:r>
            <a:r>
              <a:rPr dirty="0"/>
              <a:t> </a:t>
            </a:r>
            <a:r>
              <a:rPr dirty="0" err="1"/>
              <a:t>움직이지</a:t>
            </a:r>
            <a:r>
              <a:rPr dirty="0"/>
              <a:t> </a:t>
            </a:r>
            <a:r>
              <a:rPr dirty="0" err="1"/>
              <a:t>않는다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군쟁</a:t>
            </a:r>
            <a:r>
              <a:rPr dirty="0"/>
              <a:t> 제7편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投之亡地然後存</a:t>
            </a:r>
            <a:r>
              <a:rPr dirty="0"/>
              <a:t> </a:t>
            </a:r>
            <a:r>
              <a:rPr dirty="0" err="1"/>
              <a:t>陷之死地然後生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투지망지연후존</a:t>
            </a:r>
            <a:r>
              <a:rPr dirty="0"/>
              <a:t> </a:t>
            </a:r>
            <a:r>
              <a:rPr dirty="0" err="1"/>
              <a:t>함지사지연후생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망할</a:t>
            </a:r>
            <a:r>
              <a:rPr dirty="0"/>
              <a:t> </a:t>
            </a:r>
            <a:r>
              <a:rPr dirty="0" err="1"/>
              <a:t>곳에</a:t>
            </a:r>
            <a:r>
              <a:rPr dirty="0"/>
              <a:t> </a:t>
            </a:r>
            <a:r>
              <a:rPr dirty="0" err="1"/>
              <a:t>던져야</a:t>
            </a:r>
            <a:r>
              <a:rPr dirty="0"/>
              <a:t> </a:t>
            </a:r>
            <a:r>
              <a:rPr dirty="0" err="1"/>
              <a:t>살고</a:t>
            </a:r>
            <a:r>
              <a:rPr dirty="0"/>
              <a:t>, </a:t>
            </a:r>
            <a:r>
              <a:rPr dirty="0" err="1"/>
              <a:t>죽을</a:t>
            </a:r>
            <a:r>
              <a:rPr dirty="0"/>
              <a:t> </a:t>
            </a:r>
            <a:r>
              <a:rPr dirty="0" err="1"/>
              <a:t>곳에</a:t>
            </a:r>
            <a:r>
              <a:rPr dirty="0"/>
              <a:t> </a:t>
            </a:r>
            <a:r>
              <a:rPr dirty="0" err="1"/>
              <a:t>빠뜨려야</a:t>
            </a:r>
            <a:r>
              <a:rPr dirty="0"/>
              <a:t> </a:t>
            </a:r>
            <a:r>
              <a:rPr dirty="0" err="1"/>
              <a:t>산다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구지</a:t>
            </a:r>
            <a:r>
              <a:rPr dirty="0"/>
              <a:t> 제11편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主不可以怒而興師</a:t>
            </a:r>
            <a:r>
              <a:rPr dirty="0"/>
              <a:t> </a:t>
            </a:r>
            <a:r>
              <a:rPr dirty="0" err="1"/>
              <a:t>將不可以慍而致戰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주불가이노이흥사</a:t>
            </a:r>
            <a:r>
              <a:rPr dirty="0"/>
              <a:t> </a:t>
            </a:r>
            <a:r>
              <a:rPr dirty="0" err="1"/>
              <a:t>장불가이온이치전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분노로</a:t>
            </a:r>
            <a:r>
              <a:rPr dirty="0"/>
              <a:t> </a:t>
            </a:r>
            <a:r>
              <a:rPr dirty="0" err="1"/>
              <a:t>군대를</a:t>
            </a:r>
            <a:r>
              <a:rPr dirty="0"/>
              <a:t> </a:t>
            </a:r>
            <a:r>
              <a:rPr dirty="0" err="1"/>
              <a:t>일으켜서는</a:t>
            </a:r>
            <a:r>
              <a:rPr dirty="0"/>
              <a:t> 안 </a:t>
            </a:r>
            <a:r>
              <a:rPr dirty="0" err="1"/>
              <a:t>되고</a:t>
            </a:r>
            <a:r>
              <a:rPr dirty="0"/>
              <a:t>, </a:t>
            </a:r>
            <a:r>
              <a:rPr dirty="0" err="1"/>
              <a:t>격분하여</a:t>
            </a:r>
            <a:r>
              <a:rPr dirty="0"/>
              <a:t> </a:t>
            </a:r>
            <a:r>
              <a:rPr dirty="0" err="1"/>
              <a:t>싸워서는</a:t>
            </a:r>
            <a:r>
              <a:rPr dirty="0"/>
              <a:t> 안 </a:t>
            </a:r>
            <a:r>
              <a:rPr dirty="0" err="1"/>
              <a:t>된다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화공</a:t>
            </a:r>
            <a:r>
              <a:rPr dirty="0"/>
              <a:t> 제12편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明君賢將</a:t>
            </a:r>
            <a:r>
              <a:rPr dirty="0"/>
              <a:t> </a:t>
            </a:r>
            <a:r>
              <a:rPr dirty="0" err="1"/>
              <a:t>所以動而勝人者</a:t>
            </a:r>
            <a:r>
              <a:rPr dirty="0"/>
              <a:t> </a:t>
            </a:r>
            <a:r>
              <a:rPr dirty="0" err="1"/>
              <a:t>先知也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명군현장</a:t>
            </a:r>
            <a:r>
              <a:rPr dirty="0"/>
              <a:t> </a:t>
            </a:r>
            <a:r>
              <a:rPr dirty="0" err="1"/>
              <a:t>소이동이승인자</a:t>
            </a:r>
            <a:r>
              <a:rPr dirty="0"/>
              <a:t> </a:t>
            </a:r>
            <a:r>
              <a:rPr dirty="0" err="1"/>
              <a:t>선지야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명군과</a:t>
            </a:r>
            <a:r>
              <a:rPr dirty="0"/>
              <a:t> </a:t>
            </a:r>
            <a:r>
              <a:rPr dirty="0" err="1"/>
              <a:t>현장이</a:t>
            </a:r>
            <a:r>
              <a:rPr dirty="0"/>
              <a:t> </a:t>
            </a:r>
            <a:r>
              <a:rPr dirty="0" err="1"/>
              <a:t>움직이면</a:t>
            </a:r>
            <a:r>
              <a:rPr dirty="0"/>
              <a:t> </a:t>
            </a:r>
            <a:r>
              <a:rPr dirty="0" err="1"/>
              <a:t>이기는</a:t>
            </a:r>
            <a:r>
              <a:rPr dirty="0"/>
              <a:t> </a:t>
            </a:r>
            <a:r>
              <a:rPr dirty="0" err="1"/>
              <a:t>까닭은</a:t>
            </a:r>
            <a:r>
              <a:rPr dirty="0"/>
              <a:t> </a:t>
            </a:r>
            <a:r>
              <a:rPr dirty="0" err="1"/>
              <a:t>미리</a:t>
            </a:r>
            <a:r>
              <a:rPr dirty="0"/>
              <a:t> </a:t>
            </a:r>
            <a:r>
              <a:rPr dirty="0" err="1"/>
              <a:t>아는</a:t>
            </a:r>
            <a:r>
              <a:rPr dirty="0"/>
              <a:t> 것(</a:t>
            </a:r>
            <a:r>
              <a:rPr dirty="0" err="1"/>
              <a:t>先知</a:t>
            </a:r>
            <a:r>
              <a:rPr dirty="0"/>
              <a:t>) </a:t>
            </a:r>
            <a:r>
              <a:rPr dirty="0" err="1"/>
              <a:t>때문이다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용간</a:t>
            </a:r>
            <a:r>
              <a:rPr dirty="0"/>
              <a:t> 제13편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손자병법의 구조적 특징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rPr dirty="0"/>
              <a:t>13편의 </a:t>
            </a:r>
            <a:r>
              <a:rPr dirty="0" err="1"/>
              <a:t>논리</a:t>
            </a:r>
            <a:r>
              <a:rPr dirty="0"/>
              <a:t> </a:t>
            </a:r>
            <a:r>
              <a:rPr dirty="0" err="1"/>
              <a:t>구조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</a:t>
            </a:r>
            <a:r>
              <a:rPr dirty="0" err="1"/>
              <a:t>전략론</a:t>
            </a:r>
            <a:r>
              <a:rPr dirty="0"/>
              <a:t>(1~6편) → </a:t>
            </a:r>
            <a:r>
              <a:rPr dirty="0" err="1"/>
              <a:t>전술론</a:t>
            </a:r>
            <a:r>
              <a:rPr dirty="0"/>
              <a:t>(7~11편) → </a:t>
            </a:r>
            <a:r>
              <a:rPr dirty="0" err="1"/>
              <a:t>특수전법</a:t>
            </a:r>
            <a:r>
              <a:rPr dirty="0"/>
              <a:t>(12~13편)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</a:t>
            </a:r>
            <a:r>
              <a:rPr dirty="0" err="1"/>
              <a:t>총론</a:t>
            </a:r>
            <a:r>
              <a:rPr dirty="0"/>
              <a:t> → </a:t>
            </a:r>
            <a:r>
              <a:rPr dirty="0" err="1"/>
              <a:t>원칙</a:t>
            </a:r>
            <a:r>
              <a:rPr dirty="0"/>
              <a:t> → </a:t>
            </a:r>
            <a:r>
              <a:rPr dirty="0" err="1"/>
              <a:t>실전</a:t>
            </a:r>
            <a:r>
              <a:rPr dirty="0"/>
              <a:t> → </a:t>
            </a:r>
            <a:r>
              <a:rPr dirty="0" err="1"/>
              <a:t>정보의</a:t>
            </a:r>
            <a:r>
              <a:rPr dirty="0"/>
              <a:t> </a:t>
            </a:r>
            <a:r>
              <a:rPr dirty="0" err="1"/>
              <a:t>체계적</a:t>
            </a:r>
            <a:r>
              <a:rPr dirty="0"/>
              <a:t> </a:t>
            </a:r>
            <a:r>
              <a:rPr dirty="0" err="1"/>
              <a:t>전개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간결함의</a:t>
            </a:r>
            <a:r>
              <a:rPr dirty="0"/>
              <a:t> </a:t>
            </a:r>
            <a:r>
              <a:rPr dirty="0" err="1"/>
              <a:t>미학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총 약 6,000자 — </a:t>
            </a:r>
            <a:r>
              <a:rPr dirty="0" err="1"/>
              <a:t>극도로</a:t>
            </a:r>
            <a:r>
              <a:rPr dirty="0"/>
              <a:t> </a:t>
            </a:r>
            <a:r>
              <a:rPr dirty="0" err="1"/>
              <a:t>압축된</a:t>
            </a:r>
            <a:r>
              <a:rPr dirty="0"/>
              <a:t> </a:t>
            </a:r>
            <a:r>
              <a:rPr dirty="0" err="1"/>
              <a:t>문장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한 </a:t>
            </a:r>
            <a:r>
              <a:rPr dirty="0" err="1"/>
              <a:t>문장이</a:t>
            </a:r>
            <a:r>
              <a:rPr dirty="0"/>
              <a:t> </a:t>
            </a: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원칙을</a:t>
            </a:r>
            <a:r>
              <a:rPr dirty="0"/>
              <a:t> </a:t>
            </a:r>
            <a:r>
              <a:rPr dirty="0" err="1"/>
              <a:t>담고</a:t>
            </a:r>
            <a:r>
              <a:rPr dirty="0"/>
              <a:t> </a:t>
            </a:r>
            <a:r>
              <a:rPr dirty="0" err="1"/>
              <a:t>있어</a:t>
            </a:r>
            <a:r>
              <a:rPr dirty="0"/>
              <a:t> </a:t>
            </a:r>
            <a:r>
              <a:rPr dirty="0" err="1"/>
              <a:t>독립적으로</a:t>
            </a:r>
            <a:r>
              <a:rPr dirty="0"/>
              <a:t> </a:t>
            </a:r>
            <a:r>
              <a:rPr dirty="0" err="1"/>
              <a:t>인용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비유의</a:t>
            </a:r>
            <a:r>
              <a:rPr dirty="0"/>
              <a:t> 힘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물(水) — </a:t>
            </a:r>
            <a:r>
              <a:rPr dirty="0" err="1"/>
              <a:t>유연한</a:t>
            </a:r>
            <a:r>
              <a:rPr dirty="0"/>
              <a:t> </a:t>
            </a:r>
            <a:r>
              <a:rPr dirty="0" err="1"/>
              <a:t>변화와</a:t>
            </a:r>
            <a:r>
              <a:rPr dirty="0"/>
              <a:t> </a:t>
            </a:r>
            <a:r>
              <a:rPr dirty="0" err="1"/>
              <a:t>적응의</a:t>
            </a:r>
            <a:r>
              <a:rPr dirty="0"/>
              <a:t> </a:t>
            </a:r>
            <a:r>
              <a:rPr dirty="0" err="1"/>
              <a:t>상징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</a:t>
            </a:r>
            <a:r>
              <a:rPr dirty="0" err="1"/>
              <a:t>급류</a:t>
            </a:r>
            <a:r>
              <a:rPr dirty="0"/>
              <a:t>(</a:t>
            </a:r>
            <a:r>
              <a:rPr dirty="0" err="1"/>
              <a:t>激水</a:t>
            </a:r>
            <a:r>
              <a:rPr dirty="0"/>
              <a:t>) — 세(勢)의 </a:t>
            </a:r>
            <a:r>
              <a:rPr dirty="0" err="1"/>
              <a:t>위력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</a:t>
            </a:r>
            <a:r>
              <a:rPr dirty="0" err="1"/>
              <a:t>상산의</a:t>
            </a:r>
            <a:r>
              <a:rPr dirty="0"/>
              <a:t> 뱀(</a:t>
            </a:r>
            <a:r>
              <a:rPr dirty="0" err="1"/>
              <a:t>率然</a:t>
            </a:r>
            <a:r>
              <a:rPr dirty="0"/>
              <a:t>) — </a:t>
            </a:r>
            <a:r>
              <a:rPr dirty="0" err="1"/>
              <a:t>유기적</a:t>
            </a:r>
            <a:r>
              <a:rPr dirty="0"/>
              <a:t> </a:t>
            </a:r>
            <a:r>
              <a:rPr dirty="0" err="1"/>
              <a:t>조직의</a:t>
            </a:r>
            <a:r>
              <a:rPr dirty="0"/>
              <a:t> </a:t>
            </a:r>
            <a:r>
              <a:rPr dirty="0" err="1"/>
              <a:t>이상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</a:t>
            </a:r>
            <a:r>
              <a:rPr dirty="0" err="1"/>
              <a:t>풍림화산</a:t>
            </a:r>
            <a:r>
              <a:rPr dirty="0"/>
              <a:t> — </a:t>
            </a:r>
            <a:r>
              <a:rPr dirty="0" err="1"/>
              <a:t>상황별</a:t>
            </a:r>
            <a:r>
              <a:rPr dirty="0"/>
              <a:t> </a:t>
            </a:r>
            <a:r>
              <a:rPr dirty="0" err="1"/>
              <a:t>대응의</a:t>
            </a:r>
            <a:r>
              <a:rPr dirty="0"/>
              <a:t> </a:t>
            </a:r>
            <a:r>
              <a:rPr dirty="0" err="1"/>
              <a:t>모범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이중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: </a:t>
            </a:r>
            <a:r>
              <a:rPr dirty="0" err="1"/>
              <a:t>전쟁론</a:t>
            </a:r>
            <a:r>
              <a:rPr dirty="0"/>
              <a:t> + </a:t>
            </a:r>
            <a:r>
              <a:rPr dirty="0" err="1"/>
              <a:t>반전론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'</a:t>
            </a:r>
            <a:r>
              <a:rPr dirty="0" err="1"/>
              <a:t>싸우지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이기라'는</a:t>
            </a:r>
            <a:r>
              <a:rPr dirty="0"/>
              <a:t> </a:t>
            </a:r>
            <a:r>
              <a:rPr dirty="0" err="1"/>
              <a:t>부전승</a:t>
            </a:r>
            <a:r>
              <a:rPr dirty="0"/>
              <a:t> + '</a:t>
            </a:r>
            <a:r>
              <a:rPr dirty="0" err="1"/>
              <a:t>분노로</a:t>
            </a:r>
            <a:r>
              <a:rPr dirty="0"/>
              <a:t> </a:t>
            </a:r>
            <a:r>
              <a:rPr dirty="0" err="1"/>
              <a:t>싸우지</a:t>
            </a:r>
            <a:r>
              <a:rPr dirty="0"/>
              <a:t> </a:t>
            </a:r>
            <a:r>
              <a:rPr dirty="0" err="1"/>
              <a:t>마라'는</a:t>
            </a:r>
            <a:r>
              <a:rPr dirty="0"/>
              <a:t> </a:t>
            </a:r>
            <a:r>
              <a:rPr dirty="0" err="1"/>
              <a:t>경고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맑은 고딕"/>
              </a:defRPr>
            </a:pPr>
            <a:r>
              <a:rPr dirty="0"/>
              <a:t>  •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뛰어난</a:t>
            </a:r>
            <a:r>
              <a:rPr dirty="0"/>
              <a:t> </a:t>
            </a:r>
            <a:r>
              <a:rPr dirty="0" err="1"/>
              <a:t>병서이면서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신중한</a:t>
            </a:r>
            <a:r>
              <a:rPr dirty="0"/>
              <a:t> </a:t>
            </a:r>
            <a:r>
              <a:rPr dirty="0" err="1"/>
              <a:t>반전</a:t>
            </a:r>
            <a:r>
              <a:rPr dirty="0"/>
              <a:t> </a:t>
            </a:r>
            <a:r>
              <a:rPr dirty="0" err="1"/>
              <a:t>메시지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현대적 의의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경영</a:t>
            </a:r>
            <a:r>
              <a:rPr dirty="0"/>
              <a:t> </a:t>
            </a:r>
            <a:r>
              <a:rPr dirty="0" err="1"/>
              <a:t>전략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</a:t>
            </a:r>
            <a:r>
              <a:rPr dirty="0" err="1"/>
              <a:t>부전승</a:t>
            </a:r>
            <a:r>
              <a:rPr dirty="0"/>
              <a:t> → </a:t>
            </a:r>
            <a:r>
              <a:rPr dirty="0" err="1"/>
              <a:t>블루오션</a:t>
            </a:r>
            <a:r>
              <a:rPr dirty="0"/>
              <a:t> </a:t>
            </a:r>
            <a:r>
              <a:rPr dirty="0" err="1"/>
              <a:t>전략</a:t>
            </a:r>
            <a:r>
              <a:rPr dirty="0"/>
              <a:t>, </a:t>
            </a:r>
            <a:r>
              <a:rPr dirty="0" err="1"/>
              <a:t>경쟁</a:t>
            </a:r>
            <a:r>
              <a:rPr dirty="0"/>
              <a:t> </a:t>
            </a:r>
            <a:r>
              <a:rPr dirty="0" err="1"/>
              <a:t>회피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</a:t>
            </a:r>
            <a:r>
              <a:rPr dirty="0" err="1"/>
              <a:t>속전속결</a:t>
            </a:r>
            <a:r>
              <a:rPr dirty="0"/>
              <a:t> → MVP, 린 </a:t>
            </a:r>
            <a:r>
              <a:rPr dirty="0" err="1"/>
              <a:t>스타트업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</a:t>
            </a:r>
            <a:r>
              <a:rPr dirty="0" err="1"/>
              <a:t>지피지기</a:t>
            </a:r>
            <a:r>
              <a:rPr dirty="0"/>
              <a:t> →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조사</a:t>
            </a:r>
            <a:r>
              <a:rPr dirty="0"/>
              <a:t>, SWOT </a:t>
            </a:r>
            <a:r>
              <a:rPr dirty="0" err="1"/>
              <a:t>분석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</a:t>
            </a:r>
            <a:r>
              <a:rPr dirty="0" err="1"/>
              <a:t>허실</a:t>
            </a:r>
            <a:r>
              <a:rPr dirty="0"/>
              <a:t> → </a:t>
            </a:r>
            <a:r>
              <a:rPr dirty="0" err="1"/>
              <a:t>니치</a:t>
            </a:r>
            <a:r>
              <a:rPr dirty="0"/>
              <a:t> </a:t>
            </a:r>
            <a:r>
              <a:rPr dirty="0" err="1"/>
              <a:t>마켓</a:t>
            </a:r>
            <a:r>
              <a:rPr dirty="0"/>
              <a:t> </a:t>
            </a:r>
            <a:r>
              <a:rPr dirty="0" err="1"/>
              <a:t>공략</a:t>
            </a:r>
            <a:r>
              <a:rPr dirty="0"/>
              <a:t>, </a:t>
            </a:r>
            <a:r>
              <a:rPr dirty="0" err="1"/>
              <a:t>선택과</a:t>
            </a:r>
            <a:r>
              <a:rPr dirty="0"/>
              <a:t> </a:t>
            </a:r>
            <a:r>
              <a:rPr dirty="0" err="1"/>
              <a:t>집중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맑은 고딕"/>
              </a:defRPr>
            </a:pP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리더십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세(勢)</a:t>
            </a:r>
            <a:r>
              <a:rPr dirty="0" err="1"/>
              <a:t>에서</a:t>
            </a:r>
            <a:r>
              <a:rPr dirty="0"/>
              <a:t> </a:t>
            </a:r>
            <a:r>
              <a:rPr dirty="0" err="1"/>
              <a:t>승리를</a:t>
            </a:r>
            <a:r>
              <a:rPr dirty="0"/>
              <a:t> </a:t>
            </a:r>
            <a:r>
              <a:rPr dirty="0" err="1"/>
              <a:t>구하라</a:t>
            </a:r>
            <a:r>
              <a:rPr dirty="0"/>
              <a:t> →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설계의</a:t>
            </a:r>
            <a:r>
              <a:rPr dirty="0"/>
              <a:t> </a:t>
            </a:r>
            <a:r>
              <a:rPr dirty="0" err="1"/>
              <a:t>중요성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</a:t>
            </a:r>
            <a:r>
              <a:rPr dirty="0" err="1"/>
              <a:t>장수의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덕목</a:t>
            </a:r>
            <a:r>
              <a:rPr dirty="0"/>
              <a:t>(</a:t>
            </a:r>
            <a:r>
              <a:rPr dirty="0" err="1"/>
              <a:t>지신인용엄</a:t>
            </a:r>
            <a:r>
              <a:rPr dirty="0"/>
              <a:t>) → </a:t>
            </a:r>
            <a:r>
              <a:rPr dirty="0" err="1"/>
              <a:t>균형</a:t>
            </a:r>
            <a:r>
              <a:rPr dirty="0"/>
              <a:t> </a:t>
            </a:r>
            <a:r>
              <a:rPr dirty="0" err="1"/>
              <a:t>잡힌</a:t>
            </a:r>
            <a:r>
              <a:rPr dirty="0"/>
              <a:t> </a:t>
            </a:r>
            <a:r>
              <a:rPr dirty="0" err="1"/>
              <a:t>리더십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맑은 고딕"/>
              </a:defRPr>
            </a:pP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일상의</a:t>
            </a:r>
            <a:r>
              <a:rPr dirty="0"/>
              <a:t> </a:t>
            </a:r>
            <a:r>
              <a:rPr dirty="0" err="1"/>
              <a:t>지혜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</a:t>
            </a:r>
            <a:r>
              <a:rPr dirty="0" err="1"/>
              <a:t>선승이후구전</a:t>
            </a:r>
            <a:r>
              <a:rPr dirty="0"/>
              <a:t> → </a:t>
            </a:r>
            <a:r>
              <a:rPr dirty="0" err="1"/>
              <a:t>준비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</a:t>
            </a:r>
            <a:r>
              <a:rPr dirty="0" err="1"/>
              <a:t>도전하지</a:t>
            </a:r>
            <a:r>
              <a:rPr dirty="0"/>
              <a:t> </a:t>
            </a:r>
            <a:r>
              <a:rPr dirty="0" err="1"/>
              <a:t>마라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</a:t>
            </a:r>
            <a:r>
              <a:rPr dirty="0" err="1"/>
              <a:t>노이흥사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 → </a:t>
            </a:r>
            <a:r>
              <a:rPr dirty="0" err="1"/>
              <a:t>감정에</a:t>
            </a:r>
            <a:r>
              <a:rPr dirty="0"/>
              <a:t> </a:t>
            </a:r>
            <a:r>
              <a:rPr dirty="0" err="1"/>
              <a:t>의한</a:t>
            </a:r>
            <a:r>
              <a:rPr dirty="0"/>
              <a:t> </a:t>
            </a:r>
            <a:r>
              <a:rPr dirty="0" err="1"/>
              <a:t>중요</a:t>
            </a:r>
            <a:r>
              <a:rPr dirty="0"/>
              <a:t> </a:t>
            </a:r>
            <a:r>
              <a:rPr dirty="0" err="1"/>
              <a:t>결정을</a:t>
            </a:r>
            <a:r>
              <a:rPr dirty="0"/>
              <a:t> </a:t>
            </a:r>
            <a:r>
              <a:rPr dirty="0" err="1"/>
              <a:t>피하라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  • </a:t>
            </a:r>
            <a:r>
              <a:rPr dirty="0" err="1"/>
              <a:t>물의</a:t>
            </a:r>
            <a:r>
              <a:rPr dirty="0"/>
              <a:t> </a:t>
            </a:r>
            <a:r>
              <a:rPr dirty="0" err="1"/>
              <a:t>비유</a:t>
            </a:r>
            <a:r>
              <a:rPr dirty="0"/>
              <a:t> → </a:t>
            </a:r>
            <a:r>
              <a:rPr dirty="0" err="1"/>
              <a:t>고정된</a:t>
            </a:r>
            <a:r>
              <a:rPr dirty="0"/>
              <a:t> </a:t>
            </a:r>
            <a:r>
              <a:rPr dirty="0" err="1"/>
              <a:t>패턴에</a:t>
            </a:r>
            <a:r>
              <a:rPr dirty="0"/>
              <a:t> </a:t>
            </a:r>
            <a:r>
              <a:rPr dirty="0" err="1"/>
              <a:t>얽매이지</a:t>
            </a:r>
            <a:r>
              <a:rPr dirty="0"/>
              <a:t> </a:t>
            </a:r>
            <a:r>
              <a:rPr dirty="0" err="1"/>
              <a:t>마라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손자병법과 다른 사상의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비교 대상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공통점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차이점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클라우제비츠(전쟁론)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전쟁을 정치의 연장으로 봄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손자: 부전승 / 클라우제비츠: 결전 중시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마키아벨리(군주론)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현실주의적 권력관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손자: 도(道) 중시 / 마키아벨리: 권모술수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노자(도덕경)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유연함과 물의 비유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노자: 무위 / 손자: 적극적 전략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공자(논어)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인(仁)의 중시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공자: 도덕 우선 / 손자: 전략적 효용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순자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현실주의적 인간관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순자: 제도 설계 / 손자: 전장 설계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spcAft>
                <a:spcPts val="0"/>
              </a:spcAft>
              <a:defRPr sz="4000" b="1">
                <a:solidFill>
                  <a:srgbClr val="D4AF37"/>
                </a:solidFill>
                <a:latin typeface="맑은 고딕"/>
              </a:defRPr>
            </a:pPr>
            <a:r>
              <a:t>손자병법을 한 문장으로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전쟁의 가부를 신중히 판단하고(오사칠계),</a:t>
            </a:r>
            <a:br/>
            <a:r>
              <a:t>가능하면 싸우지 않고 이기며(부전승),</a:t>
            </a:r>
            <a:br/>
            <a:r>
              <a:t>반드시 싸워야 한다면 먼저 이길 조건을 갖추고(선승이후구전),</a:t>
            </a:r>
            <a:br/>
            <a:r>
              <a:t>이 모든 것의 기반은 정보(지피지기)와 유연한 변화(병무상세)이다.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4632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A0B8D8"/>
                </a:solidFill>
                <a:latin typeface="맑은 고딕"/>
              </a:defRPr>
            </a:pPr>
            <a:r>
              <a:t>「不戰而屈人之兵 善之善者也」 — 싸우지 않고 이기는 것이 최선이다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76072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1360</Words>
  <Application>Microsoft Office PowerPoint</Application>
  <PresentationFormat>와이드스크린</PresentationFormat>
  <Paragraphs>218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 Park</cp:lastModifiedBy>
  <cp:revision>2</cp:revision>
  <dcterms:created xsi:type="dcterms:W3CDTF">2013-01-27T09:14:16Z</dcterms:created>
  <dcterms:modified xsi:type="dcterms:W3CDTF">2026-03-02T07:29:02Z</dcterms:modified>
  <cp:category/>
</cp:coreProperties>
</file>