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097280"/>
            <a:ext cx="1033272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60"/>
              </a:lnSpc>
              <a:spcAft>
                <a:spcPts val="0"/>
              </a:spcAft>
              <a:defRPr sz="5200" b="1">
                <a:solidFill>
                  <a:srgbClr val="D4AF37"/>
                </a:solidFill>
                <a:latin typeface="맑은 고딕"/>
              </a:defRPr>
            </a:pPr>
            <a:r>
              <a:t>荀子 (Xunzi)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순자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383280"/>
            <a:ext cx="484632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A0B8D8"/>
                </a:solidFill>
                <a:latin typeface="맑은 고딕"/>
              </a:defRPr>
            </a:pPr>
            <a:r>
              <a:t>저자: 순황(荀況), 순경(荀卿)  |  시대: 전국시대 말기 (BC 313~238경)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CCCCCC"/>
                </a:solidFill>
                <a:latin typeface="맑은 고딕"/>
              </a:defRPr>
            </a:pPr>
            <a:r>
              <a:t>32편 · 성악설 · 예론 · 천론 · 유가 철학의 체계적 논증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760720"/>
            <a:ext cx="1033272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D4AF37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01   개요 — 순자란 무엇인가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02   구성 — 32편의 구조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03   핵심 사상 ① 성악설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04   핵심 사상 ② 예론과 천론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05   핵심 사상 ③ 수양론과 정명론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06   명구절 (상)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07   명구절 (하)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08   구조적 특징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09   현대적 의의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10   다른 고전과의 비교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11   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순자란 무엇인가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정의: 전국시대 말기 유학자 순황의 사상을 담은 32편의 유가 철학서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논어·맹자가 어록 중심이라면, 순자는 최초의 논설문 형식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선진 유학의 3대 저작 (논어·맹자·순자)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순황(荀況, BC 313~238경)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조(趙)나라 출신, 제나라 직하학궁에서 세 차례 제주(학장) 역임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초나라 난릉령 역임 후 저술에 전념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제자: 이사(李斯), 한비자(韓非子) — 법가에 결정적 영향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사상사적 위치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맹자의 성선설에 대해 성악설 주장 → 유가 내부 논쟁 촉발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예(禮)를 사회 질서의 근본 원리로 체계화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하늘(天)을 자연 현상으로 규정 → 합리주의 전통 수립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순자의 구성 — 32편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28016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분류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편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핵심 주제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핵심 사상편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1~9편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권학(학문론), 수신, 비상, 유효, 왕제 등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경세 실천편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10~16편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부국(경제), 왕패, 군도, 의병(군사론) 등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철학 심화편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17~23편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천론, 예론, 악론, 해폐(인식론), 정명, 성악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부록·잡편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24~32편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군자, 성상(운문), 격언, 공자 일화 등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핵심 사상 ① — 성악설(性惡說)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D4AF37"/>
                </a:solidFill>
                <a:latin typeface="맑은 고딕"/>
              </a:defRPr>
            </a:pPr>
            <a:r>
              <a:t>人之性惡 其善者僞也 — 사람의 본성은 악하며, 선한 것은 인위(僞)이다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성(性)과 위(僞)의 구분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성(性): 타고난 본성 — 이기적 욕망, 감각적 욕구 (자연적·본능적)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위(僞): 인위적 노력 — 예의, 사양 (의식적·후천적)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CCCCCC"/>
                </a:solidFill>
                <a:latin typeface="맑은 고딕"/>
              </a:defRPr>
            </a:pPr>
            <a:r>
              <a:t>  • 僞는 거짓이 아니라 '人+爲(사람의 행위)' = 인위적 노력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화성기위(化性起僞) — 순자 사상의 핵심 공식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  성(性) → 위(僞) → 예의(禮義) → 법도(法度)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성인은 본성을 변화시켜 인위를 일으키고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인위가 일어나 예의가 생기며, 예의가 법도를 제정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교육 낙관론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塗之人可以爲禹 — 길가의 보통 사람도 우(禹) 임금이 될 수 있다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본성이 악하더라도 노력으로 성인이 될 수 있다는 평등적 수양론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핵심 사상 ② — 예론(禮論)과 천론(天論)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예론 — 예는 사회 질서의 근본 원리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예의 기원: 욕망 → 충족 불가 → 추구 → 한도 없으면 다툼 → 예가 필요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양(養): 욕망을 적절히 충족 / 별(別): 사회적 분별 / 문(文): 문화적 형식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禮者 養也 — 예란 기름(충족)이다. 욕망의 억압이 아니라 절도 있는 만족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CCCCCC"/>
                </a:solidFill>
                <a:latin typeface="맑은 고딕"/>
              </a:defRPr>
            </a:pPr>
            <a:r>
              <a:t>  • 禮者 人道之極也 — 예는 인간 도의 극치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천론 — 하늘은 자연이며 인간과 분리된다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D4AF37"/>
                </a:solidFill>
                <a:latin typeface="맑은 고딕"/>
              </a:defRPr>
            </a:pPr>
            <a:r>
              <a:t>  天行有常 不爲堯存 不爲桀亡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→ 하늘의 운행에는 법칙이 있으니, 요 때문에 존재하지도 걸 때문에 없어지지도 않는다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D4AF37"/>
                </a:solidFill>
                <a:latin typeface="맑은 고딕"/>
              </a:defRPr>
            </a:pPr>
            <a:r>
              <a:t>  制天命而用之 — 천명을 제어하여 이용하라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→ 자연에 대한 수동적 경외가 아니라 적극적 활용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CCCCCC"/>
                </a:solidFill>
                <a:latin typeface="맑은 고딕"/>
              </a:defRPr>
            </a:pPr>
            <a:r>
              <a:t>  • 중국 사상사에서 가장 혁신적인 합리주의적 자연관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핵심 사상 ③ — 수양론과 정명론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적(積)의 사상 — 축적의 힘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積土成山 風雨興焉 — 흙을 쌓아 산을 이루면 바람과 비가 일어난다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한 번의 깨달음이 아니라 끊임없는 노력의 누적이 인격을 형성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不積蹞步 無以至千里 — 반 걸음을 쌓지 않으면 천 리에 이를 수 없다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인식론 — 허일이정(虛壹而靜)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허(虛): 마음을 비움 — 기존 지식에 얽매이지 않는 개방성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일(壹): 집중 — 분산되지 않는 전일적 주의력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정(靜): 고요함 — 감정에 흔들리지 않는 안정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CCCCCC"/>
                </a:solidFill>
                <a:latin typeface="맑은 고딕"/>
              </a:defRPr>
            </a:pPr>
            <a:r>
              <a:t>  • 대청명(大清明)의 경지 → 사물을 있는 그대로 파악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정명론(正名論) — 이름과 실재의 일치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名無固宜 約之以命 — 이름에는 고정된 적합함이 없으며 약속으로 정해진다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약정속성(約定俗成) — 현대 언어 철학의 규약주의와 유사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명구절 (상)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58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學不可以已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학불가이이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배움은</a:t>
            </a:r>
            <a:r>
              <a:rPr dirty="0"/>
              <a:t> </a:t>
            </a:r>
            <a:r>
              <a:rPr dirty="0" err="1"/>
              <a:t>그만둘</a:t>
            </a:r>
            <a:r>
              <a:rPr dirty="0"/>
              <a:t> 수 </a:t>
            </a:r>
            <a:r>
              <a:rPr dirty="0" err="1"/>
              <a:t>없다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권학</a:t>
            </a:r>
            <a:r>
              <a:rPr dirty="0"/>
              <a:t> 제1편 첫 </a:t>
            </a:r>
            <a:r>
              <a:rPr dirty="0" err="1"/>
              <a:t>문장</a:t>
            </a:r>
            <a:endParaRPr dirty="0"/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靑取之於藍而靑於藍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청취지어람이청어람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푸른색은</a:t>
            </a:r>
            <a:r>
              <a:rPr dirty="0"/>
              <a:t> </a:t>
            </a:r>
            <a:r>
              <a:rPr dirty="0" err="1"/>
              <a:t>쪽에서</a:t>
            </a:r>
            <a:r>
              <a:rPr dirty="0"/>
              <a:t> </a:t>
            </a:r>
            <a:r>
              <a:rPr dirty="0" err="1"/>
              <a:t>취하였으나</a:t>
            </a:r>
            <a:r>
              <a:rPr dirty="0"/>
              <a:t> </a:t>
            </a:r>
            <a:r>
              <a:rPr dirty="0" err="1"/>
              <a:t>쪽보다</a:t>
            </a:r>
            <a:r>
              <a:rPr dirty="0"/>
              <a:t> </a:t>
            </a:r>
            <a:r>
              <a:rPr dirty="0" err="1"/>
              <a:t>푸르다</a:t>
            </a:r>
            <a:r>
              <a:rPr dirty="0"/>
              <a:t> (</a:t>
            </a:r>
            <a:r>
              <a:rPr dirty="0" err="1"/>
              <a:t>청출어람</a:t>
            </a:r>
            <a:r>
              <a:rPr dirty="0"/>
              <a:t>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권학</a:t>
            </a:r>
            <a:r>
              <a:rPr dirty="0"/>
              <a:t> 제1편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積土成山</a:t>
            </a:r>
            <a:r>
              <a:rPr dirty="0"/>
              <a:t> </a:t>
            </a:r>
            <a:r>
              <a:rPr dirty="0" err="1"/>
              <a:t>風雨興焉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적토성산</a:t>
            </a:r>
            <a:r>
              <a:rPr dirty="0"/>
              <a:t> </a:t>
            </a:r>
            <a:r>
              <a:rPr dirty="0" err="1"/>
              <a:t>풍우흥언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흙을</a:t>
            </a:r>
            <a:r>
              <a:rPr dirty="0"/>
              <a:t> </a:t>
            </a:r>
            <a:r>
              <a:rPr dirty="0" err="1"/>
              <a:t>쌓아</a:t>
            </a:r>
            <a:r>
              <a:rPr dirty="0"/>
              <a:t> </a:t>
            </a:r>
            <a:r>
              <a:rPr dirty="0" err="1"/>
              <a:t>산을</a:t>
            </a:r>
            <a:r>
              <a:rPr dirty="0"/>
              <a:t> </a:t>
            </a:r>
            <a:r>
              <a:rPr dirty="0" err="1"/>
              <a:t>이루면</a:t>
            </a:r>
            <a:r>
              <a:rPr dirty="0"/>
              <a:t> </a:t>
            </a:r>
            <a:r>
              <a:rPr dirty="0" err="1"/>
              <a:t>바람과</a:t>
            </a:r>
            <a:r>
              <a:rPr dirty="0"/>
              <a:t> </a:t>
            </a:r>
            <a:r>
              <a:rPr dirty="0" err="1"/>
              <a:t>비가</a:t>
            </a:r>
            <a:r>
              <a:rPr dirty="0"/>
              <a:t> </a:t>
            </a:r>
            <a:r>
              <a:rPr dirty="0" err="1"/>
              <a:t>일어난다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권학</a:t>
            </a:r>
            <a:r>
              <a:rPr dirty="0"/>
              <a:t> 제1편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天行有常</a:t>
            </a:r>
            <a:r>
              <a:rPr dirty="0"/>
              <a:t> </a:t>
            </a:r>
            <a:r>
              <a:rPr dirty="0" err="1"/>
              <a:t>不爲堯存</a:t>
            </a:r>
            <a:r>
              <a:rPr dirty="0"/>
              <a:t> </a:t>
            </a:r>
            <a:r>
              <a:rPr dirty="0" err="1"/>
              <a:t>不爲桀亡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천행유상</a:t>
            </a:r>
            <a:r>
              <a:rPr dirty="0"/>
              <a:t> </a:t>
            </a:r>
            <a:r>
              <a:rPr dirty="0" err="1"/>
              <a:t>불위요존</a:t>
            </a:r>
            <a:r>
              <a:rPr dirty="0"/>
              <a:t> </a:t>
            </a:r>
            <a:r>
              <a:rPr dirty="0" err="1"/>
              <a:t>불위걸망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하늘의</a:t>
            </a:r>
            <a:r>
              <a:rPr dirty="0"/>
              <a:t> </a:t>
            </a:r>
            <a:r>
              <a:rPr dirty="0" err="1"/>
              <a:t>운행에는</a:t>
            </a:r>
            <a:r>
              <a:rPr dirty="0"/>
              <a:t> </a:t>
            </a:r>
            <a:r>
              <a:rPr dirty="0" err="1"/>
              <a:t>법칙이</a:t>
            </a:r>
            <a:r>
              <a:rPr dirty="0"/>
              <a:t> </a:t>
            </a:r>
            <a:r>
              <a:rPr dirty="0" err="1"/>
              <a:t>있으니</a:t>
            </a:r>
            <a:r>
              <a:rPr dirty="0"/>
              <a:t> </a:t>
            </a:r>
            <a:r>
              <a:rPr dirty="0" err="1"/>
              <a:t>요·걸과</a:t>
            </a:r>
            <a:r>
              <a:rPr dirty="0"/>
              <a:t> </a:t>
            </a:r>
            <a:r>
              <a:rPr dirty="0" err="1"/>
              <a:t>무관하다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천론</a:t>
            </a:r>
            <a:r>
              <a:rPr dirty="0"/>
              <a:t> 제17편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君者舟也</a:t>
            </a:r>
            <a:r>
              <a:rPr dirty="0"/>
              <a:t> </a:t>
            </a:r>
            <a:r>
              <a:rPr dirty="0" err="1"/>
              <a:t>庶人者水也</a:t>
            </a:r>
            <a:r>
              <a:rPr dirty="0"/>
              <a:t> </a:t>
            </a:r>
            <a:r>
              <a:rPr dirty="0" err="1"/>
              <a:t>水則載舟</a:t>
            </a:r>
            <a:r>
              <a:rPr dirty="0"/>
              <a:t> </a:t>
            </a:r>
            <a:r>
              <a:rPr dirty="0" err="1"/>
              <a:t>水則覆舟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군자주야</a:t>
            </a:r>
            <a:r>
              <a:rPr dirty="0"/>
              <a:t> </a:t>
            </a:r>
            <a:r>
              <a:rPr dirty="0" err="1"/>
              <a:t>서인자수야</a:t>
            </a:r>
            <a:r>
              <a:rPr dirty="0"/>
              <a:t> </a:t>
            </a:r>
            <a:r>
              <a:rPr dirty="0" err="1"/>
              <a:t>수즉재주</a:t>
            </a:r>
            <a:r>
              <a:rPr dirty="0"/>
              <a:t> </a:t>
            </a:r>
            <a:r>
              <a:rPr dirty="0" err="1"/>
              <a:t>수즉복주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군주는</a:t>
            </a:r>
            <a:r>
              <a:rPr dirty="0"/>
              <a:t> 배, </a:t>
            </a:r>
            <a:r>
              <a:rPr dirty="0" err="1"/>
              <a:t>백성은</a:t>
            </a:r>
            <a:r>
              <a:rPr dirty="0"/>
              <a:t> 물 — </a:t>
            </a:r>
            <a:r>
              <a:rPr dirty="0" err="1"/>
              <a:t>물은</a:t>
            </a:r>
            <a:r>
              <a:rPr dirty="0"/>
              <a:t> </a:t>
            </a:r>
            <a:r>
              <a:rPr dirty="0" err="1"/>
              <a:t>배를</a:t>
            </a:r>
            <a:r>
              <a:rPr dirty="0"/>
              <a:t> </a:t>
            </a:r>
            <a:r>
              <a:rPr dirty="0" err="1"/>
              <a:t>띄우기도</a:t>
            </a:r>
            <a:r>
              <a:rPr dirty="0"/>
              <a:t> </a:t>
            </a:r>
            <a:r>
              <a:rPr dirty="0" err="1"/>
              <a:t>뒤집기도</a:t>
            </a:r>
            <a:r>
              <a:rPr dirty="0"/>
              <a:t> </a:t>
            </a:r>
            <a:r>
              <a:rPr dirty="0" err="1"/>
              <a:t>한다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왕제</a:t>
            </a:r>
            <a:r>
              <a:rPr dirty="0"/>
              <a:t> 제9편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명구절 (하)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58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人之性惡</a:t>
            </a:r>
            <a:r>
              <a:rPr dirty="0"/>
              <a:t> </a:t>
            </a:r>
            <a:r>
              <a:rPr dirty="0" err="1"/>
              <a:t>其善者僞也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인지성악</a:t>
            </a:r>
            <a:r>
              <a:rPr dirty="0"/>
              <a:t> </a:t>
            </a:r>
            <a:r>
              <a:rPr dirty="0" err="1"/>
              <a:t>기선자위야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사람의</a:t>
            </a:r>
            <a:r>
              <a:rPr dirty="0"/>
              <a:t> </a:t>
            </a:r>
            <a:r>
              <a:rPr dirty="0" err="1"/>
              <a:t>본성은</a:t>
            </a:r>
            <a:r>
              <a:rPr dirty="0"/>
              <a:t> </a:t>
            </a:r>
            <a:r>
              <a:rPr dirty="0" err="1"/>
              <a:t>악하며</a:t>
            </a:r>
            <a:r>
              <a:rPr dirty="0"/>
              <a:t>, </a:t>
            </a:r>
            <a:r>
              <a:rPr dirty="0" err="1"/>
              <a:t>선한</a:t>
            </a:r>
            <a:r>
              <a:rPr dirty="0"/>
              <a:t> </a:t>
            </a:r>
            <a:r>
              <a:rPr dirty="0" err="1"/>
              <a:t>것은</a:t>
            </a:r>
            <a:r>
              <a:rPr dirty="0"/>
              <a:t> </a:t>
            </a:r>
            <a:r>
              <a:rPr dirty="0" err="1"/>
              <a:t>인위</a:t>
            </a:r>
            <a:r>
              <a:rPr dirty="0"/>
              <a:t>(僞)</a:t>
            </a:r>
            <a:r>
              <a:rPr dirty="0" err="1"/>
              <a:t>이다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성악</a:t>
            </a:r>
            <a:r>
              <a:rPr dirty="0"/>
              <a:t> 제23편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禮起於何也</a:t>
            </a:r>
            <a:r>
              <a:rPr dirty="0"/>
              <a:t>... </a:t>
            </a:r>
            <a:r>
              <a:rPr dirty="0" err="1"/>
              <a:t>求而無度量分界</a:t>
            </a:r>
            <a:r>
              <a:rPr dirty="0"/>
              <a:t> </a:t>
            </a:r>
            <a:r>
              <a:rPr dirty="0" err="1"/>
              <a:t>則不能不爭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예기어하야</a:t>
            </a:r>
            <a:r>
              <a:rPr dirty="0"/>
              <a:t>... </a:t>
            </a:r>
            <a:r>
              <a:rPr dirty="0" err="1"/>
              <a:t>구이무도량분계</a:t>
            </a:r>
            <a:r>
              <a:rPr dirty="0"/>
              <a:t> </a:t>
            </a:r>
            <a:r>
              <a:rPr dirty="0" err="1"/>
              <a:t>즉불능부쟁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예는</a:t>
            </a:r>
            <a:r>
              <a:rPr dirty="0"/>
              <a:t> </a:t>
            </a:r>
            <a:r>
              <a:rPr dirty="0" err="1"/>
              <a:t>욕망</a:t>
            </a:r>
            <a:r>
              <a:rPr dirty="0"/>
              <a:t> </a:t>
            </a:r>
            <a:r>
              <a:rPr dirty="0" err="1"/>
              <a:t>조절의</a:t>
            </a:r>
            <a:r>
              <a:rPr dirty="0"/>
              <a:t> </a:t>
            </a:r>
            <a:r>
              <a:rPr dirty="0" err="1"/>
              <a:t>필요에서</a:t>
            </a:r>
            <a:r>
              <a:rPr dirty="0"/>
              <a:t> </a:t>
            </a:r>
            <a:r>
              <a:rPr dirty="0" err="1"/>
              <a:t>일어났다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예론</a:t>
            </a:r>
            <a:r>
              <a:rPr dirty="0"/>
              <a:t> 제19편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虛壹而靜</a:t>
            </a:r>
            <a:r>
              <a:rPr dirty="0"/>
              <a:t> </a:t>
            </a:r>
            <a:r>
              <a:rPr dirty="0" err="1"/>
              <a:t>謂之大清明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허일이정</a:t>
            </a:r>
            <a:r>
              <a:rPr dirty="0"/>
              <a:t> </a:t>
            </a:r>
            <a:r>
              <a:rPr dirty="0" err="1"/>
              <a:t>위지대청명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비우고</a:t>
            </a:r>
            <a:r>
              <a:rPr dirty="0"/>
              <a:t> </a:t>
            </a:r>
            <a:r>
              <a:rPr dirty="0" err="1"/>
              <a:t>집중하며</a:t>
            </a:r>
            <a:r>
              <a:rPr dirty="0"/>
              <a:t> </a:t>
            </a:r>
            <a:r>
              <a:rPr dirty="0" err="1"/>
              <a:t>고요히</a:t>
            </a:r>
            <a:r>
              <a:rPr dirty="0"/>
              <a:t> </a:t>
            </a:r>
            <a:r>
              <a:rPr dirty="0" err="1"/>
              <a:t>하면</a:t>
            </a:r>
            <a:r>
              <a:rPr dirty="0"/>
              <a:t> </a:t>
            </a:r>
            <a:r>
              <a:rPr dirty="0" err="1"/>
              <a:t>대청명에</a:t>
            </a:r>
            <a:r>
              <a:rPr dirty="0"/>
              <a:t> </a:t>
            </a:r>
            <a:r>
              <a:rPr dirty="0" err="1"/>
              <a:t>이른다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해폐</a:t>
            </a:r>
            <a:r>
              <a:rPr dirty="0"/>
              <a:t> 제21편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塗之人可以爲禹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도지인가이위우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길가의</a:t>
            </a:r>
            <a:r>
              <a:rPr dirty="0"/>
              <a:t> </a:t>
            </a:r>
            <a:r>
              <a:rPr dirty="0" err="1"/>
              <a:t>보통</a:t>
            </a:r>
            <a:r>
              <a:rPr dirty="0"/>
              <a:t> </a:t>
            </a:r>
            <a:r>
              <a:rPr dirty="0" err="1"/>
              <a:t>사람도</a:t>
            </a:r>
            <a:r>
              <a:rPr dirty="0"/>
              <a:t> 우 </a:t>
            </a:r>
            <a:r>
              <a:rPr dirty="0" err="1"/>
              <a:t>임금이</a:t>
            </a:r>
            <a:r>
              <a:rPr dirty="0"/>
              <a:t> 될 수 </a:t>
            </a:r>
            <a:r>
              <a:rPr dirty="0" err="1"/>
              <a:t>있다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성악</a:t>
            </a:r>
            <a:r>
              <a:rPr dirty="0"/>
              <a:t> 제23편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木受繩則直</a:t>
            </a:r>
            <a:r>
              <a:rPr dirty="0"/>
              <a:t> </a:t>
            </a:r>
            <a:r>
              <a:rPr dirty="0" err="1"/>
              <a:t>金就礪則利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목수승즉직</a:t>
            </a:r>
            <a:r>
              <a:rPr dirty="0"/>
              <a:t> </a:t>
            </a:r>
            <a:r>
              <a:rPr dirty="0" err="1"/>
              <a:t>금취려즉리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나무는</a:t>
            </a:r>
            <a:r>
              <a:rPr dirty="0"/>
              <a:t> </a:t>
            </a:r>
            <a:r>
              <a:rPr dirty="0" err="1"/>
              <a:t>먹줄을</a:t>
            </a:r>
            <a:r>
              <a:rPr dirty="0"/>
              <a:t> </a:t>
            </a:r>
            <a:r>
              <a:rPr dirty="0" err="1"/>
              <a:t>받으면</a:t>
            </a:r>
            <a:r>
              <a:rPr dirty="0"/>
              <a:t> </a:t>
            </a:r>
            <a:r>
              <a:rPr dirty="0" err="1"/>
              <a:t>곧아지고</a:t>
            </a:r>
            <a:r>
              <a:rPr dirty="0"/>
              <a:t> </a:t>
            </a:r>
            <a:r>
              <a:rPr dirty="0" err="1"/>
              <a:t>쇠는</a:t>
            </a:r>
            <a:r>
              <a:rPr dirty="0"/>
              <a:t> </a:t>
            </a:r>
            <a:r>
              <a:rPr dirty="0" err="1"/>
              <a:t>숫돌에</a:t>
            </a:r>
            <a:r>
              <a:rPr dirty="0"/>
              <a:t> </a:t>
            </a:r>
            <a:r>
              <a:rPr dirty="0" err="1"/>
              <a:t>갈면</a:t>
            </a:r>
            <a:r>
              <a:rPr dirty="0"/>
              <a:t> </a:t>
            </a:r>
            <a:r>
              <a:rPr dirty="0" err="1"/>
              <a:t>날카로워진다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권학</a:t>
            </a:r>
            <a:r>
              <a:rPr dirty="0"/>
              <a:t> 제1편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순자의 구조적 특징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유가 최초의 체계적 논설문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어록·대화 중심의 논어·맹자와 달리 비유→논증→결론 구조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중국 산문 발전사에서 중요한 전환점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비유의 풍부함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적토성산 — 축적의 힘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청출어람 — 학문의 발전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봉생마중 — 환경의 영향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재주복주 — 민심의 결정적 중요성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32편의 논리 구조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학문론(1편) → 수양론(2~4편) → 비판론(5~6편) → 유학론(7~8편)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→ 정치론(9~16편) → 철학론(17~23편) → 부록(24~32편)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CCCCCC"/>
                </a:solidFill>
                <a:latin typeface="맑은 고딕"/>
              </a:defRPr>
            </a:pPr>
            <a:r>
              <a:t>  • 학문에서 시작 → 수양·비판 → 실천·정치 → 철학적 심화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현대적 의의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성악설 → 현실주의적 인간관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경제학·정치학의 합리적 행위자 전제와 유사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예론(제도 설계) → 제도주의(institutionalism)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개인의 덕성보다 제도적 장치의 중요성 강조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천론(합리주의) → 과학적 세계관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미신 비판, 자연에 대한 능동적·실용적 태도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해폐(인지 편향) → 인지심리학·비판적 사고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한쪽에 가려져 큰 이치에 어두운 것을 경계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적(積)의 사상 → 성장 마인드셋·습관 형성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작은 축적이 위대한 성취로 이어지는 점진적 발전론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정명론(약정속성) → 언어 철학·기호학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이름의 사회적 약정 성격에 대한 선구적 통찰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순자와 다른 사상가의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28016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공자(논어)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맹자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순자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인성론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성상근(性相近)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성선설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성악설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핵심 덕목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인(仁)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인의(仁義)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예(禮)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수양 방법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학·극기복례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확충(사단)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화성기위(적)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천관(天觀)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도덕적 천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의지적 천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자연적 천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정치론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덕치·정명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왕도·역성혁명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왕도·예법 병용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문체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어록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대화·논변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논설문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후대 영향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유가 정통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성리학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법가·예학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371600"/>
            <a:ext cx="1033272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spcAft>
                <a:spcPts val="0"/>
              </a:spcAft>
              <a:defRPr sz="4000" b="1">
                <a:solidFill>
                  <a:srgbClr val="D4AF37"/>
                </a:solidFill>
                <a:latin typeface="맑은 고딕"/>
              </a:defRPr>
            </a:pPr>
            <a:r>
              <a:t>순자를 한 문장으로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인간의 본성이 악하다고 진단하면서도,</a:t>
            </a:r>
            <a:br/>
            <a:r>
              <a:t>학문과 수양을 통해 누구나 성인이 될 수 있다고 확신한 사상가.</a:t>
            </a:r>
            <a:br/>
            <a:r>
              <a:t>하늘을 자연 법칙으로, 예를 문명의 근본으로, 이름을 사회적 약정으로 —</a:t>
            </a:r>
            <a:br/>
            <a:r>
              <a:t>합리주의와 제도주의의 선구자.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389120"/>
            <a:ext cx="484632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A0B8D8"/>
                </a:solidFill>
                <a:latin typeface="맑은 고딕"/>
              </a:defRPr>
            </a:pPr>
            <a:r>
              <a:t>「塗之人可以爲禹」 — 길가의 보통 사람도 우 임금이 될 수 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760720"/>
            <a:ext cx="1033272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1279</Words>
  <Application>Microsoft Office PowerPoint</Application>
  <PresentationFormat>와이드스크린</PresentationFormat>
  <Paragraphs>210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 Park</cp:lastModifiedBy>
  <cp:revision>2</cp:revision>
  <dcterms:created xsi:type="dcterms:W3CDTF">2013-01-27T09:14:16Z</dcterms:created>
  <dcterms:modified xsi:type="dcterms:W3CDTF">2026-03-02T07:29:53Z</dcterms:modified>
  <cp:category/>
</cp:coreProperties>
</file>