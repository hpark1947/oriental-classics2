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71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14400" y="1097280"/>
            <a:ext cx="10332720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6760"/>
              </a:lnSpc>
              <a:spcAft>
                <a:spcPts val="0"/>
              </a:spcAft>
              <a:defRPr sz="5200" b="1">
                <a:solidFill>
                  <a:srgbClr val="D4AF37"/>
                </a:solidFill>
                <a:latin typeface="맑은 고딕"/>
              </a:defRPr>
            </a:pPr>
            <a:r>
              <a:t>孟子 (Mencius)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680"/>
              </a:lnSpc>
              <a:spcAft>
                <a:spcPts val="0"/>
              </a:spcAft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맹자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3383280"/>
            <a:ext cx="4846320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860"/>
              </a:lnSpc>
              <a:spcAft>
                <a:spcPts val="0"/>
              </a:spcAft>
              <a:defRPr sz="2200" b="0">
                <a:solidFill>
                  <a:srgbClr val="A0B8D8"/>
                </a:solidFill>
                <a:latin typeface="맑은 고딕"/>
              </a:defRPr>
            </a:pPr>
            <a:r>
              <a:t>저자: 맹가(孟軻), 아성(亞聖)  |  시대: 전국시대 (BC 372~289경)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57200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340"/>
              </a:lnSpc>
              <a:spcAft>
                <a:spcPts val="0"/>
              </a:spcAft>
              <a:defRPr sz="1800" b="0">
                <a:solidFill>
                  <a:srgbClr val="CCCCCC"/>
                </a:solidFill>
                <a:latin typeface="맑은 고딕"/>
              </a:defRPr>
            </a:pPr>
            <a:r>
              <a:t>사서(四書) · 7편 14장 · 성선설과 왕도정치의 체계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5760720"/>
            <a:ext cx="10332720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36576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680"/>
              </a:lnSpc>
              <a:spcAft>
                <a:spcPts val="0"/>
              </a:spcAft>
              <a:defRPr sz="3600" b="1">
                <a:solidFill>
                  <a:srgbClr val="D4AF37"/>
                </a:solidFill>
                <a:latin typeface="맑은 고딕"/>
              </a:defRPr>
            </a:pPr>
            <a:r>
              <a:t>목차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05840"/>
            <a:ext cx="3657600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1371600"/>
            <a:ext cx="91440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spcAft>
                <a:spcPts val="0"/>
              </a:spcAft>
              <a:defRPr sz="2000" b="0">
                <a:solidFill>
                  <a:srgbClr val="FFFFFF"/>
                </a:solidFill>
                <a:latin typeface="맑은 고딕"/>
              </a:defRPr>
            </a:pPr>
            <a:endParaRPr/>
          </a:p>
          <a:p>
            <a:pPr algn="l">
              <a:spcBef>
                <a:spcPts val="400"/>
              </a:spcBef>
              <a:spcAft>
                <a:spcPts val="600"/>
              </a:spcAft>
              <a:defRPr sz="2000" b="0">
                <a:solidFill>
                  <a:srgbClr val="FFFFFF"/>
                </a:solidFill>
                <a:latin typeface="맑은 고딕"/>
              </a:defRPr>
            </a:pPr>
            <a:r>
              <a:t>01   개요 — 맹자란 무엇인가</a:t>
            </a:r>
          </a:p>
          <a:p>
            <a:pPr algn="l">
              <a:spcBef>
                <a:spcPts val="400"/>
              </a:spcBef>
              <a:spcAft>
                <a:spcPts val="600"/>
              </a:spcAft>
              <a:defRPr sz="2000" b="0">
                <a:solidFill>
                  <a:srgbClr val="FFFFFF"/>
                </a:solidFill>
                <a:latin typeface="맑은 고딕"/>
              </a:defRPr>
            </a:pPr>
            <a:r>
              <a:t>02   구성 — 7편 14장의 구조</a:t>
            </a:r>
          </a:p>
          <a:p>
            <a:pPr algn="l">
              <a:spcBef>
                <a:spcPts val="400"/>
              </a:spcBef>
              <a:spcAft>
                <a:spcPts val="600"/>
              </a:spcAft>
              <a:defRPr sz="2000" b="0">
                <a:solidFill>
                  <a:srgbClr val="FFFFFF"/>
                </a:solidFill>
                <a:latin typeface="맑은 고딕"/>
              </a:defRPr>
            </a:pPr>
            <a:r>
              <a:t>03   핵심 사상 ① 성선설과 사단</a:t>
            </a:r>
          </a:p>
          <a:p>
            <a:pPr algn="l">
              <a:spcBef>
                <a:spcPts val="400"/>
              </a:spcBef>
              <a:spcAft>
                <a:spcPts val="600"/>
              </a:spcAft>
              <a:defRPr sz="2000" b="0">
                <a:solidFill>
                  <a:srgbClr val="FFFFFF"/>
                </a:solidFill>
                <a:latin typeface="맑은 고딕"/>
              </a:defRPr>
            </a:pPr>
            <a:r>
              <a:t>04   핵심 사상 ② 왕도정치와 민본</a:t>
            </a:r>
          </a:p>
          <a:p>
            <a:pPr algn="l">
              <a:spcBef>
                <a:spcPts val="400"/>
              </a:spcBef>
              <a:spcAft>
                <a:spcPts val="600"/>
              </a:spcAft>
              <a:defRPr sz="2000" b="0">
                <a:solidFill>
                  <a:srgbClr val="FFFFFF"/>
                </a:solidFill>
                <a:latin typeface="맑은 고딕"/>
              </a:defRPr>
            </a:pPr>
            <a:r>
              <a:t>05   핵심 사상 ③ 호연지기와 수양론</a:t>
            </a:r>
          </a:p>
          <a:p>
            <a:pPr algn="l">
              <a:spcBef>
                <a:spcPts val="400"/>
              </a:spcBef>
              <a:spcAft>
                <a:spcPts val="600"/>
              </a:spcAft>
              <a:defRPr sz="2000" b="0">
                <a:solidFill>
                  <a:srgbClr val="FFFFFF"/>
                </a:solidFill>
                <a:latin typeface="맑은 고딕"/>
              </a:defRPr>
            </a:pPr>
            <a:r>
              <a:t>06   명구절 (상)</a:t>
            </a:r>
          </a:p>
          <a:p>
            <a:pPr algn="l">
              <a:spcBef>
                <a:spcPts val="400"/>
              </a:spcBef>
              <a:spcAft>
                <a:spcPts val="600"/>
              </a:spcAft>
              <a:defRPr sz="2000" b="0">
                <a:solidFill>
                  <a:srgbClr val="FFFFFF"/>
                </a:solidFill>
                <a:latin typeface="맑은 고딕"/>
              </a:defRPr>
            </a:pPr>
            <a:r>
              <a:t>07   명구절 (하)</a:t>
            </a:r>
          </a:p>
          <a:p>
            <a:pPr algn="l">
              <a:spcBef>
                <a:spcPts val="400"/>
              </a:spcBef>
              <a:spcAft>
                <a:spcPts val="600"/>
              </a:spcAft>
              <a:defRPr sz="2000" b="0">
                <a:solidFill>
                  <a:srgbClr val="FFFFFF"/>
                </a:solidFill>
                <a:latin typeface="맑은 고딕"/>
              </a:defRPr>
            </a:pPr>
            <a:r>
              <a:t>08   구조적 특징</a:t>
            </a:r>
          </a:p>
          <a:p>
            <a:pPr algn="l">
              <a:spcBef>
                <a:spcPts val="400"/>
              </a:spcBef>
              <a:spcAft>
                <a:spcPts val="600"/>
              </a:spcAft>
              <a:defRPr sz="2000" b="0">
                <a:solidFill>
                  <a:srgbClr val="FFFFFF"/>
                </a:solidFill>
                <a:latin typeface="맑은 고딕"/>
              </a:defRPr>
            </a:pPr>
            <a:r>
              <a:t>09   현대적 의의</a:t>
            </a:r>
          </a:p>
          <a:p>
            <a:pPr algn="l">
              <a:spcBef>
                <a:spcPts val="400"/>
              </a:spcBef>
              <a:spcAft>
                <a:spcPts val="600"/>
              </a:spcAft>
              <a:defRPr sz="2000" b="0">
                <a:solidFill>
                  <a:srgbClr val="FFFFFF"/>
                </a:solidFill>
                <a:latin typeface="맑은 고딕"/>
              </a:defRPr>
            </a:pPr>
            <a:r>
              <a:t>10   다른 고전과의 비교</a:t>
            </a:r>
          </a:p>
          <a:p>
            <a:pPr algn="l">
              <a:spcBef>
                <a:spcPts val="400"/>
              </a:spcBef>
              <a:spcAft>
                <a:spcPts val="600"/>
              </a:spcAft>
              <a:defRPr sz="2000" b="0">
                <a:solidFill>
                  <a:srgbClr val="FFFFFF"/>
                </a:solidFill>
                <a:latin typeface="맑은 고딕"/>
              </a:defRPr>
            </a:pPr>
            <a:r>
              <a:t>11   마무리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160"/>
              </a:lnSpc>
              <a:spcAft>
                <a:spcPts val="0"/>
              </a:spcAft>
              <a:defRPr sz="3200" b="1">
                <a:solidFill>
                  <a:srgbClr val="D4AF37"/>
                </a:solidFill>
                <a:latin typeface="맑은 고딕"/>
              </a:defRPr>
            </a:pPr>
            <a:r>
              <a:t>맹자란 무엇인가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4572000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32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FFFFFF"/>
                </a:solidFill>
                <a:latin typeface="맑은 고딕"/>
              </a:defRPr>
            </a:pPr>
            <a:endParaRPr/>
          </a:p>
          <a:p>
            <a:pPr algn="l">
              <a:spcBef>
                <a:spcPts val="0"/>
              </a:spcBef>
              <a:spcAft>
                <a:spcPts val="400"/>
              </a:spcAft>
              <a:defRPr sz="2000" b="1">
                <a:solidFill>
                  <a:srgbClr val="FFFFFF"/>
                </a:solidFill>
                <a:latin typeface="맑은 고딕"/>
              </a:defRPr>
            </a:pPr>
            <a:r>
              <a:t>정의: 전국시대 유학자 맹자의 사상과 언행을 담은 유교 경전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• 7편 14장(상·하), 260여 장, 약 35,000여 자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• 논어가 간결한 어록이라면, 맹자는 체계적 논변과 비유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800" b="0">
                <a:solidFill>
                  <a:srgbClr val="FFFFFF"/>
                </a:solidFill>
                <a:latin typeface="맑은 고딕"/>
              </a:defRPr>
            </a:pPr>
            <a:endParaRPr/>
          </a:p>
          <a:p>
            <a:pPr algn="l">
              <a:spcBef>
                <a:spcPts val="0"/>
              </a:spcBef>
              <a:spcAft>
                <a:spcPts val="400"/>
              </a:spcAft>
              <a:defRPr sz="2000" b="1">
                <a:solidFill>
                  <a:srgbClr val="D4AF37"/>
                </a:solidFill>
                <a:latin typeface="맑은 고딕"/>
              </a:defRPr>
            </a:pPr>
            <a:r>
              <a:t>맹자(孟軻, BC 372~289경)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• 추(鄒)나라 출신, 자사(子思)의 문인에게 수학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• 공자→증자→자사→맹자의 도통(道統) 계보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• 맹모삼천지교(孟母三遷之敎) — 교육 환경의 중요성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• 제·위·송·등 여러 나라를 유세하며 왕도정치 설파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• 존칭: 아성(亞聖) — 공자 다음의 성인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800" b="0">
                <a:solidFill>
                  <a:srgbClr val="FFFFFF"/>
                </a:solidFill>
                <a:latin typeface="맑은 고딕"/>
              </a:defRPr>
            </a:pPr>
            <a:endParaRPr/>
          </a:p>
          <a:p>
            <a:pPr algn="l">
              <a:spcBef>
                <a:spcPts val="0"/>
              </a:spcBef>
              <a:spcAft>
                <a:spcPts val="400"/>
              </a:spcAft>
              <a:defRPr sz="2000" b="1">
                <a:solidFill>
                  <a:srgbClr val="D4AF37"/>
                </a:solidFill>
                <a:latin typeface="맑은 고딕"/>
              </a:defRPr>
            </a:pPr>
            <a:r>
              <a:t>편찬 과정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• 자술설: 맹자 본인이 만장·공손추 등과 직접 편찬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• 후한 조기(趙岐)의 주석으로 7편 14장 체제 확정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160"/>
              </a:lnSpc>
              <a:spcAft>
                <a:spcPts val="0"/>
              </a:spcAft>
              <a:defRPr sz="3200" b="1">
                <a:solidFill>
                  <a:srgbClr val="D4AF37"/>
                </a:solidFill>
                <a:latin typeface="맑은 고딕"/>
              </a:defRPr>
            </a:pPr>
            <a:r>
              <a:t>맹자의 구성 — 7편 14장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4572000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280160"/>
          <a:ext cx="105156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029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28650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D4AF37"/>
                          </a:solidFill>
                          <a:latin typeface="맑은 고딕"/>
                        </a:defRPr>
                      </a:pPr>
                      <a:r>
                        <a:t>편</a:t>
                      </a:r>
                    </a:p>
                  </a:txBody>
                  <a:tcPr anchor="ctr">
                    <a:solidFill>
                      <a:srgbClr val="1424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D4AF37"/>
                          </a:solidFill>
                          <a:latin typeface="맑은 고딕"/>
                        </a:defRPr>
                      </a:pPr>
                      <a:r>
                        <a:t>편명</a:t>
                      </a:r>
                    </a:p>
                  </a:txBody>
                  <a:tcPr anchor="ctr">
                    <a:solidFill>
                      <a:srgbClr val="1424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D4AF37"/>
                          </a:solidFill>
                          <a:latin typeface="맑은 고딕"/>
                        </a:defRPr>
                      </a:pPr>
                      <a:r>
                        <a:t>장 수</a:t>
                      </a:r>
                    </a:p>
                  </a:txBody>
                  <a:tcPr anchor="ctr">
                    <a:solidFill>
                      <a:srgbClr val="1424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D4AF37"/>
                          </a:solidFill>
                          <a:latin typeface="맑은 고딕"/>
                        </a:defRPr>
                      </a:pPr>
                      <a:r>
                        <a:t>핵심 주제</a:t>
                      </a:r>
                    </a:p>
                  </a:txBody>
                  <a:tcPr anchor="ctr">
                    <a:solidFill>
                      <a:srgbClr val="1424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1</a:t>
                      </a:r>
                    </a:p>
                  </a:txBody>
                  <a:tcPr anchor="ctr">
                    <a:solidFill>
                      <a:srgbClr val="2A3F6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양혜왕(梁惠王)</a:t>
                      </a:r>
                    </a:p>
                  </a:txBody>
                  <a:tcPr anchor="ctr">
                    <a:solidFill>
                      <a:srgbClr val="2A3F6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상7+하16</a:t>
                      </a:r>
                    </a:p>
                  </a:txBody>
                  <a:tcPr anchor="ctr">
                    <a:solidFill>
                      <a:srgbClr val="2A3F6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왕도정치, 인정, 의리 분별</a:t>
                      </a:r>
                    </a:p>
                  </a:txBody>
                  <a:tcPr anchor="ctr">
                    <a:solidFill>
                      <a:srgbClr val="2A3F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2235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공손추(公孫丑)</a:t>
                      </a:r>
                    </a:p>
                  </a:txBody>
                  <a:tcPr anchor="ctr">
                    <a:solidFill>
                      <a:srgbClr val="2235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상9+하14</a:t>
                      </a:r>
                    </a:p>
                  </a:txBody>
                  <a:tcPr anchor="ctr">
                    <a:solidFill>
                      <a:srgbClr val="2235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호연지기, 사단, 왕패 구분</a:t>
                      </a:r>
                    </a:p>
                  </a:txBody>
                  <a:tcPr anchor="ctr">
                    <a:solidFill>
                      <a:srgbClr val="223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2A3F6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등문공(滕文公)</a:t>
                      </a:r>
                    </a:p>
                  </a:txBody>
                  <a:tcPr anchor="ctr">
                    <a:solidFill>
                      <a:srgbClr val="2A3F6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상5+하10</a:t>
                      </a:r>
                    </a:p>
                  </a:txBody>
                  <a:tcPr anchor="ctr">
                    <a:solidFill>
                      <a:srgbClr val="2A3F6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정전제, 오륜, 이단 비판</a:t>
                      </a:r>
                    </a:p>
                  </a:txBody>
                  <a:tcPr anchor="ctr">
                    <a:solidFill>
                      <a:srgbClr val="2A3F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2235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이루(離婁)</a:t>
                      </a:r>
                    </a:p>
                  </a:txBody>
                  <a:tcPr anchor="ctr">
                    <a:solidFill>
                      <a:srgbClr val="2235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상28+하33</a:t>
                      </a:r>
                    </a:p>
                  </a:txBody>
                  <a:tcPr anchor="ctr">
                    <a:solidFill>
                      <a:srgbClr val="2235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인의 실천, 수신, 군신 관계</a:t>
                      </a:r>
                    </a:p>
                  </a:txBody>
                  <a:tcPr anchor="ctr">
                    <a:solidFill>
                      <a:srgbClr val="223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5</a:t>
                      </a:r>
                    </a:p>
                  </a:txBody>
                  <a:tcPr anchor="ctr">
                    <a:solidFill>
                      <a:srgbClr val="2A3F6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만장(萬章)</a:t>
                      </a:r>
                    </a:p>
                  </a:txBody>
                  <a:tcPr anchor="ctr">
                    <a:solidFill>
                      <a:srgbClr val="2A3F6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상9+하9</a:t>
                      </a:r>
                    </a:p>
                  </a:txBody>
                  <a:tcPr anchor="ctr">
                    <a:solidFill>
                      <a:srgbClr val="2A3F6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성인 행적, 경전 해석</a:t>
                      </a:r>
                    </a:p>
                  </a:txBody>
                  <a:tcPr anchor="ctr">
                    <a:solidFill>
                      <a:srgbClr val="2A3F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6</a:t>
                      </a:r>
                    </a:p>
                  </a:txBody>
                  <a:tcPr anchor="ctr">
                    <a:solidFill>
                      <a:srgbClr val="2235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고자(告子)</a:t>
                      </a:r>
                    </a:p>
                  </a:txBody>
                  <a:tcPr anchor="ctr">
                    <a:solidFill>
                      <a:srgbClr val="2235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상20+하16</a:t>
                      </a:r>
                    </a:p>
                  </a:txBody>
                  <a:tcPr anchor="ctr">
                    <a:solidFill>
                      <a:srgbClr val="2235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성선설 논변, 의(義)의 내재성</a:t>
                      </a:r>
                    </a:p>
                  </a:txBody>
                  <a:tcPr anchor="ctr">
                    <a:solidFill>
                      <a:srgbClr val="223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7</a:t>
                      </a:r>
                    </a:p>
                  </a:txBody>
                  <a:tcPr anchor="ctr">
                    <a:solidFill>
                      <a:srgbClr val="2A3F6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진심(盡心)</a:t>
                      </a:r>
                    </a:p>
                  </a:txBody>
                  <a:tcPr anchor="ctr">
                    <a:solidFill>
                      <a:srgbClr val="2A3F6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상46+하38</a:t>
                      </a:r>
                    </a:p>
                  </a:txBody>
                  <a:tcPr anchor="ctr">
                    <a:solidFill>
                      <a:srgbClr val="2A3F6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수양론 총결, 사상의 집대성</a:t>
                      </a:r>
                    </a:p>
                  </a:txBody>
                  <a:tcPr anchor="ctr">
                    <a:solidFill>
                      <a:srgbClr val="2A3F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160"/>
              </a:lnSpc>
              <a:spcAft>
                <a:spcPts val="0"/>
              </a:spcAft>
              <a:defRPr sz="3200" b="1">
                <a:solidFill>
                  <a:srgbClr val="D4AF37"/>
                </a:solidFill>
                <a:latin typeface="맑은 고딕"/>
              </a:defRPr>
            </a:pPr>
            <a:r>
              <a:t>핵심 사상 ① — 성선설(性善說)과 사단(四端)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4572000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32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FFFFFF"/>
                </a:solidFill>
                <a:latin typeface="맑은 고딕"/>
              </a:defRPr>
            </a:pPr>
            <a:endParaRPr/>
          </a:p>
          <a:p>
            <a:pPr algn="l">
              <a:spcBef>
                <a:spcPts val="0"/>
              </a:spcBef>
              <a:spcAft>
                <a:spcPts val="400"/>
              </a:spcAft>
              <a:defRPr sz="1700" b="1">
                <a:solidFill>
                  <a:srgbClr val="D4AF37"/>
                </a:solidFill>
                <a:latin typeface="맑은 고딕"/>
              </a:defRPr>
            </a:pPr>
            <a:r>
              <a:t>人性之善也 猶水之就下也 — 인간 본성이 선한 것은 물이 아래로 흐르는 것과 같다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600" b="0">
                <a:solidFill>
                  <a:srgbClr val="FFFFFF"/>
                </a:solidFill>
                <a:latin typeface="맑은 고딕"/>
              </a:defRPr>
            </a:pPr>
            <a:endParaRPr/>
          </a:p>
          <a:p>
            <a:pPr algn="l">
              <a:spcBef>
                <a:spcPts val="0"/>
              </a:spcBef>
              <a:spcAft>
                <a:spcPts val="400"/>
              </a:spcAft>
              <a:defRPr sz="2000" b="1">
                <a:solidFill>
                  <a:srgbClr val="D4AF37"/>
                </a:solidFill>
                <a:latin typeface="맑은 고딕"/>
              </a:defRPr>
            </a:pPr>
            <a:r>
              <a:t>성선설 — 인간 본성은 선하다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700" b="0">
                <a:solidFill>
                  <a:srgbClr val="FFFFFF"/>
                </a:solidFill>
                <a:latin typeface="맑은 고딕"/>
              </a:defRPr>
            </a:pPr>
            <a:r>
              <a:t>  • 악(惡)은 본성이 아니라 환경의 영향이나 본성을 기르지 못한 결과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700" b="0">
                <a:solidFill>
                  <a:srgbClr val="FFFFFF"/>
                </a:solidFill>
                <a:latin typeface="맑은 고딕"/>
              </a:defRPr>
            </a:pPr>
            <a:r>
              <a:t>  • 수양의 목표: 잃어버린 본성을 되찾는 것 (구방심, 求放心)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600" b="0">
                <a:solidFill>
                  <a:srgbClr val="FFFFFF"/>
                </a:solidFill>
                <a:latin typeface="맑은 고딕"/>
              </a:defRPr>
            </a:pPr>
            <a:endParaRPr/>
          </a:p>
          <a:p>
            <a:pPr algn="l">
              <a:spcBef>
                <a:spcPts val="0"/>
              </a:spcBef>
              <a:spcAft>
                <a:spcPts val="400"/>
              </a:spcAft>
              <a:defRPr sz="2000" b="1">
                <a:solidFill>
                  <a:srgbClr val="D4AF37"/>
                </a:solidFill>
                <a:latin typeface="맑은 고딕"/>
              </a:defRPr>
            </a:pPr>
            <a:r>
              <a:t>사단(四端) — 선한 본성의 네 가지 싹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700" b="0">
                <a:solidFill>
                  <a:srgbClr val="FFFFFF"/>
                </a:solidFill>
                <a:latin typeface="맑은 고딕"/>
              </a:defRPr>
            </a:pPr>
            <a:r>
              <a:t>  • 측은지심(惻隱之心) → 인(仁): 남의 고통을 차마 보지 못하는 마음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700" b="0">
                <a:solidFill>
                  <a:srgbClr val="FFFFFF"/>
                </a:solidFill>
                <a:latin typeface="맑은 고딕"/>
              </a:defRPr>
            </a:pPr>
            <a:r>
              <a:t>  • 수오지심(羞惡之心) → 의(義): 부끄러워하고 미워하는 마음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700" b="0">
                <a:solidFill>
                  <a:srgbClr val="FFFFFF"/>
                </a:solidFill>
                <a:latin typeface="맑은 고딕"/>
              </a:defRPr>
            </a:pPr>
            <a:r>
              <a:t>  • 사양지심(辭讓之心) → 예(禮): 남에게 양보하는 마음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700" b="0">
                <a:solidFill>
                  <a:srgbClr val="FFFFFF"/>
                </a:solidFill>
                <a:latin typeface="맑은 고딕"/>
              </a:defRPr>
            </a:pPr>
            <a:r>
              <a:t>  • 시비지심(是非之心) → 지(智): 옳고 그름을 가리는 마음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600" b="0">
                <a:solidFill>
                  <a:srgbClr val="FFFFFF"/>
                </a:solidFill>
                <a:latin typeface="맑은 고딕"/>
              </a:defRPr>
            </a:pPr>
            <a:endParaRPr/>
          </a:p>
          <a:p>
            <a:pPr algn="l">
              <a:spcBef>
                <a:spcPts val="0"/>
              </a:spcBef>
              <a:spcAft>
                <a:spcPts val="400"/>
              </a:spcAft>
              <a:defRPr sz="1700" b="0">
                <a:solidFill>
                  <a:srgbClr val="CCCCCC"/>
                </a:solidFill>
                <a:latin typeface="맑은 고딕"/>
              </a:defRPr>
            </a:pPr>
            <a:r>
              <a:t>  '우물에 빠지려는 아이(孺子入井)' — 누구나 측은지심을 느낌 → 성선의 증거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700" b="0">
                <a:solidFill>
                  <a:srgbClr val="CCCCCC"/>
                </a:solidFill>
                <a:latin typeface="맑은 고딕"/>
              </a:defRPr>
            </a:pPr>
            <a:r>
              <a:t>  사단은 완성된 덕이 아니라 싹(端) → 기르고 확충해야(擴充) 완전한 덕이 됨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160"/>
              </a:lnSpc>
              <a:spcAft>
                <a:spcPts val="0"/>
              </a:spcAft>
              <a:defRPr sz="3200" b="1">
                <a:solidFill>
                  <a:srgbClr val="D4AF37"/>
                </a:solidFill>
                <a:latin typeface="맑은 고딕"/>
              </a:defRPr>
            </a:pPr>
            <a:r>
              <a:t>핵심 사상 ② — 왕도정치와 민본사상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4572000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32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FFFFFF"/>
                </a:solidFill>
                <a:latin typeface="맑은 고딕"/>
              </a:defRPr>
            </a:pPr>
            <a:endParaRPr/>
          </a:p>
          <a:p>
            <a:pPr algn="l">
              <a:spcBef>
                <a:spcPts val="0"/>
              </a:spcBef>
              <a:spcAft>
                <a:spcPts val="400"/>
              </a:spcAft>
              <a:defRPr sz="2000" b="1">
                <a:solidFill>
                  <a:srgbClr val="D4AF37"/>
                </a:solidFill>
                <a:latin typeface="맑은 고딕"/>
              </a:defRPr>
            </a:pPr>
            <a:r>
              <a:t>왕도정치(王道政治) — 덕으로 다스리는 이상 정치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700" b="0">
                <a:solidFill>
                  <a:srgbClr val="FFFFFF"/>
                </a:solidFill>
                <a:latin typeface="맑은 고딕"/>
              </a:defRPr>
            </a:pPr>
            <a:r>
              <a:t>  • 왕도(덕·인) vs 패도(힘·이익): 진심 복종 vs 겉으로만 복종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700" b="0">
                <a:solidFill>
                  <a:srgbClr val="FFFFFF"/>
                </a:solidFill>
                <a:latin typeface="맑은 고딕"/>
              </a:defRPr>
            </a:pPr>
            <a:r>
              <a:t>  • 항산항심(恒産恒心): 안정된 생업이 있어야 안정된 마음이 있다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700" b="0">
                <a:solidFill>
                  <a:srgbClr val="FFFFFF"/>
                </a:solidFill>
                <a:latin typeface="맑은 고딕"/>
              </a:defRPr>
            </a:pPr>
            <a:r>
              <a:t>  • 정전제(井田制), 세금 경감, 교육 진흥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800" b="0">
                <a:solidFill>
                  <a:srgbClr val="FFFFFF"/>
                </a:solidFill>
                <a:latin typeface="맑은 고딕"/>
              </a:defRPr>
            </a:pPr>
            <a:endParaRPr/>
          </a:p>
          <a:p>
            <a:pPr algn="l">
              <a:spcBef>
                <a:spcPts val="0"/>
              </a:spcBef>
              <a:spcAft>
                <a:spcPts val="400"/>
              </a:spcAft>
              <a:defRPr sz="2000" b="1">
                <a:solidFill>
                  <a:srgbClr val="D4AF37"/>
                </a:solidFill>
                <a:latin typeface="맑은 고딕"/>
              </a:defRPr>
            </a:pPr>
            <a:r>
              <a:t>민본사상(民本思想) — 백성이 근본이다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700" b="0">
                <a:solidFill>
                  <a:srgbClr val="FFFFFF"/>
                </a:solidFill>
                <a:latin typeface="맑은 고딕"/>
              </a:defRPr>
            </a:pPr>
            <a:r>
              <a:t>  • 民爲貴 社稷次之 君爲輕 — 백성이 가장 귀하다 (진심 하)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700" b="0">
                <a:solidFill>
                  <a:srgbClr val="FFFFFF"/>
                </a:solidFill>
                <a:latin typeface="맑은 고딕"/>
              </a:defRPr>
            </a:pPr>
            <a:r>
              <a:t>  • 군주는 백성을 위해 존재 / 백성이 군주를 위해 존재하는 것이 아님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800" b="0">
                <a:solidFill>
                  <a:srgbClr val="FFFFFF"/>
                </a:solidFill>
                <a:latin typeface="맑은 고딕"/>
              </a:defRPr>
            </a:pPr>
            <a:endParaRPr/>
          </a:p>
          <a:p>
            <a:pPr algn="l">
              <a:spcBef>
                <a:spcPts val="0"/>
              </a:spcBef>
              <a:spcAft>
                <a:spcPts val="400"/>
              </a:spcAft>
              <a:defRPr sz="2000" b="1">
                <a:solidFill>
                  <a:srgbClr val="D4AF37"/>
                </a:solidFill>
                <a:latin typeface="맑은 고딕"/>
              </a:defRPr>
            </a:pPr>
            <a:r>
              <a:t>역성혁명(易姓革命)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700" b="0">
                <a:solidFill>
                  <a:srgbClr val="FFFFFF"/>
                </a:solidFill>
                <a:latin typeface="맑은 고딕"/>
              </a:defRPr>
            </a:pPr>
            <a:r>
              <a:t>  • 덕을 잃은 폭군은 더 이상 군주가 아닌 일부(一夫)에 불과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700" b="0">
                <a:solidFill>
                  <a:srgbClr val="FFFFFF"/>
                </a:solidFill>
                <a:latin typeface="맑은 고딕"/>
              </a:defRPr>
            </a:pPr>
            <a:r>
              <a:t>  • '聞誅一夫紂矣 未聞弑君也' — 필부 주를 죽였다 들었지 임금을 시해했다 듣지 못했다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800" b="0">
                <a:solidFill>
                  <a:srgbClr val="FFFFFF"/>
                </a:solidFill>
                <a:latin typeface="맑은 고딕"/>
              </a:defRPr>
            </a:pPr>
            <a:endParaRPr/>
          </a:p>
          <a:p>
            <a:pPr algn="l">
              <a:spcBef>
                <a:spcPts val="0"/>
              </a:spcBef>
              <a:spcAft>
                <a:spcPts val="400"/>
              </a:spcAft>
              <a:defRPr sz="2000" b="1">
                <a:solidFill>
                  <a:srgbClr val="D4AF37"/>
                </a:solidFill>
                <a:latin typeface="맑은 고딕"/>
              </a:defRPr>
            </a:pPr>
            <a:r>
              <a:t>의리론(義利論)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700" b="0">
                <a:solidFill>
                  <a:srgbClr val="FFFFFF"/>
                </a:solidFill>
                <a:latin typeface="맑은 고딕"/>
              </a:defRPr>
            </a:pPr>
            <a:r>
              <a:t>  • 王何必曰利 亦有仁義而已矣 — 하필 이익을 말씀하십니까? (양혜왕 상 1장)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160"/>
              </a:lnSpc>
              <a:spcAft>
                <a:spcPts val="0"/>
              </a:spcAft>
              <a:defRPr sz="3200" b="1">
                <a:solidFill>
                  <a:srgbClr val="D4AF37"/>
                </a:solidFill>
                <a:latin typeface="맑은 고딕"/>
              </a:defRPr>
            </a:pPr>
            <a:r>
              <a:t>핵심 사상 ③ — 호연지기와 수양론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4572000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32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FFFFFF"/>
                </a:solidFill>
                <a:latin typeface="맑은 고딕"/>
              </a:defRPr>
            </a:pPr>
            <a:endParaRPr/>
          </a:p>
          <a:p>
            <a:pPr algn="l">
              <a:spcBef>
                <a:spcPts val="0"/>
              </a:spcBef>
              <a:spcAft>
                <a:spcPts val="400"/>
              </a:spcAft>
              <a:defRPr sz="2000" b="1">
                <a:solidFill>
                  <a:srgbClr val="D4AF37"/>
                </a:solidFill>
                <a:latin typeface="맑은 고딕"/>
              </a:defRPr>
            </a:pPr>
            <a:r>
              <a:t>호연지기(浩然之氣) — 도덕적 용기의 원천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700" b="0">
                <a:solidFill>
                  <a:srgbClr val="CCCCCC"/>
                </a:solidFill>
                <a:latin typeface="맑은 고딕"/>
              </a:defRPr>
            </a:pPr>
            <a:r>
              <a:t>  其爲氣也 至大至剛 以直養而無害 則塞于天地之間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700" b="0">
                <a:solidFill>
                  <a:srgbClr val="FFFFFF"/>
                </a:solidFill>
                <a:latin typeface="맑은 고딕"/>
              </a:defRPr>
            </a:pPr>
            <a:r>
              <a:t>  → 그 기운은 지극히 크고 강하니, 정직함으로 기르면 천지 사이에 가득 찬다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700" b="0">
                <a:solidFill>
                  <a:srgbClr val="FFFFFF"/>
                </a:solidFill>
                <a:latin typeface="맑은 고딕"/>
              </a:defRPr>
            </a:pPr>
            <a:r>
              <a:t>  • 도덕적 실천이 쌓여 생기는 정신적 에너지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700" b="0">
                <a:solidFill>
                  <a:srgbClr val="FFFFFF"/>
                </a:solidFill>
                <a:latin typeface="맑은 고딕"/>
              </a:defRPr>
            </a:pPr>
            <a:r>
              <a:t>  • 억지로 조장하면 안 됨 — 조장(助長) 우화의 교훈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800" b="0">
                <a:solidFill>
                  <a:srgbClr val="FFFFFF"/>
                </a:solidFill>
                <a:latin typeface="맑은 고딕"/>
              </a:defRPr>
            </a:pPr>
            <a:endParaRPr/>
          </a:p>
          <a:p>
            <a:pPr algn="l">
              <a:spcBef>
                <a:spcPts val="0"/>
              </a:spcBef>
              <a:spcAft>
                <a:spcPts val="400"/>
              </a:spcAft>
              <a:defRPr sz="2000" b="1">
                <a:solidFill>
                  <a:srgbClr val="D4AF37"/>
                </a:solidFill>
                <a:latin typeface="맑은 고딕"/>
              </a:defRPr>
            </a:pPr>
            <a:r>
              <a:t>수양의 단계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700" b="0">
                <a:solidFill>
                  <a:srgbClr val="FFFFFF"/>
                </a:solidFill>
                <a:latin typeface="맑은 고딕"/>
              </a:defRPr>
            </a:pPr>
            <a:r>
              <a:t>  1. 구방심(求放心) — 잃어버린 마음 되찾기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700" b="0">
                <a:solidFill>
                  <a:srgbClr val="FFFFFF"/>
                </a:solidFill>
                <a:latin typeface="맑은 고딕"/>
              </a:defRPr>
            </a:pPr>
            <a:r>
              <a:t>  2. 존심양성(存心養性) — 마음 보존, 본성 기르기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700" b="0">
                <a:solidFill>
                  <a:srgbClr val="FFFFFF"/>
                </a:solidFill>
                <a:latin typeface="맑은 고딕"/>
              </a:defRPr>
            </a:pPr>
            <a:r>
              <a:t>  3. 과욕(寡欲) — 욕심 줄여 본성 드러내기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700" b="0">
                <a:solidFill>
                  <a:srgbClr val="FFFFFF"/>
                </a:solidFill>
                <a:latin typeface="맑은 고딕"/>
              </a:defRPr>
            </a:pPr>
            <a:r>
              <a:t>  4. 양기(養氣) — 호연지기 기르기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700" b="0">
                <a:solidFill>
                  <a:srgbClr val="FFFFFF"/>
                </a:solidFill>
                <a:latin typeface="맑은 고딕"/>
              </a:defRPr>
            </a:pPr>
            <a:r>
              <a:t>  5. 진심지성(盡心知性) — 마음 다하여 하늘을 아는 경지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800" b="0">
                <a:solidFill>
                  <a:srgbClr val="FFFFFF"/>
                </a:solidFill>
                <a:latin typeface="맑은 고딕"/>
              </a:defRPr>
            </a:pPr>
            <a:endParaRPr/>
          </a:p>
          <a:p>
            <a:pPr algn="l">
              <a:spcBef>
                <a:spcPts val="0"/>
              </a:spcBef>
              <a:spcAft>
                <a:spcPts val="400"/>
              </a:spcAft>
              <a:defRPr sz="1700" b="0">
                <a:solidFill>
                  <a:srgbClr val="D4AF37"/>
                </a:solidFill>
                <a:latin typeface="맑은 고딕"/>
              </a:defRPr>
            </a:pPr>
            <a:r>
              <a:t>  盡其心者 知其性也 知其性 則知天矣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700" b="0">
                <a:solidFill>
                  <a:srgbClr val="FFFFFF"/>
                </a:solidFill>
                <a:latin typeface="맑은 고딕"/>
              </a:defRPr>
            </a:pPr>
            <a:r>
              <a:t>  → 마음을 다하면 본성을 알고, 본성을 알면 하늘을 안다 (진심 상 1장)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160"/>
              </a:lnSpc>
              <a:spcAft>
                <a:spcPts val="0"/>
              </a:spcAft>
              <a:defRPr sz="3200" b="1">
                <a:solidFill>
                  <a:srgbClr val="D4AF37"/>
                </a:solidFill>
                <a:latin typeface="맑은 고딕"/>
              </a:defRPr>
            </a:pPr>
            <a:r>
              <a:t>명구절 (상)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4572000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994856"/>
            <a:ext cx="10332720" cy="5863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400"/>
              </a:spcAft>
              <a:defRPr sz="1700" b="1">
                <a:solidFill>
                  <a:srgbClr val="D4AF37"/>
                </a:solidFill>
                <a:latin typeface="맑은 고딕"/>
              </a:defRPr>
            </a:pPr>
            <a:r>
              <a:rPr dirty="0" err="1"/>
              <a:t>王何必曰利</a:t>
            </a:r>
            <a:r>
              <a:rPr dirty="0"/>
              <a:t> </a:t>
            </a:r>
            <a:r>
              <a:rPr dirty="0" err="1"/>
              <a:t>亦有仁義而已矣</a:t>
            </a:r>
            <a:endParaRPr dirty="0"/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CCCCCC"/>
                </a:solidFill>
                <a:latin typeface="맑은 고딕"/>
              </a:defRPr>
            </a:pPr>
            <a:r>
              <a:rPr dirty="0" err="1"/>
              <a:t>왕하필왈리</a:t>
            </a:r>
            <a:r>
              <a:rPr dirty="0"/>
              <a:t> </a:t>
            </a:r>
            <a:r>
              <a:rPr dirty="0" err="1"/>
              <a:t>역유인의이이의</a:t>
            </a:r>
            <a:endParaRPr dirty="0"/>
          </a:p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FFFFFF"/>
                </a:solidFill>
                <a:latin typeface="맑은 고딕"/>
              </a:defRPr>
            </a:pPr>
            <a:r>
              <a:rPr dirty="0"/>
              <a:t>→ </a:t>
            </a:r>
            <a:r>
              <a:rPr dirty="0" err="1"/>
              <a:t>왕께서</a:t>
            </a:r>
            <a:r>
              <a:rPr dirty="0"/>
              <a:t> </a:t>
            </a:r>
            <a:r>
              <a:rPr dirty="0" err="1"/>
              <a:t>하필</a:t>
            </a:r>
            <a:r>
              <a:rPr dirty="0"/>
              <a:t> </a:t>
            </a:r>
            <a:r>
              <a:rPr dirty="0" err="1"/>
              <a:t>이익을</a:t>
            </a:r>
            <a:r>
              <a:rPr dirty="0"/>
              <a:t> </a:t>
            </a:r>
            <a:r>
              <a:rPr dirty="0" err="1"/>
              <a:t>말씀하십니까</a:t>
            </a:r>
            <a:r>
              <a:rPr dirty="0"/>
              <a:t>? </a:t>
            </a:r>
            <a:r>
              <a:rPr dirty="0" err="1"/>
              <a:t>오직</a:t>
            </a:r>
            <a:r>
              <a:rPr dirty="0"/>
              <a:t> </a:t>
            </a:r>
            <a:r>
              <a:rPr dirty="0" err="1"/>
              <a:t>인의가</a:t>
            </a:r>
            <a:r>
              <a:rPr dirty="0"/>
              <a:t> </a:t>
            </a:r>
            <a:r>
              <a:rPr dirty="0" err="1"/>
              <a:t>있을</a:t>
            </a:r>
            <a:r>
              <a:rPr dirty="0"/>
              <a:t> </a:t>
            </a:r>
            <a:r>
              <a:rPr dirty="0" err="1"/>
              <a:t>뿐입니다</a:t>
            </a:r>
            <a:endParaRPr dirty="0"/>
          </a:p>
          <a:p>
            <a:pPr algn="l">
              <a:spcBef>
                <a:spcPts val="0"/>
              </a:spcBef>
              <a:spcAft>
                <a:spcPts val="600"/>
              </a:spcAft>
              <a:defRPr sz="1300" b="0">
                <a:solidFill>
                  <a:srgbClr val="A0B8D8"/>
                </a:solidFill>
                <a:latin typeface="맑은 고딕"/>
              </a:defRPr>
            </a:pPr>
            <a:r>
              <a:rPr dirty="0"/>
              <a:t>  — </a:t>
            </a:r>
            <a:r>
              <a:rPr dirty="0" err="1"/>
              <a:t>양혜왕</a:t>
            </a:r>
            <a:r>
              <a:rPr dirty="0"/>
              <a:t> 상 1장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700" b="1">
                <a:solidFill>
                  <a:srgbClr val="D4AF37"/>
                </a:solidFill>
                <a:latin typeface="맑은 고딕"/>
              </a:defRPr>
            </a:pPr>
            <a:r>
              <a:rPr dirty="0" err="1"/>
              <a:t>惻隱之心</a:t>
            </a:r>
            <a:r>
              <a:rPr dirty="0"/>
              <a:t> </a:t>
            </a:r>
            <a:r>
              <a:rPr dirty="0" err="1"/>
              <a:t>仁之端也</a:t>
            </a:r>
            <a:endParaRPr dirty="0"/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CCCCCC"/>
                </a:solidFill>
                <a:latin typeface="맑은 고딕"/>
              </a:defRPr>
            </a:pPr>
            <a:r>
              <a:rPr dirty="0" err="1"/>
              <a:t>측은지심</a:t>
            </a:r>
            <a:r>
              <a:rPr dirty="0"/>
              <a:t> </a:t>
            </a:r>
            <a:r>
              <a:rPr dirty="0" err="1"/>
              <a:t>인지단야</a:t>
            </a:r>
            <a:endParaRPr dirty="0"/>
          </a:p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FFFFFF"/>
                </a:solidFill>
                <a:latin typeface="맑은 고딕"/>
              </a:defRPr>
            </a:pPr>
            <a:r>
              <a:rPr dirty="0"/>
              <a:t>→ </a:t>
            </a:r>
            <a:r>
              <a:rPr dirty="0" err="1"/>
              <a:t>측은히</a:t>
            </a:r>
            <a:r>
              <a:rPr dirty="0"/>
              <a:t> </a:t>
            </a:r>
            <a:r>
              <a:rPr dirty="0" err="1"/>
              <a:t>여기는</a:t>
            </a:r>
            <a:r>
              <a:rPr dirty="0"/>
              <a:t> </a:t>
            </a:r>
            <a:r>
              <a:rPr dirty="0" err="1"/>
              <a:t>마음은</a:t>
            </a:r>
            <a:r>
              <a:rPr dirty="0"/>
              <a:t> 인(仁)의 </a:t>
            </a:r>
            <a:r>
              <a:rPr dirty="0" err="1"/>
              <a:t>싹이다</a:t>
            </a:r>
            <a:endParaRPr dirty="0"/>
          </a:p>
          <a:p>
            <a:pPr algn="l">
              <a:spcBef>
                <a:spcPts val="0"/>
              </a:spcBef>
              <a:spcAft>
                <a:spcPts val="600"/>
              </a:spcAft>
              <a:defRPr sz="1300" b="0">
                <a:solidFill>
                  <a:srgbClr val="A0B8D8"/>
                </a:solidFill>
                <a:latin typeface="맑은 고딕"/>
              </a:defRPr>
            </a:pPr>
            <a:r>
              <a:rPr dirty="0"/>
              <a:t>  — </a:t>
            </a:r>
            <a:r>
              <a:rPr dirty="0" err="1"/>
              <a:t>공손추</a:t>
            </a:r>
            <a:r>
              <a:rPr dirty="0"/>
              <a:t> 상 6장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700" b="1">
                <a:solidFill>
                  <a:srgbClr val="D4AF37"/>
                </a:solidFill>
                <a:latin typeface="맑은 고딕"/>
              </a:defRPr>
            </a:pPr>
            <a:r>
              <a:rPr dirty="0" err="1"/>
              <a:t>天時不如地利</a:t>
            </a:r>
            <a:r>
              <a:rPr dirty="0"/>
              <a:t> </a:t>
            </a:r>
            <a:r>
              <a:rPr dirty="0" err="1"/>
              <a:t>地利不如人和</a:t>
            </a:r>
            <a:endParaRPr dirty="0"/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CCCCCC"/>
                </a:solidFill>
                <a:latin typeface="맑은 고딕"/>
              </a:defRPr>
            </a:pPr>
            <a:r>
              <a:rPr dirty="0" err="1"/>
              <a:t>천시불여지리</a:t>
            </a:r>
            <a:r>
              <a:rPr dirty="0"/>
              <a:t> </a:t>
            </a:r>
            <a:r>
              <a:rPr dirty="0" err="1"/>
              <a:t>지리불여인화</a:t>
            </a:r>
            <a:endParaRPr dirty="0"/>
          </a:p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FFFFFF"/>
                </a:solidFill>
                <a:latin typeface="맑은 고딕"/>
              </a:defRPr>
            </a:pPr>
            <a:r>
              <a:rPr dirty="0"/>
              <a:t>→ </a:t>
            </a:r>
            <a:r>
              <a:rPr dirty="0" err="1"/>
              <a:t>하늘의</a:t>
            </a:r>
            <a:r>
              <a:rPr dirty="0"/>
              <a:t> </a:t>
            </a:r>
            <a:r>
              <a:rPr dirty="0" err="1"/>
              <a:t>때보다</a:t>
            </a:r>
            <a:r>
              <a:rPr dirty="0"/>
              <a:t> </a:t>
            </a:r>
            <a:r>
              <a:rPr dirty="0" err="1"/>
              <a:t>땅의</a:t>
            </a:r>
            <a:r>
              <a:rPr dirty="0"/>
              <a:t> </a:t>
            </a:r>
            <a:r>
              <a:rPr dirty="0" err="1"/>
              <a:t>이로움</a:t>
            </a:r>
            <a:r>
              <a:rPr dirty="0"/>
              <a:t>, </a:t>
            </a:r>
            <a:r>
              <a:rPr dirty="0" err="1"/>
              <a:t>땅보다</a:t>
            </a:r>
            <a:r>
              <a:rPr dirty="0"/>
              <a:t> </a:t>
            </a:r>
            <a:r>
              <a:rPr dirty="0" err="1"/>
              <a:t>사람의</a:t>
            </a:r>
            <a:r>
              <a:rPr dirty="0"/>
              <a:t> </a:t>
            </a:r>
            <a:r>
              <a:rPr dirty="0" err="1"/>
              <a:t>화합이</a:t>
            </a:r>
            <a:r>
              <a:rPr dirty="0"/>
              <a:t> </a:t>
            </a:r>
            <a:r>
              <a:rPr dirty="0" err="1"/>
              <a:t>중요하다</a:t>
            </a:r>
            <a:endParaRPr dirty="0"/>
          </a:p>
          <a:p>
            <a:pPr algn="l">
              <a:spcBef>
                <a:spcPts val="0"/>
              </a:spcBef>
              <a:spcAft>
                <a:spcPts val="600"/>
              </a:spcAft>
              <a:defRPr sz="1300" b="0">
                <a:solidFill>
                  <a:srgbClr val="A0B8D8"/>
                </a:solidFill>
                <a:latin typeface="맑은 고딕"/>
              </a:defRPr>
            </a:pPr>
            <a:r>
              <a:rPr dirty="0"/>
              <a:t>  — </a:t>
            </a:r>
            <a:r>
              <a:rPr dirty="0" err="1"/>
              <a:t>공손추</a:t>
            </a:r>
            <a:r>
              <a:rPr dirty="0"/>
              <a:t> 하 1장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700" b="1">
                <a:solidFill>
                  <a:srgbClr val="D4AF37"/>
                </a:solidFill>
                <a:latin typeface="맑은 고딕"/>
              </a:defRPr>
            </a:pPr>
            <a:r>
              <a:rPr dirty="0" err="1"/>
              <a:t>民爲貴</a:t>
            </a:r>
            <a:r>
              <a:rPr dirty="0"/>
              <a:t> </a:t>
            </a:r>
            <a:r>
              <a:rPr dirty="0" err="1"/>
              <a:t>社稷次之</a:t>
            </a:r>
            <a:r>
              <a:rPr dirty="0"/>
              <a:t> </a:t>
            </a:r>
            <a:r>
              <a:rPr dirty="0" err="1"/>
              <a:t>君爲輕</a:t>
            </a:r>
            <a:endParaRPr dirty="0"/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CCCCCC"/>
                </a:solidFill>
                <a:latin typeface="맑은 고딕"/>
              </a:defRPr>
            </a:pPr>
            <a:r>
              <a:rPr dirty="0" err="1"/>
              <a:t>민위귀</a:t>
            </a:r>
            <a:r>
              <a:rPr dirty="0"/>
              <a:t> </a:t>
            </a:r>
            <a:r>
              <a:rPr dirty="0" err="1"/>
              <a:t>사직차지</a:t>
            </a:r>
            <a:r>
              <a:rPr dirty="0"/>
              <a:t> </a:t>
            </a:r>
            <a:r>
              <a:rPr dirty="0" err="1"/>
              <a:t>군위경</a:t>
            </a:r>
            <a:endParaRPr dirty="0"/>
          </a:p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FFFFFF"/>
                </a:solidFill>
                <a:latin typeface="맑은 고딕"/>
              </a:defRPr>
            </a:pPr>
            <a:r>
              <a:rPr dirty="0"/>
              <a:t>→ </a:t>
            </a:r>
            <a:r>
              <a:rPr dirty="0" err="1"/>
              <a:t>백성이</a:t>
            </a:r>
            <a:r>
              <a:rPr dirty="0"/>
              <a:t> </a:t>
            </a:r>
            <a:r>
              <a:rPr dirty="0" err="1"/>
              <a:t>가장</a:t>
            </a:r>
            <a:r>
              <a:rPr dirty="0"/>
              <a:t> </a:t>
            </a:r>
            <a:r>
              <a:rPr dirty="0" err="1"/>
              <a:t>귀하고</a:t>
            </a:r>
            <a:r>
              <a:rPr dirty="0"/>
              <a:t>, </a:t>
            </a:r>
            <a:r>
              <a:rPr dirty="0" err="1"/>
              <a:t>사직이</a:t>
            </a:r>
            <a:r>
              <a:rPr dirty="0"/>
              <a:t> </a:t>
            </a:r>
            <a:r>
              <a:rPr dirty="0" err="1"/>
              <a:t>다음이며</a:t>
            </a:r>
            <a:r>
              <a:rPr dirty="0"/>
              <a:t>, </a:t>
            </a:r>
            <a:r>
              <a:rPr dirty="0" err="1"/>
              <a:t>임금이</a:t>
            </a:r>
            <a:r>
              <a:rPr dirty="0"/>
              <a:t> </a:t>
            </a:r>
            <a:r>
              <a:rPr dirty="0" err="1"/>
              <a:t>가장</a:t>
            </a:r>
            <a:r>
              <a:rPr dirty="0"/>
              <a:t> </a:t>
            </a:r>
            <a:r>
              <a:rPr dirty="0" err="1"/>
              <a:t>가볍다</a:t>
            </a:r>
            <a:endParaRPr dirty="0"/>
          </a:p>
          <a:p>
            <a:pPr algn="l">
              <a:spcBef>
                <a:spcPts val="0"/>
              </a:spcBef>
              <a:spcAft>
                <a:spcPts val="600"/>
              </a:spcAft>
              <a:defRPr sz="1300" b="0">
                <a:solidFill>
                  <a:srgbClr val="A0B8D8"/>
                </a:solidFill>
                <a:latin typeface="맑은 고딕"/>
              </a:defRPr>
            </a:pPr>
            <a:r>
              <a:rPr dirty="0"/>
              <a:t>  — </a:t>
            </a:r>
            <a:r>
              <a:rPr dirty="0" err="1"/>
              <a:t>진심</a:t>
            </a:r>
            <a:r>
              <a:rPr dirty="0"/>
              <a:t> 하 14장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700" b="1">
                <a:solidFill>
                  <a:srgbClr val="D4AF37"/>
                </a:solidFill>
                <a:latin typeface="맑은 고딕"/>
              </a:defRPr>
            </a:pPr>
            <a:r>
              <a:rPr dirty="0" err="1"/>
              <a:t>五十步百步</a:t>
            </a:r>
            <a:endParaRPr dirty="0"/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CCCCCC"/>
                </a:solidFill>
                <a:latin typeface="맑은 고딕"/>
              </a:defRPr>
            </a:pPr>
            <a:r>
              <a:rPr dirty="0" err="1"/>
              <a:t>오십보백보</a:t>
            </a:r>
            <a:endParaRPr dirty="0"/>
          </a:p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FFFFFF"/>
                </a:solidFill>
                <a:latin typeface="맑은 고딕"/>
              </a:defRPr>
            </a:pPr>
            <a:r>
              <a:rPr dirty="0"/>
              <a:t>→ </a:t>
            </a:r>
            <a:r>
              <a:rPr dirty="0" err="1"/>
              <a:t>정도의</a:t>
            </a:r>
            <a:r>
              <a:rPr dirty="0"/>
              <a:t> </a:t>
            </a:r>
            <a:r>
              <a:rPr dirty="0" err="1"/>
              <a:t>차이일</a:t>
            </a:r>
            <a:r>
              <a:rPr dirty="0"/>
              <a:t> 뿐 </a:t>
            </a:r>
            <a:r>
              <a:rPr dirty="0" err="1"/>
              <a:t>본질은</a:t>
            </a:r>
            <a:r>
              <a:rPr dirty="0"/>
              <a:t> </a:t>
            </a:r>
            <a:r>
              <a:rPr dirty="0" err="1"/>
              <a:t>같다</a:t>
            </a:r>
            <a:endParaRPr dirty="0"/>
          </a:p>
          <a:p>
            <a:pPr algn="l">
              <a:spcBef>
                <a:spcPts val="0"/>
              </a:spcBef>
              <a:spcAft>
                <a:spcPts val="600"/>
              </a:spcAft>
              <a:defRPr sz="1300" b="0">
                <a:solidFill>
                  <a:srgbClr val="A0B8D8"/>
                </a:solidFill>
                <a:latin typeface="맑은 고딕"/>
              </a:defRPr>
            </a:pPr>
            <a:r>
              <a:rPr dirty="0"/>
              <a:t>  — </a:t>
            </a:r>
            <a:r>
              <a:rPr dirty="0" err="1"/>
              <a:t>양혜왕</a:t>
            </a:r>
            <a:r>
              <a:rPr dirty="0"/>
              <a:t> 상 3장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160"/>
              </a:lnSpc>
              <a:spcAft>
                <a:spcPts val="0"/>
              </a:spcAft>
              <a:defRPr sz="3200" b="1">
                <a:solidFill>
                  <a:srgbClr val="D4AF37"/>
                </a:solidFill>
                <a:latin typeface="맑은 고딕"/>
              </a:defRPr>
            </a:pPr>
            <a:r>
              <a:t>명구절 (하)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4572000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29640" y="1009200"/>
            <a:ext cx="10332720" cy="58631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800"/>
              </a:spcBef>
              <a:spcAft>
                <a:spcPts val="400"/>
              </a:spcAft>
              <a:defRPr sz="1700" b="1">
                <a:solidFill>
                  <a:srgbClr val="D4AF37"/>
                </a:solidFill>
                <a:latin typeface="맑은 고딕"/>
              </a:defRPr>
            </a:pPr>
            <a:r>
              <a:rPr dirty="0" err="1"/>
              <a:t>天將降大任於是人也</a:t>
            </a:r>
            <a:r>
              <a:rPr dirty="0"/>
              <a:t> </a:t>
            </a:r>
            <a:r>
              <a:rPr dirty="0" err="1"/>
              <a:t>必先苦其心志</a:t>
            </a:r>
            <a:endParaRPr dirty="0"/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CCCCCC"/>
                </a:solidFill>
                <a:latin typeface="맑은 고딕"/>
              </a:defRPr>
            </a:pPr>
            <a:r>
              <a:rPr dirty="0" err="1"/>
              <a:t>천장강대임어시인야</a:t>
            </a:r>
            <a:r>
              <a:rPr dirty="0"/>
              <a:t> </a:t>
            </a:r>
            <a:r>
              <a:rPr dirty="0" err="1"/>
              <a:t>필선고기심지</a:t>
            </a:r>
            <a:endParaRPr dirty="0"/>
          </a:p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FFFFFF"/>
                </a:solidFill>
                <a:latin typeface="맑은 고딕"/>
              </a:defRPr>
            </a:pPr>
            <a:r>
              <a:rPr dirty="0"/>
              <a:t>→ </a:t>
            </a:r>
            <a:r>
              <a:rPr dirty="0" err="1"/>
              <a:t>하늘이</a:t>
            </a:r>
            <a:r>
              <a:rPr dirty="0"/>
              <a:t> 큰 </a:t>
            </a:r>
            <a:r>
              <a:rPr dirty="0" err="1"/>
              <a:t>일을</a:t>
            </a:r>
            <a:r>
              <a:rPr dirty="0"/>
              <a:t> </a:t>
            </a:r>
            <a:r>
              <a:rPr dirty="0" err="1"/>
              <a:t>맡기려면</a:t>
            </a:r>
            <a:r>
              <a:rPr dirty="0"/>
              <a:t> </a:t>
            </a:r>
            <a:r>
              <a:rPr dirty="0" err="1"/>
              <a:t>먼저</a:t>
            </a:r>
            <a:r>
              <a:rPr dirty="0"/>
              <a:t> 그 </a:t>
            </a:r>
            <a:r>
              <a:rPr dirty="0" err="1"/>
              <a:t>마음을</a:t>
            </a:r>
            <a:r>
              <a:rPr dirty="0"/>
              <a:t> </a:t>
            </a:r>
            <a:r>
              <a:rPr dirty="0" err="1"/>
              <a:t>괴롭힌다</a:t>
            </a:r>
            <a:endParaRPr dirty="0"/>
          </a:p>
          <a:p>
            <a:pPr algn="l">
              <a:spcBef>
                <a:spcPts val="0"/>
              </a:spcBef>
              <a:spcAft>
                <a:spcPts val="600"/>
              </a:spcAft>
              <a:defRPr sz="1300" b="0">
                <a:solidFill>
                  <a:srgbClr val="A0B8D8"/>
                </a:solidFill>
                <a:latin typeface="맑은 고딕"/>
              </a:defRPr>
            </a:pPr>
            <a:r>
              <a:rPr dirty="0"/>
              <a:t>  — </a:t>
            </a:r>
            <a:r>
              <a:rPr dirty="0" err="1"/>
              <a:t>고자</a:t>
            </a:r>
            <a:r>
              <a:rPr dirty="0"/>
              <a:t> 하 15장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700" b="1">
                <a:solidFill>
                  <a:srgbClr val="D4AF37"/>
                </a:solidFill>
                <a:latin typeface="맑은 고딕"/>
              </a:defRPr>
            </a:pPr>
            <a:r>
              <a:rPr dirty="0" err="1"/>
              <a:t>生於憂患而死於安樂也</a:t>
            </a:r>
            <a:endParaRPr dirty="0"/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CCCCCC"/>
                </a:solidFill>
                <a:latin typeface="맑은 고딕"/>
              </a:defRPr>
            </a:pPr>
            <a:r>
              <a:rPr dirty="0" err="1"/>
              <a:t>생우환이사우안락야</a:t>
            </a:r>
            <a:endParaRPr dirty="0"/>
          </a:p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FFFFFF"/>
                </a:solidFill>
                <a:latin typeface="맑은 고딕"/>
              </a:defRPr>
            </a:pPr>
            <a:r>
              <a:rPr dirty="0"/>
              <a:t>→ </a:t>
            </a:r>
            <a:r>
              <a:rPr dirty="0" err="1"/>
              <a:t>근심</a:t>
            </a:r>
            <a:r>
              <a:rPr dirty="0"/>
              <a:t> </a:t>
            </a:r>
            <a:r>
              <a:rPr dirty="0" err="1"/>
              <a:t>속에서</a:t>
            </a:r>
            <a:r>
              <a:rPr dirty="0"/>
              <a:t> </a:t>
            </a:r>
            <a:r>
              <a:rPr dirty="0" err="1"/>
              <a:t>살아나고</a:t>
            </a:r>
            <a:r>
              <a:rPr dirty="0"/>
              <a:t> </a:t>
            </a:r>
            <a:r>
              <a:rPr dirty="0" err="1"/>
              <a:t>안락</a:t>
            </a:r>
            <a:r>
              <a:rPr dirty="0"/>
              <a:t> </a:t>
            </a:r>
            <a:r>
              <a:rPr dirty="0" err="1"/>
              <a:t>속에서</a:t>
            </a:r>
            <a:r>
              <a:rPr dirty="0"/>
              <a:t> </a:t>
            </a:r>
            <a:r>
              <a:rPr dirty="0" err="1"/>
              <a:t>죽는다</a:t>
            </a:r>
            <a:endParaRPr dirty="0"/>
          </a:p>
          <a:p>
            <a:pPr algn="l">
              <a:spcBef>
                <a:spcPts val="0"/>
              </a:spcBef>
              <a:spcAft>
                <a:spcPts val="600"/>
              </a:spcAft>
              <a:defRPr sz="1300" b="0">
                <a:solidFill>
                  <a:srgbClr val="A0B8D8"/>
                </a:solidFill>
                <a:latin typeface="맑은 고딕"/>
              </a:defRPr>
            </a:pPr>
            <a:r>
              <a:rPr dirty="0"/>
              <a:t>  — </a:t>
            </a:r>
            <a:r>
              <a:rPr dirty="0" err="1"/>
              <a:t>고자</a:t>
            </a:r>
            <a:r>
              <a:rPr dirty="0"/>
              <a:t> 하 15장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700" b="1">
                <a:solidFill>
                  <a:srgbClr val="D4AF37"/>
                </a:solidFill>
                <a:latin typeface="맑은 고딕"/>
              </a:defRPr>
            </a:pPr>
            <a:r>
              <a:rPr dirty="0" err="1"/>
              <a:t>捨生而取義者也</a:t>
            </a:r>
            <a:endParaRPr dirty="0"/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CCCCCC"/>
                </a:solidFill>
                <a:latin typeface="맑은 고딕"/>
              </a:defRPr>
            </a:pPr>
            <a:r>
              <a:rPr dirty="0" err="1"/>
              <a:t>사생이취의자야</a:t>
            </a:r>
            <a:endParaRPr dirty="0"/>
          </a:p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FFFFFF"/>
                </a:solidFill>
                <a:latin typeface="맑은 고딕"/>
              </a:defRPr>
            </a:pPr>
            <a:r>
              <a:rPr dirty="0"/>
              <a:t>→ </a:t>
            </a:r>
            <a:r>
              <a:rPr dirty="0" err="1"/>
              <a:t>삶을</a:t>
            </a:r>
            <a:r>
              <a:rPr dirty="0"/>
              <a:t> </a:t>
            </a:r>
            <a:r>
              <a:rPr dirty="0" err="1"/>
              <a:t>버리고</a:t>
            </a:r>
            <a:r>
              <a:rPr dirty="0"/>
              <a:t> </a:t>
            </a:r>
            <a:r>
              <a:rPr dirty="0" err="1"/>
              <a:t>의로움을</a:t>
            </a:r>
            <a:r>
              <a:rPr dirty="0"/>
              <a:t> </a:t>
            </a:r>
            <a:r>
              <a:rPr dirty="0" err="1"/>
              <a:t>취한다</a:t>
            </a:r>
            <a:endParaRPr dirty="0"/>
          </a:p>
          <a:p>
            <a:pPr algn="l">
              <a:spcBef>
                <a:spcPts val="0"/>
              </a:spcBef>
              <a:spcAft>
                <a:spcPts val="600"/>
              </a:spcAft>
              <a:defRPr sz="1300" b="0">
                <a:solidFill>
                  <a:srgbClr val="A0B8D8"/>
                </a:solidFill>
                <a:latin typeface="맑은 고딕"/>
              </a:defRPr>
            </a:pPr>
            <a:r>
              <a:rPr dirty="0"/>
              <a:t>  — </a:t>
            </a:r>
            <a:r>
              <a:rPr dirty="0" err="1"/>
              <a:t>고자</a:t>
            </a:r>
            <a:r>
              <a:rPr dirty="0"/>
              <a:t> 상 10장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700" b="1">
                <a:solidFill>
                  <a:srgbClr val="D4AF37"/>
                </a:solidFill>
                <a:latin typeface="맑은 고딕"/>
              </a:defRPr>
            </a:pPr>
            <a:r>
              <a:rPr dirty="0" err="1"/>
              <a:t>盡其心者</a:t>
            </a:r>
            <a:r>
              <a:rPr dirty="0"/>
              <a:t> </a:t>
            </a:r>
            <a:r>
              <a:rPr dirty="0" err="1"/>
              <a:t>知其性也</a:t>
            </a:r>
            <a:r>
              <a:rPr dirty="0"/>
              <a:t> </a:t>
            </a:r>
            <a:r>
              <a:rPr dirty="0" err="1"/>
              <a:t>知其性</a:t>
            </a:r>
            <a:r>
              <a:rPr dirty="0"/>
              <a:t> </a:t>
            </a:r>
            <a:r>
              <a:rPr dirty="0" err="1"/>
              <a:t>則知天矣</a:t>
            </a:r>
            <a:endParaRPr dirty="0"/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CCCCCC"/>
                </a:solidFill>
                <a:latin typeface="맑은 고딕"/>
              </a:defRPr>
            </a:pPr>
            <a:r>
              <a:rPr dirty="0" err="1"/>
              <a:t>진기심자</a:t>
            </a:r>
            <a:r>
              <a:rPr dirty="0"/>
              <a:t> </a:t>
            </a:r>
            <a:r>
              <a:rPr dirty="0" err="1"/>
              <a:t>지기성야</a:t>
            </a:r>
            <a:r>
              <a:rPr dirty="0"/>
              <a:t> </a:t>
            </a:r>
            <a:r>
              <a:rPr dirty="0" err="1"/>
              <a:t>지기성</a:t>
            </a:r>
            <a:r>
              <a:rPr dirty="0"/>
              <a:t> </a:t>
            </a:r>
            <a:r>
              <a:rPr dirty="0" err="1"/>
              <a:t>즉지천의</a:t>
            </a:r>
            <a:endParaRPr dirty="0"/>
          </a:p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FFFFFF"/>
                </a:solidFill>
                <a:latin typeface="맑은 고딕"/>
              </a:defRPr>
            </a:pPr>
            <a:r>
              <a:rPr dirty="0"/>
              <a:t>→ </a:t>
            </a:r>
            <a:r>
              <a:rPr dirty="0" err="1"/>
              <a:t>마음을</a:t>
            </a:r>
            <a:r>
              <a:rPr dirty="0"/>
              <a:t> </a:t>
            </a:r>
            <a:r>
              <a:rPr dirty="0" err="1"/>
              <a:t>다하면</a:t>
            </a:r>
            <a:r>
              <a:rPr dirty="0"/>
              <a:t> </a:t>
            </a:r>
            <a:r>
              <a:rPr dirty="0" err="1"/>
              <a:t>본성을</a:t>
            </a:r>
            <a:r>
              <a:rPr dirty="0"/>
              <a:t> </a:t>
            </a:r>
            <a:r>
              <a:rPr dirty="0" err="1"/>
              <a:t>알고</a:t>
            </a:r>
            <a:r>
              <a:rPr dirty="0"/>
              <a:t>, </a:t>
            </a:r>
            <a:r>
              <a:rPr dirty="0" err="1"/>
              <a:t>본성을</a:t>
            </a:r>
            <a:r>
              <a:rPr dirty="0"/>
              <a:t> </a:t>
            </a:r>
            <a:r>
              <a:rPr dirty="0" err="1"/>
              <a:t>알면</a:t>
            </a:r>
            <a:r>
              <a:rPr dirty="0"/>
              <a:t> </a:t>
            </a:r>
            <a:r>
              <a:rPr dirty="0" err="1"/>
              <a:t>하늘을</a:t>
            </a:r>
            <a:r>
              <a:rPr dirty="0"/>
              <a:t> </a:t>
            </a:r>
            <a:r>
              <a:rPr dirty="0" err="1"/>
              <a:t>안다</a:t>
            </a:r>
            <a:endParaRPr dirty="0"/>
          </a:p>
          <a:p>
            <a:pPr algn="l">
              <a:spcBef>
                <a:spcPts val="0"/>
              </a:spcBef>
              <a:spcAft>
                <a:spcPts val="600"/>
              </a:spcAft>
              <a:defRPr sz="1300" b="0">
                <a:solidFill>
                  <a:srgbClr val="A0B8D8"/>
                </a:solidFill>
                <a:latin typeface="맑은 고딕"/>
              </a:defRPr>
            </a:pPr>
            <a:r>
              <a:rPr dirty="0"/>
              <a:t>  — </a:t>
            </a:r>
            <a:r>
              <a:rPr dirty="0" err="1"/>
              <a:t>진심</a:t>
            </a:r>
            <a:r>
              <a:rPr dirty="0"/>
              <a:t> 상 1장</a:t>
            </a:r>
          </a:p>
          <a:p>
            <a:pPr algn="l">
              <a:spcBef>
                <a:spcPts val="800"/>
              </a:spcBef>
              <a:spcAft>
                <a:spcPts val="400"/>
              </a:spcAft>
              <a:defRPr sz="1700" b="1">
                <a:solidFill>
                  <a:srgbClr val="D4AF37"/>
                </a:solidFill>
                <a:latin typeface="맑은 고딕"/>
              </a:defRPr>
            </a:pPr>
            <a:r>
              <a:rPr dirty="0" err="1"/>
              <a:t>自暴者</a:t>
            </a:r>
            <a:r>
              <a:rPr dirty="0"/>
              <a:t> </a:t>
            </a:r>
            <a:r>
              <a:rPr dirty="0" err="1"/>
              <a:t>不可與有言也</a:t>
            </a:r>
            <a:r>
              <a:rPr dirty="0"/>
              <a:t> </a:t>
            </a:r>
            <a:r>
              <a:rPr dirty="0" err="1"/>
              <a:t>自棄者</a:t>
            </a:r>
            <a:r>
              <a:rPr dirty="0"/>
              <a:t> </a:t>
            </a:r>
            <a:r>
              <a:rPr dirty="0" err="1"/>
              <a:t>不可與有爲也</a:t>
            </a:r>
            <a:endParaRPr dirty="0"/>
          </a:p>
          <a:p>
            <a:pPr algn="l">
              <a:spcBef>
                <a:spcPts val="0"/>
              </a:spcBef>
              <a:spcAft>
                <a:spcPts val="200"/>
              </a:spcAft>
              <a:defRPr sz="1400" b="0">
                <a:solidFill>
                  <a:srgbClr val="CCCCCC"/>
                </a:solidFill>
                <a:latin typeface="맑은 고딕"/>
              </a:defRPr>
            </a:pPr>
            <a:r>
              <a:rPr dirty="0" err="1"/>
              <a:t>자포자</a:t>
            </a:r>
            <a:r>
              <a:rPr dirty="0"/>
              <a:t> </a:t>
            </a:r>
            <a:r>
              <a:rPr dirty="0" err="1"/>
              <a:t>불가여유언야</a:t>
            </a:r>
            <a:r>
              <a:rPr dirty="0"/>
              <a:t> </a:t>
            </a:r>
            <a:r>
              <a:rPr dirty="0" err="1"/>
              <a:t>자기자</a:t>
            </a:r>
            <a:r>
              <a:rPr dirty="0"/>
              <a:t> </a:t>
            </a:r>
            <a:r>
              <a:rPr dirty="0" err="1"/>
              <a:t>불가여유위야</a:t>
            </a:r>
            <a:endParaRPr dirty="0"/>
          </a:p>
          <a:p>
            <a:pPr algn="l">
              <a:spcBef>
                <a:spcPts val="0"/>
              </a:spcBef>
              <a:spcAft>
                <a:spcPts val="200"/>
              </a:spcAft>
              <a:defRPr sz="1500" b="0">
                <a:solidFill>
                  <a:srgbClr val="FFFFFF"/>
                </a:solidFill>
                <a:latin typeface="맑은 고딕"/>
              </a:defRPr>
            </a:pPr>
            <a:r>
              <a:rPr dirty="0"/>
              <a:t>→ </a:t>
            </a:r>
            <a:r>
              <a:rPr dirty="0" err="1"/>
              <a:t>스스로</a:t>
            </a:r>
            <a:r>
              <a:rPr dirty="0"/>
              <a:t> </a:t>
            </a:r>
            <a:r>
              <a:rPr dirty="0" err="1"/>
              <a:t>해치는</a:t>
            </a:r>
            <a:r>
              <a:rPr dirty="0"/>
              <a:t> 자, </a:t>
            </a:r>
            <a:r>
              <a:rPr dirty="0" err="1"/>
              <a:t>스스로</a:t>
            </a:r>
            <a:r>
              <a:rPr dirty="0"/>
              <a:t> </a:t>
            </a:r>
            <a:r>
              <a:rPr dirty="0" err="1"/>
              <a:t>버리는</a:t>
            </a:r>
            <a:r>
              <a:rPr dirty="0"/>
              <a:t> </a:t>
            </a:r>
            <a:r>
              <a:rPr dirty="0" err="1"/>
              <a:t>자와는</a:t>
            </a:r>
            <a:r>
              <a:rPr dirty="0"/>
              <a:t> </a:t>
            </a:r>
            <a:r>
              <a:rPr dirty="0" err="1"/>
              <a:t>함께할</a:t>
            </a:r>
            <a:r>
              <a:rPr dirty="0"/>
              <a:t> 수 </a:t>
            </a:r>
            <a:r>
              <a:rPr dirty="0" err="1"/>
              <a:t>없다</a:t>
            </a:r>
            <a:endParaRPr dirty="0"/>
          </a:p>
          <a:p>
            <a:pPr algn="l">
              <a:spcBef>
                <a:spcPts val="0"/>
              </a:spcBef>
              <a:spcAft>
                <a:spcPts val="600"/>
              </a:spcAft>
              <a:defRPr sz="1300" b="0">
                <a:solidFill>
                  <a:srgbClr val="A0B8D8"/>
                </a:solidFill>
                <a:latin typeface="맑은 고딕"/>
              </a:defRPr>
            </a:pPr>
            <a:r>
              <a:rPr dirty="0"/>
              <a:t>  — </a:t>
            </a:r>
            <a:r>
              <a:rPr dirty="0" err="1"/>
              <a:t>이루</a:t>
            </a:r>
            <a:r>
              <a:rPr dirty="0"/>
              <a:t> 상 10장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160"/>
              </a:lnSpc>
              <a:spcAft>
                <a:spcPts val="0"/>
              </a:spcAft>
              <a:defRPr sz="3200" b="1">
                <a:solidFill>
                  <a:srgbClr val="D4AF37"/>
                </a:solidFill>
                <a:latin typeface="맑은 고딕"/>
              </a:defRPr>
            </a:pPr>
            <a:r>
              <a:t>맹자의 구조적 특징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4572000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32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FFFFFF"/>
                </a:solidFill>
                <a:latin typeface="맑은 고딕"/>
              </a:defRPr>
            </a:pPr>
            <a:endParaRPr/>
          </a:p>
          <a:p>
            <a:pPr algn="l">
              <a:spcBef>
                <a:spcPts val="0"/>
              </a:spcBef>
              <a:spcAft>
                <a:spcPts val="400"/>
              </a:spcAft>
              <a:defRPr sz="2000" b="1">
                <a:solidFill>
                  <a:srgbClr val="D4AF37"/>
                </a:solidFill>
                <a:latin typeface="맑은 고딕"/>
              </a:defRPr>
            </a:pPr>
            <a:r>
              <a:t>웅변적 논변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700" b="0">
                <a:solidFill>
                  <a:srgbClr val="FFFFFF"/>
                </a:solidFill>
                <a:latin typeface="맑은 고딕"/>
              </a:defRPr>
            </a:pPr>
            <a:r>
              <a:t>  • 논리적이면서도 감정에 호소하는 설득의 기술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700" b="0">
                <a:solidFill>
                  <a:srgbClr val="FFFFFF"/>
                </a:solidFill>
                <a:latin typeface="맑은 고딕"/>
              </a:defRPr>
            </a:pPr>
            <a:r>
              <a:t>  • 양혜왕·제선왕과의 정치적 대화가 대표적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600" b="0">
                <a:solidFill>
                  <a:srgbClr val="FFFFFF"/>
                </a:solidFill>
                <a:latin typeface="맑은 고딕"/>
              </a:defRPr>
            </a:pPr>
            <a:endParaRPr/>
          </a:p>
          <a:p>
            <a:pPr algn="l">
              <a:spcBef>
                <a:spcPts val="0"/>
              </a:spcBef>
              <a:spcAft>
                <a:spcPts val="400"/>
              </a:spcAft>
              <a:defRPr sz="2000" b="1">
                <a:solidFill>
                  <a:srgbClr val="D4AF37"/>
                </a:solidFill>
                <a:latin typeface="맑은 고딕"/>
              </a:defRPr>
            </a:pPr>
            <a:r>
              <a:t>비유와 우화의 대가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700" b="0">
                <a:solidFill>
                  <a:srgbClr val="FFFFFF"/>
                </a:solidFill>
                <a:latin typeface="맑은 고딕"/>
              </a:defRPr>
            </a:pPr>
            <a:r>
              <a:t>  • 오십보백보 — 본질적 차이 없는 차이를 꼬집음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700" b="0">
                <a:solidFill>
                  <a:srgbClr val="FFFFFF"/>
                </a:solidFill>
                <a:latin typeface="맑은 고딕"/>
              </a:defRPr>
            </a:pPr>
            <a:r>
              <a:t>  • 연목구어 — 잘못된 방법으로는 목적 달성 불가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700" b="0">
                <a:solidFill>
                  <a:srgbClr val="FFFFFF"/>
                </a:solidFill>
                <a:latin typeface="맑은 고딕"/>
              </a:defRPr>
            </a:pPr>
            <a:r>
              <a:t>  • 조장(助長) — 억지로 성장을 재촉하면 망함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700" b="0">
                <a:solidFill>
                  <a:srgbClr val="FFFFFF"/>
                </a:solidFill>
                <a:latin typeface="맑은 고딕"/>
              </a:defRPr>
            </a:pPr>
            <a:r>
              <a:t>  • 우산지목(牛山之木) — 본성을 잃어버리는 과정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600" b="0">
                <a:solidFill>
                  <a:srgbClr val="FFFFFF"/>
                </a:solidFill>
                <a:latin typeface="맑은 고딕"/>
              </a:defRPr>
            </a:pPr>
            <a:endParaRPr/>
          </a:p>
          <a:p>
            <a:pPr algn="l">
              <a:spcBef>
                <a:spcPts val="0"/>
              </a:spcBef>
              <a:spcAft>
                <a:spcPts val="400"/>
              </a:spcAft>
              <a:defRPr sz="2000" b="1">
                <a:solidFill>
                  <a:srgbClr val="D4AF37"/>
                </a:solidFill>
                <a:latin typeface="맑은 고딕"/>
              </a:defRPr>
            </a:pPr>
            <a:r>
              <a:t>편별 흐름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700" b="0">
                <a:solidFill>
                  <a:srgbClr val="FFFFFF"/>
                </a:solidFill>
                <a:latin typeface="맑은 고딕"/>
              </a:defRPr>
            </a:pPr>
            <a:r>
              <a:t>  양혜왕(정치 출발) → 공손추(내면의 힘) → 등문공(사회 제도)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700" b="0">
                <a:solidFill>
                  <a:srgbClr val="FFFFFF"/>
                </a:solidFill>
                <a:latin typeface="맑은 고딕"/>
              </a:defRPr>
            </a:pPr>
            <a:r>
              <a:t>  → 이루(인의 실천) → 만장(역사적 검증) → 고자(인성론 논변)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700" b="0">
                <a:solidFill>
                  <a:srgbClr val="FFFFFF"/>
                </a:solidFill>
                <a:latin typeface="맑은 고딕"/>
              </a:defRPr>
            </a:pPr>
            <a:r>
              <a:t>  → 진심(수양론 완성과 종합)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160"/>
              </a:lnSpc>
              <a:spcAft>
                <a:spcPts val="0"/>
              </a:spcAft>
              <a:defRPr sz="3200" b="1">
                <a:solidFill>
                  <a:srgbClr val="D4AF37"/>
                </a:solidFill>
                <a:latin typeface="맑은 고딕"/>
              </a:defRPr>
            </a:pPr>
            <a:r>
              <a:t>현대적 의의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4572000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32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0"/>
              </a:spcAft>
              <a:defRPr sz="1800" b="0">
                <a:solidFill>
                  <a:srgbClr val="FFFFFF"/>
                </a:solidFill>
                <a:latin typeface="맑은 고딕"/>
              </a:defRPr>
            </a:pPr>
            <a:endParaRPr/>
          </a:p>
          <a:p>
            <a:pPr algn="l">
              <a:spcBef>
                <a:spcPts val="0"/>
              </a:spcBef>
              <a:spcAft>
                <a:spcPts val="400"/>
              </a:spcAft>
              <a:defRPr sz="2000" b="1">
                <a:solidFill>
                  <a:srgbClr val="D4AF37"/>
                </a:solidFill>
                <a:latin typeface="맑은 고딕"/>
              </a:defRPr>
            </a:pPr>
            <a:r>
              <a:t>인권과 민주주의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• 민위귀(民爲貴) → 국민주권·민주주의의 선구적 이념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• 역성혁명론 → 저항권(right of resistance)의 동아시아적 기원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600" b="0">
                <a:solidFill>
                  <a:srgbClr val="FFFFFF"/>
                </a:solidFill>
                <a:latin typeface="맑은 고딕"/>
              </a:defRPr>
            </a:pPr>
            <a:endParaRPr/>
          </a:p>
          <a:p>
            <a:pPr algn="l">
              <a:spcBef>
                <a:spcPts val="0"/>
              </a:spcBef>
              <a:spcAft>
                <a:spcPts val="400"/>
              </a:spcAft>
              <a:defRPr sz="2000" b="1">
                <a:solidFill>
                  <a:srgbClr val="D4AF37"/>
                </a:solidFill>
                <a:latin typeface="맑은 고딕"/>
              </a:defRPr>
            </a:pPr>
            <a:r>
              <a:t>교육과 인격 형성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• 성선설 → 긍정 심리학·인본주의 교육과 연결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• 조장(助長) 경계 → 과도한 교육 압박의 위험성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600" b="0">
                <a:solidFill>
                  <a:srgbClr val="FFFFFF"/>
                </a:solidFill>
                <a:latin typeface="맑은 고딕"/>
              </a:defRPr>
            </a:pPr>
            <a:endParaRPr/>
          </a:p>
          <a:p>
            <a:pPr algn="l">
              <a:spcBef>
                <a:spcPts val="0"/>
              </a:spcBef>
              <a:spcAft>
                <a:spcPts val="400"/>
              </a:spcAft>
              <a:defRPr sz="2000" b="1">
                <a:solidFill>
                  <a:srgbClr val="D4AF37"/>
                </a:solidFill>
                <a:latin typeface="맑은 고딕"/>
              </a:defRPr>
            </a:pPr>
            <a:r>
              <a:t>리더십과 경영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• 왕도 vs 패도 → 덕에 의한 리더십 vs 힘에 의한 리더십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• 항산항심 → 경제적 안정이 사회 안정의 기반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600" b="0">
                <a:solidFill>
                  <a:srgbClr val="FFFFFF"/>
                </a:solidFill>
                <a:latin typeface="맑은 고딕"/>
              </a:defRPr>
            </a:pPr>
            <a:endParaRPr/>
          </a:p>
          <a:p>
            <a:pPr algn="l">
              <a:spcBef>
                <a:spcPts val="0"/>
              </a:spcBef>
              <a:spcAft>
                <a:spcPts val="400"/>
              </a:spcAft>
              <a:defRPr sz="2000" b="1">
                <a:solidFill>
                  <a:srgbClr val="D4AF37"/>
                </a:solidFill>
                <a:latin typeface="맑은 고딕"/>
              </a:defRPr>
            </a:pPr>
            <a:r>
              <a:t>윤리와 가치관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• 의리론(義利之辨) → 이익보다 원칙을 우선하는 기업 윤리</a:t>
            </a:r>
          </a:p>
          <a:p>
            <a:pPr algn="l">
              <a:spcBef>
                <a:spcPts val="0"/>
              </a:spcBef>
              <a:spcAft>
                <a:spcPts val="400"/>
              </a:spcAft>
              <a:defRPr sz="1800" b="0">
                <a:solidFill>
                  <a:srgbClr val="FFFFFF"/>
                </a:solidFill>
                <a:latin typeface="맑은 고딕"/>
              </a:defRPr>
            </a:pPr>
            <a:r>
              <a:t>  • 자포자기 경계 → 자기효능감, 성장 마인드셋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2743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160"/>
              </a:lnSpc>
              <a:spcAft>
                <a:spcPts val="0"/>
              </a:spcAft>
              <a:defRPr sz="3200" b="1">
                <a:solidFill>
                  <a:srgbClr val="D4AF37"/>
                </a:solidFill>
                <a:latin typeface="맑은 고딕"/>
              </a:defRPr>
            </a:pPr>
            <a:r>
              <a:t>맹자와 다른 고전의 비교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4572000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280160"/>
          <a:ext cx="105156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28650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D4AF37"/>
                          </a:solidFill>
                          <a:latin typeface="맑은 고딕"/>
                        </a:defRPr>
                      </a:pPr>
                      <a:r>
                        <a:t>항목</a:t>
                      </a:r>
                    </a:p>
                  </a:txBody>
                  <a:tcPr anchor="ctr">
                    <a:solidFill>
                      <a:srgbClr val="1424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D4AF37"/>
                          </a:solidFill>
                          <a:latin typeface="맑은 고딕"/>
                        </a:defRPr>
                      </a:pPr>
                      <a:r>
                        <a:t>공자(논어)</a:t>
                      </a:r>
                    </a:p>
                  </a:txBody>
                  <a:tcPr anchor="ctr">
                    <a:solidFill>
                      <a:srgbClr val="1424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D4AF37"/>
                          </a:solidFill>
                          <a:latin typeface="맑은 고딕"/>
                        </a:defRPr>
                      </a:pPr>
                      <a:r>
                        <a:t>맹자</a:t>
                      </a:r>
                    </a:p>
                  </a:txBody>
                  <a:tcPr anchor="ctr">
                    <a:solidFill>
                      <a:srgbClr val="1424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D4AF37"/>
                          </a:solidFill>
                          <a:latin typeface="맑은 고딕"/>
                        </a:defRPr>
                      </a:pPr>
                      <a:r>
                        <a:t>순자</a:t>
                      </a:r>
                    </a:p>
                  </a:txBody>
                  <a:tcPr anchor="ctr">
                    <a:solidFill>
                      <a:srgbClr val="1424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핵심 덕목</a:t>
                      </a:r>
                    </a:p>
                  </a:txBody>
                  <a:tcPr anchor="ctr">
                    <a:solidFill>
                      <a:srgbClr val="2A3F6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인(仁)</a:t>
                      </a:r>
                    </a:p>
                  </a:txBody>
                  <a:tcPr anchor="ctr">
                    <a:solidFill>
                      <a:srgbClr val="2A3F6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인의(仁義)</a:t>
                      </a:r>
                    </a:p>
                  </a:txBody>
                  <a:tcPr anchor="ctr">
                    <a:solidFill>
                      <a:srgbClr val="2A3F6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예(禮)</a:t>
                      </a:r>
                    </a:p>
                  </a:txBody>
                  <a:tcPr anchor="ctr">
                    <a:solidFill>
                      <a:srgbClr val="2A3F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인성론</a:t>
                      </a:r>
                    </a:p>
                  </a:txBody>
                  <a:tcPr anchor="ctr">
                    <a:solidFill>
                      <a:srgbClr val="2235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직접 언급 적음</a:t>
                      </a:r>
                    </a:p>
                  </a:txBody>
                  <a:tcPr anchor="ctr">
                    <a:solidFill>
                      <a:srgbClr val="2235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성선설 체계화</a:t>
                      </a:r>
                    </a:p>
                  </a:txBody>
                  <a:tcPr anchor="ctr">
                    <a:solidFill>
                      <a:srgbClr val="2235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성악설</a:t>
                      </a:r>
                    </a:p>
                  </a:txBody>
                  <a:tcPr anchor="ctr">
                    <a:solidFill>
                      <a:srgbClr val="223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정치사상</a:t>
                      </a:r>
                    </a:p>
                  </a:txBody>
                  <a:tcPr anchor="ctr">
                    <a:solidFill>
                      <a:srgbClr val="2A3F6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덕치(德治)</a:t>
                      </a:r>
                    </a:p>
                  </a:txBody>
                  <a:tcPr anchor="ctr">
                    <a:solidFill>
                      <a:srgbClr val="2A3F6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왕도·민본·혁명론</a:t>
                      </a:r>
                    </a:p>
                  </a:txBody>
                  <a:tcPr anchor="ctr">
                    <a:solidFill>
                      <a:srgbClr val="2A3F6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왕도·예법 병용</a:t>
                      </a:r>
                    </a:p>
                  </a:txBody>
                  <a:tcPr anchor="ctr">
                    <a:solidFill>
                      <a:srgbClr val="2A3F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수양론</a:t>
                      </a:r>
                    </a:p>
                  </a:txBody>
                  <a:tcPr anchor="ctr">
                    <a:solidFill>
                      <a:srgbClr val="2235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극기복례</a:t>
                      </a:r>
                    </a:p>
                  </a:txBody>
                  <a:tcPr anchor="ctr">
                    <a:solidFill>
                      <a:srgbClr val="2235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존심양성·구방심</a:t>
                      </a:r>
                    </a:p>
                  </a:txBody>
                  <a:tcPr anchor="ctr">
                    <a:solidFill>
                      <a:srgbClr val="2235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화성기위</a:t>
                      </a:r>
                    </a:p>
                  </a:txBody>
                  <a:tcPr anchor="ctr">
                    <a:solidFill>
                      <a:srgbClr val="223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문체</a:t>
                      </a:r>
                    </a:p>
                  </a:txBody>
                  <a:tcPr anchor="ctr">
                    <a:solidFill>
                      <a:srgbClr val="2A3F6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간결한 어록</a:t>
                      </a:r>
                    </a:p>
                  </a:txBody>
                  <a:tcPr anchor="ctr">
                    <a:solidFill>
                      <a:srgbClr val="2A3F6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웅변적 논변</a:t>
                      </a:r>
                    </a:p>
                  </a:txBody>
                  <a:tcPr anchor="ctr">
                    <a:solidFill>
                      <a:srgbClr val="2A3F6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체계적 논설문</a:t>
                      </a:r>
                    </a:p>
                  </a:txBody>
                  <a:tcPr anchor="ctr">
                    <a:solidFill>
                      <a:srgbClr val="2A3F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대화 상대</a:t>
                      </a:r>
                    </a:p>
                  </a:txBody>
                  <a:tcPr anchor="ctr">
                    <a:solidFill>
                      <a:srgbClr val="2235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주로 제자들</a:t>
                      </a:r>
                    </a:p>
                  </a:txBody>
                  <a:tcPr anchor="ctr">
                    <a:solidFill>
                      <a:srgbClr val="2235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제후·학자</a:t>
                      </a:r>
                    </a:p>
                  </a:txBody>
                  <a:tcPr anchor="ctr">
                    <a:solidFill>
                      <a:srgbClr val="22355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직하학궁 학자들</a:t>
                      </a:r>
                    </a:p>
                  </a:txBody>
                  <a:tcPr anchor="ctr">
                    <a:solidFill>
                      <a:srgbClr val="2235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2865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존칭</a:t>
                      </a:r>
                    </a:p>
                  </a:txBody>
                  <a:tcPr anchor="ctr">
                    <a:solidFill>
                      <a:srgbClr val="2A3F6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지성(至聖)</a:t>
                      </a:r>
                    </a:p>
                  </a:txBody>
                  <a:tcPr anchor="ctr">
                    <a:solidFill>
                      <a:srgbClr val="2A3F6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아성(亞聖)</a:t>
                      </a:r>
                    </a:p>
                  </a:txBody>
                  <a:tcPr anchor="ctr">
                    <a:solidFill>
                      <a:srgbClr val="2A3F6A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300">
                          <a:solidFill>
                            <a:srgbClr val="FFFFFF"/>
                          </a:solidFill>
                          <a:latin typeface="맑은 고딕"/>
                        </a:defRPr>
                      </a:pPr>
                      <a:r>
                        <a:t>후성(後聖)</a:t>
                      </a:r>
                    </a:p>
                  </a:txBody>
                  <a:tcPr anchor="ctr">
                    <a:solidFill>
                      <a:srgbClr val="2A3F6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914400" y="1371600"/>
            <a:ext cx="10332720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5200"/>
              </a:lnSpc>
              <a:spcAft>
                <a:spcPts val="0"/>
              </a:spcAft>
              <a:defRPr sz="4000" b="1">
                <a:solidFill>
                  <a:srgbClr val="D4AF37"/>
                </a:solidFill>
                <a:latin typeface="맑은 고딕"/>
              </a:defRPr>
            </a:pPr>
            <a:r>
              <a:t>맹자를 한 문장으로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926080"/>
            <a:ext cx="94183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000"/>
              </a:lnSpc>
              <a:spcAft>
                <a:spcPts val="0"/>
              </a:spcAft>
              <a:defRPr sz="2000" b="0">
                <a:solidFill>
                  <a:srgbClr val="FFFFFF"/>
                </a:solidFill>
                <a:latin typeface="맑은 고딕"/>
              </a:defRPr>
            </a:pPr>
            <a:r>
              <a:t>인간이 태어나면서부터 선한 본성을 지니고 있으며(성선설),</a:t>
            </a:r>
            <a:br/>
            <a:r>
              <a:t>이 싹을 기르고 확충하는 것이 수양이요,</a:t>
            </a:r>
            <a:br/>
            <a:r>
              <a:t>덕으로 다스리는 왕도정치와 백성이 가장 귀하다는 민본사상을 핵심으로,</a:t>
            </a:r>
            <a:br/>
            <a:r>
              <a:t>의로움을 이익보다 앞세우는 도덕적 용기의 철학.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0" y="4389120"/>
            <a:ext cx="4846320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71600" y="4754880"/>
            <a:ext cx="94183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340"/>
              </a:lnSpc>
              <a:spcAft>
                <a:spcPts val="0"/>
              </a:spcAft>
              <a:defRPr sz="1800" b="0">
                <a:solidFill>
                  <a:srgbClr val="A0B8D8"/>
                </a:solidFill>
                <a:latin typeface="맑은 고딕"/>
              </a:defRPr>
            </a:pPr>
            <a:r>
              <a:t>「民爲貴 社稷次之 君爲輕」 — 백성이 가장 귀하다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5760720"/>
            <a:ext cx="10332720" cy="381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1344</Words>
  <Application>Microsoft Office PowerPoint</Application>
  <PresentationFormat>와이드스크린</PresentationFormat>
  <Paragraphs>227</Paragraphs>
  <Slides>13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 Park</cp:lastModifiedBy>
  <cp:revision>2</cp:revision>
  <dcterms:created xsi:type="dcterms:W3CDTF">2013-01-27T09:14:16Z</dcterms:created>
  <dcterms:modified xsi:type="dcterms:W3CDTF">2026-03-02T07:30:33Z</dcterms:modified>
  <cp:category/>
</cp:coreProperties>
</file>