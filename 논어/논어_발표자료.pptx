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09728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D4AF37"/>
                </a:solidFill>
                <a:latin typeface="맑은 고딕"/>
              </a:defRPr>
            </a:pPr>
            <a:r>
              <a:t>論語 (The Analects)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논어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A0B8D8"/>
                </a:solidFill>
                <a:latin typeface="맑은 고딕"/>
              </a:defRPr>
            </a:pPr>
            <a:r>
              <a:t>저자: 공자(孔子)와 제자들  |  시대: 춘추시대 (BC 551~479)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맑은 고딕"/>
              </a:defRPr>
            </a:pPr>
            <a:r>
              <a:t>사서(四書)의 으뜸 · 20편 482장 · 유교 사상의 핵심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D4AF37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01   개요 — 논어란 무엇인가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02   구성 — 20편의 구조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03   핵심 사상 ① 인(仁)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04   핵심 사상 ② 예(禮)와 정치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05   핵심 사상 ③ 군자(君子)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06   명구절 (상)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07   명구절 (하)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08   구조적 특징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09   현대적 의의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10   다른 고전과의 비교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11  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논어란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정의: 공자와 제자들의 언행을 기록한 유교 핵심 경전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총 20편, 482장, 약 600여 문장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'論(논의하다) + 語(말씀)' = 토론하여 정리한 말씀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공자(孔子, BC 551~479)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이름: 공구(孔丘), 자: 중니(仲尼)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노(魯)나라 출신 · 정치인, 사상가, 교육자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제자 약 3,000명, 뛰어난 자 72명(칠십이현)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14년간 천하 주유 후 고향에서 후학 양성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편찬 과정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1차: 직계 제자(중궁, 자유, 자하) 주도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2차: 증자 사후 보충 → 3차: 전국시대 추가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전한 말 장우(張禹) 편집본 기반, 후한에서 현재 형태 확정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논어의 구성 — 20편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편명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핵심 주제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상론 1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학이(學而)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배움·효제·수신 — 논어의 총론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상론 2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위정(爲政)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덕치·효도·학문의 단계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상론 3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팔일(八佾)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예악의 본질, 인과 예의 관계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상론 4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이인(里仁)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인(仁)의 내면, 충서(忠恕)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상론 5~6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공야장·옹야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인물 평가, 문질빈빈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상론 7~10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술이~향당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공자의 학문관·일상·절조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하론 11~12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선진·안연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과유불급, 극기복례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하론 13~15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자로~위령공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정명·정치·군자론 총결산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하론 16~18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계씨~미자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수양·예악·은일과 입세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하론 19~20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자장·요왈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제자 전승, 성왕의 이상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① — 인(仁): 사람다움의 최고 덕목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仁 — 사람(人) 둘이 함께하는 모양: 사람과 사람의 바람직한 관계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克己復禮爲仁 — 자기를 이기고 예로 돌아감이 인이다 (안연 1장)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仁者愛人 — 인이란 사람을 사랑하는 것이다 (안연 22장)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己欲立而立人 己欲達而達人 — 자기가 서면 남을 세워준다 (옹야 30장)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己所不欲 勿施於人 — 원하지 않는 것을 남에게 하지 말라 (위령공 24장)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인의 실천 방법 — 충서(忠恕)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충(忠): 자기 마음을 다하는 것 (盡己)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서(恕): 자기를 미루어 남에게 미치는 것 (推己及人)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'夫子之道 忠恕而已矣' — 선생님의 도는 충서일 뿐이다 (이인 15장)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인의 출발점 — 효(孝)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孝弟也者 其爲仁之本與 — 효제는 인의 근본이다 (학이 2장)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② — 예(禮)와 덕치(德治)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예(禮) — 인(仁)의 외적 표현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종교 제례에서 일상 행위 규범으로 확장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人而不仁 如禮何 — 어질지 못하면 예를 어찌하겠는가 (팔일 3장)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인 없는 예 = 빈 껍데기 / 예 없는 인 = 실현 불가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덕치(德治) — 덕으로 다스림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爲政以德 譬如北辰 — 덕으로 정치하면 북극성과 같다 (위정 1장)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其身正 不令而行 — 자신이 바르면 명령 없이도 행해진다 (자로 6장)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정명(正名) — 이름을 바르게 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名不正則言不順 — 명분이 바르지 않으면 일이 이루어지지 못한다 (자로 3장)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君君臣臣父父子子 — 각자 자기 역할에 맞게 (안연 11장)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교육 철학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學而不思則罔 思而不學則殆 — 배움과 사유의 균형 (위정 15장)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有敎無類 — 가르침에 차별이 없다 (위령공 39장)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③ — 군자(君子): 이상적 인간상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D4AF37"/>
                </a:solidFill>
                <a:latin typeface="맑은 고딕"/>
              </a:defRPr>
            </a:pPr>
            <a:r>
              <a:t>공자가 귀족 계층 개념을 '도덕적으로 수양된 이상적 인간'으로 재정의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군자 vs 소인 대비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和而不同 / 同而不和 — 조화롭되 같지 않다 (자로 23장)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周而不比 / 比而不周 — 두루 사귀되 편당하지 않는다 (위정 14장)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坦蕩蕩 / 長戚戚 — 마음이 넓다 / 항상 근심한다 (술이 37장)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喩於義 / 喩於利 — 의에 밝다 / 이에 밝다 (이인 16장)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求諸己 / 求諸人 — 자신에게서 구한다 / 남에게서 구한다 (위령공 21장)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군자의 세 덕목 — 삼달덕(三達德)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知者不惑 — 지혜로운 자는 미혹되지 않는다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仁者不憂 — 어진 자는 근심하지 않는다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勇者不懼 — 용감한 자는 두려워하지 않는다 (자한 29장)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(상)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91270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學而時習之</a:t>
            </a:r>
            <a:r>
              <a:rPr dirty="0"/>
              <a:t> </a:t>
            </a:r>
            <a:r>
              <a:rPr dirty="0" err="1"/>
              <a:t>不亦說乎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학이시습지</a:t>
            </a:r>
            <a:r>
              <a:rPr dirty="0"/>
              <a:t> </a:t>
            </a:r>
            <a:r>
              <a:rPr dirty="0" err="1"/>
              <a:t>불역열호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배우고</a:t>
            </a:r>
            <a:r>
              <a:rPr dirty="0"/>
              <a:t> </a:t>
            </a:r>
            <a:r>
              <a:rPr dirty="0" err="1"/>
              <a:t>때때로</a:t>
            </a:r>
            <a:r>
              <a:rPr dirty="0"/>
              <a:t> </a:t>
            </a:r>
            <a:r>
              <a:rPr dirty="0" err="1"/>
              <a:t>익히면</a:t>
            </a:r>
            <a:r>
              <a:rPr dirty="0"/>
              <a:t> </a:t>
            </a:r>
            <a:r>
              <a:rPr dirty="0" err="1"/>
              <a:t>기쁘지</a:t>
            </a:r>
            <a:r>
              <a:rPr dirty="0"/>
              <a:t> </a:t>
            </a:r>
            <a:r>
              <a:rPr dirty="0" err="1"/>
              <a:t>아니한가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학이편</a:t>
            </a:r>
            <a:r>
              <a:rPr dirty="0"/>
              <a:t> 1장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溫故而知新</a:t>
            </a:r>
            <a:r>
              <a:rPr dirty="0"/>
              <a:t> </a:t>
            </a:r>
            <a:r>
              <a:rPr dirty="0" err="1"/>
              <a:t>可以爲師矣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온고이지신</a:t>
            </a:r>
            <a:r>
              <a:rPr dirty="0"/>
              <a:t> </a:t>
            </a:r>
            <a:r>
              <a:rPr dirty="0" err="1"/>
              <a:t>가이위사의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옛것을</a:t>
            </a:r>
            <a:r>
              <a:rPr dirty="0"/>
              <a:t> </a:t>
            </a:r>
            <a:r>
              <a:rPr dirty="0" err="1"/>
              <a:t>익히고</a:t>
            </a:r>
            <a:r>
              <a:rPr dirty="0"/>
              <a:t> </a:t>
            </a:r>
            <a:r>
              <a:rPr dirty="0" err="1"/>
              <a:t>새것을</a:t>
            </a:r>
            <a:r>
              <a:rPr dirty="0"/>
              <a:t> </a:t>
            </a:r>
            <a:r>
              <a:rPr dirty="0" err="1"/>
              <a:t>알면</a:t>
            </a:r>
            <a:r>
              <a:rPr dirty="0"/>
              <a:t> </a:t>
            </a:r>
            <a:r>
              <a:rPr dirty="0" err="1"/>
              <a:t>스승이</a:t>
            </a:r>
            <a:r>
              <a:rPr dirty="0"/>
              <a:t> 될 </a:t>
            </a:r>
            <a:r>
              <a:rPr dirty="0" err="1"/>
              <a:t>만하다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위정편</a:t>
            </a:r>
            <a:r>
              <a:rPr dirty="0"/>
              <a:t> 11장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朝聞道</a:t>
            </a:r>
            <a:r>
              <a:rPr dirty="0"/>
              <a:t> </a:t>
            </a:r>
            <a:r>
              <a:rPr dirty="0" err="1"/>
              <a:t>夕死可矣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조문도</a:t>
            </a:r>
            <a:r>
              <a:rPr dirty="0"/>
              <a:t> </a:t>
            </a:r>
            <a:r>
              <a:rPr dirty="0" err="1"/>
              <a:t>석사가의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아침에</a:t>
            </a:r>
            <a:r>
              <a:rPr dirty="0"/>
              <a:t> </a:t>
            </a:r>
            <a:r>
              <a:rPr dirty="0" err="1"/>
              <a:t>도를</a:t>
            </a:r>
            <a:r>
              <a:rPr dirty="0"/>
              <a:t> </a:t>
            </a:r>
            <a:r>
              <a:rPr dirty="0" err="1"/>
              <a:t>들으면</a:t>
            </a:r>
            <a:r>
              <a:rPr dirty="0"/>
              <a:t> </a:t>
            </a:r>
            <a:r>
              <a:rPr dirty="0" err="1"/>
              <a:t>저녁에</a:t>
            </a:r>
            <a:r>
              <a:rPr dirty="0"/>
              <a:t> </a:t>
            </a:r>
            <a:r>
              <a:rPr dirty="0" err="1"/>
              <a:t>죽어도</a:t>
            </a:r>
            <a:r>
              <a:rPr dirty="0"/>
              <a:t> </a:t>
            </a:r>
            <a:r>
              <a:rPr dirty="0" err="1"/>
              <a:t>좋다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이인편</a:t>
            </a:r>
            <a:r>
              <a:rPr dirty="0"/>
              <a:t> 8장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三人行</a:t>
            </a:r>
            <a:r>
              <a:rPr dirty="0"/>
              <a:t> </a:t>
            </a:r>
            <a:r>
              <a:rPr dirty="0" err="1"/>
              <a:t>必有我師焉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삼인행</a:t>
            </a:r>
            <a:r>
              <a:rPr dirty="0"/>
              <a:t> </a:t>
            </a:r>
            <a:r>
              <a:rPr dirty="0" err="1"/>
              <a:t>필유아사언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세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가면</a:t>
            </a:r>
            <a:r>
              <a:rPr dirty="0"/>
              <a:t> </a:t>
            </a:r>
            <a:r>
              <a:rPr dirty="0" err="1"/>
              <a:t>반드시</a:t>
            </a:r>
            <a:r>
              <a:rPr dirty="0"/>
              <a:t> </a:t>
            </a:r>
            <a:r>
              <a:rPr dirty="0" err="1"/>
              <a:t>나의</a:t>
            </a:r>
            <a:r>
              <a:rPr dirty="0"/>
              <a:t> </a:t>
            </a:r>
            <a:r>
              <a:rPr dirty="0" err="1"/>
              <a:t>스승이</a:t>
            </a:r>
            <a:r>
              <a:rPr dirty="0"/>
              <a:t> </a:t>
            </a:r>
            <a:r>
              <a:rPr dirty="0" err="1"/>
              <a:t>있다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술이편</a:t>
            </a:r>
            <a:r>
              <a:rPr dirty="0"/>
              <a:t> 22장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歲寒然後</a:t>
            </a:r>
            <a:r>
              <a:rPr dirty="0"/>
              <a:t> </a:t>
            </a:r>
            <a:r>
              <a:rPr dirty="0" err="1"/>
              <a:t>知松柏之後彫也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세한연후</a:t>
            </a:r>
            <a:r>
              <a:rPr dirty="0"/>
              <a:t> </a:t>
            </a:r>
            <a:r>
              <a:rPr dirty="0" err="1"/>
              <a:t>지송백지후조야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추워진</a:t>
            </a:r>
            <a:r>
              <a:rPr dirty="0"/>
              <a:t> </a:t>
            </a:r>
            <a:r>
              <a:rPr dirty="0" err="1"/>
              <a:t>뒤에야</a:t>
            </a:r>
            <a:r>
              <a:rPr dirty="0"/>
              <a:t> </a:t>
            </a:r>
            <a:r>
              <a:rPr dirty="0" err="1"/>
              <a:t>소나무의</a:t>
            </a:r>
            <a:r>
              <a:rPr dirty="0"/>
              <a:t> </a:t>
            </a:r>
            <a:r>
              <a:rPr dirty="0" err="1"/>
              <a:t>절개를</a:t>
            </a:r>
            <a:r>
              <a:rPr dirty="0"/>
              <a:t> </a:t>
            </a:r>
            <a:r>
              <a:rPr dirty="0" err="1"/>
              <a:t>안다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자한편</a:t>
            </a:r>
            <a:r>
              <a:rPr dirty="0"/>
              <a:t> 28장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(하)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11219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克己復禮爲仁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극기복례위인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자기를</a:t>
            </a:r>
            <a:r>
              <a:rPr dirty="0"/>
              <a:t> </a:t>
            </a:r>
            <a:r>
              <a:rPr dirty="0" err="1"/>
              <a:t>이기고</a:t>
            </a:r>
            <a:r>
              <a:rPr dirty="0"/>
              <a:t> </a:t>
            </a:r>
            <a:r>
              <a:rPr dirty="0" err="1"/>
              <a:t>예로</a:t>
            </a:r>
            <a:r>
              <a:rPr dirty="0"/>
              <a:t> </a:t>
            </a:r>
            <a:r>
              <a:rPr dirty="0" err="1"/>
              <a:t>돌아감이</a:t>
            </a:r>
            <a:r>
              <a:rPr dirty="0"/>
              <a:t> </a:t>
            </a:r>
            <a:r>
              <a:rPr dirty="0" err="1"/>
              <a:t>인이다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안연편</a:t>
            </a:r>
            <a:r>
              <a:rPr dirty="0"/>
              <a:t> 1장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己所不欲</a:t>
            </a:r>
            <a:r>
              <a:rPr dirty="0"/>
              <a:t> </a:t>
            </a:r>
            <a:r>
              <a:rPr dirty="0" err="1"/>
              <a:t>勿施於人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기소불욕</a:t>
            </a:r>
            <a:r>
              <a:rPr dirty="0"/>
              <a:t> </a:t>
            </a:r>
            <a:r>
              <a:rPr dirty="0" err="1"/>
              <a:t>물시어인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자기가</a:t>
            </a:r>
            <a:r>
              <a:rPr dirty="0"/>
              <a:t> </a:t>
            </a:r>
            <a:r>
              <a:rPr dirty="0" err="1"/>
              <a:t>원하지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남에게</a:t>
            </a:r>
            <a:r>
              <a:rPr dirty="0"/>
              <a:t> </a:t>
            </a:r>
            <a:r>
              <a:rPr dirty="0" err="1"/>
              <a:t>하지</a:t>
            </a:r>
            <a:r>
              <a:rPr dirty="0"/>
              <a:t> </a:t>
            </a:r>
            <a:r>
              <a:rPr dirty="0" err="1"/>
              <a:t>마라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위령공편</a:t>
            </a:r>
            <a:r>
              <a:rPr dirty="0"/>
              <a:t> 24장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君子和而不同</a:t>
            </a:r>
            <a:r>
              <a:rPr dirty="0"/>
              <a:t> </a:t>
            </a:r>
            <a:r>
              <a:rPr dirty="0" err="1"/>
              <a:t>小人同而不和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군자화이부동</a:t>
            </a:r>
            <a:r>
              <a:rPr dirty="0"/>
              <a:t> </a:t>
            </a:r>
            <a:r>
              <a:rPr dirty="0" err="1"/>
              <a:t>소인동이불화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군자는</a:t>
            </a:r>
            <a:r>
              <a:rPr dirty="0"/>
              <a:t> </a:t>
            </a:r>
            <a:r>
              <a:rPr dirty="0" err="1"/>
              <a:t>조화롭되</a:t>
            </a:r>
            <a:r>
              <a:rPr dirty="0"/>
              <a:t> </a:t>
            </a:r>
            <a:r>
              <a:rPr dirty="0" err="1"/>
              <a:t>같지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소인은</a:t>
            </a:r>
            <a:r>
              <a:rPr dirty="0"/>
              <a:t> </a:t>
            </a:r>
            <a:r>
              <a:rPr dirty="0" err="1"/>
              <a:t>같되</a:t>
            </a:r>
            <a:r>
              <a:rPr dirty="0"/>
              <a:t> </a:t>
            </a:r>
            <a:r>
              <a:rPr dirty="0" err="1"/>
              <a:t>조화롭지</a:t>
            </a:r>
            <a:r>
              <a:rPr dirty="0"/>
              <a:t> </a:t>
            </a:r>
            <a:r>
              <a:rPr dirty="0" err="1"/>
              <a:t>않다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자로편</a:t>
            </a:r>
            <a:r>
              <a:rPr dirty="0"/>
              <a:t> 23장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過猶不及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과유불급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지나친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못 </a:t>
            </a:r>
            <a:r>
              <a:rPr dirty="0" err="1"/>
              <a:t>미치는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같다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선진편</a:t>
            </a:r>
            <a:r>
              <a:rPr dirty="0"/>
              <a:t> 16장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志士仁人</a:t>
            </a:r>
            <a:r>
              <a:rPr dirty="0"/>
              <a:t> </a:t>
            </a:r>
            <a:r>
              <a:rPr dirty="0" err="1"/>
              <a:t>有殺身以成仁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지사인인</a:t>
            </a:r>
            <a:r>
              <a:rPr dirty="0"/>
              <a:t> </a:t>
            </a:r>
            <a:r>
              <a:rPr dirty="0" err="1"/>
              <a:t>유살신이성인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뜻있는</a:t>
            </a:r>
            <a:r>
              <a:rPr dirty="0"/>
              <a:t> </a:t>
            </a:r>
            <a:r>
              <a:rPr dirty="0" err="1"/>
              <a:t>선비는</a:t>
            </a:r>
            <a:r>
              <a:rPr dirty="0"/>
              <a:t> </a:t>
            </a:r>
            <a:r>
              <a:rPr dirty="0" err="1"/>
              <a:t>목숨을</a:t>
            </a:r>
            <a:r>
              <a:rPr dirty="0"/>
              <a:t> </a:t>
            </a:r>
            <a:r>
              <a:rPr dirty="0" err="1"/>
              <a:t>바쳐</a:t>
            </a:r>
            <a:r>
              <a:rPr dirty="0"/>
              <a:t> </a:t>
            </a:r>
            <a:r>
              <a:rPr dirty="0" err="1"/>
              <a:t>인을</a:t>
            </a:r>
            <a:r>
              <a:rPr dirty="0"/>
              <a:t> </a:t>
            </a:r>
            <a:r>
              <a:rPr dirty="0" err="1"/>
              <a:t>이루는</a:t>
            </a:r>
            <a:r>
              <a:rPr dirty="0"/>
              <a:t> </a:t>
            </a:r>
            <a:r>
              <a:rPr dirty="0" err="1"/>
              <a:t>일이</a:t>
            </a:r>
            <a:r>
              <a:rPr dirty="0"/>
              <a:t> </a:t>
            </a:r>
            <a:r>
              <a:rPr dirty="0" err="1"/>
              <a:t>있다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위령공편</a:t>
            </a:r>
            <a:r>
              <a:rPr dirty="0"/>
              <a:t> 9장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논어의 구조적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문체의 다양성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子曰(자왈) — 공자의 직접 발언 (가장 기본 형식)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문답체 — 제자의 질문 + 공자의 답 (안연, 자로편 등)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서사체 — 사건·일화 서술 (미자, 향당편)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제자 발언 — 19편 자장은 공자 발언이 없는 유일한 편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인(仁)의 등장 패턴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논어 전체에 仁은 109회 등장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안연편·이인편에 집중 / 계씨편에서는 단 한 번도 등장하지 않음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제자마다 다른 인의 정의 → 인재시교(因材施敎)의 증거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수미상관(首尾相關)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학이편 1장(시작): '學而時習之... 不亦君子乎'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요왈편 3장(결론): '不知命 無以爲君子也'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배움에서 출발 → 군자로 귀결하는 닫힌 구조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현대적 의의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화이부동(和而不同) — 다원주의 사회의 원리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서로 다른 종교·문화·가치관이 공존하는 다양성 속 조화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기소불욕 물시어인(己所不欲 勿施於人) — 보편 윤리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동서양을 관통하는 황금률. 세계인권선언, 기업 윤리, AI 윤리에 적용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학이불사즉망(學而不思則罔) — 비판적 사고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정보 과잉 시대에 단순 암기가 아닌 비판적 사고와 성찰의 중요성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덕치·솔선수범 — 리더십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서번트 리더십, 윤리적 리더십과 상통. 수기치인(修己治人)의 정신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인(仁) — 인공지능 시대의 인문학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기술만으로 해결할 수 없는 '사람다움'의 방향을 제시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논어와 다른 고전의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비교 항목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논어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맹자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순자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춘추 말기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전국 중기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전국 말기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형식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어록·문답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대화·논변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논설문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인성론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성상근(性相近)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성선설(性善說)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성악설(性惡說)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덕목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인(仁)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인의(仁義)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예(禮)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수양 방법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학·극기복례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존심양성·확충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화성기위·적(積)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천(天)의 성격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도덕적 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의지적 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자연적 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정치론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덕치·정명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왕도·역성혁명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왕도·예법 병용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D4AF37"/>
                </a:solidFill>
                <a:latin typeface="맑은 고딕"/>
              </a:defRPr>
            </a:pPr>
            <a:r>
              <a:t>논어를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배움(學)에서 출발하여, 인(仁)을 핵심으로, 예(禮)를 형식으로,</a:t>
            </a:r>
            <a:br/>
            <a:r>
              <a:t>충서(忠恕)를 방법으로, 군자(君子)를 이상으로 삼아,</a:t>
            </a:r>
            <a:br/>
            <a:r>
              <a:t>수기(修己)에서 치인(治人)으로 나아가는</a:t>
            </a:r>
            <a:br/>
            <a:r>
              <a:t>— 사람다움의 총체적 설계도.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A0B8D8"/>
                </a:solidFill>
                <a:latin typeface="맑은 고딕"/>
              </a:defRPr>
            </a:pPr>
            <a:r>
              <a:t>「半部論語治天下」 — 논어 반 권으로 천하를 다스린다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1376</Words>
  <Application>Microsoft Office PowerPoint</Application>
  <PresentationFormat>와이드스크린</PresentationFormat>
  <Paragraphs>227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 Park</cp:lastModifiedBy>
  <cp:revision>2</cp:revision>
  <dcterms:created xsi:type="dcterms:W3CDTF">2013-01-27T09:14:16Z</dcterms:created>
  <dcterms:modified xsi:type="dcterms:W3CDTF">2026-03-02T07:27:34Z</dcterms:modified>
  <cp:category/>
</cp:coreProperties>
</file>